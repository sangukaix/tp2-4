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4" ns0:id="rId22"/>
    <p:sldId xmlns:ns0="http://schemas.openxmlformats.org/officeDocument/2006/relationships" id="275" ns0:id="rId23"/>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3.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5.xml"/><Relationship Id="R4c9d0e3030fa4c5f" Type="http://schemas.openxmlformats.org/officeDocument/2006/relationships/slide" Target="slides/slide9.xml"/><Relationship Id="R5b6702ccd7664af1" Type="http://schemas.openxmlformats.org/officeDocument/2006/relationships/slide" Target="slides/slide6.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1.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10.xml"/><Relationship Id="Rbf371966fa964fc8" Type="http://schemas.openxmlformats.org/officeDocument/2006/relationships/slide" Target="slides/slide4.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5.xml"/><Relationship Id="rId18" Type="http://schemas.openxmlformats.org/officeDocument/2006/relationships/slide" Target="slides/slide7.xml"/><Relationship Id="rId19" Type="http://schemas.openxmlformats.org/officeDocument/2006/relationships/slide" Target="slides/slide14.xml"/><Relationship Id="rId20" Type="http://schemas.openxmlformats.org/officeDocument/2006/relationships/slide" Target="slides/slide8.xml"/><Relationship Id="rId21" Type="http://schemas.openxmlformats.org/officeDocument/2006/relationships/slide" Target="slides/slide12.xml"/><Relationship Id="rId22" Type="http://schemas.openxmlformats.org/officeDocument/2006/relationships/slide" Target="slides/slide16.xml"/><Relationship Id="rId23"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361.53419954</c:v>
                </c:pt>
                <c:pt idx="1">
                  <c:v>359.48667762</c:v>
                </c:pt>
                <c:pt idx="2">
                  <c:v>337.15762284</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38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1504.91406021</c:v>
                </c:pt>
                <c:pt idx="1">
                  <c:v>1451.32065632</c:v>
                </c:pt>
                <c:pt idx="2">
                  <c:v>1494.39105177</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0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27649B"/>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810.0</c:v>
                </c:pt>
                <c:pt idx="1">
                  <c:v>1620.0</c:v>
                </c:pt>
                <c:pt idx="2">
                  <c:v>2915.0</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계획 시나리오</c:v>
                </c:pt>
              </c:strCache>
            </c:strRef>
          </c:tx>
          <c:dPt>
            <c:idx val="0"/>
            <c:spPr>
              <a:solidFill>
                <a:srgbClr val="B9C9D4"/>
              </a:solidFill>
              <a:ln>
                <a:noFill/>
              </a:ln>
            </c:spPr>
          </c:dPt>
          <c:dPt>
            <c:idx val="1"/>
            <c:spPr>
              <a:solidFill>
                <a:srgbClr val="187C70"/>
              </a:solidFill>
              <a:ln>
                <a:noFill/>
              </a:ln>
            </c:spPr>
          </c:dPt>
          <c:dPt>
            <c:idx val="2"/>
            <c:spPr>
              <a:solidFill>
                <a:srgbClr val="B9C9D4"/>
              </a:solidFill>
              <a:ln>
                <a:noFill/>
              </a:ln>
            </c:spPr>
          </c:dPt>
          <c:cat>
            <c:strRef>
              <c:f>Sheet1!$A$2:$A$4</c:f>
              <c:strCache>
                <c:ptCount val="3"/>
                <c:pt idx="0">
                  <c:v>보수</c:v>
                </c:pt>
                <c:pt idx="1">
                  <c:v>기준</c:v>
                </c:pt>
                <c:pt idx="2">
                  <c:v>확대</c:v>
                </c:pt>
              </c:strCache>
            </c:strRef>
          </c:cat>
          <c:val>
            <c:numRef>
              <c:f>Sheet1!$B$2:$B$4</c:f>
              <c:numCache>
                <c:formatCode>General</c:formatCode>
                <c:ptCount val="3"/>
                <c:pt idx="0">
                  <c:v>12586.23</c:v>
                </c:pt>
                <c:pt idx="1">
                  <c:v>14372.45</c:v>
                </c:pt>
                <c:pt idx="2">
                  <c:v>19388.21</c:v>
                </c:pt>
              </c:numCache>
            </c:numRef>
          </c:val>
        </c:ser>
        <c:dLbls>
          <c:numFmt formatCode="#,##0" sourceLinked="0"/>
          <c:txPr>
            <a:bodyPr/>
            <a:lstStyle/>
            <a:p>
              <a:pPr>
                <a:defRPr sz="1500" b="1"/>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500">
                <a:latin typeface="Noto Sans KR"/>
              </a:defRPr>
            </a:pPr>
          </a:p>
        </c:txPr>
        <c:crossAx val="2113994440"/>
        <c:crosses val="autoZero"/>
        <c:auto val="1"/>
        <c:lblAlgn val="ctr"/>
        <c:lblOffset val="100"/>
        <c:noMultiLvlLbl val="0"/>
      </c:catAx>
      <c:valAx>
        <c:axId val="2113994440"/>
        <c:scaling>
          <c:min val="0.0"/>
        </c:scaling>
        <c:delete val="0"/>
        <c:axPos val="l"/>
        <c:majorGridlines>
          <c:spPr>
            <a:ln>
              <a:solidFill>
                <a:srgbClr val="DEE4E8"/>
              </a:solidFill>
            </a:ln>
          </c:spPr>
        </c:majorGridlines>
        <c:majorTickMark val="out"/>
        <c:minorTickMark val="none"/>
        <c:tickLblPos val="nextTo"/>
        <c:txPr>
          <a:bodyPr/>
          <a:lstStyle/>
          <a:p>
            <a:pPr>
              <a:defRPr sz="11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6.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4.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9.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5.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case:festival:394c5c43788b4e | 한국관광 데이터랩 · 탐라문화제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case:festival:394c5c43788b4e | 한국관광 데이터랩 · 탐라문화제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-2.9821804294890675,</a:t>
            </a:r>
          </a:p>
          <a:p xmlns:a="http://schemas.openxmlformats.org/drawingml/2006/main">
            <a:r>
              <a:t>        "target_rank": 208,</a:t>
            </a:r>
          </a:p>
          <a:p xmlns:a="http://schemas.openxmlformats.org/drawingml/2006/main">
            <a:r>
              <a:t>        "target": [</a:t>
            </a:r>
          </a:p>
          <a:p xmlns:a="http://schemas.openxmlformats.org/drawingml/2006/main">
            <a:r>
              <a:t>          3615341.9953796268,</a:t>
            </a:r>
          </a:p>
          <a:p xmlns:a="http://schemas.openxmlformats.org/drawingml/2006/main">
            <a:r>
              <a:t>          3594866.7761731045,</a:t>
            </a:r>
          </a:p>
          <a:p xmlns:a="http://schemas.openxmlformats.org/drawingml/2006/main">
            <a:r>
              <a:t>          3371576.2284472683</a:t>
            </a:r>
          </a:p>
          <a:p xmlns:a="http://schemas.openxmlformats.org/drawingml/2006/main">
            <a:r>
              <a:t>        ],</a:t>
            </a:r>
          </a:p>
          <a:p xmlns:a="http://schemas.openxmlformats.org/drawingml/2006/main">
            <a:r>
              <a:t>        "additional": 1620.0</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-0.312023658145244,</a:t>
            </a:r>
          </a:p>
          <a:p xmlns:a="http://schemas.openxmlformats.org/drawingml/2006/main">
            <a:r>
              <a:t>        "target_rank": 228,</a:t>
            </a:r>
          </a:p>
          <a:p xmlns:a="http://schemas.openxmlformats.org/drawingml/2006/main">
            <a:r>
              <a:t>        "target": [</a:t>
            </a:r>
          </a:p>
          <a:p xmlns:a="http://schemas.openxmlformats.org/drawingml/2006/main">
            <a:r>
              <a:t>          150491406021.4405,</a:t>
            </a:r>
          </a:p>
          <a:p xmlns:a="http://schemas.openxmlformats.org/drawingml/2006/main">
            <a:r>
              <a:t>          145132065631.73727,</a:t>
            </a:r>
          </a:p>
          <a:p xmlns:a="http://schemas.openxmlformats.org/drawingml/2006/main">
            <a:r>
              <a:t>          149439105176.82224</a:t>
            </a:r>
          </a:p>
          <a:p xmlns:a="http://schemas.openxmlformats.org/drawingml/2006/main">
            <a:r>
              <a:t>        ],</a:t>
            </a:r>
          </a:p>
          <a:p xmlns:a="http://schemas.openxmlformats.org/drawingml/2006/main">
            <a:r>
              <a:t>        "additional": 143724509.0</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case:festival:394c5c43788b4e | 한국관광 데이터랩 · 탐라문화제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"출력 점검용 문화 체험 축제",</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"문화 체험 축제를 지역 자원과 연계하는 출력 점검용 예시",</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전망 대비 방문 +0.02%, 소비 +0.05%. 운영 규모와 참여 가정으로 산정하며 실제 성과는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case:festival:394c5c43788b4e | 한국관광 데이터랩 · 탐라문화제 방문자 추이 | https://datalab.visitkorea.or.kr/</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"case:festival:394c5c43788b4e",</a:t>
            </a:r>
          </a:p>
          <a:p>
            <a:r>
              <a:t>      "document_type": "case_study",</a:t>
            </a:r>
          </a:p>
          <a:p>
            <a:r>
              <a:t>      "evidence_kind": "festival_statistics",</a:t>
            </a:r>
          </a:p>
          <a:p>
            <a:r>
              <a:t>      "retrieval_method": "datalab_festival_table",</a:t>
            </a:r>
          </a:p>
          <a:p>
            <a:r>
              <a:t>      "region_code": "50110",</a:t>
            </a:r>
          </a:p>
          <a:p>
            <a:r>
              <a:t>      "region_name": "제주특별자치도 제주시",</a:t>
            </a:r>
          </a:p>
          <a:p>
            <a:r>
              <a:t>      "case_region": "제주특별자치도 제주시",</a:t>
            </a:r>
          </a:p>
          <a:p>
            <a:r>
              <a:t>      "intervention": "탐라문화제",</a:t>
            </a:r>
          </a:p>
          <a:p>
            <a:r>
              <a:t>      "problem_addressed": "선택 지역의 기존 축제 현황 · 공연·문화",</a:t>
            </a:r>
          </a:p>
          <a:p>
            <a:r>
              <a:t>      "target_group": "축제 관측구역 방문자(현지인·외지인·외국인 구분)",</a:t>
            </a:r>
          </a:p>
          <a:p>
            <a:r>
              <a:t>      "operating_model": "탐라문화제를 2025년 5일 개최한 문화관광축제 운영 사례. 세부 프로그램·예약·혜택은 이 CSV에 기록되어 있지 않으며 새로운 운영안은 제안으로 구분한다.",</a:t>
            </a:r>
          </a:p>
          <a:p>
            <a:r>
              <a:t>      "duration": "2025년 5일",</a:t>
            </a:r>
          </a:p>
          <a:p>
            <a:r>
              <a:t>      "public_budget": "CSV에 사업비 없음",</a:t>
            </a:r>
          </a:p>
          <a:p>
            <a:r>
              <a:t>      "observed_result": "2024→2025년 전체 166,050→133,245명 (-19.76%). 개최 5→5일, 일평균 -19.76%, 외지인 -0.40%.",</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탐라문화제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"20260820183300_탐라문화제_연도별 방문자 추이.csv",</a:t>
            </a:r>
          </a:p>
          <a:p>
            <a:r>
              <a:t>          "provenance_status": "team_download_exact_query_url_unrecorded",</a:t>
            </a:r>
          </a:p>
          <a:p>
            <a:r>
              <a:t>          "provider": "한국관광 데이터랩",</a:t>
            </a:r>
          </a:p>
          <a:p>
            <a:r>
              <a:t>          "relative_path": "data/source_snapshots/festivals_20260820/77. 탐라문화제_2023-2025/20260820183300_탐라문화제_연도별 방문자 추이.csv",</a:t>
            </a:r>
          </a:p>
          <a:p>
            <a:r>
              <a:t>          "sha256": "d6f7a30cf5328ffb863d707cf8f0987af509d9b014ebe7c6eed7e65610518aa9",</a:t>
            </a:r>
          </a:p>
          <a:p>
            <a:r>
              <a:t>          "source_id": "festival-file:d6f7a30cf5328ffb863d",</a:t>
            </a:r>
          </a:p>
          <a:p>
            <a:r>
              <a:t>          "source_url": "https://datalab.visitkorea.or.kr/"</a:t>
            </a:r>
          </a:p>
          <a:p>
            <a:r>
              <a:t>        },</a:t>
            </a:r>
          </a:p>
          <a:p>
            <a:r>
              <a:t>        {</a:t>
            </a:r>
          </a:p>
          <a:p>
            <a:r>
              <a:t>          "downloaded_at": "2026-08-20",</a:t>
            </a:r>
          </a:p>
          <a:p>
            <a:r>
              <a:t>          "file_name": "20260820183300_탐라문화제_성_연령별 내국인 방문자.csv",</a:t>
            </a:r>
          </a:p>
          <a:p>
            <a:r>
              <a:t>          "provenance_status": "team_download_exact_query_url_unrecorded",</a:t>
            </a:r>
          </a:p>
          <a:p>
            <a:r>
              <a:t>          "provider": "한국관광 데이터랩",</a:t>
            </a:r>
          </a:p>
          <a:p>
            <a:r>
              <a:t>          "relative_path": "data/source_snapshots/festivals_20260820/77. 탐라문화제_2023-2025/20260820183300_탐라문화제_성_연령별 내국인 방문자.csv",</a:t>
            </a:r>
          </a:p>
          <a:p>
            <a:r>
              <a:t>          "sha256": "c6a7ef43f1907d8c23587d7097e2d4e9d5ad6510e8f7c8ea4d7588881c869e55",</a:t>
            </a:r>
          </a:p>
          <a:p>
            <a:r>
              <a:t>          "source_id": "festival-file:c6a7ef43f1907d8c2358",</a:t>
            </a:r>
          </a:p>
          <a:p>
            <a:r>
              <a:t>          "source_url": "https://datalab.visitkorea.or.kr/"</a:t>
            </a:r>
          </a:p>
          <a:p>
            <a:r>
              <a:t>        },</a:t>
            </a:r>
          </a:p>
          <a:p>
            <a:r>
              <a:t>        {</a:t>
            </a:r>
          </a:p>
          <a:p>
            <a:r>
              <a:t>          "downloaded_at": "2026-08-20",</a:t>
            </a:r>
          </a:p>
          <a:p>
            <a:r>
              <a:t>          "file_name": "20260820183300_탐라문화제_목적지 검색순위.csv",</a:t>
            </a:r>
          </a:p>
          <a:p>
            <a:r>
              <a:t>          "provenance_status": "team_download_exact_query_url_unrecorded",</a:t>
            </a:r>
          </a:p>
          <a:p>
            <a:r>
              <a:t>          "provider": "한국관광 데이터랩",</a:t>
            </a:r>
          </a:p>
          <a:p>
            <a:r>
              <a:t>          "relative_path": "data/source_snapshots/festivals_20260820/77. 탐라문화제_2023-2025/20260820183300_탐라문화제_목적지 검색순위.csv",</a:t>
            </a:r>
          </a:p>
          <a:p>
            <a:r>
              <a:t>          "sha256": "2328823a2091babc37a8326a925721547b0c433ce1f7ad1bed58c4d446eef0b7",</a:t>
            </a:r>
          </a:p>
          <a:p>
            <a:r>
              <a:t>          "source_id": "festival-file:2328823a2091babc37a8",</a:t>
            </a:r>
          </a:p>
          <a:p>
            <a:r>
              <a:t>          "source_url": "https://datalab.visitkorea.or.kr/"</a:t>
            </a:r>
          </a:p>
          <a:p>
            <a:r>
              <a:t>        },</a:t>
            </a:r>
          </a:p>
          <a:p>
            <a:r>
              <a:t>        {</a:t>
            </a:r>
          </a:p>
          <a:p>
            <a:r>
              <a:t>          "downloaded_at": "2026-08-20",</a:t>
            </a:r>
          </a:p>
          <a:p>
            <a:r>
              <a:t>          "file_name": "20260820183300_탐라문화제_문화관광축제 주요 지표.csv",</a:t>
            </a:r>
          </a:p>
          <a:p>
            <a:r>
              <a:t>          "provenance_status": "team_download_exact_query_url_unrecorded",</a:t>
            </a:r>
          </a:p>
          <a:p>
            <a:r>
              <a:t>          "provider": "한국관광 데이터랩",</a:t>
            </a:r>
          </a:p>
          <a:p>
            <a:r>
              <a:t>          "relative_path": "data/source_snapshots/festivals_20260820/77. 탐라문화제_2023-2025/20260820183300_탐라문화제_문화관광축제 주요 지표.csv",</a:t>
            </a:r>
          </a:p>
          <a:p>
            <a:r>
              <a:t>          "sha256": "31118c09b772aa0cd272a1d50ba5f6c09038d11466ca7dff9b193547e90bd731",</a:t>
            </a:r>
          </a:p>
          <a:p>
            <a:r>
              <a:t>          "source_id": "festival-file:31118c09b772aa0cd272",</a:t>
            </a:r>
          </a:p>
          <a:p>
            <a:r>
              <a:t>          "source_url": "https://datalab.visitkorea.or.kr/"</a:t>
            </a:r>
          </a:p>
          <a:p>
            <a:r>
              <a:t>        }</a:t>
            </a:r>
          </a:p>
          <a:p>
            <a:r>
              <a:t>      ],</a:t>
            </a:r>
          </a:p>
          <a:p>
            <a:r>
              <a:t>      "retrieval_basis": {</a:t>
            </a:r>
          </a:p>
          <a:p>
            <a:r>
              <a:t>        "kind": "local_context",</a:t>
            </a:r>
          </a:p>
          <a:p>
            <a:r>
              <a:t>        "score": 16,</a:t>
            </a:r>
          </a:p>
          <a:p>
            <a:r>
              <a:t>        "components": {</a:t>
            </a:r>
          </a:p>
          <a:p>
            <a:r>
              <a:t>          "같은 시도 조사 맥락": 10,</a:t>
            </a:r>
          </a:p>
          <a:p>
            <a:r>
              <a:t>          "최근 개최연도": 6</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"festival_statistics": {</a:t>
            </a:r>
          </a:p>
          <a:p>
            <a:r>
              <a:t>        "name": "탐라문화제",</a:t>
            </a:r>
          </a:p>
          <a:p>
            <a:r>
              <a:t>        "annual": [</a:t>
            </a:r>
          </a:p>
          <a:p>
            <a:r>
              <a:t>          {</a:t>
            </a:r>
          </a:p>
          <a:p>
            <a:r>
              <a:t>            "daily": 25015.0,</a:t>
            </a:r>
          </a:p>
          <a:p>
            <a:r>
              <a:t>            "days": 5,</a:t>
            </a:r>
          </a:p>
          <a:p>
            <a:r>
              <a:t>            "foreign": 5148.0,</a:t>
            </a:r>
          </a:p>
          <a:p>
            <a:r>
              <a:t>            "local": 74290.0,</a:t>
            </a:r>
          </a:p>
          <a:p>
            <a:r>
              <a:t>            "outside": 45637.0,</a:t>
            </a:r>
          </a:p>
          <a:p>
            <a:r>
              <a:t>            "outside_daily": 9127.4,</a:t>
            </a:r>
          </a:p>
          <a:p>
            <a:r>
              <a:t>            "outside_share_pct": 36.48770737557466,</a:t>
            </a:r>
          </a:p>
          <a:p>
            <a:r>
              <a:t>            "total": 125075.0,</a:t>
            </a:r>
          </a:p>
          <a:p>
            <a:r>
              <a:t>            "year": 2023</a:t>
            </a:r>
          </a:p>
          <a:p>
            <a:r>
              <a:t>          },</a:t>
            </a:r>
          </a:p>
          <a:p>
            <a:r>
              <a:t>          {</a:t>
            </a:r>
          </a:p>
          <a:p>
            <a:r>
              <a:t>            "daily": 33210.0,</a:t>
            </a:r>
          </a:p>
          <a:p>
            <a:r>
              <a:t>            "days": 5,</a:t>
            </a:r>
          </a:p>
          <a:p>
            <a:r>
              <a:t>            "foreign": 10569.0,</a:t>
            </a:r>
          </a:p>
          <a:p>
            <a:r>
              <a:t>            "local": 110482.0,</a:t>
            </a:r>
          </a:p>
          <a:p>
            <a:r>
              <a:t>            "outside": 44999.0,</a:t>
            </a:r>
          </a:p>
          <a:p>
            <a:r>
              <a:t>            "outside_daily": 8999.8,</a:t>
            </a:r>
          </a:p>
          <a:p>
            <a:r>
              <a:t>            "outside_share_pct": 27.099668774465524,</a:t>
            </a:r>
          </a:p>
          <a:p>
            <a:r>
              <a:t>            "total": 166050.0,</a:t>
            </a:r>
          </a:p>
          <a:p>
            <a:r>
              <a:t>            "year": 2024</a:t>
            </a:r>
          </a:p>
          <a:p>
            <a:r>
              <a:t>          },</a:t>
            </a:r>
          </a:p>
          <a:p>
            <a:r>
              <a:t>          {</a:t>
            </a:r>
          </a:p>
          <a:p>
            <a:r>
              <a:t>            "daily": 26649.0,</a:t>
            </a:r>
          </a:p>
          <a:p>
            <a:r>
              <a:t>            "days": 5,</a:t>
            </a:r>
          </a:p>
          <a:p>
            <a:r>
              <a:t>            "foreign": 11781.0,</a:t>
            </a:r>
          </a:p>
          <a:p>
            <a:r>
              <a:t>            "local": 76647.0,</a:t>
            </a:r>
          </a:p>
          <a:p>
            <a:r>
              <a:t>            "outside": 44817.0,</a:t>
            </a:r>
          </a:p>
          <a:p>
            <a:r>
              <a:t>            "outside_daily": 8963.4,</a:t>
            </a:r>
          </a:p>
          <a:p>
            <a:r>
              <a:t>            "outside_share_pct": 33.635033209501294,</a:t>
            </a:r>
          </a:p>
          <a:p>
            <a:r>
              <a:t>            "total": 133245.0,</a:t>
            </a:r>
          </a:p>
          <a:p>
            <a:r>
              <a:t>            "year": 2025</a:t>
            </a:r>
          </a:p>
          <a:p>
            <a:r>
              <a:t>          }</a:t>
            </a:r>
          </a:p>
          <a:p>
            <a:r>
              <a:t>        ],</a:t>
            </a:r>
          </a:p>
          <a:p>
            <a:r>
              <a:t>        "comparison": {</a:t>
            </a:r>
          </a:p>
          <a:p>
            <a:r>
              <a:t>          "after_days": 5,</a:t>
            </a:r>
          </a:p>
          <a:p>
            <a:r>
              <a:t>          "after_year": 2025,</a:t>
            </a:r>
          </a:p>
          <a:p>
            <a:r>
              <a:t>          "before_days": 5,</a:t>
            </a:r>
          </a:p>
          <a:p>
            <a:r>
              <a:t>          "before_year": 2024,</a:t>
            </a:r>
          </a:p>
          <a:p>
            <a:r>
              <a:t>          "daily": {</a:t>
            </a:r>
          </a:p>
          <a:p>
            <a:r>
              <a:t>            "after": 26649.0,</a:t>
            </a:r>
          </a:p>
          <a:p>
            <a:r>
              <a:t>            "before": 33210.0,</a:t>
            </a:r>
          </a:p>
          <a:p>
            <a:r>
              <a:t>            "change_pct": -19.756097560975604,</a:t>
            </a:r>
          </a:p>
          <a:p>
            <a:r>
              <a:t>            "difference": -6561.0</a:t>
            </a:r>
          </a:p>
          <a:p>
            <a:r>
              <a:t>          },</a:t>
            </a:r>
          </a:p>
          <a:p>
            <a:r>
              <a:t>          "outside": {</a:t>
            </a:r>
          </a:p>
          <a:p>
            <a:r>
              <a:t>            "after": 44817.0,</a:t>
            </a:r>
          </a:p>
          <a:p>
            <a:r>
              <a:t>            "before": 44999.0,</a:t>
            </a:r>
          </a:p>
          <a:p>
            <a:r>
              <a:t>            "change_pct": -0.4044534322984905,</a:t>
            </a:r>
          </a:p>
          <a:p>
            <a:r>
              <a:t>            "difference": -182.0</a:t>
            </a:r>
          </a:p>
          <a:p>
            <a:r>
              <a:t>          },</a:t>
            </a:r>
          </a:p>
          <a:p>
            <a:r>
              <a:t>          "outside_daily": {</a:t>
            </a:r>
          </a:p>
          <a:p>
            <a:r>
              <a:t>            "after": 8963.4,</a:t>
            </a:r>
          </a:p>
          <a:p>
            <a:r>
              <a:t>            "before": 8999.8,</a:t>
            </a:r>
          </a:p>
          <a:p>
            <a:r>
              <a:t>            "change_pct": -0.4044534322984905,</a:t>
            </a:r>
          </a:p>
          <a:p>
            <a:r>
              <a:t>            "difference": -36.399999999999636</a:t>
            </a:r>
          </a:p>
          <a:p>
            <a:r>
              <a:t>          },</a:t>
            </a:r>
          </a:p>
          <a:p>
            <a:r>
              <a:t>          "total": {</a:t>
            </a:r>
          </a:p>
          <a:p>
            <a:r>
              <a:t>            "after": 133245.0,</a:t>
            </a:r>
          </a:p>
          <a:p>
            <a:r>
              <a:t>            "before": 166050.0,</a:t>
            </a:r>
          </a:p>
          <a:p>
            <a:r>
              <a:t>            "change_pct": -19.756097560975604,</a:t>
            </a:r>
          </a:p>
          <a:p>
            <a:r>
              <a:t>            "difference": -32805.0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"20260820183300_탐라문화제_연도별 방문자 추이.csv",</a:t>
            </a:r>
          </a:p>
          <a:p>
            <a:r>
              <a:t>          "provenance_status": "team_download_exact_query_url_unrecorded",</a:t>
            </a:r>
          </a:p>
          <a:p>
            <a:r>
              <a:t>          "provider": "한국관광 데이터랩",</a:t>
            </a:r>
          </a:p>
          <a:p>
            <a:r>
              <a:t>          "relative_path": "data/source_snapshots/festivals_20260820/77. 탐라문화제_2023-2025/20260820183300_탐라문화제_연도별 방문자 추이.csv",</a:t>
            </a:r>
          </a:p>
          <a:p>
            <a:r>
              <a:t>          "sha256": "d6f7a30cf5328ffb863d707cf8f0987af509d9b014ebe7c6eed7e65610518aa9",</a:t>
            </a:r>
          </a:p>
          <a:p>
            <a:r>
              <a:t>          "source_id": "festival-file:d6f7a30cf5328ffb863d",</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"0.622",</a:t>
            </a:r>
          </a:p>
          <a:p>
            <a:r>
              <a:t>            "축제명": "탐라문화제"</a:t>
            </a:r>
          </a:p>
          <a:p>
            <a:r>
              <a:t>          },</a:t>
            </a:r>
          </a:p>
          <a:p>
            <a:r>
              <a:t>          {</a:t>
            </a:r>
          </a:p>
          <a:p>
            <a:r>
              <a:t>            "개최년도": "2025",</a:t>
            </a:r>
          </a:p>
          <a:p>
            <a:r>
              <a:t>            "구분명": "현지인방문자 유입",</a:t>
            </a:r>
          </a:p>
          <a:p>
            <a:r>
              <a:t>            "그룹명": "축제기간",</a:t>
            </a:r>
          </a:p>
          <a:p>
            <a:r>
              <a:t>            "지표값": "0.87",</a:t>
            </a:r>
          </a:p>
          <a:p>
            <a:r>
              <a:t>            "축제명": "탐라문화제"</a:t>
            </a:r>
          </a:p>
          <a:p>
            <a:r>
              <a:t>          },</a:t>
            </a:r>
          </a:p>
          <a:p>
            <a:r>
              <a:t>          {</a:t>
            </a:r>
          </a:p>
          <a:p>
            <a:r>
              <a:t>            "개최년도": "2025",</a:t>
            </a:r>
          </a:p>
          <a:p>
            <a:r>
              <a:t>            "구분명": "내비게이션 검색량",</a:t>
            </a:r>
          </a:p>
          <a:p>
            <a:r>
              <a:t>            "그룹명": "축제기간",</a:t>
            </a:r>
          </a:p>
          <a:p>
            <a:r>
              <a:t>            "지표값": "0.783",</a:t>
            </a:r>
          </a:p>
          <a:p>
            <a:r>
              <a:t>            "축제명": "탐라문화제"</a:t>
            </a:r>
          </a:p>
          <a:p>
            <a:r>
              <a:t>          },</a:t>
            </a:r>
          </a:p>
          <a:p>
            <a:r>
              <a:t>          {</a:t>
            </a:r>
          </a:p>
          <a:p>
            <a:r>
              <a:t>            "개최년도": "2025",</a:t>
            </a:r>
          </a:p>
          <a:p>
            <a:r>
              <a:t>            "구분명": "관광소비",</a:t>
            </a:r>
          </a:p>
          <a:p>
            <a:r>
              <a:t>            "그룹명": "축제기간",</a:t>
            </a:r>
          </a:p>
          <a:p>
            <a:r>
              <a:t>            "지표값": "0.694",</a:t>
            </a:r>
          </a:p>
          <a:p>
            <a:r>
              <a:t>            "축제명": "탐라문화제"</a:t>
            </a:r>
          </a:p>
          <a:p>
            <a:r>
              <a:t>          },</a:t>
            </a:r>
          </a:p>
          <a:p>
            <a:r>
              <a:t>          {</a:t>
            </a:r>
          </a:p>
          <a:p>
            <a:r>
              <a:t>            "개최년도": "2025",</a:t>
            </a:r>
          </a:p>
          <a:p>
            <a:r>
              <a:t>            "구분명": "축제지 집중률",</a:t>
            </a:r>
          </a:p>
          <a:p>
            <a:r>
              <a:t>            "그룹명": "축제기간",</a:t>
            </a:r>
          </a:p>
          <a:p>
            <a:r>
              <a:t>            "지표값": "0.68",</a:t>
            </a:r>
          </a:p>
          <a:p>
            <a:r>
              <a:t>            "축제명": "탐라문화제"</a:t>
            </a:r>
          </a:p>
          <a:p>
            <a:r>
              <a:t>          },</a:t>
            </a:r>
          </a:p>
          <a:p>
            <a:r>
              <a:t>          {</a:t>
            </a:r>
          </a:p>
          <a:p>
            <a:r>
              <a:t>            "개최년도": "2025",</a:t>
            </a:r>
          </a:p>
          <a:p>
            <a:r>
              <a:t>            "구분명": "외부방문자 유입",</a:t>
            </a:r>
          </a:p>
          <a:p>
            <a:r>
              <a:t>            "그룹명": "비축제기간",</a:t>
            </a:r>
          </a:p>
          <a:p>
            <a:r>
              <a:t>            "지표값": "0.634",</a:t>
            </a:r>
          </a:p>
          <a:p>
            <a:r>
              <a:t>            "축제명": "탐라문화제"</a:t>
            </a:r>
          </a:p>
          <a:p>
            <a:r>
              <a:t>          },</a:t>
            </a:r>
          </a:p>
          <a:p>
            <a:r>
              <a:t>          {</a:t>
            </a:r>
          </a:p>
          <a:p>
            <a:r>
              <a:t>            "개최년도": "2025",</a:t>
            </a:r>
          </a:p>
          <a:p>
            <a:r>
              <a:t>            "구분명": "현지인방문자 유입",</a:t>
            </a:r>
          </a:p>
          <a:p>
            <a:r>
              <a:t>            "그룹명": "비축제기간",</a:t>
            </a:r>
          </a:p>
          <a:p>
            <a:r>
              <a:t>            "지표값": "0.738",</a:t>
            </a:r>
          </a:p>
          <a:p>
            <a:r>
              <a:t>            "축제명": "탐라문화제"</a:t>
            </a:r>
          </a:p>
          <a:p>
            <a:r>
              <a:t>          },</a:t>
            </a:r>
          </a:p>
          <a:p>
            <a:r>
              <a:t>          {</a:t>
            </a:r>
          </a:p>
          <a:p>
            <a:r>
              <a:t>            "개최년도": "2025",</a:t>
            </a:r>
          </a:p>
          <a:p>
            <a:r>
              <a:t>            "구분명": "내비게이션 검색량",</a:t>
            </a:r>
          </a:p>
          <a:p>
            <a:r>
              <a:t>            "그룹명": "비축제기간",</a:t>
            </a:r>
          </a:p>
          <a:p>
            <a:r>
              <a:t>            "지표값": "0.507",</a:t>
            </a:r>
          </a:p>
          <a:p>
            <a:r>
              <a:t>            "축제명": "탐라문화제"</a:t>
            </a:r>
          </a:p>
          <a:p>
            <a:r>
              <a:t>          },</a:t>
            </a:r>
          </a:p>
          <a:p>
            <a:r>
              <a:t>          {</a:t>
            </a:r>
          </a:p>
          <a:p>
            <a:r>
              <a:t>            "개최년도": "2025",</a:t>
            </a:r>
          </a:p>
          <a:p>
            <a:r>
              <a:t>            "구분명": "관광소비",</a:t>
            </a:r>
          </a:p>
          <a:p>
            <a:r>
              <a:t>            "그룹명": "비축제기간",</a:t>
            </a:r>
          </a:p>
          <a:p>
            <a:r>
              <a:t>            "지표값": "0.716",</a:t>
            </a:r>
          </a:p>
          <a:p>
            <a:r>
              <a:t>            "축제명": "탐라문화제"</a:t>
            </a:r>
          </a:p>
          <a:p>
            <a:r>
              <a:t>          },</a:t>
            </a:r>
          </a:p>
          <a:p>
            <a:r>
              <a:t>          {</a:t>
            </a:r>
          </a:p>
          <a:p>
            <a:r>
              <a:t>            "개최년도": "2025",</a:t>
            </a:r>
          </a:p>
          <a:p>
            <a:r>
              <a:t>            "구분명": "축제지 집중률",</a:t>
            </a:r>
          </a:p>
          <a:p>
            <a:r>
              <a:t>            "그룹명": "비축제기간",</a:t>
            </a:r>
          </a:p>
          <a:p>
            <a:r>
              <a:t>            "지표값": "0.681",</a:t>
            </a:r>
          </a:p>
          <a:p>
            <a:r>
              <a:t>            "축제명": "탐라문화제"</a:t>
            </a:r>
          </a:p>
          <a:p>
            <a:r>
              <a:t>          }</a:t>
            </a:r>
          </a:p>
          <a:p>
            <a:r>
              <a:t>        ],</a:t>
            </a:r>
          </a:p>
          <a:p>
            <a:r>
              <a:t>        "indicator_rule": "원본 지표값만 보존. 산식·단위 미확인으로 성장률/원화/정원/참여율 변환 금지.",</a:t>
            </a:r>
          </a:p>
          <a:p>
            <a:r>
              <a:t>        "audience": [</a:t>
            </a:r>
          </a:p>
          <a:p>
            <a:r>
              <a:t>          {</a:t>
            </a:r>
          </a:p>
          <a:p>
            <a:r>
              <a:t>            "남성비율": "3.4",</a:t>
            </a:r>
          </a:p>
          <a:p>
            <a:r>
              <a:t>            "여성비율": "4.3",</a:t>
            </a:r>
          </a:p>
          <a:p>
            <a:r>
              <a:t>            "연령대": "70세 이상",</a:t>
            </a:r>
          </a:p>
          <a:p>
            <a:r>
              <a:t>            "축제명": "탐라문화제"</a:t>
            </a:r>
          </a:p>
          <a:p>
            <a:r>
              <a:t>          },</a:t>
            </a:r>
          </a:p>
          <a:p>
            <a:r>
              <a:t>          {</a:t>
            </a:r>
          </a:p>
          <a:p>
            <a:r>
              <a:t>            "남성비율": "8.9",</a:t>
            </a:r>
          </a:p>
          <a:p>
            <a:r>
              <a:t>            "여성비율": "8.9",</a:t>
            </a:r>
          </a:p>
          <a:p>
            <a:r>
              <a:t>            "연령대": "60~69세",</a:t>
            </a:r>
          </a:p>
          <a:p>
            <a:r>
              <a:t>            "축제명": "탐라문화제"</a:t>
            </a:r>
          </a:p>
          <a:p>
            <a:r>
              <a:t>          },</a:t>
            </a:r>
          </a:p>
          <a:p>
            <a:r>
              <a:t>          {</a:t>
            </a:r>
          </a:p>
          <a:p>
            <a:r>
              <a:t>            "남성비율": "10.1",</a:t>
            </a:r>
          </a:p>
          <a:p>
            <a:r>
              <a:t>            "여성비율": "10.3",</a:t>
            </a:r>
          </a:p>
          <a:p>
            <a:r>
              <a:t>            "연령대": "50~59세",</a:t>
            </a:r>
          </a:p>
          <a:p>
            <a:r>
              <a:t>            "축제명": "탐라문화제"</a:t>
            </a:r>
          </a:p>
          <a:p>
            <a:r>
              <a:t>          },</a:t>
            </a:r>
          </a:p>
          <a:p>
            <a:r>
              <a:t>          {</a:t>
            </a:r>
          </a:p>
          <a:p>
            <a:r>
              <a:t>            "남성비율": "8.3",</a:t>
            </a:r>
          </a:p>
          <a:p>
            <a:r>
              <a:t>            "여성비율": "8.0",</a:t>
            </a:r>
          </a:p>
          <a:p>
            <a:r>
              <a:t>            "연령대": "40~49세",</a:t>
            </a:r>
          </a:p>
          <a:p>
            <a:r>
              <a:t>            "축제명": "탐라문화제"</a:t>
            </a:r>
          </a:p>
          <a:p>
            <a:r>
              <a:t>          },</a:t>
            </a:r>
          </a:p>
          <a:p>
            <a:r>
              <a:t>          {</a:t>
            </a:r>
          </a:p>
          <a:p>
            <a:r>
              <a:t>            "남성비율": "8.6",</a:t>
            </a:r>
          </a:p>
          <a:p>
            <a:r>
              <a:t>            "여성비율": "8.2",</a:t>
            </a:r>
          </a:p>
          <a:p>
            <a:r>
              <a:t>            "연령대": "30~39세",</a:t>
            </a:r>
          </a:p>
          <a:p>
            <a:r>
              <a:t>            "축제명": "탐라문화제"</a:t>
            </a:r>
          </a:p>
          <a:p>
            <a:r>
              <a:t>          },</a:t>
            </a:r>
          </a:p>
          <a:p>
            <a:r>
              <a:t>          {</a:t>
            </a:r>
          </a:p>
          <a:p>
            <a:r>
              <a:t>            "남성비율": "6.9",</a:t>
            </a:r>
          </a:p>
          <a:p>
            <a:r>
              <a:t>            "여성비율": "7.9",</a:t>
            </a:r>
          </a:p>
          <a:p>
            <a:r>
              <a:t>            "연령대": "20~29세",</a:t>
            </a:r>
          </a:p>
          <a:p>
            <a:r>
              <a:t>            "축제명": "탐라문화제"</a:t>
            </a:r>
          </a:p>
          <a:p>
            <a:r>
              <a:t>          },</a:t>
            </a:r>
          </a:p>
          <a:p>
            <a:r>
              <a:t>          {</a:t>
            </a:r>
          </a:p>
          <a:p>
            <a:r>
              <a:t>            "남성비율": "2.5",</a:t>
            </a:r>
          </a:p>
          <a:p>
            <a:r>
              <a:t>            "여성비율": "2.6",</a:t>
            </a:r>
          </a:p>
          <a:p>
            <a:r>
              <a:t>            "연령대": "10~19세",</a:t>
            </a:r>
          </a:p>
          <a:p>
            <a:r>
              <a:t>            "축제명": "탐라문화제"</a:t>
            </a:r>
          </a:p>
          <a:p>
            <a:r>
              <a:t>          },</a:t>
            </a:r>
          </a:p>
          <a:p>
            <a:r>
              <a:t>          {</a:t>
            </a:r>
          </a:p>
          <a:p>
            <a:r>
              <a:t>            "남성비율": "0.5",</a:t>
            </a:r>
          </a:p>
          <a:p>
            <a:r>
              <a:t>            "여성비율": "0.6",</a:t>
            </a:r>
          </a:p>
          <a:p>
            <a:r>
              <a:t>            "연령대": "0~9세",</a:t>
            </a:r>
          </a:p>
          <a:p>
            <a:r>
              <a:t>            "축제명": "탐라문화제"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"탑동해변공연장",</a:t>
            </a:r>
          </a:p>
          <a:p>
            <a:r>
              <a:t>            "도로명주소": "제주 제주시 중앙로 2-0",</a:t>
            </a:r>
          </a:p>
          <a:p>
            <a:r>
              <a:t>            "카테고리": "공연시설"</a:t>
            </a:r>
          </a:p>
          <a:p>
            <a:r>
              <a:t>          },</a:t>
            </a:r>
          </a:p>
          <a:p>
            <a:r>
              <a:t>          {</a:t>
            </a:r>
          </a:p>
          <a:p>
            <a:r>
              <a:t>            "구분": "외지인",</a:t>
            </a:r>
          </a:p>
          <a:p>
            <a:r>
              <a:t>            "순위": "2",</a:t>
            </a:r>
          </a:p>
          <a:p>
            <a:r>
              <a:t>            "목적지명": "관덕정",</a:t>
            </a:r>
          </a:p>
          <a:p>
            <a:r>
              <a:t>            "도로명주소": "제주 제주시 관덕로 19-0",</a:t>
            </a:r>
          </a:p>
          <a:p>
            <a:r>
              <a:t>            "카테고리": "역사유적지"</a:t>
            </a:r>
          </a:p>
          <a:p>
            <a:r>
              <a:t>          },</a:t>
            </a:r>
          </a:p>
          <a:p>
            <a:r>
              <a:t>          {</a:t>
            </a:r>
          </a:p>
          <a:p>
            <a:r>
              <a:t>            "구분": "외지인",</a:t>
            </a:r>
          </a:p>
          <a:p>
            <a:r>
              <a:t>            "순위": "3",</a:t>
            </a:r>
          </a:p>
          <a:p>
            <a:r>
              <a:t>            "목적지명": "탐라문화광장",</a:t>
            </a:r>
          </a:p>
          <a:p>
            <a:r>
              <a:t>            "도로명주소": "제주 제주시",</a:t>
            </a:r>
          </a:p>
          <a:p>
            <a:r>
              <a:t>            "카테고리": "테마공원"</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탐라문화제 방문자 추이",</a:t>
            </a:r>
          </a:p>
          <a:p>
            <a:r>
              <a:t>      "summary": "2024→2025년 전체 166,050→133,245명 (-19.76%). 개최 5→5일, 일평균 -19.76%, 외지인 -0.40%."</a:t>
            </a:r>
          </a:p>
          <a:p>
            <a:r>
              <a:t>    },</a:t>
            </a:r>
          </a:p>
          <a:p>
            <a:r>
              <a:t>    {</a:t>
            </a:r>
          </a:p>
          <a:p>
            <a:r>
              <a:t>      "source_id": "case:festival:01474ef75569b1",</a:t>
            </a:r>
          </a:p>
          <a:p>
            <a:r>
              <a:t>      "document_type": "case_study",</a:t>
            </a:r>
          </a:p>
          <a:p>
            <a:r>
              <a:t>      "evidence_kind": "festival_statistics",</a:t>
            </a:r>
          </a:p>
          <a:p>
            <a:r>
              <a:t>      "retrieval_method": "datalab_festival_table",</a:t>
            </a:r>
          </a:p>
          <a:p>
            <a:r>
              <a:t>      "region_code": "47280",</a:t>
            </a:r>
          </a:p>
          <a:p>
            <a:r>
              <a:t>      "region_name": "경상북도 문경시",</a:t>
            </a:r>
          </a:p>
          <a:p>
            <a:r>
              <a:t>      "case_region": "경상북도 문경시",</a:t>
            </a:r>
          </a:p>
          <a:p>
            <a:r>
              <a:t>      "intervention": "문경찻사발축제",</a:t>
            </a:r>
          </a:p>
          <a:p>
            <a:r>
              <a:t>      "problem_addressed": "타지역 축제 방문 실적 참고 · 역사·공예",</a:t>
            </a:r>
          </a:p>
          <a:p>
            <a:r>
              <a:t>      "target_group": "축제 관측구역 방문자(현지인·외지인·외국인 구분)",</a:t>
            </a:r>
          </a:p>
          <a:p>
            <a:r>
              <a:t>      "operating_model": "문경찻사발축제를 2025년 9일 개최한 문화관광축제 운영 사례. 세부 프로그램·예약·혜택은 이 CSV에 기록되어 있지 않으며 새로운 운영안은 제안으로 구분한다.",</a:t>
            </a:r>
          </a:p>
          <a:p>
            <a:r>
              <a:t>      "duration": "2025년 9일",</a:t>
            </a:r>
          </a:p>
          <a:p>
            <a:r>
              <a:t>      "public_budget": "CSV에 사업비 없음",</a:t>
            </a:r>
          </a:p>
          <a:p>
            <a:r>
              <a:t>      "observed_result": "2024→2025년 전체 245,750→256,570명 (+4.40%). 개최 10→9일, 일평균 +16.00%, 외지인 +9.28%.",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문경찻사발축제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a:t>
            </a:r>
          </a:p>
          <a:p>
            <a:r>
              <a:t>          "downloaded_at": "2026-08-20",</a:t>
            </a:r>
          </a:p>
          <a:p>
            <a:r>
              <a:t>          "file_name": "20260820160334_문경찻사발축제_성_연령별 내국인 방문자.csv",</a:t>
            </a:r>
          </a:p>
          <a:p>
            <a:r>
              <a:t>          "provenance_status": "team_download_exact_query_url_unrecorded",</a:t>
            </a:r>
          </a:p>
          <a:p>
            <a:r>
              <a:t>          "provider": "한국관광 데이터랩",</a:t>
            </a:r>
          </a:p>
          <a:p>
            <a:r>
              <a:t>          "relative_path": "data/source_snapshots/festivals_20260820/25. 문경찻사발축제_2023-2025/20260820160334_문경찻사발축제_성_연령별 내국인 방문자.csv",</a:t>
            </a:r>
          </a:p>
          <a:p>
            <a:r>
              <a:t>          "sha256": "44238aecdfa68974febce93cd262e119492da76910929b96da438d8b6ee7a9b3",</a:t>
            </a:r>
          </a:p>
          <a:p>
            <a:r>
              <a:t>          "source_id": "festival-file:44238aecdfa68974febc",</a:t>
            </a:r>
          </a:p>
          <a:p>
            <a:r>
              <a:t>          "source_url": "https://datalab.visitkorea.or.kr/"</a:t>
            </a:r>
          </a:p>
          <a:p>
            <a:r>
              <a:t>        },</a:t>
            </a:r>
          </a:p>
          <a:p>
            <a:r>
              <a:t>        {</a:t>
            </a:r>
          </a:p>
          <a:p>
            <a:r>
              <a:t>          "downloaded_at": "2026-08-20",</a:t>
            </a:r>
          </a:p>
          <a:p>
            <a:r>
              <a:t>          "file_name": "20260820160334_문경찻사발축제_목적지 검색순위.csv",</a:t>
            </a:r>
          </a:p>
          <a:p>
            <a:r>
              <a:t>          "provenance_status": "team_download_exact_query_url_unrecorded",</a:t>
            </a:r>
          </a:p>
          <a:p>
            <a:r>
              <a:t>          "provider": "한국관광 데이터랩",</a:t>
            </a:r>
          </a:p>
          <a:p>
            <a:r>
              <a:t>          "relative_path": "data/source_snapshots/festivals_20260820/25. 문경찻사발축제_2023-2025/20260820160334_문경찻사발축제_목적지 검색순위.csv",</a:t>
            </a:r>
          </a:p>
          <a:p>
            <a:r>
              <a:t>          "sha256": "343671c431cfa7e76ba333ca2ea221803e111e0db5e9a51c6d387b0ba5d7eeaf",</a:t>
            </a:r>
          </a:p>
          <a:p>
            <a:r>
              <a:t>          "source_id": "festival-file:343671c431cfa7e76ba3",</a:t>
            </a:r>
          </a:p>
          <a:p>
            <a:r>
              <a:t>          "source_url": "https://datalab.visitkorea.or.kr/"</a:t>
            </a:r>
          </a:p>
          <a:p>
            <a:r>
              <a:t>        },</a:t>
            </a:r>
          </a:p>
          <a:p>
            <a:r>
              <a:t>        {</a:t>
            </a:r>
          </a:p>
          <a:p>
            <a:r>
              <a:t>          "downloaded_at": "2026-08-20",</a:t>
            </a:r>
          </a:p>
          <a:p>
            <a:r>
              <a:t>          "file_name": "20260820160334_문경찻사발축제_문화관광축제 주요 지표.csv",</a:t>
            </a:r>
          </a:p>
          <a:p>
            <a:r>
              <a:t>          "provenance_status": "team_download_exact_query_url_unrecorded",</a:t>
            </a:r>
          </a:p>
          <a:p>
            <a:r>
              <a:t>          "provider": "한국관광 데이터랩",</a:t>
            </a:r>
          </a:p>
          <a:p>
            <a:r>
              <a:t>          "relative_path": "data/source_snapshots/festivals_20260820/25. 문경찻사발축제_2023-2025/20260820160334_문경찻사발축제_문화관광축제 주요 지표.csv",</a:t>
            </a:r>
          </a:p>
          <a:p>
            <a:r>
              <a:t>          "sha256": "eadf4622620ddb1575df5f358ec588aeed8718c09e0998a19494cf0f3cfe0f16",</a:t>
            </a:r>
          </a:p>
          <a:p>
            <a:r>
              <a:t>          "source_id": "festival-file:eadf4622620ddb1575df",</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"festival_statistics": {</a:t>
            </a:r>
          </a:p>
          <a:p>
            <a:r>
              <a:t>        "name": "문경찻사발축제",</a:t>
            </a:r>
          </a:p>
          <a:p>
            <a:r>
              <a:t>        "annual": [</a:t>
            </a:r>
          </a:p>
          <a:p>
            <a:r>
              <a:t>          {</a:t>
            </a:r>
          </a:p>
          <a:p>
            <a:r>
              <a:t>            "daily": 23055.333333333332,</a:t>
            </a:r>
          </a:p>
          <a:p>
            <a:r>
              <a:t>            "days": 9,</a:t>
            </a:r>
          </a:p>
          <a:p>
            <a:r>
              <a:t>            "foreign": 1241.0,</a:t>
            </a:r>
          </a:p>
          <a:p>
            <a:r>
              <a:t>            "local": 59726.0,</a:t>
            </a:r>
          </a:p>
          <a:p>
            <a:r>
              <a:t>            "outside": 146531.0,</a:t>
            </a:r>
          </a:p>
          <a:p>
            <a:r>
              <a:t>            "outside_daily": 16281.222222222223,</a:t>
            </a:r>
          </a:p>
          <a:p>
            <a:r>
              <a:t>            "outside_share_pct": 70.61803005330172,</a:t>
            </a:r>
          </a:p>
          <a:p>
            <a:r>
              <a:t>            "total": 207498.0,</a:t>
            </a:r>
          </a:p>
          <a:p>
            <a:r>
              <a:t>            "year": 2023</a:t>
            </a:r>
          </a:p>
          <a:p>
            <a:r>
              <a:t>          },</a:t>
            </a:r>
          </a:p>
          <a:p>
            <a:r>
              <a:t>          {</a:t>
            </a:r>
          </a:p>
          <a:p>
            <a:r>
              <a:t>            "daily": 24575.0,</a:t>
            </a:r>
          </a:p>
          <a:p>
            <a:r>
              <a:t>            "days": 10,</a:t>
            </a:r>
          </a:p>
          <a:p>
            <a:r>
              <a:t>            "foreign": 1170.0,</a:t>
            </a:r>
          </a:p>
          <a:p>
            <a:r>
              <a:t>            "local": 64582.0,</a:t>
            </a:r>
          </a:p>
          <a:p>
            <a:r>
              <a:t>            "outside": 179998.0,</a:t>
            </a:r>
          </a:p>
          <a:p>
            <a:r>
              <a:t>            "outside_daily": 17999.8,</a:t>
            </a:r>
          </a:p>
          <a:p>
            <a:r>
              <a:t>            "outside_share_pct": 73.2443540183113,</a:t>
            </a:r>
          </a:p>
          <a:p>
            <a:r>
              <a:t>            "total": 245750.0,</a:t>
            </a:r>
          </a:p>
          <a:p>
            <a:r>
              <a:t>            "year": 2024</a:t>
            </a:r>
          </a:p>
          <a:p>
            <a:r>
              <a:t>          },</a:t>
            </a:r>
          </a:p>
          <a:p>
            <a:r>
              <a:t>          {</a:t>
            </a:r>
          </a:p>
          <a:p>
            <a:r>
              <a:t>            "daily": 28507.777777777777,</a:t>
            </a:r>
          </a:p>
          <a:p>
            <a:r>
              <a:t>            "days": 9,</a:t>
            </a:r>
          </a:p>
          <a:p>
            <a:r>
              <a:t>            "foreign": 1166.0,</a:t>
            </a:r>
          </a:p>
          <a:p>
            <a:r>
              <a:t>            "local": 58704.0,</a:t>
            </a:r>
          </a:p>
          <a:p>
            <a:r>
              <a:t>            "outside": 196700.0,</a:t>
            </a:r>
          </a:p>
          <a:p>
            <a:r>
              <a:t>            "outside_daily": 21855.555555555555,</a:t>
            </a:r>
          </a:p>
          <a:p>
            <a:r>
              <a:t>            "outside_share_pct": 76.66523755700199,</a:t>
            </a:r>
          </a:p>
          <a:p>
            <a:r>
              <a:t>            "total": 256570.0,</a:t>
            </a:r>
          </a:p>
          <a:p>
            <a:r>
              <a:t>            "year": 2025</a:t>
            </a:r>
          </a:p>
          <a:p>
            <a:r>
              <a:t>          }</a:t>
            </a:r>
          </a:p>
          <a:p>
            <a:r>
              <a:t>        ],</a:t>
            </a:r>
          </a:p>
          <a:p>
            <a:r>
              <a:t>        "comparison": {</a:t>
            </a:r>
          </a:p>
          <a:p>
            <a:r>
              <a:t>          "after_days": 9,</a:t>
            </a:r>
          </a:p>
          <a:p>
            <a:r>
              <a:t>          "after_year": 2025,</a:t>
            </a:r>
          </a:p>
          <a:p>
            <a:r>
              <a:t>          "before_days": 10,</a:t>
            </a:r>
          </a:p>
          <a:p>
            <a:r>
              <a:t>          "before_year": 2024,</a:t>
            </a:r>
          </a:p>
          <a:p>
            <a:r>
              <a:t>          "daily": {</a:t>
            </a:r>
          </a:p>
          <a:p>
            <a:r>
              <a:t>            "after": 28507.777777777777,</a:t>
            </a:r>
          </a:p>
          <a:p>
            <a:r>
              <a:t>            "before": 24575.0,</a:t>
            </a:r>
          </a:p>
          <a:p>
            <a:r>
              <a:t>            "change_pct": 16.00316491466034,</a:t>
            </a:r>
          </a:p>
          <a:p>
            <a:r>
              <a:t>            "difference": 3932.7777777777774</a:t>
            </a:r>
          </a:p>
          <a:p>
            <a:r>
              <a:t>          },</a:t>
            </a:r>
          </a:p>
          <a:p>
            <a:r>
              <a:t>          "outside": {</a:t>
            </a:r>
          </a:p>
          <a:p>
            <a:r>
              <a:t>            "after": 196700.0,</a:t>
            </a:r>
          </a:p>
          <a:p>
            <a:r>
              <a:t>            "before": 179998.0,</a:t>
            </a:r>
          </a:p>
          <a:p>
            <a:r>
              <a:t>            "change_pct": 9.278991988799866,</a:t>
            </a:r>
          </a:p>
          <a:p>
            <a:r>
              <a:t>            "difference": 16702.0</a:t>
            </a:r>
          </a:p>
          <a:p>
            <a:r>
              <a:t>          },</a:t>
            </a:r>
          </a:p>
          <a:p>
            <a:r>
              <a:t>          "outside_daily": {</a:t>
            </a:r>
          </a:p>
          <a:p>
            <a:r>
              <a:t>            "after": 21855.555555555555,</a:t>
            </a:r>
          </a:p>
          <a:p>
            <a:r>
              <a:t>            "before": 17999.8,</a:t>
            </a:r>
          </a:p>
          <a:p>
            <a:r>
              <a:t>            "change_pct": 21.421102209777644,</a:t>
            </a:r>
          </a:p>
          <a:p>
            <a:r>
              <a:t>            "difference": 3855.7555555555555</a:t>
            </a:r>
          </a:p>
          <a:p>
            <a:r>
              <a:t>          },</a:t>
            </a:r>
          </a:p>
          <a:p>
            <a:r>
              <a:t>          "total": {</a:t>
            </a:r>
          </a:p>
          <a:p>
            <a:r>
              <a:t>            "after": 256570.0,</a:t>
            </a:r>
          </a:p>
          <a:p>
            <a:r>
              <a:t>            "before": 245750.0,</a:t>
            </a:r>
          </a:p>
          <a:p>
            <a:r>
              <a:t>            "change_pct": 4.402848423194294,</a:t>
            </a:r>
          </a:p>
          <a:p>
            <a:r>
              <a:t>            "difference": 10820.0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"0.414",</a:t>
            </a:r>
          </a:p>
          <a:p>
            <a:r>
              <a:t>            "축제명": "문경찻사발축제"</a:t>
            </a:r>
          </a:p>
          <a:p>
            <a:r>
              <a:t>          },</a:t>
            </a:r>
          </a:p>
          <a:p>
            <a:r>
              <a:t>          {</a:t>
            </a:r>
          </a:p>
          <a:p>
            <a:r>
              <a:t>            "개최년도": "2025",</a:t>
            </a:r>
          </a:p>
          <a:p>
            <a:r>
              <a:t>            "구분명": "현지인방문자 유입",</a:t>
            </a:r>
          </a:p>
          <a:p>
            <a:r>
              <a:t>            "그룹명": "축제기간",</a:t>
            </a:r>
          </a:p>
          <a:p>
            <a:r>
              <a:t>            "지표값": "0.86",</a:t>
            </a:r>
          </a:p>
          <a:p>
            <a:r>
              <a:t>            "축제명": "문경찻사발축제"</a:t>
            </a:r>
          </a:p>
          <a:p>
            <a:r>
              <a:t>          },</a:t>
            </a:r>
          </a:p>
          <a:p>
            <a:r>
              <a:t>          {</a:t>
            </a:r>
          </a:p>
          <a:p>
            <a:r>
              <a:t>            "개최년도": "2025",</a:t>
            </a:r>
          </a:p>
          <a:p>
            <a:r>
              <a:t>            "구분명": "내비게이션 검색량",</a:t>
            </a:r>
          </a:p>
          <a:p>
            <a:r>
              <a:t>            "그룹명": "축제기간",</a:t>
            </a:r>
          </a:p>
          <a:p>
            <a:r>
              <a:t>            "지표값": "0.273",</a:t>
            </a:r>
          </a:p>
          <a:p>
            <a:r>
              <a:t>            "축제명": "문경찻사발축제"</a:t>
            </a:r>
          </a:p>
          <a:p>
            <a:r>
              <a:t>          },</a:t>
            </a:r>
          </a:p>
          <a:p>
            <a:r>
              <a:t>          {</a:t>
            </a:r>
          </a:p>
          <a:p>
            <a:r>
              <a:t>            "개최년도": "2025",</a:t>
            </a:r>
          </a:p>
          <a:p>
            <a:r>
              <a:t>            "구분명": "관광소비",</a:t>
            </a:r>
          </a:p>
          <a:p>
            <a:r>
              <a:t>            "그룹명": "축제기간",</a:t>
            </a:r>
          </a:p>
          <a:p>
            <a:r>
              <a:t>            "지표값": "0.536",</a:t>
            </a:r>
          </a:p>
          <a:p>
            <a:r>
              <a:t>            "축제명": "문경찻사발축제"</a:t>
            </a:r>
          </a:p>
          <a:p>
            <a:r>
              <a:t>          },</a:t>
            </a:r>
          </a:p>
          <a:p>
            <a:r>
              <a:t>          {</a:t>
            </a:r>
          </a:p>
          <a:p>
            <a:r>
              <a:t>            "개최년도": "2025",</a:t>
            </a:r>
          </a:p>
          <a:p>
            <a:r>
              <a:t>            "구분명": "축제지 집중률",</a:t>
            </a:r>
          </a:p>
          <a:p>
            <a:r>
              <a:t>            "그룹명": "축제기간",</a:t>
            </a:r>
          </a:p>
          <a:p>
            <a:r>
              <a:t>            "지표값": "0.716",</a:t>
            </a:r>
          </a:p>
          <a:p>
            <a:r>
              <a:t>            "축제명": "문경찻사발축제"</a:t>
            </a:r>
          </a:p>
          <a:p>
            <a:r>
              <a:t>          },</a:t>
            </a:r>
          </a:p>
          <a:p>
            <a:r>
              <a:t>          {</a:t>
            </a:r>
          </a:p>
          <a:p>
            <a:r>
              <a:t>            "개최년도": "2025",</a:t>
            </a:r>
          </a:p>
          <a:p>
            <a:r>
              <a:t>            "구분명": "외부방문자 유입",</a:t>
            </a:r>
          </a:p>
          <a:p>
            <a:r>
              <a:t>            "그룹명": "비축제기간",</a:t>
            </a:r>
          </a:p>
          <a:p>
            <a:r>
              <a:t>            "지표값": "0.217",</a:t>
            </a:r>
          </a:p>
          <a:p>
            <a:r>
              <a:t>            "축제명": "문경찻사발축제"</a:t>
            </a:r>
          </a:p>
          <a:p>
            <a:r>
              <a:t>          },</a:t>
            </a:r>
          </a:p>
          <a:p>
            <a:r>
              <a:t>          {</a:t>
            </a:r>
          </a:p>
          <a:p>
            <a:r>
              <a:t>            "개최년도": "2025",</a:t>
            </a:r>
          </a:p>
          <a:p>
            <a:r>
              <a:t>            "구분명": "현지인방문자 유입",</a:t>
            </a:r>
          </a:p>
          <a:p>
            <a:r>
              <a:t>            "그룹명": "비축제기간",</a:t>
            </a:r>
          </a:p>
          <a:p>
            <a:r>
              <a:t>            "지표값": "0.725",</a:t>
            </a:r>
          </a:p>
          <a:p>
            <a:r>
              <a:t>            "축제명": "문경찻사발축제"</a:t>
            </a:r>
          </a:p>
          <a:p>
            <a:r>
              <a:t>          },</a:t>
            </a:r>
          </a:p>
          <a:p>
            <a:r>
              <a:t>          {</a:t>
            </a:r>
          </a:p>
          <a:p>
            <a:r>
              <a:t>            "개최년도": "2025",</a:t>
            </a:r>
          </a:p>
          <a:p>
            <a:r>
              <a:t>            "구분명": "내비게이션 검색량",</a:t>
            </a:r>
          </a:p>
          <a:p>
            <a:r>
              <a:t>            "그룹명": "비축제기간",</a:t>
            </a:r>
          </a:p>
          <a:p>
            <a:r>
              <a:t>            "지표값": "0.148",</a:t>
            </a:r>
          </a:p>
          <a:p>
            <a:r>
              <a:t>            "축제명": "문경찻사발축제"</a:t>
            </a:r>
          </a:p>
          <a:p>
            <a:r>
              <a:t>          },</a:t>
            </a:r>
          </a:p>
          <a:p>
            <a:r>
              <a:t>          {</a:t>
            </a:r>
          </a:p>
          <a:p>
            <a:r>
              <a:t>            "개최년도": "2025",</a:t>
            </a:r>
          </a:p>
          <a:p>
            <a:r>
              <a:t>            "구분명": "관광소비",</a:t>
            </a:r>
          </a:p>
          <a:p>
            <a:r>
              <a:t>            "그룹명": "비축제기간",</a:t>
            </a:r>
          </a:p>
          <a:p>
            <a:r>
              <a:t>            "지표값": "0.381",</a:t>
            </a:r>
          </a:p>
          <a:p>
            <a:r>
              <a:t>            "축제명": "문경찻사발축제"</a:t>
            </a:r>
          </a:p>
          <a:p>
            <a:r>
              <a:t>          },</a:t>
            </a:r>
          </a:p>
          <a:p>
            <a:r>
              <a:t>          {</a:t>
            </a:r>
          </a:p>
          <a:p>
            <a:r>
              <a:t>            "개최년도": "2025",</a:t>
            </a:r>
          </a:p>
          <a:p>
            <a:r>
              <a:t>            "구분명": "축제지 집중률",</a:t>
            </a:r>
          </a:p>
          <a:p>
            <a:r>
              <a:t>            "그룹명": "비축제기간",</a:t>
            </a:r>
          </a:p>
          <a:p>
            <a:r>
              <a:t>            "지표값": "0.607",</a:t>
            </a:r>
          </a:p>
          <a:p>
            <a:r>
              <a:t>            "축제명": "문경찻사발축제"</a:t>
            </a:r>
          </a:p>
          <a:p>
            <a:r>
              <a:t>          }</a:t>
            </a:r>
          </a:p>
          <a:p>
            <a:r>
              <a:t>        ],</a:t>
            </a:r>
          </a:p>
          <a:p>
            <a:r>
              <a:t>        "indicator_rule": "원본 지표값만 보존. 산식·단위 미확인으로 성장률/원화/정원/참여율 변환 금지.",</a:t>
            </a:r>
          </a:p>
          <a:p>
            <a:r>
              <a:t>        "audience": [</a:t>
            </a:r>
          </a:p>
          <a:p>
            <a:r>
              <a:t>          {</a:t>
            </a:r>
          </a:p>
          <a:p>
            <a:r>
              <a:t>            "남성비율": "4.0",</a:t>
            </a:r>
          </a:p>
          <a:p>
            <a:r>
              <a:t>            "여성비율": "3.8",</a:t>
            </a:r>
          </a:p>
          <a:p>
            <a:r>
              <a:t>            "연령대": "70세 이상",</a:t>
            </a:r>
          </a:p>
          <a:p>
            <a:r>
              <a:t>            "축제명": "문경찻사발축제"</a:t>
            </a:r>
          </a:p>
          <a:p>
            <a:r>
              <a:t>          },</a:t>
            </a:r>
          </a:p>
          <a:p>
            <a:r>
              <a:t>          {</a:t>
            </a:r>
          </a:p>
          <a:p>
            <a:r>
              <a:t>            "남성비율": "12.3",</a:t>
            </a:r>
          </a:p>
          <a:p>
            <a:r>
              <a:t>            "여성비율": "10.0",</a:t>
            </a:r>
          </a:p>
          <a:p>
            <a:r>
              <a:t>            "연령대": "60~69세",</a:t>
            </a:r>
          </a:p>
          <a:p>
            <a:r>
              <a:t>            "축제명": "문경찻사발축제"</a:t>
            </a:r>
          </a:p>
          <a:p>
            <a:r>
              <a:t>          },</a:t>
            </a:r>
          </a:p>
          <a:p>
            <a:r>
              <a:t>          {</a:t>
            </a:r>
          </a:p>
          <a:p>
            <a:r>
              <a:t>            "남성비율": "13.0",</a:t>
            </a:r>
          </a:p>
          <a:p>
            <a:r>
              <a:t>            "여성비율": "11.7",</a:t>
            </a:r>
          </a:p>
          <a:p>
            <a:r>
              <a:t>            "연령대": "50~59세",</a:t>
            </a:r>
          </a:p>
          <a:p>
            <a:r>
              <a:t>            "축제명": "문경찻사발축제"</a:t>
            </a:r>
          </a:p>
          <a:p>
            <a:r>
              <a:t>          },</a:t>
            </a:r>
          </a:p>
          <a:p>
            <a:r>
              <a:t>          {</a:t>
            </a:r>
          </a:p>
          <a:p>
            <a:r>
              <a:t>            "남성비율": "9.3",</a:t>
            </a:r>
          </a:p>
          <a:p>
            <a:r>
              <a:t>            "여성비율": "7.6",</a:t>
            </a:r>
          </a:p>
          <a:p>
            <a:r>
              <a:t>            "연령대": "40~49세",</a:t>
            </a:r>
          </a:p>
          <a:p>
            <a:r>
              <a:t>            "축제명": "문경찻사발축제"</a:t>
            </a:r>
          </a:p>
          <a:p>
            <a:r>
              <a:t>          },</a:t>
            </a:r>
          </a:p>
          <a:p>
            <a:r>
              <a:t>          {</a:t>
            </a:r>
          </a:p>
          <a:p>
            <a:r>
              <a:t>            "남성비율": "7.2",</a:t>
            </a:r>
          </a:p>
          <a:p>
            <a:r>
              <a:t>            "여성비율": "6.1",</a:t>
            </a:r>
          </a:p>
          <a:p>
            <a:r>
              <a:t>            "연령대": "30~39세",</a:t>
            </a:r>
          </a:p>
          <a:p>
            <a:r>
              <a:t>            "축제명": "문경찻사발축제"</a:t>
            </a:r>
          </a:p>
          <a:p>
            <a:r>
              <a:t>          },</a:t>
            </a:r>
          </a:p>
          <a:p>
            <a:r>
              <a:t>          {</a:t>
            </a:r>
          </a:p>
          <a:p>
            <a:r>
              <a:t>            "남성비율": "4.6",</a:t>
            </a:r>
          </a:p>
          <a:p>
            <a:r>
              <a:t>            "여성비율": "4.1",</a:t>
            </a:r>
          </a:p>
          <a:p>
            <a:r>
              <a:t>            "연령대": "20~29세",</a:t>
            </a:r>
          </a:p>
          <a:p>
            <a:r>
              <a:t>            "축제명": "문경찻사발축제"</a:t>
            </a:r>
          </a:p>
          <a:p>
            <a:r>
              <a:t>          },</a:t>
            </a:r>
          </a:p>
          <a:p>
            <a:r>
              <a:t>          {</a:t>
            </a:r>
          </a:p>
          <a:p>
            <a:r>
              <a:t>            "남성비율": "2.5",</a:t>
            </a:r>
          </a:p>
          <a:p>
            <a:r>
              <a:t>            "여성비율": "2.5",</a:t>
            </a:r>
          </a:p>
          <a:p>
            <a:r>
              <a:t>            "연령대": "10~19세",</a:t>
            </a:r>
          </a:p>
          <a:p>
            <a:r>
              <a:t>            "축제명": "문경찻사발축제"</a:t>
            </a:r>
          </a:p>
          <a:p>
            <a:r>
              <a:t>          },</a:t>
            </a:r>
          </a:p>
          <a:p>
            <a:r>
              <a:t>          {</a:t>
            </a:r>
          </a:p>
          <a:p>
            <a:r>
              <a:t>            "남성비율": "0.6",</a:t>
            </a:r>
          </a:p>
          <a:p>
            <a:r>
              <a:t>            "여성비율": "0.6",</a:t>
            </a:r>
          </a:p>
          <a:p>
            <a:r>
              <a:t>            "연령대": "0~9세",</a:t>
            </a:r>
          </a:p>
          <a:p>
            <a:r>
              <a:t>            "축제명": "문경찻사발축제"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문경찻사발축제 방문자 추이",</a:t>
            </a:r>
          </a:p>
          <a:p>
            <a:r>
              <a:t>      "summary": "2024→2025년 전체 245,750→256,570명 (+4.40%). 개최 10→9일, 일평균 +16.00%, 외지인 +9.28%."</a:t>
            </a:r>
          </a:p>
          <a:p>
            <a:r>
              <a:t>    },</a:t>
            </a:r>
          </a:p>
          <a:p>
            <a:r>
              <a:t>    {</a:t>
            </a:r>
          </a:p>
          <a:p>
            <a:r>
              <a:t>      "source_id": "case:festival:0e9c7c065555b0",</a:t>
            </a:r>
          </a:p>
          <a:p>
            <a:r>
              <a:t>      "document_type": "case_study",</a:t>
            </a:r>
          </a:p>
          <a:p>
            <a:r>
              <a:t>      "evidence_kind": "festival_statistics",</a:t>
            </a:r>
          </a:p>
          <a:p>
            <a:r>
              <a:t>      "retrieval_method": "datalab_festival_table",</a:t>
            </a:r>
          </a:p>
          <a:p>
            <a:r>
              <a:t>      "region_code": "47170",</a:t>
            </a:r>
          </a:p>
          <a:p>
            <a:r>
              <a:t>      "region_name": "경상북도 안동시",</a:t>
            </a:r>
          </a:p>
          <a:p>
            <a:r>
              <a:t>      "case_region": "경상북도 안동시",</a:t>
            </a:r>
          </a:p>
          <a:p>
            <a:r>
              <a:t>      "intervention": "안동탈춤축제",</a:t>
            </a:r>
          </a:p>
          <a:p>
            <a:r>
              <a:t>      "problem_addressed": "타지역 축제 방문 실적 참고 · 공연·문화",</a:t>
            </a:r>
          </a:p>
          <a:p>
            <a:r>
              <a:t>      "target_group": "축제 관측구역 방문자(현지인·외지인·외국인 구분)",</a:t>
            </a:r>
          </a:p>
          <a:p>
            <a:r>
              <a:t>      "operating_model": "안동탈춤축제를 2025년 10일 개최한 문화관광축제 운영 사례. 세부 프로그램·예약·혜택은 이 CSV에 기록되어 있지 않으며 새로운 운영안은 제안으로 구분한다.",</a:t>
            </a:r>
          </a:p>
          <a:p>
            <a:r>
              <a:t>      "duration": "2025년 10일",</a:t>
            </a:r>
          </a:p>
          <a:p>
            <a:r>
              <a:t>      "public_budget": "CSV에 사업비 없음",</a:t>
            </a:r>
          </a:p>
          <a:p>
            <a:r>
              <a:t>      "observed_result": "2024→2025년 전체 504,573→554,494명 (+9.89%). 개최 10→10일, 일평균 +9.89%, 외지인 +10.75%.",</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안동탈춤축제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"20260820175023_안동탈춤축제_연도별 방문자 추이.csv",</a:t>
            </a:r>
          </a:p>
          <a:p>
            <a:r>
              <a:t>          "provenance_status": "team_download_exact_query_url_unrecorded",</a:t>
            </a:r>
          </a:p>
          <a:p>
            <a:r>
              <a:t>          "provider": "한국관광 데이터랩",</a:t>
            </a:r>
          </a:p>
          <a:p>
            <a:r>
              <a:t>          "relative_path": "data/source_snapshots/festivals_20260820/43. 안동탈춤축제_2023-2025/20260820175023_안동탈춤축제_연도별 방문자 추이.csv",</a:t>
            </a:r>
          </a:p>
          <a:p>
            <a:r>
              <a:t>          "sha256": "28f418873eda5b37d320d3fef32c46bef172ca1cfea3861db2d5fc96a0b16f50",</a:t>
            </a:r>
          </a:p>
          <a:p>
            <a:r>
              <a:t>          "source_id": "festival-file:28f418873eda5b37d320",</a:t>
            </a:r>
          </a:p>
          <a:p>
            <a:r>
              <a:t>          "source_url": "https://datalab.visitkorea.or.kr/"</a:t>
            </a:r>
          </a:p>
          <a:p>
            <a:r>
              <a:t>        },</a:t>
            </a:r>
          </a:p>
          <a:p>
            <a:r>
              <a:t>        {</a:t>
            </a:r>
          </a:p>
          <a:p>
            <a:r>
              <a:t>          "downloaded_at": "2026-08-20",</a:t>
            </a:r>
          </a:p>
          <a:p>
            <a:r>
              <a:t>          "file_name": "20260820175023_안동탈춤축제_성_연령별 내국인 방문자.csv",</a:t>
            </a:r>
          </a:p>
          <a:p>
            <a:r>
              <a:t>          "provenance_status": "team_download_exact_query_url_unrecorded",</a:t>
            </a:r>
          </a:p>
          <a:p>
            <a:r>
              <a:t>          "provider": "한국관광 데이터랩",</a:t>
            </a:r>
          </a:p>
          <a:p>
            <a:r>
              <a:t>          "relative_path": "data/source_snapshots/festivals_20260820/43. 안동탈춤축제_2023-2025/20260820175023_안동탈춤축제_성_연령별 내국인 방문자.csv",</a:t>
            </a:r>
          </a:p>
          <a:p>
            <a:r>
              <a:t>          "sha256": "c0b34e003112bda1f5afa06dcb153cc870d61730036ef23f1b3e7aed39ca5458",</a:t>
            </a:r>
          </a:p>
          <a:p>
            <a:r>
              <a:t>          "source_id": "festival-file:c0b34e003112bda1f5af",</a:t>
            </a:r>
          </a:p>
          <a:p>
            <a:r>
              <a:t>          "source_url": "https://datalab.visitkorea.or.kr/"</a:t>
            </a:r>
          </a:p>
          <a:p>
            <a:r>
              <a:t>        },</a:t>
            </a:r>
          </a:p>
          <a:p>
            <a:r>
              <a:t>        {</a:t>
            </a:r>
          </a:p>
          <a:p>
            <a:r>
              <a:t>          "downloaded_at": "2026-08-20",</a:t>
            </a:r>
          </a:p>
          <a:p>
            <a:r>
              <a:t>          "file_name": "20260820175023_안동탈춤축제_목적지 검색순위.csv",</a:t>
            </a:r>
          </a:p>
          <a:p>
            <a:r>
              <a:t>          "provenance_status": "team_download_exact_query_url_unrecorded",</a:t>
            </a:r>
          </a:p>
          <a:p>
            <a:r>
              <a:t>          "provider": "한국관광 데이터랩",</a:t>
            </a:r>
          </a:p>
          <a:p>
            <a:r>
              <a:t>          "relative_path": "data/source_snapshots/festivals_20260820/43. 안동탈춤축제_2023-2025/20260820175023_안동탈춤축제_목적지 검색순위.csv",</a:t>
            </a:r>
          </a:p>
          <a:p>
            <a:r>
              <a:t>          "sha256": "11de7e20288dde00f7f18e353a24b5a95c511a7dc354ec9cc2c7a3a2436712f6",</a:t>
            </a:r>
          </a:p>
          <a:p>
            <a:r>
              <a:t>          "source_id": "festival-file:11de7e20288dde00f7f1",</a:t>
            </a:r>
          </a:p>
          <a:p>
            <a:r>
              <a:t>          "source_url": "https://datalab.visitkorea.or.kr/"</a:t>
            </a:r>
          </a:p>
          <a:p>
            <a:r>
              <a:t>        },</a:t>
            </a:r>
          </a:p>
          <a:p>
            <a:r>
              <a:t>        {</a:t>
            </a:r>
          </a:p>
          <a:p>
            <a:r>
              <a:t>          "downloaded_at": "2026-08-20",</a:t>
            </a:r>
          </a:p>
          <a:p>
            <a:r>
              <a:t>          "file_name": "20260820175023_안동탈춤축제_문화관광축제 주요 지표.csv",</a:t>
            </a:r>
          </a:p>
          <a:p>
            <a:r>
              <a:t>          "provenance_status": "team_download_exact_query_url_unrecorded",</a:t>
            </a:r>
          </a:p>
          <a:p>
            <a:r>
              <a:t>          "provider": "한국관광 데이터랩",</a:t>
            </a:r>
          </a:p>
          <a:p>
            <a:r>
              <a:t>          "relative_path": "data/source_snapshots/festivals_20260820/43. 안동탈춤축제_2023-2025/20260820175023_안동탈춤축제_문화관광축제 주요 지표.csv",</a:t>
            </a:r>
          </a:p>
          <a:p>
            <a:r>
              <a:t>          "sha256": "40ddabd2e46fcb12bc9cc2361174e1a5ebe80f169611896b6d4b5e60d9fda352",</a:t>
            </a:r>
          </a:p>
          <a:p>
            <a:r>
              <a:t>          "source_id": "festival-file:40ddabd2e46fcb12bc9c",</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"festival_statistics": {</a:t>
            </a:r>
          </a:p>
          <a:p>
            <a:r>
              <a:t>        "name": "안동탈춤축제",</a:t>
            </a:r>
          </a:p>
          <a:p>
            <a:r>
              <a:t>        "annual": [</a:t>
            </a:r>
          </a:p>
          <a:p>
            <a:r>
              <a:t>          {</a:t>
            </a:r>
          </a:p>
          <a:p>
            <a:r>
              <a:t>            "daily": 45517.125,</a:t>
            </a:r>
          </a:p>
          <a:p>
            <a:r>
              <a:t>            "days": 8,</a:t>
            </a:r>
          </a:p>
          <a:p>
            <a:r>
              <a:t>            "foreign": 3319.0,</a:t>
            </a:r>
          </a:p>
          <a:p>
            <a:r>
              <a:t>            "local": 233513.0,</a:t>
            </a:r>
          </a:p>
          <a:p>
            <a:r>
              <a:t>            "outside": 127305.0,</a:t>
            </a:r>
          </a:p>
          <a:p>
            <a:r>
              <a:t>            "outside_daily": 15913.125,</a:t>
            </a:r>
          </a:p>
          <a:p>
            <a:r>
              <a:t>            "outside_share_pct": 34.960742797353745,</a:t>
            </a:r>
          </a:p>
          <a:p>
            <a:r>
              <a:t>            "total": 364137.0,</a:t>
            </a:r>
          </a:p>
          <a:p>
            <a:r>
              <a:t>            "year": 2023</a:t>
            </a:r>
          </a:p>
          <a:p>
            <a:r>
              <a:t>          },</a:t>
            </a:r>
          </a:p>
          <a:p>
            <a:r>
              <a:t>          {</a:t>
            </a:r>
          </a:p>
          <a:p>
            <a:r>
              <a:t>            "daily": 50457.3,</a:t>
            </a:r>
          </a:p>
          <a:p>
            <a:r>
              <a:t>            "days": 10,</a:t>
            </a:r>
          </a:p>
          <a:p>
            <a:r>
              <a:t>            "foreign": 4684.0,</a:t>
            </a:r>
          </a:p>
          <a:p>
            <a:r>
              <a:t>            "local": 317925.0,</a:t>
            </a:r>
          </a:p>
          <a:p>
            <a:r>
              <a:t>            "outside": 181964.0,</a:t>
            </a:r>
          </a:p>
          <a:p>
            <a:r>
              <a:t>            "outside_daily": 18196.4,</a:t>
            </a:r>
          </a:p>
          <a:p>
            <a:r>
              <a:t>            "outside_share_pct": 36.06296809381398,</a:t>
            </a:r>
          </a:p>
          <a:p>
            <a:r>
              <a:t>            "total": 504573.0,</a:t>
            </a:r>
          </a:p>
          <a:p>
            <a:r>
              <a:t>            "year": 2024</a:t>
            </a:r>
          </a:p>
          <a:p>
            <a:r>
              <a:t>          },</a:t>
            </a:r>
          </a:p>
          <a:p>
            <a:r>
              <a:t>          {</a:t>
            </a:r>
          </a:p>
          <a:p>
            <a:r>
              <a:t>            "daily": 55449.4,</a:t>
            </a:r>
          </a:p>
          <a:p>
            <a:r>
              <a:t>            "days": 10,</a:t>
            </a:r>
          </a:p>
          <a:p>
            <a:r>
              <a:t>            "foreign": 5702.0,</a:t>
            </a:r>
          </a:p>
          <a:p>
            <a:r>
              <a:t>            "local": 347269.0,</a:t>
            </a:r>
          </a:p>
          <a:p>
            <a:r>
              <a:t>            "outside": 201523.0,</a:t>
            </a:r>
          </a:p>
          <a:p>
            <a:r>
              <a:t>            "outside_daily": 20152.3,</a:t>
            </a:r>
          </a:p>
          <a:p>
            <a:r>
              <a:t>            "outside_share_pct": 36.34358532283487,</a:t>
            </a:r>
          </a:p>
          <a:p>
            <a:r>
              <a:t>            "total": 554494.0,</a:t>
            </a:r>
          </a:p>
          <a:p>
            <a:r>
              <a:t>            "year": 2025</a:t>
            </a:r>
          </a:p>
          <a:p>
            <a:r>
              <a:t>          }</a:t>
            </a:r>
          </a:p>
          <a:p>
            <a:r>
              <a:t>        ],</a:t>
            </a:r>
          </a:p>
          <a:p>
            <a:r>
              <a:t>        "comparison": {</a:t>
            </a:r>
          </a:p>
          <a:p>
            <a:r>
              <a:t>          "after_days": 10,</a:t>
            </a:r>
          </a:p>
          <a:p>
            <a:r>
              <a:t>          "after_year": 2025,</a:t>
            </a:r>
          </a:p>
          <a:p>
            <a:r>
              <a:t>          "before_days": 10,</a:t>
            </a:r>
          </a:p>
          <a:p>
            <a:r>
              <a:t>          "before_year": 2024,</a:t>
            </a:r>
          </a:p>
          <a:p>
            <a:r>
              <a:t>          "daily": {</a:t>
            </a:r>
          </a:p>
          <a:p>
            <a:r>
              <a:t>            "after": 55449.4,</a:t>
            </a:r>
          </a:p>
          <a:p>
            <a:r>
              <a:t>            "before": 50457.3,</a:t>
            </a:r>
          </a:p>
          <a:p>
            <a:r>
              <a:t>            "change_pct": 9.893712109050611,</a:t>
            </a:r>
          </a:p>
          <a:p>
            <a:r>
              <a:t>            "difference": 4992.0999999999985</a:t>
            </a:r>
          </a:p>
          <a:p>
            <a:r>
              <a:t>          },</a:t>
            </a:r>
          </a:p>
          <a:p>
            <a:r>
              <a:t>          "outside": {</a:t>
            </a:r>
          </a:p>
          <a:p>
            <a:r>
              <a:t>            "after": 201523.0,</a:t>
            </a:r>
          </a:p>
          <a:p>
            <a:r>
              <a:t>            "before": 181964.0,</a:t>
            </a:r>
          </a:p>
          <a:p>
            <a:r>
              <a:t>            "change_pct": 10.748829438790096,</a:t>
            </a:r>
          </a:p>
          <a:p>
            <a:r>
              <a:t>            "difference": 19559.0</a:t>
            </a:r>
          </a:p>
          <a:p>
            <a:r>
              <a:t>          },</a:t>
            </a:r>
          </a:p>
          <a:p>
            <a:r>
              <a:t>          "outside_daily": {</a:t>
            </a:r>
          </a:p>
          <a:p>
            <a:r>
              <a:t>            "after": 20152.3,</a:t>
            </a:r>
          </a:p>
          <a:p>
            <a:r>
              <a:t>            "before": 18196.4,</a:t>
            </a:r>
          </a:p>
          <a:p>
            <a:r>
              <a:t>            "change_pct": 10.748829438790075,</a:t>
            </a:r>
          </a:p>
          <a:p>
            <a:r>
              <a:t>            "difference": 1955.8999999999978</a:t>
            </a:r>
          </a:p>
          <a:p>
            <a:r>
              <a:t>          },</a:t>
            </a:r>
          </a:p>
          <a:p>
            <a:r>
              <a:t>          "total": {</a:t>
            </a:r>
          </a:p>
          <a:p>
            <a:r>
              <a:t>            "after": 554494.0,</a:t>
            </a:r>
          </a:p>
          <a:p>
            <a:r>
              <a:t>            "before": 504573.0,</a:t>
            </a:r>
          </a:p>
          <a:p>
            <a:r>
              <a:t>            "change_pct": 9.893712109050611,</a:t>
            </a:r>
          </a:p>
          <a:p>
            <a:r>
              <a:t>            "difference": 49921.0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"20260820175023_안동탈춤축제_연도별 방문자 추이.csv",</a:t>
            </a:r>
          </a:p>
          <a:p>
            <a:r>
              <a:t>          "provenance_status": "team_download_exact_query_url_unrecorded",</a:t>
            </a:r>
          </a:p>
          <a:p>
            <a:r>
              <a:t>          "provider": "한국관광 데이터랩",</a:t>
            </a:r>
          </a:p>
          <a:p>
            <a:r>
              <a:t>          "relative_path": "data/source_snapshots/festivals_20260820/43. 안동탈춤축제_2023-2025/20260820175023_안동탈춤축제_연도별 방문자 추이.csv",</a:t>
            </a:r>
          </a:p>
          <a:p>
            <a:r>
              <a:t>          "sha256": "28f418873eda5b37d320d3fef32c46bef172ca1cfea3861db2d5fc96a0b16f50",</a:t>
            </a:r>
          </a:p>
          <a:p>
            <a:r>
              <a:t>          "source_id": "festival-file:28f418873eda5b37d320",</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"0.515",</a:t>
            </a:r>
          </a:p>
          <a:p>
            <a:r>
              <a:t>            "축제명": "안동탈춤축제"</a:t>
            </a:r>
          </a:p>
          <a:p>
            <a:r>
              <a:t>          },</a:t>
            </a:r>
          </a:p>
          <a:p>
            <a:r>
              <a:t>          {</a:t>
            </a:r>
          </a:p>
          <a:p>
            <a:r>
              <a:t>            "개최년도": "2025",</a:t>
            </a:r>
          </a:p>
          <a:p>
            <a:r>
              <a:t>            "구분명": "현지인방문자 유입",</a:t>
            </a:r>
          </a:p>
          <a:p>
            <a:r>
              <a:t>            "그룹명": "축제기간",</a:t>
            </a:r>
          </a:p>
          <a:p>
            <a:r>
              <a:t>            "지표값": "0.859",</a:t>
            </a:r>
          </a:p>
          <a:p>
            <a:r>
              <a:t>            "축제명": "안동탈춤축제"</a:t>
            </a:r>
          </a:p>
          <a:p>
            <a:r>
              <a:t>          },</a:t>
            </a:r>
          </a:p>
          <a:p>
            <a:r>
              <a:t>          {</a:t>
            </a:r>
          </a:p>
          <a:p>
            <a:r>
              <a:t>            "개최년도": "2025",</a:t>
            </a:r>
          </a:p>
          <a:p>
            <a:r>
              <a:t>            "구분명": "내비게이션 검색량",</a:t>
            </a:r>
          </a:p>
          <a:p>
            <a:r>
              <a:t>            "그룹명": "축제기간",</a:t>
            </a:r>
          </a:p>
          <a:p>
            <a:r>
              <a:t>            "지표값": "0.434",</a:t>
            </a:r>
          </a:p>
          <a:p>
            <a:r>
              <a:t>            "축제명": "안동탈춤축제"</a:t>
            </a:r>
          </a:p>
          <a:p>
            <a:r>
              <a:t>          },</a:t>
            </a:r>
          </a:p>
          <a:p>
            <a:r>
              <a:t>          {</a:t>
            </a:r>
          </a:p>
          <a:p>
            <a:r>
              <a:t>            "개최년도": "2025",</a:t>
            </a:r>
          </a:p>
          <a:p>
            <a:r>
              <a:t>            "구분명": "관광소비",</a:t>
            </a:r>
          </a:p>
          <a:p>
            <a:r>
              <a:t>            "그룹명": "축제기간",</a:t>
            </a:r>
          </a:p>
          <a:p>
            <a:r>
              <a:t>            "지표값": "0.544",</a:t>
            </a:r>
          </a:p>
          <a:p>
            <a:r>
              <a:t>            "축제명": "안동탈춤축제"</a:t>
            </a:r>
          </a:p>
          <a:p>
            <a:r>
              <a:t>          },</a:t>
            </a:r>
          </a:p>
          <a:p>
            <a:r>
              <a:t>          {</a:t>
            </a:r>
          </a:p>
          <a:p>
            <a:r>
              <a:t>            "개최년도": "2025",</a:t>
            </a:r>
          </a:p>
          <a:p>
            <a:r>
              <a:t>            "구분명": "축제지 집중률",</a:t>
            </a:r>
          </a:p>
          <a:p>
            <a:r>
              <a:t>            "그룹명": "축제기간",</a:t>
            </a:r>
          </a:p>
          <a:p>
            <a:r>
              <a:t>            "지표값": "0.879",</a:t>
            </a:r>
          </a:p>
          <a:p>
            <a:r>
              <a:t>            "축제명": "안동탈춤축제"</a:t>
            </a:r>
          </a:p>
          <a:p>
            <a:r>
              <a:t>          },</a:t>
            </a:r>
          </a:p>
          <a:p>
            <a:r>
              <a:t>          {</a:t>
            </a:r>
          </a:p>
          <a:p>
            <a:r>
              <a:t>            "개최년도": "2025",</a:t>
            </a:r>
          </a:p>
          <a:p>
            <a:r>
              <a:t>            "구분명": "외부방문자 유입",</a:t>
            </a:r>
          </a:p>
          <a:p>
            <a:r>
              <a:t>            "그룹명": "비축제기간",</a:t>
            </a:r>
          </a:p>
          <a:p>
            <a:r>
              <a:t>            "지표값": "0.258",</a:t>
            </a:r>
          </a:p>
          <a:p>
            <a:r>
              <a:t>            "축제명": "안동탈춤축제"</a:t>
            </a:r>
          </a:p>
          <a:p>
            <a:r>
              <a:t>          },</a:t>
            </a:r>
          </a:p>
          <a:p>
            <a:r>
              <a:t>          {</a:t>
            </a:r>
          </a:p>
          <a:p>
            <a:r>
              <a:t>            "개최년도": "2025",</a:t>
            </a:r>
          </a:p>
          <a:p>
            <a:r>
              <a:t>            "구분명": "현지인방문자 유입",</a:t>
            </a:r>
          </a:p>
          <a:p>
            <a:r>
              <a:t>            "그룹명": "비축제기간",</a:t>
            </a:r>
          </a:p>
          <a:p>
            <a:r>
              <a:t>            "지표값": "0.618",</a:t>
            </a:r>
          </a:p>
          <a:p>
            <a:r>
              <a:t>            "축제명": "안동탈춤축제"</a:t>
            </a:r>
          </a:p>
          <a:p>
            <a:r>
              <a:t>          },</a:t>
            </a:r>
          </a:p>
          <a:p>
            <a:r>
              <a:t>          {</a:t>
            </a:r>
          </a:p>
          <a:p>
            <a:r>
              <a:t>            "개최년도": "2025",</a:t>
            </a:r>
          </a:p>
          <a:p>
            <a:r>
              <a:t>            "구분명": "내비게이션 검색량",</a:t>
            </a:r>
          </a:p>
          <a:p>
            <a:r>
              <a:t>            "그룹명": "비축제기간",</a:t>
            </a:r>
          </a:p>
          <a:p>
            <a:r>
              <a:t>            "지표값": "0.252",</a:t>
            </a:r>
          </a:p>
          <a:p>
            <a:r>
              <a:t>            "축제명": "안동탈춤축제"</a:t>
            </a:r>
          </a:p>
          <a:p>
            <a:r>
              <a:t>          },</a:t>
            </a:r>
          </a:p>
          <a:p>
            <a:r>
              <a:t>          {</a:t>
            </a:r>
          </a:p>
          <a:p>
            <a:r>
              <a:t>            "개최년도": "2025",</a:t>
            </a:r>
          </a:p>
          <a:p>
            <a:r>
              <a:t>            "구분명": "관광소비",</a:t>
            </a:r>
          </a:p>
          <a:p>
            <a:r>
              <a:t>            "그룹명": "비축제기간",</a:t>
            </a:r>
          </a:p>
          <a:p>
            <a:r>
              <a:t>            "지표값": "0.375",</a:t>
            </a:r>
          </a:p>
          <a:p>
            <a:r>
              <a:t>            "축제명": "안동탈춤축제"</a:t>
            </a:r>
          </a:p>
          <a:p>
            <a:r>
              <a:t>          },</a:t>
            </a:r>
          </a:p>
          <a:p>
            <a:r>
              <a:t>          {</a:t>
            </a:r>
          </a:p>
          <a:p>
            <a:r>
              <a:t>            "개최년도": "2025",</a:t>
            </a:r>
          </a:p>
          <a:p>
            <a:r>
              <a:t>            "구분명": "축제지 집중률",</a:t>
            </a:r>
          </a:p>
          <a:p>
            <a:r>
              <a:t>            "그룹명": "비축제기간",</a:t>
            </a:r>
          </a:p>
          <a:p>
            <a:r>
              <a:t>            "지표값": "0.65",</a:t>
            </a:r>
          </a:p>
          <a:p>
            <a:r>
              <a:t>            "축제명": "안동탈춤축제"</a:t>
            </a:r>
          </a:p>
          <a:p>
            <a:r>
              <a:t>          }</a:t>
            </a:r>
          </a:p>
          <a:p>
            <a:r>
              <a:t>        ],</a:t>
            </a:r>
          </a:p>
          <a:p>
            <a:r>
              <a:t>        "indicator_rule": "원본 지표값만 보존. 산식·단위 미확인으로 성장률/원화/정원/참여율 변환 금지.",</a:t>
            </a:r>
          </a:p>
          <a:p>
            <a:r>
              <a:t>        "audience": [</a:t>
            </a:r>
          </a:p>
          <a:p>
            <a:r>
              <a:t>          {</a:t>
            </a:r>
          </a:p>
          <a:p>
            <a:r>
              <a:t>            "남성비율": "4.4",</a:t>
            </a:r>
          </a:p>
          <a:p>
            <a:r>
              <a:t>            "여성비율": "5.0",</a:t>
            </a:r>
          </a:p>
          <a:p>
            <a:r>
              <a:t>            "연령대": "70세 이상",</a:t>
            </a:r>
          </a:p>
          <a:p>
            <a:r>
              <a:t>            "축제명": "안동탈춤축제"</a:t>
            </a:r>
          </a:p>
          <a:p>
            <a:r>
              <a:t>          },</a:t>
            </a:r>
          </a:p>
          <a:p>
            <a:r>
              <a:t>          {</a:t>
            </a:r>
          </a:p>
          <a:p>
            <a:r>
              <a:t>            "남성비율": "8.0",</a:t>
            </a:r>
          </a:p>
          <a:p>
            <a:r>
              <a:t>            "여성비율": "8.5",</a:t>
            </a:r>
          </a:p>
          <a:p>
            <a:r>
              <a:t>            "연령대": "60~69세",</a:t>
            </a:r>
          </a:p>
          <a:p>
            <a:r>
              <a:t>            "축제명": "안동탈춤축제"</a:t>
            </a:r>
          </a:p>
          <a:p>
            <a:r>
              <a:t>          },</a:t>
            </a:r>
          </a:p>
          <a:p>
            <a:r>
              <a:t>          {</a:t>
            </a:r>
          </a:p>
          <a:p>
            <a:r>
              <a:t>            "남성비율": "9.2",</a:t>
            </a:r>
          </a:p>
          <a:p>
            <a:r>
              <a:t>            "여성비율": "10.9",</a:t>
            </a:r>
          </a:p>
          <a:p>
            <a:r>
              <a:t>            "연령대": "50~59세",</a:t>
            </a:r>
          </a:p>
          <a:p>
            <a:r>
              <a:t>            "축제명": "안동탈춤축제"</a:t>
            </a:r>
          </a:p>
          <a:p>
            <a:r>
              <a:t>          },</a:t>
            </a:r>
          </a:p>
          <a:p>
            <a:r>
              <a:t>          {</a:t>
            </a:r>
          </a:p>
          <a:p>
            <a:r>
              <a:t>            "남성비율": "7.5",</a:t>
            </a:r>
          </a:p>
          <a:p>
            <a:r>
              <a:t>            "여성비율": "7.9",</a:t>
            </a:r>
          </a:p>
          <a:p>
            <a:r>
              <a:t>            "연령대": "40~49세",</a:t>
            </a:r>
          </a:p>
          <a:p>
            <a:r>
              <a:t>            "축제명": "안동탈춤축제"</a:t>
            </a:r>
          </a:p>
          <a:p>
            <a:r>
              <a:t>          },</a:t>
            </a:r>
          </a:p>
          <a:p>
            <a:r>
              <a:t>          {</a:t>
            </a:r>
          </a:p>
          <a:p>
            <a:r>
              <a:t>            "남성비율": "7.9",</a:t>
            </a:r>
          </a:p>
          <a:p>
            <a:r>
              <a:t>            "여성비율": "7.2",</a:t>
            </a:r>
          </a:p>
          <a:p>
            <a:r>
              <a:t>            "연령대": "30~39세",</a:t>
            </a:r>
          </a:p>
          <a:p>
            <a:r>
              <a:t>            "축제명": "안동탈춤축제"</a:t>
            </a:r>
          </a:p>
          <a:p>
            <a:r>
              <a:t>          },</a:t>
            </a:r>
          </a:p>
          <a:p>
            <a:r>
              <a:t>          {</a:t>
            </a:r>
          </a:p>
          <a:p>
            <a:r>
              <a:t>            "남성비율": "7.1",</a:t>
            </a:r>
          </a:p>
          <a:p>
            <a:r>
              <a:t>            "여성비율": "8.2",</a:t>
            </a:r>
          </a:p>
          <a:p>
            <a:r>
              <a:t>            "연령대": "20~29세",</a:t>
            </a:r>
          </a:p>
          <a:p>
            <a:r>
              <a:t>            "축제명": "안동탈춤축제"</a:t>
            </a:r>
          </a:p>
          <a:p>
            <a:r>
              <a:t>          },</a:t>
            </a:r>
          </a:p>
          <a:p>
            <a:r>
              <a:t>          {</a:t>
            </a:r>
          </a:p>
          <a:p>
            <a:r>
              <a:t>            "남성비율": "3.2",</a:t>
            </a:r>
          </a:p>
          <a:p>
            <a:r>
              <a:t>            "여성비율": "3.9",</a:t>
            </a:r>
          </a:p>
          <a:p>
            <a:r>
              <a:t>            "연령대": "10~19세",</a:t>
            </a:r>
          </a:p>
          <a:p>
            <a:r>
              <a:t>            "축제명": "안동탈춤축제"</a:t>
            </a:r>
          </a:p>
          <a:p>
            <a:r>
              <a:t>          },</a:t>
            </a:r>
          </a:p>
          <a:p>
            <a:r>
              <a:t>          {</a:t>
            </a:r>
          </a:p>
          <a:p>
            <a:r>
              <a:t>            "남성비율": "0.5",</a:t>
            </a:r>
          </a:p>
          <a:p>
            <a:r>
              <a:t>            "여성비율": "0.7",</a:t>
            </a:r>
          </a:p>
          <a:p>
            <a:r>
              <a:t>            "연령대": "0~9세",</a:t>
            </a:r>
          </a:p>
          <a:p>
            <a:r>
              <a:t>            "축제명": "안동탈춤축제"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안동탈춤축제 방문자 추이",</a:t>
            </a:r>
          </a:p>
          <a:p>
            <a:r>
              <a:t>      "summary": "2024→2025년 전체 504,573→554,494명 (+9.89%). 개최 10→10일, 일평균 +9.89%, 외지인 +10.75%."</a:t>
            </a:r>
          </a:p>
          <a:p>
            <a:r>
              <a:t>    },</a:t>
            </a:r>
          </a:p>
          <a:p>
            <a:r>
              <a:t>    {</a:t>
            </a:r>
          </a:p>
          <a:p>
            <a:r>
              <a:t>      "source_id": "case:festival:1ff9d11d3ee0ee",</a:t>
            </a:r>
          </a:p>
          <a:p>
            <a:r>
              <a:t>      "document_type": "case_study",</a:t>
            </a:r>
          </a:p>
          <a:p>
            <a:r>
              <a:t>      "evidence_kind": "festival_statistics",</a:t>
            </a:r>
          </a:p>
          <a:p>
            <a:r>
              <a:t>      "retrieval_method": "datalab_festival_table",</a:t>
            </a:r>
          </a:p>
          <a:p>
            <a:r>
              <a:t>      "region_code": "46900",</a:t>
            </a:r>
          </a:p>
          <a:p>
            <a:r>
              <a:t>      "region_name": "전라남도 진도군",</a:t>
            </a:r>
          </a:p>
          <a:p>
            <a:r>
              <a:t>      "case_region": "전라남도 진도군",</a:t>
            </a:r>
          </a:p>
          <a:p>
            <a:r>
              <a:t>      "intervention": "진도신비의바닷길축제",</a:t>
            </a:r>
          </a:p>
          <a:p>
            <a:r>
              <a:t>      "problem_addressed": "타지역 축제 방문 실적 참고 · 자연·야외",</a:t>
            </a:r>
          </a:p>
          <a:p>
            <a:r>
              <a:t>      "target_group": "축제 관측구역 방문자(현지인·외지인·외국인 구분)",</a:t>
            </a:r>
          </a:p>
          <a:p>
            <a:r>
              <a:t>      "operating_model": "진도신비의바닷길축제를 2025년 4일 개최한 문화관광축제 운영 사례. 세부 프로그램·예약·혜택은 이 CSV에 기록되어 있지 않으며 새로운 운영안은 제안으로 구분한다.",</a:t>
            </a:r>
          </a:p>
          <a:p>
            <a:r>
              <a:t>      "duration": "2025년 4일",</a:t>
            </a:r>
          </a:p>
          <a:p>
            <a:r>
              <a:t>      "public_budget": "CSV에 사업비 없음",</a:t>
            </a:r>
          </a:p>
          <a:p>
            <a:r>
              <a:t>      "observed_result": "2024→2025년 전체 28,171→43,973명 (+56.09%). 개최 3→4일, 일평균 +17.07%, 외지인 +89.98%.",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진도신비의바닷길축제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"20260820182448_진도신비의바닷길축제_연도별 방문자 추이.csv",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진도신비의바닷길축제_2023-2025/20260820182448_진도신비의바닷길축제_연도별 방문자 추이.csv",</a:t>
            </a:r>
          </a:p>
          <a:p>
            <a:r>
              <a:t>          "sha256": "3cf7484d808e807aeffda7504a3d316839b9220f0f7a72550f5387af3ee3f8d9",</a:t>
            </a:r>
          </a:p>
          <a:p>
            <a:r>
              <a:t>          "source_id": "festival-file:3cf7484d808e807aeffd",</a:t>
            </a:r>
          </a:p>
          <a:p>
            <a:r>
              <a:t>          "source_url": "https://datalab.visitkorea.or.kr/"</a:t>
            </a:r>
          </a:p>
          <a:p>
            <a:r>
              <a:t>        },</a:t>
            </a:r>
          </a:p>
          <a:p>
            <a:r>
              <a:t>        {</a:t>
            </a:r>
          </a:p>
          <a:p>
            <a:r>
              <a:t>          "downloaded_at": "2026-08-20",</a:t>
            </a:r>
          </a:p>
          <a:p>
            <a:r>
              <a:t>          "file_name": "20260820182448_진도신비의바닷길축제_성_연령별 내국인 방문자.csv",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진도신비의바닷길축제_2023-2025/20260820182448_진도신비의바닷길축제_성_연령별 내국인 방문자.csv",</a:t>
            </a:r>
          </a:p>
          <a:p>
            <a:r>
              <a:t>          "sha256": "cb3424e725c84352d81fdb987f6d3ade162f54f63a9590ac8730dddcfcc48ed7",</a:t>
            </a:r>
          </a:p>
          <a:p>
            <a:r>
              <a:t>          "source_id": "festival-file:cb3424e725c84352d81f",</a:t>
            </a:r>
          </a:p>
          <a:p>
            <a:r>
              <a:t>          "source_url": "https://datalab.visitkorea.or.kr/"</a:t>
            </a:r>
          </a:p>
          <a:p>
            <a:r>
              <a:t>        },</a:t>
            </a:r>
          </a:p>
          <a:p>
            <a:r>
              <a:t>        {</a:t>
            </a:r>
          </a:p>
          <a:p>
            <a:r>
              <a:t>          "downloaded_at": "2026-08-20",</a:t>
            </a:r>
          </a:p>
          <a:p>
            <a:r>
              <a:t>          "file_name": "20260820182448_진도신비의바닷길축제_목적지 검색순위.csv",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진도신비의바닷길축제_2023-2025/20260820182448_진도신비의바닷길축제_목적지 검색순위.csv",</a:t>
            </a:r>
          </a:p>
          <a:p>
            <a:r>
              <a:t>          "sha256": "b8aa76a62ac8159da3b9234363c8c0026f70875997af88b4e750f2f6154c65ae",</a:t>
            </a:r>
          </a:p>
          <a:p>
            <a:r>
              <a:t>          "source_id": "festival-file:b8aa76a62ac8159da3b9",</a:t>
            </a:r>
          </a:p>
          <a:p>
            <a:r>
              <a:t>          "source_url": "https://datalab.visitkorea.or.kr/"</a:t>
            </a:r>
          </a:p>
          <a:p>
            <a:r>
              <a:t>        },</a:t>
            </a:r>
          </a:p>
          <a:p>
            <a:r>
              <a:t>        {</a:t>
            </a:r>
          </a:p>
          <a:p>
            <a:r>
              <a:t>          "downloaded_at": "2026-08-20",</a:t>
            </a:r>
          </a:p>
          <a:p>
            <a:r>
              <a:t>          "file_name": "20260820182448_진도신비의바닷길축제_문화관광축제 주요 지표.csv",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진도신비의바닷길축제_2023-2025/20260820182448_진도신비의바닷길축제_문화관광축제 주요 지표.csv",</a:t>
            </a:r>
          </a:p>
          <a:p>
            <a:r>
              <a:t>          "sha256": "c9332a0e0d15d1550b1b545b8b739cc6a919a13ca701800d87203b06b2fecd46",</a:t>
            </a:r>
          </a:p>
          <a:p>
            <a:r>
              <a:t>          "source_id": "festival-file:c9332a0e0d15d1550b1b",</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"자연·야외",</a:t>
            </a:r>
          </a:p>
          <a:p>
            <a:r>
              <a:t>        "priority_signal": "visit",</a:t>
            </a:r>
          </a:p>
          <a:p>
            <a:r>
              <a:t>        "rule": "함수 기반 조사 우선순위. 사업효과·인구/환경 유사도 점수가 아니며 소비·체류 개선은 조사 가설이다."</a:t>
            </a:r>
          </a:p>
          <a:p>
            <a:r>
              <a:t>      },</a:t>
            </a:r>
          </a:p>
          <a:p>
            <a:r>
              <a:t>      "festival_statistics": {</a:t>
            </a:r>
          </a:p>
          <a:p>
            <a:r>
              <a:t>        "name": "진도신비의바닷길축제",</a:t>
            </a:r>
          </a:p>
          <a:p>
            <a:r>
              <a:t>        "annual": [</a:t>
            </a:r>
          </a:p>
          <a:p>
            <a:r>
              <a:t>          {</a:t>
            </a:r>
          </a:p>
          <a:p>
            <a:r>
              <a:t>            "daily": 11185.333333333334,</a:t>
            </a:r>
          </a:p>
          <a:p>
            <a:r>
              <a:t>            "days": 3,</a:t>
            </a:r>
          </a:p>
          <a:p>
            <a:r>
              <a:t>            "foreign": 278.0,</a:t>
            </a:r>
          </a:p>
          <a:p>
            <a:r>
              <a:t>            "local": 12120.0,</a:t>
            </a:r>
          </a:p>
          <a:p>
            <a:r>
              <a:t>            "outside": 21158.0,</a:t>
            </a:r>
          </a:p>
          <a:p>
            <a:r>
              <a:t>            "outside_daily": 7052.666666666667,</a:t>
            </a:r>
          </a:p>
          <a:p>
            <a:r>
              <a:t>            "outside_share_pct": 63.05280724758613,</a:t>
            </a:r>
          </a:p>
          <a:p>
            <a:r>
              <a:t>            "total": 33556.0,</a:t>
            </a:r>
          </a:p>
          <a:p>
            <a:r>
              <a:t>            "year": 2023</a:t>
            </a:r>
          </a:p>
          <a:p>
            <a:r>
              <a:t>          },</a:t>
            </a:r>
          </a:p>
          <a:p>
            <a:r>
              <a:t>          {</a:t>
            </a:r>
          </a:p>
          <a:p>
            <a:r>
              <a:t>            "daily": 9390.333333333334,</a:t>
            </a:r>
          </a:p>
          <a:p>
            <a:r>
              <a:t>            "days": 3,</a:t>
            </a:r>
          </a:p>
          <a:p>
            <a:r>
              <a:t>            "foreign": 223.0,</a:t>
            </a:r>
          </a:p>
          <a:p>
            <a:r>
              <a:t>            "local": 13068.0,</a:t>
            </a:r>
          </a:p>
          <a:p>
            <a:r>
              <a:t>            "outside": 14880.0,</a:t>
            </a:r>
          </a:p>
          <a:p>
            <a:r>
              <a:t>            "outside_daily": 4960.0,</a:t>
            </a:r>
          </a:p>
          <a:p>
            <a:r>
              <a:t>            "outside_share_pct": 52.82027617052998,</a:t>
            </a:r>
          </a:p>
          <a:p>
            <a:r>
              <a:t>            "total": 28171.0,</a:t>
            </a:r>
          </a:p>
          <a:p>
            <a:r>
              <a:t>            "year": 2024</a:t>
            </a:r>
          </a:p>
          <a:p>
            <a:r>
              <a:t>          },</a:t>
            </a:r>
          </a:p>
          <a:p>
            <a:r>
              <a:t>          {</a:t>
            </a:r>
          </a:p>
          <a:p>
            <a:r>
              <a:t>            "daily": 10993.25,</a:t>
            </a:r>
          </a:p>
          <a:p>
            <a:r>
              <a:t>            "days": 4,</a:t>
            </a:r>
          </a:p>
          <a:p>
            <a:r>
              <a:t>            "foreign": 359.0,</a:t>
            </a:r>
          </a:p>
          <a:p>
            <a:r>
              <a:t>            "local": 15345.0,</a:t>
            </a:r>
          </a:p>
          <a:p>
            <a:r>
              <a:t>            "outside": 28269.0,</a:t>
            </a:r>
          </a:p>
          <a:p>
            <a:r>
              <a:t>            "outside_daily": 7067.25,</a:t>
            </a:r>
          </a:p>
          <a:p>
            <a:r>
              <a:t>            "outside_share_pct": 64.28717622177244,</a:t>
            </a:r>
          </a:p>
          <a:p>
            <a:r>
              <a:t>            "total": 43973.0,</a:t>
            </a:r>
          </a:p>
          <a:p>
            <a:r>
              <a:t>            "year": 2025</a:t>
            </a:r>
          </a:p>
          <a:p>
            <a:r>
              <a:t>          }</a:t>
            </a:r>
          </a:p>
          <a:p>
            <a:r>
              <a:t>        ],</a:t>
            </a:r>
          </a:p>
          <a:p>
            <a:r>
              <a:t>        "comparison": {</a:t>
            </a:r>
          </a:p>
          <a:p>
            <a:r>
              <a:t>          "after_days": 4,</a:t>
            </a:r>
          </a:p>
          <a:p>
            <a:r>
              <a:t>          "after_year": 2025,</a:t>
            </a:r>
          </a:p>
          <a:p>
            <a:r>
              <a:t>          "before_days": 3,</a:t>
            </a:r>
          </a:p>
          <a:p>
            <a:r>
              <a:t>          "before_year": 2024,</a:t>
            </a:r>
          </a:p>
          <a:p>
            <a:r>
              <a:t>          "daily": {</a:t>
            </a:r>
          </a:p>
          <a:p>
            <a:r>
              <a:t>            "after": 10993.25,</a:t>
            </a:r>
          </a:p>
          <a:p>
            <a:r>
              <a:t>            "before": 9390.333333333334,</a:t>
            </a:r>
          </a:p>
          <a:p>
            <a:r>
              <a:t>            "change_pct": 17.069859074935213,</a:t>
            </a:r>
          </a:p>
          <a:p>
            <a:r>
              <a:t>            "difference": 1602.916666666666</a:t>
            </a:r>
          </a:p>
          <a:p>
            <a:r>
              <a:t>          },</a:t>
            </a:r>
          </a:p>
          <a:p>
            <a:r>
              <a:t>          "outside": {</a:t>
            </a:r>
          </a:p>
          <a:p>
            <a:r>
              <a:t>            "after": 28269.0,</a:t>
            </a:r>
          </a:p>
          <a:p>
            <a:r>
              <a:t>            "before": 14880.0,</a:t>
            </a:r>
          </a:p>
          <a:p>
            <a:r>
              <a:t>            "change_pct": 89.97983870967742,</a:t>
            </a:r>
          </a:p>
          <a:p>
            <a:r>
              <a:t>            "difference": 13389.0</a:t>
            </a:r>
          </a:p>
          <a:p>
            <a:r>
              <a:t>          },</a:t>
            </a:r>
          </a:p>
          <a:p>
            <a:r>
              <a:t>          "outside_daily": {</a:t>
            </a:r>
          </a:p>
          <a:p>
            <a:r>
              <a:t>            "after": 7067.25,</a:t>
            </a:r>
          </a:p>
          <a:p>
            <a:r>
              <a:t>            "before": 4960.0,</a:t>
            </a:r>
          </a:p>
          <a:p>
            <a:r>
              <a:t>            "change_pct": 42.484879032258064,</a:t>
            </a:r>
          </a:p>
          <a:p>
            <a:r>
              <a:t>            "difference": 2107.25</a:t>
            </a:r>
          </a:p>
          <a:p>
            <a:r>
              <a:t>          },</a:t>
            </a:r>
          </a:p>
          <a:p>
            <a:r>
              <a:t>          "total": {</a:t>
            </a:r>
          </a:p>
          <a:p>
            <a:r>
              <a:t>            "after": 43973.0,</a:t>
            </a:r>
          </a:p>
          <a:p>
            <a:r>
              <a:t>            "before": 28171.0,</a:t>
            </a:r>
          </a:p>
          <a:p>
            <a:r>
              <a:t>            "change_pct": 56.093145433246946,</a:t>
            </a:r>
          </a:p>
          <a:p>
            <a:r>
              <a:t>            "difference": 15802.0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"20260820182448_진도신비의바닷길축제_연도별 방문자 추이.csv",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진도신비의바닷길축제_2023-2025/20260820182448_진도신비의바닷길축제_연도별 방문자 추이.csv",</a:t>
            </a:r>
          </a:p>
          <a:p>
            <a:r>
              <a:t>          "sha256": "3cf7484d808e807aeffda7504a3d316839b9220f0f7a72550f5387af3ee3f8d9",</a:t>
            </a:r>
          </a:p>
          <a:p>
            <a:r>
              <a:t>          "source_id": "festival-file:3cf7484d808e807aeffd",</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"0.568",</a:t>
            </a:r>
          </a:p>
          <a:p>
            <a:r>
              <a:t>            "축제명": "진도신비의바닷길축제"</a:t>
            </a:r>
          </a:p>
          <a:p>
            <a:r>
              <a:t>          },</a:t>
            </a:r>
          </a:p>
          <a:p>
            <a:r>
              <a:t>          {</a:t>
            </a:r>
          </a:p>
          <a:p>
            <a:r>
              <a:t>            "개최년도": "2025",</a:t>
            </a:r>
          </a:p>
          <a:p>
            <a:r>
              <a:t>            "구분명": "현지인방문자 유입",</a:t>
            </a:r>
          </a:p>
          <a:p>
            <a:r>
              <a:t>            "그룹명": "축제기간",</a:t>
            </a:r>
          </a:p>
          <a:p>
            <a:r>
              <a:t>            "지표값": "0.858",</a:t>
            </a:r>
          </a:p>
          <a:p>
            <a:r>
              <a:t>            "축제명": "진도신비의바닷길축제"</a:t>
            </a:r>
          </a:p>
          <a:p>
            <a:r>
              <a:t>          },</a:t>
            </a:r>
          </a:p>
          <a:p>
            <a:r>
              <a:t>          {</a:t>
            </a:r>
          </a:p>
          <a:p>
            <a:r>
              <a:t>            "개최년도": "2025",</a:t>
            </a:r>
          </a:p>
          <a:p>
            <a:r>
              <a:t>            "구분명": "내비게이션 검색량",</a:t>
            </a:r>
          </a:p>
          <a:p>
            <a:r>
              <a:t>            "그룹명": "축제기간",</a:t>
            </a:r>
          </a:p>
          <a:p>
            <a:r>
              <a:t>            "지표값": "0.513",</a:t>
            </a:r>
          </a:p>
          <a:p>
            <a:r>
              <a:t>            "축제명": "진도신비의바닷길축제"</a:t>
            </a:r>
          </a:p>
          <a:p>
            <a:r>
              <a:t>          },</a:t>
            </a:r>
          </a:p>
          <a:p>
            <a:r>
              <a:t>          {</a:t>
            </a:r>
          </a:p>
          <a:p>
            <a:r>
              <a:t>            "개최년도": "2025",</a:t>
            </a:r>
          </a:p>
          <a:p>
            <a:r>
              <a:t>            "구분명": "관광소비",</a:t>
            </a:r>
          </a:p>
          <a:p>
            <a:r>
              <a:t>            "그룹명": "축제기간",</a:t>
            </a:r>
          </a:p>
          <a:p>
            <a:r>
              <a:t>            "지표값": "0.283",</a:t>
            </a:r>
          </a:p>
          <a:p>
            <a:r>
              <a:t>            "축제명": "진도신비의바닷길축제"</a:t>
            </a:r>
          </a:p>
          <a:p>
            <a:r>
              <a:t>          },</a:t>
            </a:r>
          </a:p>
          <a:p>
            <a:r>
              <a:t>          {</a:t>
            </a:r>
          </a:p>
          <a:p>
            <a:r>
              <a:t>            "개최년도": "2025",</a:t>
            </a:r>
          </a:p>
          <a:p>
            <a:r>
              <a:t>            "구분명": "축제지 집중률",</a:t>
            </a:r>
          </a:p>
          <a:p>
            <a:r>
              <a:t>            "그룹명": "축제기간",</a:t>
            </a:r>
          </a:p>
          <a:p>
            <a:r>
              <a:t>            "지표값": "0.791",</a:t>
            </a:r>
          </a:p>
          <a:p>
            <a:r>
              <a:t>            "축제명": "진도신비의바닷길축제"</a:t>
            </a:r>
          </a:p>
          <a:p>
            <a:r>
              <a:t>          },</a:t>
            </a:r>
          </a:p>
          <a:p>
            <a:r>
              <a:t>          {</a:t>
            </a:r>
          </a:p>
          <a:p>
            <a:r>
              <a:t>            "개최년도": "2025",</a:t>
            </a:r>
          </a:p>
          <a:p>
            <a:r>
              <a:t>            "구분명": "외부방문자 유입",</a:t>
            </a:r>
          </a:p>
          <a:p>
            <a:r>
              <a:t>            "그룹명": "비축제기간",</a:t>
            </a:r>
          </a:p>
          <a:p>
            <a:r>
              <a:t>            "지표값": "0.137",</a:t>
            </a:r>
          </a:p>
          <a:p>
            <a:r>
              <a:t>            "축제명": "진도신비의바닷길축제"</a:t>
            </a:r>
          </a:p>
          <a:p>
            <a:r>
              <a:t>          },</a:t>
            </a:r>
          </a:p>
          <a:p>
            <a:r>
              <a:t>          {</a:t>
            </a:r>
          </a:p>
          <a:p>
            <a:r>
              <a:t>            "개최년도": "2025",</a:t>
            </a:r>
          </a:p>
          <a:p>
            <a:r>
              <a:t>            "구분명": "현지인방문자 유입",</a:t>
            </a:r>
          </a:p>
          <a:p>
            <a:r>
              <a:t>            "그룹명": "비축제기간",</a:t>
            </a:r>
          </a:p>
          <a:p>
            <a:r>
              <a:t>            "지표값": "0.472",</a:t>
            </a:r>
          </a:p>
          <a:p>
            <a:r>
              <a:t>            "축제명": "진도신비의바닷길축제"</a:t>
            </a:r>
          </a:p>
          <a:p>
            <a:r>
              <a:t>          },</a:t>
            </a:r>
          </a:p>
          <a:p>
            <a:r>
              <a:t>          {</a:t>
            </a:r>
          </a:p>
          <a:p>
            <a:r>
              <a:t>            "개최년도": "2025",</a:t>
            </a:r>
          </a:p>
          <a:p>
            <a:r>
              <a:t>            "구분명": "내비게이션 검색량",</a:t>
            </a:r>
          </a:p>
          <a:p>
            <a:r>
              <a:t>            "그룹명": "비축제기간",</a:t>
            </a:r>
          </a:p>
          <a:p>
            <a:r>
              <a:t>            "지표값": "0.06",</a:t>
            </a:r>
          </a:p>
          <a:p>
            <a:r>
              <a:t>            "축제명": "진도신비의바닷길축제"</a:t>
            </a:r>
          </a:p>
          <a:p>
            <a:r>
              <a:t>          },</a:t>
            </a:r>
          </a:p>
          <a:p>
            <a:r>
              <a:t>          {</a:t>
            </a:r>
          </a:p>
          <a:p>
            <a:r>
              <a:t>            "개최년도": "2025",</a:t>
            </a:r>
          </a:p>
          <a:p>
            <a:r>
              <a:t>            "구분명": "관광소비",</a:t>
            </a:r>
          </a:p>
          <a:p>
            <a:r>
              <a:t>            "그룹명": "비축제기간",</a:t>
            </a:r>
          </a:p>
          <a:p>
            <a:r>
              <a:t>            "지표값": "0.212",</a:t>
            </a:r>
          </a:p>
          <a:p>
            <a:r>
              <a:t>            "축제명": "진도신비의바닷길축제"</a:t>
            </a:r>
          </a:p>
          <a:p>
            <a:r>
              <a:t>          },</a:t>
            </a:r>
          </a:p>
          <a:p>
            <a:r>
              <a:t>          {</a:t>
            </a:r>
          </a:p>
          <a:p>
            <a:r>
              <a:t>            "개최년도": "2025",</a:t>
            </a:r>
          </a:p>
          <a:p>
            <a:r>
              <a:t>            "구분명": "축제지 집중률",</a:t>
            </a:r>
          </a:p>
          <a:p>
            <a:r>
              <a:t>            "그룹명": "비축제기간",</a:t>
            </a:r>
          </a:p>
          <a:p>
            <a:r>
              <a:t>            "지표값": "0.269",</a:t>
            </a:r>
          </a:p>
          <a:p>
            <a:r>
              <a:t>            "축제명": "진도신비의바닷길축제"</a:t>
            </a:r>
          </a:p>
          <a:p>
            <a:r>
              <a:t>          }</a:t>
            </a:r>
          </a:p>
          <a:p>
            <a:r>
              <a:t>        ],</a:t>
            </a:r>
          </a:p>
          <a:p>
            <a:r>
              <a:t>        "indicator_rule": "원본 지표값만 보존. 산식·단위 미확인으로 성장률/원화/정원/참여율 변환 금지.",</a:t>
            </a:r>
          </a:p>
          <a:p>
            <a:r>
              <a:t>        "audience": [</a:t>
            </a:r>
          </a:p>
          <a:p>
            <a:r>
              <a:t>          {</a:t>
            </a:r>
          </a:p>
          <a:p>
            <a:r>
              <a:t>            "남성비율": "7.4",</a:t>
            </a:r>
          </a:p>
          <a:p>
            <a:r>
              <a:t>            "여성비율": "6.8",</a:t>
            </a:r>
          </a:p>
          <a:p>
            <a:r>
              <a:t>            "연령대": "70세 이상",</a:t>
            </a:r>
          </a:p>
          <a:p>
            <a:r>
              <a:t>            "축제명": "진도신비의바닷길축제"</a:t>
            </a:r>
          </a:p>
          <a:p>
            <a:r>
              <a:t>          },</a:t>
            </a:r>
          </a:p>
          <a:p>
            <a:r>
              <a:t>          {</a:t>
            </a:r>
          </a:p>
          <a:p>
            <a:r>
              <a:t>            "남성비율": "13.8",</a:t>
            </a:r>
          </a:p>
          <a:p>
            <a:r>
              <a:t>            "여성비율": "14.3",</a:t>
            </a:r>
          </a:p>
          <a:p>
            <a:r>
              <a:t>            "연령대": "60~69세",</a:t>
            </a:r>
          </a:p>
          <a:p>
            <a:r>
              <a:t>            "축제명": "진도신비의바닷길축제"</a:t>
            </a:r>
          </a:p>
          <a:p>
            <a:r>
              <a:t>          },</a:t>
            </a:r>
          </a:p>
          <a:p>
            <a:r>
              <a:t>          {</a:t>
            </a:r>
          </a:p>
          <a:p>
            <a:r>
              <a:t>            "남성비율": "10.7",</a:t>
            </a:r>
          </a:p>
          <a:p>
            <a:r>
              <a:t>            "여성비율": "11.5",</a:t>
            </a:r>
          </a:p>
          <a:p>
            <a:r>
              <a:t>            "연령대": "50~59세",</a:t>
            </a:r>
          </a:p>
          <a:p>
            <a:r>
              <a:t>            "축제명": "진도신비의바닷길축제"</a:t>
            </a:r>
          </a:p>
          <a:p>
            <a:r>
              <a:t>          },</a:t>
            </a:r>
          </a:p>
          <a:p>
            <a:r>
              <a:t>          {</a:t>
            </a:r>
          </a:p>
          <a:p>
            <a:r>
              <a:t>            "남성비율": "7.7",</a:t>
            </a:r>
          </a:p>
          <a:p>
            <a:r>
              <a:t>            "여성비율": "4.9",</a:t>
            </a:r>
          </a:p>
          <a:p>
            <a:r>
              <a:t>            "연령대": "40~49세",</a:t>
            </a:r>
          </a:p>
          <a:p>
            <a:r>
              <a:t>            "축제명": "진도신비의바닷길축제"</a:t>
            </a:r>
          </a:p>
          <a:p>
            <a:r>
              <a:t>          },</a:t>
            </a:r>
          </a:p>
          <a:p>
            <a:r>
              <a:t>          {</a:t>
            </a:r>
          </a:p>
          <a:p>
            <a:r>
              <a:t>            "남성비율": "6.8",</a:t>
            </a:r>
          </a:p>
          <a:p>
            <a:r>
              <a:t>            "여성비율": "4.2",</a:t>
            </a:r>
          </a:p>
          <a:p>
            <a:r>
              <a:t>            "연령대": "30~39세",</a:t>
            </a:r>
          </a:p>
          <a:p>
            <a:r>
              <a:t>            "축제명": "진도신비의바닷길축제"</a:t>
            </a:r>
          </a:p>
          <a:p>
            <a:r>
              <a:t>          },</a:t>
            </a:r>
          </a:p>
          <a:p>
            <a:r>
              <a:t>          {</a:t>
            </a:r>
          </a:p>
          <a:p>
            <a:r>
              <a:t>            "남성비율": "5.3",</a:t>
            </a:r>
          </a:p>
          <a:p>
            <a:r>
              <a:t>            "여성비율": "3.0",</a:t>
            </a:r>
          </a:p>
          <a:p>
            <a:r>
              <a:t>            "연령대": "20~29세",</a:t>
            </a:r>
          </a:p>
          <a:p>
            <a:r>
              <a:t>            "축제명": "진도신비의바닷길축제"</a:t>
            </a:r>
          </a:p>
          <a:p>
            <a:r>
              <a:t>          },</a:t>
            </a:r>
          </a:p>
          <a:p>
            <a:r>
              <a:t>          {</a:t>
            </a:r>
          </a:p>
          <a:p>
            <a:r>
              <a:t>            "남성비율": "1.3",</a:t>
            </a:r>
          </a:p>
          <a:p>
            <a:r>
              <a:t>            "여성비율": "1.3",</a:t>
            </a:r>
          </a:p>
          <a:p>
            <a:r>
              <a:t>            "연령대": "10~19세",</a:t>
            </a:r>
          </a:p>
          <a:p>
            <a:r>
              <a:t>            "축제명": "진도신비의바닷길축제"</a:t>
            </a:r>
          </a:p>
          <a:p>
            <a:r>
              <a:t>          },</a:t>
            </a:r>
          </a:p>
          <a:p>
            <a:r>
              <a:t>          {</a:t>
            </a:r>
          </a:p>
          <a:p>
            <a:r>
              <a:t>            "남성비율": "0.5",</a:t>
            </a:r>
          </a:p>
          <a:p>
            <a:r>
              <a:t>            "여성비율": "0.4",</a:t>
            </a:r>
          </a:p>
          <a:p>
            <a:r>
              <a:t>            "연령대": "0~9세",</a:t>
            </a:r>
          </a:p>
          <a:p>
            <a:r>
              <a:t>            "축제명": "진도신비의바닷길축제"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"진도신비의바닷길축제",</a:t>
            </a:r>
          </a:p>
          <a:p>
            <a:r>
              <a:t>            "도로명주소": "전남 진도군 신비의바닷길 74-0",</a:t>
            </a:r>
          </a:p>
          <a:p>
            <a:r>
              <a:t>            "카테고리": "기타문화관광지"</a:t>
            </a:r>
          </a:p>
          <a:p>
            <a:r>
              <a:t>          },</a:t>
            </a:r>
          </a:p>
          <a:p>
            <a:r>
              <a:t>          {</a:t>
            </a:r>
          </a:p>
          <a:p>
            <a:r>
              <a:t>            "구분": "외지인",</a:t>
            </a:r>
          </a:p>
          <a:p>
            <a:r>
              <a:t>            "순위": "2",</a:t>
            </a:r>
          </a:p>
          <a:p>
            <a:r>
              <a:t>            "목적지명": "진도신비의바닷길",</a:t>
            </a:r>
          </a:p>
          <a:p>
            <a:r>
              <a:t>            "도로명주소": "전남 진도군",</a:t>
            </a:r>
          </a:p>
          <a:p>
            <a:r>
              <a:t>            "카테고리": "테마공원"</a:t>
            </a:r>
          </a:p>
          <a:p>
            <a:r>
              <a:t>          },</a:t>
            </a:r>
          </a:p>
          <a:p>
            <a:r>
              <a:t>          {</a:t>
            </a:r>
          </a:p>
          <a:p>
            <a:r>
              <a:t>            "구분": "외지인",</a:t>
            </a:r>
          </a:p>
          <a:p>
            <a:r>
              <a:t>            "순위": "3",</a:t>
            </a:r>
          </a:p>
          <a:p>
            <a:r>
              <a:t>            "목적지명": "가계해변",</a:t>
            </a:r>
          </a:p>
          <a:p>
            <a:r>
              <a:t>            "도로명주소": "전남 진도군 신비의바닷길 0-0",</a:t>
            </a:r>
          </a:p>
          <a:p>
            <a:r>
              <a:t>            "카테고리": "자연경관(하천/해양)"</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진도신비의바닷길축제 방문자 추이",</a:t>
            </a:r>
          </a:p>
          <a:p>
            <a:r>
              <a:t>      "summary": "2024→2025년 전체 28,171→43,973명 (+56.09%). 개최 3→4일, 일평균 +17.07%, 외지인 +89.98%."</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0.02323573257890193,</a:t>
            </a:r>
          </a:p>
          <a:p>
            <a:r>
              <a:t>    "spending_target_pct": 0.04851529703080466,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"case:festival:01474ef75569b1",</a:t>
            </a:r>
          </a:p>
          <a:p xmlns:a="http://schemas.openxmlformats.org/drawingml/2006/main">
            <a:r>
              <a:t>      "document_type": "case_study",</a:t>
            </a:r>
          </a:p>
          <a:p xmlns:a="http://schemas.openxmlformats.org/drawingml/2006/main">
            <a:r>
              <a:t>      "evidence_kind": "festival_statistics",</a:t>
            </a:r>
          </a:p>
          <a:p xmlns:a="http://schemas.openxmlformats.org/drawingml/2006/main">
            <a:r>
              <a:t>      "retrieval_method": "datalab_festival_table",</a:t>
            </a:r>
          </a:p>
          <a:p xmlns:a="http://schemas.openxmlformats.org/drawingml/2006/main">
            <a:r>
              <a:t>      "region_code": "47280",</a:t>
            </a:r>
          </a:p>
          <a:p xmlns:a="http://schemas.openxmlformats.org/drawingml/2006/main">
            <a:r>
              <a:t>      "region_name": "경상북도 문경시",</a:t>
            </a:r>
          </a:p>
          <a:p xmlns:a="http://schemas.openxmlformats.org/drawingml/2006/main">
            <a:r>
              <a:t>      "case_region": "경상북도 문경시",</a:t>
            </a:r>
          </a:p>
          <a:p xmlns:a="http://schemas.openxmlformats.org/drawingml/2006/main">
            <a:r>
              <a:t>      "intervention": "문경찻사발축제",</a:t>
            </a:r>
          </a:p>
          <a:p xmlns:a="http://schemas.openxmlformats.org/drawingml/2006/main">
            <a:r>
              <a:t>      "problem_addressed": "타지역 축제 방문 실적 참고 · 역사·공예",</a:t>
            </a:r>
          </a:p>
          <a:p xmlns:a="http://schemas.openxmlformats.org/drawingml/2006/main">
            <a:r>
              <a:t>      "target_group": "축제 관측구역 방문자(현지인·외지인·외국인 구분)",</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"duration": "2025년 9일",</a:t>
            </a:r>
          </a:p>
          <a:p xmlns:a="http://schemas.openxmlformats.org/drawingml/2006/main">
            <a:r>
              <a:t>      "public_budget": "CSV에 사업비 없음",</a:t>
            </a:r>
          </a:p>
          <a:p xmlns:a="http://schemas.openxmlformats.org/drawingml/2006/main">
            <a:r>
              <a:t>      "observed_result": "2024→2025년 전체 245,750→256,570명 (+4.40%). 개최 10→9일, 일평균 +16.00%, 외지인 +9.28%.",</a:t>
            </a:r>
          </a:p>
          <a:p xmlns:a="http://schemas.openxmlformats.org/drawingml/2006/main">
            <a:r>
              <a:t>      "measurement_period": "2023~2025년 각 축제 개최기간",</a:t>
            </a:r>
          </a:p>
          <a:p xmlns:a="http://schemas.openxmlformats.org/drawingml/2006/main">
            <a:r>
              <a:t>      "evidence_strength": "medium",</a:t>
            </a:r>
          </a:p>
          <a:p xmlns:a="http://schemas.openxmlformats.org/drawingml/2006/main">
            <a:r>
              <a:t>      "quantitative_result_approved": true,</a:t>
            </a:r>
          </a:p>
          <a:p xmlns:a="http://schemas.openxmlformats.org/drawingml/2006/main">
            <a:r>
              <a:t>      "operating_statistics":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"risks": [</a:t>
            </a:r>
          </a:p>
          <a:p xmlns:a="http://schemas.openxmlformats.org/drawingml/2006/main">
            <a:r>
              <a:t>        "행사 전후 방문 차이는 사업 단독 효과·도시 순증 방문이 아니다.",</a:t>
            </a:r>
          </a:p>
          <a:p xmlns:a="http://schemas.openxmlformats.org/drawingml/2006/main">
            <a:r>
              <a:t>        "관광소비 지표값은 원화·성장률로 변환하지 않는다. 정원·참여율·실측 객단가 자료는 없다."</a:t>
            </a:r>
          </a:p>
          <a:p xmlns:a="http://schemas.openxmlformats.org/drawingml/2006/main">
            <a:r>
              <a:t>      ],</a:t>
            </a:r>
          </a:p>
          <a:p xmlns:a="http://schemas.openxmlformats.org/drawingml/2006/main">
            <a:r>
              <a:t>      "source_title": "한국관광 데이터랩 · 문경찻사발축제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"dataset_hash": "ad20e3daf70fd44fd481d672398c07bb9c96fce77acb450784065a568735e2e2",</a:t>
            </a:r>
          </a:p>
          <a:p xmlns:a="http://schemas.openxmlformats.org/drawingml/2006/main">
            <a:r>
              <a:t>      "source_files":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"sha256": "dfcb5b619f820d7ce4451f5e89294681bc37f49f8200ba859754d423602e51a1",</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"20260820160334_문경찻사발축제_성_연령별 내국인 방문자.csv",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"sha256": "44238aecdfa68974febce93cd262e119492da76910929b96da438d8b6ee7a9b3",</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"20260820160334_문경찻사발축제_목적지 검색순위.csv",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"sha256": "343671c431cfa7e76ba333ca2ea221803e111e0db5e9a51c6d387b0ba5d7eeaf",</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"20260820160334_문경찻사발축제_문화관광축제 주요 지표.csv",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"sha256": "eadf4622620ddb1575df5f358ec588aeed8718c09e0998a19494cf0f3cfe0f16",</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"역사·공예",</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"festival_statistics": {</a:t>
            </a:r>
          </a:p>
          <a:p xmlns:a="http://schemas.openxmlformats.org/drawingml/2006/main">
            <a:r>
              <a:t>        "name": "문경찻사발축제",</a:t>
            </a:r>
          </a:p>
          <a:p xmlns:a="http://schemas.openxmlformats.org/drawingml/2006/main">
            <a:r>
              <a:t>        "annual": [</a:t>
            </a:r>
          </a:p>
          <a:p xmlns:a="http://schemas.openxmlformats.org/drawingml/2006/main">
            <a:r>
              <a:t>          {</a:t>
            </a:r>
          </a:p>
          <a:p xmlns:a="http://schemas.openxmlformats.org/drawingml/2006/main">
            <a:r>
              <a:t>            "daily": 23055.333333333332,</a:t>
            </a:r>
          </a:p>
          <a:p xmlns:a="http://schemas.openxmlformats.org/drawingml/2006/main">
            <a:r>
              <a:t>            "days": 9,</a:t>
            </a:r>
          </a:p>
          <a:p xmlns:a="http://schemas.openxmlformats.org/drawingml/2006/main">
            <a:r>
              <a:t>            "foreign": 1241.0,</a:t>
            </a:r>
          </a:p>
          <a:p xmlns:a="http://schemas.openxmlformats.org/drawingml/2006/main">
            <a:r>
              <a:t>            "local": 59726.0,</a:t>
            </a:r>
          </a:p>
          <a:p xmlns:a="http://schemas.openxmlformats.org/drawingml/2006/main">
            <a:r>
              <a:t>            "outside": 146531.0,</a:t>
            </a:r>
          </a:p>
          <a:p xmlns:a="http://schemas.openxmlformats.org/drawingml/2006/main">
            <a:r>
              <a:t>            "outside_daily": 16281.222222222223,</a:t>
            </a:r>
          </a:p>
          <a:p xmlns:a="http://schemas.openxmlformats.org/drawingml/2006/main">
            <a:r>
              <a:t>            "outside_share_pct": 70.61803005330172,</a:t>
            </a:r>
          </a:p>
          <a:p xmlns:a="http://schemas.openxmlformats.org/drawingml/2006/main">
            <a:r>
              <a:t>            "total": 207498.0,</a:t>
            </a:r>
          </a:p>
          <a:p xmlns:a="http://schemas.openxmlformats.org/drawingml/2006/main">
            <a:r>
              <a:t>            "year": 2023</a:t>
            </a:r>
          </a:p>
          <a:p xmlns:a="http://schemas.openxmlformats.org/drawingml/2006/main">
            <a:r>
              <a:t>          },</a:t>
            </a:r>
          </a:p>
          <a:p xmlns:a="http://schemas.openxmlformats.org/drawingml/2006/main">
            <a:r>
              <a:t>          {</a:t>
            </a:r>
          </a:p>
          <a:p xmlns:a="http://schemas.openxmlformats.org/drawingml/2006/main">
            <a:r>
              <a:t>            "daily": 24575.0,</a:t>
            </a:r>
          </a:p>
          <a:p xmlns:a="http://schemas.openxmlformats.org/drawingml/2006/main">
            <a:r>
              <a:t>            "days": 10,</a:t>
            </a:r>
          </a:p>
          <a:p xmlns:a="http://schemas.openxmlformats.org/drawingml/2006/main">
            <a:r>
              <a:t>            "foreign": 1170.0,</a:t>
            </a:r>
          </a:p>
          <a:p xmlns:a="http://schemas.openxmlformats.org/drawingml/2006/main">
            <a:r>
              <a:t>            "local": 64582.0,</a:t>
            </a:r>
          </a:p>
          <a:p xmlns:a="http://schemas.openxmlformats.org/drawingml/2006/main">
            <a:r>
              <a:t>            "outside": 179998.0,</a:t>
            </a:r>
          </a:p>
          <a:p xmlns:a="http://schemas.openxmlformats.org/drawingml/2006/main">
            <a:r>
              <a:t>            "outside_daily": 17999.8,</a:t>
            </a:r>
          </a:p>
          <a:p xmlns:a="http://schemas.openxmlformats.org/drawingml/2006/main">
            <a:r>
              <a:t>            "outside_share_pct": 73.2443540183113,</a:t>
            </a:r>
          </a:p>
          <a:p xmlns:a="http://schemas.openxmlformats.org/drawingml/2006/main">
            <a:r>
              <a:t>            "total": 245750.0,</a:t>
            </a:r>
          </a:p>
          <a:p xmlns:a="http://schemas.openxmlformats.org/drawingml/2006/main">
            <a:r>
              <a:t>            "year": 2024</a:t>
            </a:r>
          </a:p>
          <a:p xmlns:a="http://schemas.openxmlformats.org/drawingml/2006/main">
            <a:r>
              <a:t>          },</a:t>
            </a:r>
          </a:p>
          <a:p xmlns:a="http://schemas.openxmlformats.org/drawingml/2006/main">
            <a:r>
              <a:t>          {</a:t>
            </a:r>
          </a:p>
          <a:p xmlns:a="http://schemas.openxmlformats.org/drawingml/2006/main">
            <a:r>
              <a:t>            "daily": 28507.777777777777,</a:t>
            </a:r>
          </a:p>
          <a:p xmlns:a="http://schemas.openxmlformats.org/drawingml/2006/main">
            <a:r>
              <a:t>            "days": 9,</a:t>
            </a:r>
          </a:p>
          <a:p xmlns:a="http://schemas.openxmlformats.org/drawingml/2006/main">
            <a:r>
              <a:t>            "foreign": 1166.0,</a:t>
            </a:r>
          </a:p>
          <a:p xmlns:a="http://schemas.openxmlformats.org/drawingml/2006/main">
            <a:r>
              <a:t>            "local": 58704.0,</a:t>
            </a:r>
          </a:p>
          <a:p xmlns:a="http://schemas.openxmlformats.org/drawingml/2006/main">
            <a:r>
              <a:t>            "outside": 196700.0,</a:t>
            </a:r>
          </a:p>
          <a:p xmlns:a="http://schemas.openxmlformats.org/drawingml/2006/main">
            <a:r>
              <a:t>            "outside_daily": 21855.555555555555,</a:t>
            </a:r>
          </a:p>
          <a:p xmlns:a="http://schemas.openxmlformats.org/drawingml/2006/main">
            <a:r>
              <a:t>            "outside_share_pct": 76.66523755700199,</a:t>
            </a:r>
          </a:p>
          <a:p xmlns:a="http://schemas.openxmlformats.org/drawingml/2006/main">
            <a:r>
              <a:t>            "total": 256570.0,</a:t>
            </a:r>
          </a:p>
          <a:p xmlns:a="http://schemas.openxmlformats.org/drawingml/2006/main">
            <a:r>
              <a:t>            "year": 2025</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"daily": {</a:t>
            </a:r>
          </a:p>
          <a:p xmlns:a="http://schemas.openxmlformats.org/drawingml/2006/main">
            <a:r>
              <a:t>            "after": 28507.777777777777,</a:t>
            </a:r>
          </a:p>
          <a:p xmlns:a="http://schemas.openxmlformats.org/drawingml/2006/main">
            <a:r>
              <a:t>            "before": 24575.0,</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"outside": {</a:t>
            </a:r>
          </a:p>
          <a:p xmlns:a="http://schemas.openxmlformats.org/drawingml/2006/main">
            <a:r>
              <a:t>            "after": 196700.0,</a:t>
            </a:r>
          </a:p>
          <a:p xmlns:a="http://schemas.openxmlformats.org/drawingml/2006/main">
            <a:r>
              <a:t>            "before": 179998.0,</a:t>
            </a:r>
          </a:p>
          <a:p xmlns:a="http://schemas.openxmlformats.org/drawingml/2006/main">
            <a:r>
              <a:t>            "change_pct": 9.278991988799866,</a:t>
            </a:r>
          </a:p>
          <a:p xmlns:a="http://schemas.openxmlformats.org/drawingml/2006/main">
            <a:r>
              <a:t>            "difference": 16702.0</a:t>
            </a:r>
          </a:p>
          <a:p xmlns:a="http://schemas.openxmlformats.org/drawingml/2006/main">
            <a:r>
              <a:t>          },</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3855.7555555555555</a:t>
            </a:r>
          </a:p>
          <a:p xmlns:a="http://schemas.openxmlformats.org/drawingml/2006/main">
            <a:r>
              <a:t>          },</a:t>
            </a:r>
          </a:p>
          <a:p xmlns:a="http://schemas.openxmlformats.org/drawingml/2006/main">
            <a:r>
              <a:t>          "total": {</a:t>
            </a:r>
          </a:p>
          <a:p xmlns:a="http://schemas.openxmlformats.org/drawingml/2006/main">
            <a:r>
              <a:t>            "after": 256570.0,</a:t>
            </a:r>
          </a:p>
          <a:p xmlns:a="http://schemas.openxmlformats.org/drawingml/2006/main">
            <a:r>
              <a:t>            "before": 245750.0,</a:t>
            </a:r>
          </a:p>
          <a:p xmlns:a="http://schemas.openxmlformats.org/drawingml/2006/main">
            <a:r>
              <a:t>            "change_pct": 4.402848423194294,</a:t>
            </a:r>
          </a:p>
          <a:p xmlns:a="http://schemas.openxmlformats.org/drawingml/2006/main">
            <a:r>
              <a:t>            "difference": 10820.0</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"downloaded_at": "2026-08-20",</a:t>
            </a:r>
          </a:p>
          <a:p xmlns:a="http://schemas.openxmlformats.org/drawingml/2006/main">
            <a:r>
              <a:t>          "file_name": "20260820160334_문경찻사발축제_연도별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"sha256": "dfcb5b619f820d7ce4451f5e89294681bc37f49f8200ba859754d423602e51a1",</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"남성비율": "4.0",</a:t>
            </a:r>
          </a:p>
          <a:p xmlns:a="http://schemas.openxmlformats.org/drawingml/2006/main">
            <a:r>
              <a:t>            "여성비율": "3.8",</a:t>
            </a:r>
          </a:p>
          <a:p xmlns:a="http://schemas.openxmlformats.org/drawingml/2006/main">
            <a:r>
              <a:t>            "연령대": "70세 이상",</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"12.3",</a:t>
            </a:r>
          </a:p>
          <a:p xmlns:a="http://schemas.openxmlformats.org/drawingml/2006/main">
            <a:r>
              <a:t>            "여성비율": "10.0",</a:t>
            </a:r>
          </a:p>
          <a:p xmlns:a="http://schemas.openxmlformats.org/drawingml/2006/main">
            <a:r>
              <a:t>            "연령대": "60~69세",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"13.0",</a:t>
            </a:r>
          </a:p>
          <a:p xmlns:a="http://schemas.openxmlformats.org/drawingml/2006/main">
            <a:r>
              <a:t>            "여성비율": "11.7",</a:t>
            </a:r>
          </a:p>
          <a:p xmlns:a="http://schemas.openxmlformats.org/drawingml/2006/main">
            <a:r>
              <a:t>            "연령대": "50~59세",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"9.3",</a:t>
            </a:r>
          </a:p>
          <a:p xmlns:a="http://schemas.openxmlformats.org/drawingml/2006/main">
            <a:r>
              <a:t>            "여성비율": "7.6",</a:t>
            </a:r>
          </a:p>
          <a:p xmlns:a="http://schemas.openxmlformats.org/drawingml/2006/main">
            <a:r>
              <a:t>            "연령대": "40~49세",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"7.2",</a:t>
            </a:r>
          </a:p>
          <a:p xmlns:a="http://schemas.openxmlformats.org/drawingml/2006/main">
            <a:r>
              <a:t>            "여성비율": "6.1",</a:t>
            </a:r>
          </a:p>
          <a:p xmlns:a="http://schemas.openxmlformats.org/drawingml/2006/main">
            <a:r>
              <a:t>            "연령대": "30~39세",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"4.6",</a:t>
            </a:r>
          </a:p>
          <a:p xmlns:a="http://schemas.openxmlformats.org/drawingml/2006/main">
            <a:r>
              <a:t>            "여성비율": "4.1",</a:t>
            </a:r>
          </a:p>
          <a:p xmlns:a="http://schemas.openxmlformats.org/drawingml/2006/main">
            <a:r>
              <a:t>            "연령대": "20~29세",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"2.5",</a:t>
            </a:r>
          </a:p>
          <a:p xmlns:a="http://schemas.openxmlformats.org/drawingml/2006/main">
            <a:r>
              <a:t>            "여성비율": "2.5",</a:t>
            </a:r>
          </a:p>
          <a:p xmlns:a="http://schemas.openxmlformats.org/drawingml/2006/main">
            <a:r>
              <a:t>            "연령대": "10~19세",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"0.6",</a:t>
            </a:r>
          </a:p>
          <a:p xmlns:a="http://schemas.openxmlformats.org/drawingml/2006/main">
            <a:r>
              <a:t>            "여성비율": "0.6",</a:t>
            </a:r>
          </a:p>
          <a:p xmlns:a="http://schemas.openxmlformats.org/drawingml/2006/main">
            <a:r>
              <a:t>            "연령대": "0~9세",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"도로명주소": "경북 문경시 새재로 932-0",</a:t>
            </a:r>
          </a:p>
          <a:p xmlns:a="http://schemas.openxmlformats.org/drawingml/2006/main">
            <a:r>
              <a:t>            "카테고리": "역사유적지"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"도로명주소": "경북 문경시 온천2길 24-0",</a:t>
            </a:r>
          </a:p>
          <a:p xmlns:a="http://schemas.openxmlformats.org/drawingml/2006/main">
            <a:r>
              <a:t>            "카테고리": "웰니스관광"</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"도로명주소": "경북 문경시 새재로 933-0",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"source_type": "benchmark_case",</a:t>
            </a:r>
          </a:p>
          <a:p xmlns:a="http://schemas.openxmlformats.org/drawingml/2006/main">
            <a:r>
              <a:t>      "title": "한국관광 데이터랩 · 문경찻사발축제 방문자 추이",</a:t>
            </a:r>
          </a:p>
          <a:p xmlns:a="http://schemas.openxmlformats.org/drawingml/2006/main">
            <a:r>
              <a:t>      "summary": "2024→2025년 전체 245,750→256,570명 (+4.40%). 개최 10→9일, 일평균 +16.00%, 외지인 +9.28%."</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"filename": "incheon_official.jpg",</a:t>
            </a:r>
          </a:p>
          <a:p xmlns:a="http://schemas.openxmlformats.org/drawingml/2006/main">
            <a:r>
              <a:t>      "caption": "관광 참고 이미지 · 인천 섬 · 로컬체험 여행 소개 사진",</a:t>
            </a:r>
          </a:p>
          <a:p xmlns:a="http://schemas.openxmlformats.org/drawingml/2006/main">
            <a:r>
              <a:t>      "credit": "인천광역시 섬포털",</a:t>
            </a:r>
          </a:p>
          <a:p xmlns:a="http://schemas.openxmlformats.org/drawingml/2006/main">
            <a:r>
              <a:t>      "page_url": "https://isum.incheon.go.kr/theme/themeContent.do?key=2407020018",</a:t>
            </a:r>
          </a:p>
          <a:p xmlns:a="http://schemas.openxmlformats.org/drawingml/2006/main">
            <a:r>
              <a:t>      "image_url": "https://isum.incheon.go.kr/resource/www/images/sub/theme_local.jpg",</a:t>
            </a:r>
          </a:p>
          <a:p xmlns:a="http://schemas.openxmlformats.org/drawingml/2006/main">
            <a:r>
              <a:t>      "match_kind": "general_tourism_reference",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case:festival:394c5c43788b4e | 한국관광 데이터랩 · 탐라문화제 방문자 추이 | https://datalab.visitkorea.or.kr/</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"case:festival:394c5c43788b4e",</a:t>
            </a:r>
          </a:p>
          <a:p>
            <a:r>
              <a:t>      "document_type": "case_study",</a:t>
            </a:r>
          </a:p>
          <a:p>
            <a:r>
              <a:t>      "evidence_kind": "festival_statistics",</a:t>
            </a:r>
          </a:p>
          <a:p>
            <a:r>
              <a:t>      "retrieval_method": "datalab_festival_table",</a:t>
            </a:r>
          </a:p>
          <a:p>
            <a:r>
              <a:t>      "region_code": "50110",</a:t>
            </a:r>
          </a:p>
          <a:p>
            <a:r>
              <a:t>      "region_name": "제주특별자치도 제주시",</a:t>
            </a:r>
          </a:p>
          <a:p>
            <a:r>
              <a:t>      "case_region": "제주특별자치도 제주시",</a:t>
            </a:r>
          </a:p>
          <a:p>
            <a:r>
              <a:t>      "intervention": "탐라문화제",</a:t>
            </a:r>
          </a:p>
          <a:p>
            <a:r>
              <a:t>      "problem_addressed": "선택 지역의 기존 축제 현황 · 공연·문화",</a:t>
            </a:r>
          </a:p>
          <a:p>
            <a:r>
              <a:t>      "target_group": "축제 관측구역 방문자(현지인·외지인·외국인 구분)",</a:t>
            </a:r>
          </a:p>
          <a:p>
            <a:r>
              <a:t>      "operating_model": "탐라문화제를 2025년 5일 개최한 문화관광축제 운영 사례. 세부 프로그램·예약·혜택은 이 CSV에 기록되어 있지 않으며 새로운 운영안은 제안으로 구분한다.",</a:t>
            </a:r>
          </a:p>
          <a:p>
            <a:r>
              <a:t>      "duration": "2025년 5일",</a:t>
            </a:r>
          </a:p>
          <a:p>
            <a:r>
              <a:t>      "public_budget": "CSV에 사업비 없음",</a:t>
            </a:r>
          </a:p>
          <a:p>
            <a:r>
              <a:t>      "observed_result": "2024→2025년 전체 166,050→133,245명 (-19.76%). 개최 5→5일, 일평균 -19.76%, 외지인 -0.40%.",</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탐라문화제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"20260820183300_탐라문화제_연도별 방문자 추이.csv",</a:t>
            </a:r>
          </a:p>
          <a:p>
            <a:r>
              <a:t>          "provenance_status": "team_download_exact_query_url_unrecorded",</a:t>
            </a:r>
          </a:p>
          <a:p>
            <a:r>
              <a:t>          "provider": "한국관광 데이터랩",</a:t>
            </a:r>
          </a:p>
          <a:p>
            <a:r>
              <a:t>          "relative_path": "data/source_snapshots/festivals_20260820/77. 탐라문화제_2023-2025/20260820183300_탐라문화제_연도별 방문자 추이.csv",</a:t>
            </a:r>
          </a:p>
          <a:p>
            <a:r>
              <a:t>          "sha256": "d6f7a30cf5328ffb863d707cf8f0987af509d9b014ebe7c6eed7e65610518aa9",</a:t>
            </a:r>
          </a:p>
          <a:p>
            <a:r>
              <a:t>          "source_id": "festival-file:d6f7a30cf5328ffb863d",</a:t>
            </a:r>
          </a:p>
          <a:p>
            <a:r>
              <a:t>          "source_url": "https://datalab.visitkorea.or.kr/"</a:t>
            </a:r>
          </a:p>
          <a:p>
            <a:r>
              <a:t>        },</a:t>
            </a:r>
          </a:p>
          <a:p>
            <a:r>
              <a:t>        {</a:t>
            </a:r>
          </a:p>
          <a:p>
            <a:r>
              <a:t>          "downloaded_at": "2026-08-20",</a:t>
            </a:r>
          </a:p>
          <a:p>
            <a:r>
              <a:t>          "file_name": "20260820183300_탐라문화제_성_연령별 내국인 방문자.csv",</a:t>
            </a:r>
          </a:p>
          <a:p>
            <a:r>
              <a:t>          "provenance_status": "team_download_exact_query_url_unrecorded",</a:t>
            </a:r>
          </a:p>
          <a:p>
            <a:r>
              <a:t>          "provider": "한국관광 데이터랩",</a:t>
            </a:r>
          </a:p>
          <a:p>
            <a:r>
              <a:t>          "relative_path": "data/source_snapshots/festivals_20260820/77. 탐라문화제_2023-2025/20260820183300_탐라문화제_성_연령별 내국인 방문자.csv",</a:t>
            </a:r>
          </a:p>
          <a:p>
            <a:r>
              <a:t>          "sha256": "c6a7ef43f1907d8c23587d7097e2d4e9d5ad6510e8f7c8ea4d7588881c869e55",</a:t>
            </a:r>
          </a:p>
          <a:p>
            <a:r>
              <a:t>          "source_id": "festival-file:c6a7ef43f1907d8c2358",</a:t>
            </a:r>
          </a:p>
          <a:p>
            <a:r>
              <a:t>          "source_url": "https://datalab.visitkorea.or.kr/"</a:t>
            </a:r>
          </a:p>
          <a:p>
            <a:r>
              <a:t>        },</a:t>
            </a:r>
          </a:p>
          <a:p>
            <a:r>
              <a:t>        {</a:t>
            </a:r>
          </a:p>
          <a:p>
            <a:r>
              <a:t>          "downloaded_at": "2026-08-20",</a:t>
            </a:r>
          </a:p>
          <a:p>
            <a:r>
              <a:t>          "file_name": "20260820183300_탐라문화제_목적지 검색순위.csv",</a:t>
            </a:r>
          </a:p>
          <a:p>
            <a:r>
              <a:t>          "provenance_status": "team_download_exact_query_url_unrecorded",</a:t>
            </a:r>
          </a:p>
          <a:p>
            <a:r>
              <a:t>          "provider": "한국관광 데이터랩",</a:t>
            </a:r>
          </a:p>
          <a:p>
            <a:r>
              <a:t>          "relative_path": "data/source_snapshots/festivals_20260820/77. 탐라문화제_2023-2025/20260820183300_탐라문화제_목적지 검색순위.csv",</a:t>
            </a:r>
          </a:p>
          <a:p>
            <a:r>
              <a:t>          "sha256": "2328823a2091babc37a8326a925721547b0c433ce1f7ad1bed58c4d446eef0b7",</a:t>
            </a:r>
          </a:p>
          <a:p>
            <a:r>
              <a:t>          "source_id": "festival-file:2328823a2091babc37a8",</a:t>
            </a:r>
          </a:p>
          <a:p>
            <a:r>
              <a:t>          "source_url": "https://datalab.visitkorea.or.kr/"</a:t>
            </a:r>
          </a:p>
          <a:p>
            <a:r>
              <a:t>        },</a:t>
            </a:r>
          </a:p>
          <a:p>
            <a:r>
              <a:t>        {</a:t>
            </a:r>
          </a:p>
          <a:p>
            <a:r>
              <a:t>          "downloaded_at": "2026-08-20",</a:t>
            </a:r>
          </a:p>
          <a:p>
            <a:r>
              <a:t>          "file_name": "20260820183300_탐라문화제_문화관광축제 주요 지표.csv",</a:t>
            </a:r>
          </a:p>
          <a:p>
            <a:r>
              <a:t>          "provenance_status": "team_download_exact_query_url_unrecorded",</a:t>
            </a:r>
          </a:p>
          <a:p>
            <a:r>
              <a:t>          "provider": "한국관광 데이터랩",</a:t>
            </a:r>
          </a:p>
          <a:p>
            <a:r>
              <a:t>          "relative_path": "data/source_snapshots/festivals_20260820/77. 탐라문화제_2023-2025/20260820183300_탐라문화제_문화관광축제 주요 지표.csv",</a:t>
            </a:r>
          </a:p>
          <a:p>
            <a:r>
              <a:t>          "sha256": "31118c09b772aa0cd272a1d50ba5f6c09038d11466ca7dff9b193547e90bd731",</a:t>
            </a:r>
          </a:p>
          <a:p>
            <a:r>
              <a:t>          "source_id": "festival-file:31118c09b772aa0cd272",</a:t>
            </a:r>
          </a:p>
          <a:p>
            <a:r>
              <a:t>          "source_url": "https://datalab.visitkorea.or.kr/"</a:t>
            </a:r>
          </a:p>
          <a:p>
            <a:r>
              <a:t>        }</a:t>
            </a:r>
          </a:p>
          <a:p>
            <a:r>
              <a:t>      ],</a:t>
            </a:r>
          </a:p>
          <a:p>
            <a:r>
              <a:t>      "retrieval_basis": {</a:t>
            </a:r>
          </a:p>
          <a:p>
            <a:r>
              <a:t>        "kind": "local_context",</a:t>
            </a:r>
          </a:p>
          <a:p>
            <a:r>
              <a:t>        "score": 16,</a:t>
            </a:r>
          </a:p>
          <a:p>
            <a:r>
              <a:t>        "components": {</a:t>
            </a:r>
          </a:p>
          <a:p>
            <a:r>
              <a:t>          "같은 시도 조사 맥락": 10,</a:t>
            </a:r>
          </a:p>
          <a:p>
            <a:r>
              <a:t>          "최근 개최연도": 6</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"festival_statistics": {</a:t>
            </a:r>
          </a:p>
          <a:p>
            <a:r>
              <a:t>        "name": "탐라문화제",</a:t>
            </a:r>
          </a:p>
          <a:p>
            <a:r>
              <a:t>        "annual": [</a:t>
            </a:r>
          </a:p>
          <a:p>
            <a:r>
              <a:t>          {</a:t>
            </a:r>
          </a:p>
          <a:p>
            <a:r>
              <a:t>            "daily": 25015.0,</a:t>
            </a:r>
          </a:p>
          <a:p>
            <a:r>
              <a:t>            "days": 5,</a:t>
            </a:r>
          </a:p>
          <a:p>
            <a:r>
              <a:t>            "foreign": 5148.0,</a:t>
            </a:r>
          </a:p>
          <a:p>
            <a:r>
              <a:t>            "local": 74290.0,</a:t>
            </a:r>
          </a:p>
          <a:p>
            <a:r>
              <a:t>            "outside": 45637.0,</a:t>
            </a:r>
          </a:p>
          <a:p>
            <a:r>
              <a:t>            "outside_daily": 9127.4,</a:t>
            </a:r>
          </a:p>
          <a:p>
            <a:r>
              <a:t>            "outside_share_pct": 36.48770737557466,</a:t>
            </a:r>
          </a:p>
          <a:p>
            <a:r>
              <a:t>            "total": 125075.0,</a:t>
            </a:r>
          </a:p>
          <a:p>
            <a:r>
              <a:t>            "year": 2023</a:t>
            </a:r>
          </a:p>
          <a:p>
            <a:r>
              <a:t>          },</a:t>
            </a:r>
          </a:p>
          <a:p>
            <a:r>
              <a:t>          {</a:t>
            </a:r>
          </a:p>
          <a:p>
            <a:r>
              <a:t>            "daily": 33210.0,</a:t>
            </a:r>
          </a:p>
          <a:p>
            <a:r>
              <a:t>            "days": 5,</a:t>
            </a:r>
          </a:p>
          <a:p>
            <a:r>
              <a:t>            "foreign": 10569.0,</a:t>
            </a:r>
          </a:p>
          <a:p>
            <a:r>
              <a:t>            "local": 110482.0,</a:t>
            </a:r>
          </a:p>
          <a:p>
            <a:r>
              <a:t>            "outside": 44999.0,</a:t>
            </a:r>
          </a:p>
          <a:p>
            <a:r>
              <a:t>            "outside_daily": 8999.8,</a:t>
            </a:r>
          </a:p>
          <a:p>
            <a:r>
              <a:t>            "outside_share_pct": 27.099668774465524,</a:t>
            </a:r>
          </a:p>
          <a:p>
            <a:r>
              <a:t>            "total": 166050.0,</a:t>
            </a:r>
          </a:p>
          <a:p>
            <a:r>
              <a:t>            "year": 2024</a:t>
            </a:r>
          </a:p>
          <a:p>
            <a:r>
              <a:t>          },</a:t>
            </a:r>
          </a:p>
          <a:p>
            <a:r>
              <a:t>          {</a:t>
            </a:r>
          </a:p>
          <a:p>
            <a:r>
              <a:t>            "daily": 26649.0,</a:t>
            </a:r>
          </a:p>
          <a:p>
            <a:r>
              <a:t>            "days": 5,</a:t>
            </a:r>
          </a:p>
          <a:p>
            <a:r>
              <a:t>            "foreign": 11781.0,</a:t>
            </a:r>
          </a:p>
          <a:p>
            <a:r>
              <a:t>            "local": 76647.0,</a:t>
            </a:r>
          </a:p>
          <a:p>
            <a:r>
              <a:t>            "outside": 44817.0,</a:t>
            </a:r>
          </a:p>
          <a:p>
            <a:r>
              <a:t>            "outside_daily": 8963.4,</a:t>
            </a:r>
          </a:p>
          <a:p>
            <a:r>
              <a:t>            "outside_share_pct": 33.635033209501294,</a:t>
            </a:r>
          </a:p>
          <a:p>
            <a:r>
              <a:t>            "total": 133245.0,</a:t>
            </a:r>
          </a:p>
          <a:p>
            <a:r>
              <a:t>            "year": 2025</a:t>
            </a:r>
          </a:p>
          <a:p>
            <a:r>
              <a:t>          }</a:t>
            </a:r>
          </a:p>
          <a:p>
            <a:r>
              <a:t>        ],</a:t>
            </a:r>
          </a:p>
          <a:p>
            <a:r>
              <a:t>        "comparison": {</a:t>
            </a:r>
          </a:p>
          <a:p>
            <a:r>
              <a:t>          "after_days": 5,</a:t>
            </a:r>
          </a:p>
          <a:p>
            <a:r>
              <a:t>          "after_year": 2025,</a:t>
            </a:r>
          </a:p>
          <a:p>
            <a:r>
              <a:t>          "before_days": 5,</a:t>
            </a:r>
          </a:p>
          <a:p>
            <a:r>
              <a:t>          "before_year": 2024,</a:t>
            </a:r>
          </a:p>
          <a:p>
            <a:r>
              <a:t>          "daily": {</a:t>
            </a:r>
          </a:p>
          <a:p>
            <a:r>
              <a:t>            "after": 26649.0,</a:t>
            </a:r>
          </a:p>
          <a:p>
            <a:r>
              <a:t>            "before": 33210.0,</a:t>
            </a:r>
          </a:p>
          <a:p>
            <a:r>
              <a:t>            "change_pct": -19.756097560975604,</a:t>
            </a:r>
          </a:p>
          <a:p>
            <a:r>
              <a:t>            "difference": -6561.0</a:t>
            </a:r>
          </a:p>
          <a:p>
            <a:r>
              <a:t>          },</a:t>
            </a:r>
          </a:p>
          <a:p>
            <a:r>
              <a:t>          "outside": {</a:t>
            </a:r>
          </a:p>
          <a:p>
            <a:r>
              <a:t>            "after": 44817.0,</a:t>
            </a:r>
          </a:p>
          <a:p>
            <a:r>
              <a:t>            "before": 44999.0,</a:t>
            </a:r>
          </a:p>
          <a:p>
            <a:r>
              <a:t>            "change_pct": -0.4044534322984905,</a:t>
            </a:r>
          </a:p>
          <a:p>
            <a:r>
              <a:t>            "difference": -182.0</a:t>
            </a:r>
          </a:p>
          <a:p>
            <a:r>
              <a:t>          },</a:t>
            </a:r>
          </a:p>
          <a:p>
            <a:r>
              <a:t>          "outside_daily": {</a:t>
            </a:r>
          </a:p>
          <a:p>
            <a:r>
              <a:t>            "after": 8963.4,</a:t>
            </a:r>
          </a:p>
          <a:p>
            <a:r>
              <a:t>            "before": 8999.8,</a:t>
            </a:r>
          </a:p>
          <a:p>
            <a:r>
              <a:t>            "change_pct": -0.4044534322984905,</a:t>
            </a:r>
          </a:p>
          <a:p>
            <a:r>
              <a:t>            "difference": -36.399999999999636</a:t>
            </a:r>
          </a:p>
          <a:p>
            <a:r>
              <a:t>          },</a:t>
            </a:r>
          </a:p>
          <a:p>
            <a:r>
              <a:t>          "total": {</a:t>
            </a:r>
          </a:p>
          <a:p>
            <a:r>
              <a:t>            "after": 133245.0,</a:t>
            </a:r>
          </a:p>
          <a:p>
            <a:r>
              <a:t>            "before": 166050.0,</a:t>
            </a:r>
          </a:p>
          <a:p>
            <a:r>
              <a:t>            "change_pct": -19.756097560975604,</a:t>
            </a:r>
          </a:p>
          <a:p>
            <a:r>
              <a:t>            "difference": -32805.0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"20260820183300_탐라문화제_연도별 방문자 추이.csv",</a:t>
            </a:r>
          </a:p>
          <a:p>
            <a:r>
              <a:t>          "provenance_status": "team_download_exact_query_url_unrecorded",</a:t>
            </a:r>
          </a:p>
          <a:p>
            <a:r>
              <a:t>          "provider": "한국관광 데이터랩",</a:t>
            </a:r>
          </a:p>
          <a:p>
            <a:r>
              <a:t>          "relative_path": "data/source_snapshots/festivals_20260820/77. 탐라문화제_2023-2025/20260820183300_탐라문화제_연도별 방문자 추이.csv",</a:t>
            </a:r>
          </a:p>
          <a:p>
            <a:r>
              <a:t>          "sha256": "d6f7a30cf5328ffb863d707cf8f0987af509d9b014ebe7c6eed7e65610518aa9",</a:t>
            </a:r>
          </a:p>
          <a:p>
            <a:r>
              <a:t>          "source_id": "festival-file:d6f7a30cf5328ffb863d",</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"0.622",</a:t>
            </a:r>
          </a:p>
          <a:p>
            <a:r>
              <a:t>            "축제명": "탐라문화제"</a:t>
            </a:r>
          </a:p>
          <a:p>
            <a:r>
              <a:t>          },</a:t>
            </a:r>
          </a:p>
          <a:p>
            <a:r>
              <a:t>          {</a:t>
            </a:r>
          </a:p>
          <a:p>
            <a:r>
              <a:t>            "개최년도": "2025",</a:t>
            </a:r>
          </a:p>
          <a:p>
            <a:r>
              <a:t>            "구분명": "현지인방문자 유입",</a:t>
            </a:r>
          </a:p>
          <a:p>
            <a:r>
              <a:t>            "그룹명": "축제기간",</a:t>
            </a:r>
          </a:p>
          <a:p>
            <a:r>
              <a:t>            "지표값": "0.87",</a:t>
            </a:r>
          </a:p>
          <a:p>
            <a:r>
              <a:t>            "축제명": "탐라문화제"</a:t>
            </a:r>
          </a:p>
          <a:p>
            <a:r>
              <a:t>          },</a:t>
            </a:r>
          </a:p>
          <a:p>
            <a:r>
              <a:t>          {</a:t>
            </a:r>
          </a:p>
          <a:p>
            <a:r>
              <a:t>            "개최년도": "2025",</a:t>
            </a:r>
          </a:p>
          <a:p>
            <a:r>
              <a:t>            "구분명": "내비게이션 검색량",</a:t>
            </a:r>
          </a:p>
          <a:p>
            <a:r>
              <a:t>            "그룹명": "축제기간",</a:t>
            </a:r>
          </a:p>
          <a:p>
            <a:r>
              <a:t>            "지표값": "0.783",</a:t>
            </a:r>
          </a:p>
          <a:p>
            <a:r>
              <a:t>            "축제명": "탐라문화제"</a:t>
            </a:r>
          </a:p>
          <a:p>
            <a:r>
              <a:t>          },</a:t>
            </a:r>
          </a:p>
          <a:p>
            <a:r>
              <a:t>          {</a:t>
            </a:r>
          </a:p>
          <a:p>
            <a:r>
              <a:t>            "개최년도": "2025",</a:t>
            </a:r>
          </a:p>
          <a:p>
            <a:r>
              <a:t>            "구분명": "관광소비",</a:t>
            </a:r>
          </a:p>
          <a:p>
            <a:r>
              <a:t>            "그룹명": "축제기간",</a:t>
            </a:r>
          </a:p>
          <a:p>
            <a:r>
              <a:t>            "지표값": "0.694",</a:t>
            </a:r>
          </a:p>
          <a:p>
            <a:r>
              <a:t>            "축제명": "탐라문화제"</a:t>
            </a:r>
          </a:p>
          <a:p>
            <a:r>
              <a:t>          },</a:t>
            </a:r>
          </a:p>
          <a:p>
            <a:r>
              <a:t>          {</a:t>
            </a:r>
          </a:p>
          <a:p>
            <a:r>
              <a:t>            "개최년도": "2025",</a:t>
            </a:r>
          </a:p>
          <a:p>
            <a:r>
              <a:t>            "구분명": "축제지 집중률",</a:t>
            </a:r>
          </a:p>
          <a:p>
            <a:r>
              <a:t>            "그룹명": "축제기간",</a:t>
            </a:r>
          </a:p>
          <a:p>
            <a:r>
              <a:t>            "지표값": "0.68",</a:t>
            </a:r>
          </a:p>
          <a:p>
            <a:r>
              <a:t>            "축제명": "탐라문화제"</a:t>
            </a:r>
          </a:p>
          <a:p>
            <a:r>
              <a:t>          },</a:t>
            </a:r>
          </a:p>
          <a:p>
            <a:r>
              <a:t>          {</a:t>
            </a:r>
          </a:p>
          <a:p>
            <a:r>
              <a:t>            "개최년도": "2025",</a:t>
            </a:r>
          </a:p>
          <a:p>
            <a:r>
              <a:t>            "구분명": "외부방문자 유입",</a:t>
            </a:r>
          </a:p>
          <a:p>
            <a:r>
              <a:t>            "그룹명": "비축제기간",</a:t>
            </a:r>
          </a:p>
          <a:p>
            <a:r>
              <a:t>            "지표값": "0.634",</a:t>
            </a:r>
          </a:p>
          <a:p>
            <a:r>
              <a:t>            "축제명": "탐라문화제"</a:t>
            </a:r>
          </a:p>
          <a:p>
            <a:r>
              <a:t>          },</a:t>
            </a:r>
          </a:p>
          <a:p>
            <a:r>
              <a:t>          {</a:t>
            </a:r>
          </a:p>
          <a:p>
            <a:r>
              <a:t>            "개최년도": "2025",</a:t>
            </a:r>
          </a:p>
          <a:p>
            <a:r>
              <a:t>            "구분명": "현지인방문자 유입",</a:t>
            </a:r>
          </a:p>
          <a:p>
            <a:r>
              <a:t>            "그룹명": "비축제기간",</a:t>
            </a:r>
          </a:p>
          <a:p>
            <a:r>
              <a:t>            "지표값": "0.738",</a:t>
            </a:r>
          </a:p>
          <a:p>
            <a:r>
              <a:t>            "축제명": "탐라문화제"</a:t>
            </a:r>
          </a:p>
          <a:p>
            <a:r>
              <a:t>          },</a:t>
            </a:r>
          </a:p>
          <a:p>
            <a:r>
              <a:t>          {</a:t>
            </a:r>
          </a:p>
          <a:p>
            <a:r>
              <a:t>            "개최년도": "2025",</a:t>
            </a:r>
          </a:p>
          <a:p>
            <a:r>
              <a:t>            "구분명": "내비게이션 검색량",</a:t>
            </a:r>
          </a:p>
          <a:p>
            <a:r>
              <a:t>            "그룹명": "비축제기간",</a:t>
            </a:r>
          </a:p>
          <a:p>
            <a:r>
              <a:t>            "지표값": "0.507",</a:t>
            </a:r>
          </a:p>
          <a:p>
            <a:r>
              <a:t>            "축제명": "탐라문화제"</a:t>
            </a:r>
          </a:p>
          <a:p>
            <a:r>
              <a:t>          },</a:t>
            </a:r>
          </a:p>
          <a:p>
            <a:r>
              <a:t>          {</a:t>
            </a:r>
          </a:p>
          <a:p>
            <a:r>
              <a:t>            "개최년도": "2025",</a:t>
            </a:r>
          </a:p>
          <a:p>
            <a:r>
              <a:t>            "구분명": "관광소비",</a:t>
            </a:r>
          </a:p>
          <a:p>
            <a:r>
              <a:t>            "그룹명": "비축제기간",</a:t>
            </a:r>
          </a:p>
          <a:p>
            <a:r>
              <a:t>            "지표값": "0.716",</a:t>
            </a:r>
          </a:p>
          <a:p>
            <a:r>
              <a:t>            "축제명": "탐라문화제"</a:t>
            </a:r>
          </a:p>
          <a:p>
            <a:r>
              <a:t>          },</a:t>
            </a:r>
          </a:p>
          <a:p>
            <a:r>
              <a:t>          {</a:t>
            </a:r>
          </a:p>
          <a:p>
            <a:r>
              <a:t>            "개최년도": "2025",</a:t>
            </a:r>
          </a:p>
          <a:p>
            <a:r>
              <a:t>            "구분명": "축제지 집중률",</a:t>
            </a:r>
          </a:p>
          <a:p>
            <a:r>
              <a:t>            "그룹명": "비축제기간",</a:t>
            </a:r>
          </a:p>
          <a:p>
            <a:r>
              <a:t>            "지표값": "0.681",</a:t>
            </a:r>
          </a:p>
          <a:p>
            <a:r>
              <a:t>            "축제명": "탐라문화제"</a:t>
            </a:r>
          </a:p>
          <a:p>
            <a:r>
              <a:t>          }</a:t>
            </a:r>
          </a:p>
          <a:p>
            <a:r>
              <a:t>        ],</a:t>
            </a:r>
          </a:p>
          <a:p>
            <a:r>
              <a:t>        "indicator_rule": "원본 지표값만 보존. 산식·단위 미확인으로 성장률/원화/정원/참여율 변환 금지.",</a:t>
            </a:r>
          </a:p>
          <a:p>
            <a:r>
              <a:t>        "audience": [</a:t>
            </a:r>
          </a:p>
          <a:p>
            <a:r>
              <a:t>          {</a:t>
            </a:r>
          </a:p>
          <a:p>
            <a:r>
              <a:t>            "남성비율": "3.4",</a:t>
            </a:r>
          </a:p>
          <a:p>
            <a:r>
              <a:t>            "여성비율": "4.3",</a:t>
            </a:r>
          </a:p>
          <a:p>
            <a:r>
              <a:t>            "연령대": "70세 이상",</a:t>
            </a:r>
          </a:p>
          <a:p>
            <a:r>
              <a:t>            "축제명": "탐라문화제"</a:t>
            </a:r>
          </a:p>
          <a:p>
            <a:r>
              <a:t>          },</a:t>
            </a:r>
          </a:p>
          <a:p>
            <a:r>
              <a:t>          {</a:t>
            </a:r>
          </a:p>
          <a:p>
            <a:r>
              <a:t>            "남성비율": "8.9",</a:t>
            </a:r>
          </a:p>
          <a:p>
            <a:r>
              <a:t>            "여성비율": "8.9",</a:t>
            </a:r>
          </a:p>
          <a:p>
            <a:r>
              <a:t>            "연령대": "60~69세",</a:t>
            </a:r>
          </a:p>
          <a:p>
            <a:r>
              <a:t>            "축제명": "탐라문화제"</a:t>
            </a:r>
          </a:p>
          <a:p>
            <a:r>
              <a:t>          },</a:t>
            </a:r>
          </a:p>
          <a:p>
            <a:r>
              <a:t>          {</a:t>
            </a:r>
          </a:p>
          <a:p>
            <a:r>
              <a:t>            "남성비율": "10.1",</a:t>
            </a:r>
          </a:p>
          <a:p>
            <a:r>
              <a:t>            "여성비율": "10.3",</a:t>
            </a:r>
          </a:p>
          <a:p>
            <a:r>
              <a:t>            "연령대": "50~59세",</a:t>
            </a:r>
          </a:p>
          <a:p>
            <a:r>
              <a:t>            "축제명": "탐라문화제"</a:t>
            </a:r>
          </a:p>
          <a:p>
            <a:r>
              <a:t>          },</a:t>
            </a:r>
          </a:p>
          <a:p>
            <a:r>
              <a:t>          {</a:t>
            </a:r>
          </a:p>
          <a:p>
            <a:r>
              <a:t>            "남성비율": "8.3",</a:t>
            </a:r>
          </a:p>
          <a:p>
            <a:r>
              <a:t>            "여성비율": "8.0",</a:t>
            </a:r>
          </a:p>
          <a:p>
            <a:r>
              <a:t>            "연령대": "40~49세",</a:t>
            </a:r>
          </a:p>
          <a:p>
            <a:r>
              <a:t>            "축제명": "탐라문화제"</a:t>
            </a:r>
          </a:p>
          <a:p>
            <a:r>
              <a:t>          },</a:t>
            </a:r>
          </a:p>
          <a:p>
            <a:r>
              <a:t>          {</a:t>
            </a:r>
          </a:p>
          <a:p>
            <a:r>
              <a:t>            "남성비율": "8.6",</a:t>
            </a:r>
          </a:p>
          <a:p>
            <a:r>
              <a:t>            "여성비율": "8.2",</a:t>
            </a:r>
          </a:p>
          <a:p>
            <a:r>
              <a:t>            "연령대": "30~39세",</a:t>
            </a:r>
          </a:p>
          <a:p>
            <a:r>
              <a:t>            "축제명": "탐라문화제"</a:t>
            </a:r>
          </a:p>
          <a:p>
            <a:r>
              <a:t>          },</a:t>
            </a:r>
          </a:p>
          <a:p>
            <a:r>
              <a:t>          {</a:t>
            </a:r>
          </a:p>
          <a:p>
            <a:r>
              <a:t>            "남성비율": "6.9",</a:t>
            </a:r>
          </a:p>
          <a:p>
            <a:r>
              <a:t>            "여성비율": "7.9",</a:t>
            </a:r>
          </a:p>
          <a:p>
            <a:r>
              <a:t>            "연령대": "20~29세",</a:t>
            </a:r>
          </a:p>
          <a:p>
            <a:r>
              <a:t>            "축제명": "탐라문화제"</a:t>
            </a:r>
          </a:p>
          <a:p>
            <a:r>
              <a:t>          },</a:t>
            </a:r>
          </a:p>
          <a:p>
            <a:r>
              <a:t>          {</a:t>
            </a:r>
          </a:p>
          <a:p>
            <a:r>
              <a:t>            "남성비율": "2.5",</a:t>
            </a:r>
          </a:p>
          <a:p>
            <a:r>
              <a:t>            "여성비율": "2.6",</a:t>
            </a:r>
          </a:p>
          <a:p>
            <a:r>
              <a:t>            "연령대": "10~19세",</a:t>
            </a:r>
          </a:p>
          <a:p>
            <a:r>
              <a:t>            "축제명": "탐라문화제"</a:t>
            </a:r>
          </a:p>
          <a:p>
            <a:r>
              <a:t>          },</a:t>
            </a:r>
          </a:p>
          <a:p>
            <a:r>
              <a:t>          {</a:t>
            </a:r>
          </a:p>
          <a:p>
            <a:r>
              <a:t>            "남성비율": "0.5",</a:t>
            </a:r>
          </a:p>
          <a:p>
            <a:r>
              <a:t>            "여성비율": "0.6",</a:t>
            </a:r>
          </a:p>
          <a:p>
            <a:r>
              <a:t>            "연령대": "0~9세",</a:t>
            </a:r>
          </a:p>
          <a:p>
            <a:r>
              <a:t>            "축제명": "탐라문화제"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"탑동해변공연장",</a:t>
            </a:r>
          </a:p>
          <a:p>
            <a:r>
              <a:t>            "도로명주소": "제주 제주시 중앙로 2-0",</a:t>
            </a:r>
          </a:p>
          <a:p>
            <a:r>
              <a:t>            "카테고리": "공연시설"</a:t>
            </a:r>
          </a:p>
          <a:p>
            <a:r>
              <a:t>          },</a:t>
            </a:r>
          </a:p>
          <a:p>
            <a:r>
              <a:t>          {</a:t>
            </a:r>
          </a:p>
          <a:p>
            <a:r>
              <a:t>            "구분": "외지인",</a:t>
            </a:r>
          </a:p>
          <a:p>
            <a:r>
              <a:t>            "순위": "2",</a:t>
            </a:r>
          </a:p>
          <a:p>
            <a:r>
              <a:t>            "목적지명": "관덕정",</a:t>
            </a:r>
          </a:p>
          <a:p>
            <a:r>
              <a:t>            "도로명주소": "제주 제주시 관덕로 19-0",</a:t>
            </a:r>
          </a:p>
          <a:p>
            <a:r>
              <a:t>            "카테고리": "역사유적지"</a:t>
            </a:r>
          </a:p>
          <a:p>
            <a:r>
              <a:t>          },</a:t>
            </a:r>
          </a:p>
          <a:p>
            <a:r>
              <a:t>          {</a:t>
            </a:r>
          </a:p>
          <a:p>
            <a:r>
              <a:t>            "구분": "외지인",</a:t>
            </a:r>
          </a:p>
          <a:p>
            <a:r>
              <a:t>            "순위": "3",</a:t>
            </a:r>
          </a:p>
          <a:p>
            <a:r>
              <a:t>            "목적지명": "탐라문화광장",</a:t>
            </a:r>
          </a:p>
          <a:p>
            <a:r>
              <a:t>            "도로명주소": "제주 제주시",</a:t>
            </a:r>
          </a:p>
          <a:p>
            <a:r>
              <a:t>            "카테고리": "테마공원"</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탐라문화제 방문자 추이",</a:t>
            </a:r>
          </a:p>
          <a:p>
            <a:r>
              <a:t>      "summary": "2024→2025년 전체 166,050→133,245명 (-19.76%). 개최 5→5일, 일평균 -19.76%, 외지인 -0.40%."</a:t>
            </a:r>
          </a:p>
          <a:p>
            <a:r>
              <a:t>    },</a:t>
            </a:r>
          </a:p>
          <a:p>
            <a:r>
              <a:t>    {</a:t>
            </a:r>
          </a:p>
          <a:p>
            <a:r>
              <a:t>      "source_id": "case:festival:01474ef75569b1",</a:t>
            </a:r>
          </a:p>
          <a:p>
            <a:r>
              <a:t>      "document_type": "case_study",</a:t>
            </a:r>
          </a:p>
          <a:p>
            <a:r>
              <a:t>      "evidence_kind": "festival_statistics",</a:t>
            </a:r>
          </a:p>
          <a:p>
            <a:r>
              <a:t>      "retrieval_method": "datalab_festival_table",</a:t>
            </a:r>
          </a:p>
          <a:p>
            <a:r>
              <a:t>      "region_code": "47280",</a:t>
            </a:r>
          </a:p>
          <a:p>
            <a:r>
              <a:t>      "region_name": "경상북도 문경시",</a:t>
            </a:r>
          </a:p>
          <a:p>
            <a:r>
              <a:t>      "case_region": "경상북도 문경시",</a:t>
            </a:r>
          </a:p>
          <a:p>
            <a:r>
              <a:t>      "intervention": "문경찻사발축제",</a:t>
            </a:r>
          </a:p>
          <a:p>
            <a:r>
              <a:t>      "problem_addressed": "타지역 축제 방문 실적 참고 · 역사·공예",</a:t>
            </a:r>
          </a:p>
          <a:p>
            <a:r>
              <a:t>      "target_group": "축제 관측구역 방문자(현지인·외지인·외국인 구분)",</a:t>
            </a:r>
          </a:p>
          <a:p>
            <a:r>
              <a:t>      "operating_model": "문경찻사발축제를 2025년 9일 개최한 문화관광축제 운영 사례. 세부 프로그램·예약·혜택은 이 CSV에 기록되어 있지 않으며 새로운 운영안은 제안으로 구분한다.",</a:t>
            </a:r>
          </a:p>
          <a:p>
            <a:r>
              <a:t>      "duration": "2025년 9일",</a:t>
            </a:r>
          </a:p>
          <a:p>
            <a:r>
              <a:t>      "public_budget": "CSV에 사업비 없음",</a:t>
            </a:r>
          </a:p>
          <a:p>
            <a:r>
              <a:t>      "observed_result": "2024→2025년 전체 245,750→256,570명 (+4.40%). 개최 10→9일, 일평균 +16.00%, 외지인 +9.28%.",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문경찻사발축제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a:t>
            </a:r>
          </a:p>
          <a:p>
            <a:r>
              <a:t>          "downloaded_at": "2026-08-20",</a:t>
            </a:r>
          </a:p>
          <a:p>
            <a:r>
              <a:t>          "file_name": "20260820160334_문경찻사발축제_성_연령별 내국인 방문자.csv",</a:t>
            </a:r>
          </a:p>
          <a:p>
            <a:r>
              <a:t>          "provenance_status": "team_download_exact_query_url_unrecorded",</a:t>
            </a:r>
          </a:p>
          <a:p>
            <a:r>
              <a:t>          "provider": "한국관광 데이터랩",</a:t>
            </a:r>
          </a:p>
          <a:p>
            <a:r>
              <a:t>          "relative_path": "data/source_snapshots/festivals_20260820/25. 문경찻사발축제_2023-2025/20260820160334_문경찻사발축제_성_연령별 내국인 방문자.csv",</a:t>
            </a:r>
          </a:p>
          <a:p>
            <a:r>
              <a:t>          "sha256": "44238aecdfa68974febce93cd262e119492da76910929b96da438d8b6ee7a9b3",</a:t>
            </a:r>
          </a:p>
          <a:p>
            <a:r>
              <a:t>          "source_id": "festival-file:44238aecdfa68974febc",</a:t>
            </a:r>
          </a:p>
          <a:p>
            <a:r>
              <a:t>          "source_url": "https://datalab.visitkorea.or.kr/"</a:t>
            </a:r>
          </a:p>
          <a:p>
            <a:r>
              <a:t>        },</a:t>
            </a:r>
          </a:p>
          <a:p>
            <a:r>
              <a:t>        {</a:t>
            </a:r>
          </a:p>
          <a:p>
            <a:r>
              <a:t>          "downloaded_at": "2026-08-20",</a:t>
            </a:r>
          </a:p>
          <a:p>
            <a:r>
              <a:t>          "file_name": "20260820160334_문경찻사발축제_목적지 검색순위.csv",</a:t>
            </a:r>
          </a:p>
          <a:p>
            <a:r>
              <a:t>          "provenance_status": "team_download_exact_query_url_unrecorded",</a:t>
            </a:r>
          </a:p>
          <a:p>
            <a:r>
              <a:t>          "provider": "한국관광 데이터랩",</a:t>
            </a:r>
          </a:p>
          <a:p>
            <a:r>
              <a:t>          "relative_path": "data/source_snapshots/festivals_20260820/25. 문경찻사발축제_2023-2025/20260820160334_문경찻사발축제_목적지 검색순위.csv",</a:t>
            </a:r>
          </a:p>
          <a:p>
            <a:r>
              <a:t>          "sha256": "343671c431cfa7e76ba333ca2ea221803e111e0db5e9a51c6d387b0ba5d7eeaf",</a:t>
            </a:r>
          </a:p>
          <a:p>
            <a:r>
              <a:t>          "source_id": "festival-file:343671c431cfa7e76ba3",</a:t>
            </a:r>
          </a:p>
          <a:p>
            <a:r>
              <a:t>          "source_url": "https://datalab.visitkorea.or.kr/"</a:t>
            </a:r>
          </a:p>
          <a:p>
            <a:r>
              <a:t>        },</a:t>
            </a:r>
          </a:p>
          <a:p>
            <a:r>
              <a:t>        {</a:t>
            </a:r>
          </a:p>
          <a:p>
            <a:r>
              <a:t>          "downloaded_at": "2026-08-20",</a:t>
            </a:r>
          </a:p>
          <a:p>
            <a:r>
              <a:t>          "file_name": "20260820160334_문경찻사발축제_문화관광축제 주요 지표.csv",</a:t>
            </a:r>
          </a:p>
          <a:p>
            <a:r>
              <a:t>          "provenance_status": "team_download_exact_query_url_unrecorded",</a:t>
            </a:r>
          </a:p>
          <a:p>
            <a:r>
              <a:t>          "provider": "한국관광 데이터랩",</a:t>
            </a:r>
          </a:p>
          <a:p>
            <a:r>
              <a:t>          "relative_path": "data/source_snapshots/festivals_20260820/25. 문경찻사발축제_2023-2025/20260820160334_문경찻사발축제_문화관광축제 주요 지표.csv",</a:t>
            </a:r>
          </a:p>
          <a:p>
            <a:r>
              <a:t>          "sha256": "eadf4622620ddb1575df5f358ec588aeed8718c09e0998a19494cf0f3cfe0f16",</a:t>
            </a:r>
          </a:p>
          <a:p>
            <a:r>
              <a:t>          "source_id": "festival-file:eadf4622620ddb1575df",</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"festival_statistics": {</a:t>
            </a:r>
          </a:p>
          <a:p>
            <a:r>
              <a:t>        "name": "문경찻사발축제",</a:t>
            </a:r>
          </a:p>
          <a:p>
            <a:r>
              <a:t>        "annual": [</a:t>
            </a:r>
          </a:p>
          <a:p>
            <a:r>
              <a:t>          {</a:t>
            </a:r>
          </a:p>
          <a:p>
            <a:r>
              <a:t>            "daily": 23055.333333333332,</a:t>
            </a:r>
          </a:p>
          <a:p>
            <a:r>
              <a:t>            "days": 9,</a:t>
            </a:r>
          </a:p>
          <a:p>
            <a:r>
              <a:t>            "foreign": 1241.0,</a:t>
            </a:r>
          </a:p>
          <a:p>
            <a:r>
              <a:t>            "local": 59726.0,</a:t>
            </a:r>
          </a:p>
          <a:p>
            <a:r>
              <a:t>            "outside": 146531.0,</a:t>
            </a:r>
          </a:p>
          <a:p>
            <a:r>
              <a:t>            "outside_daily": 16281.222222222223,</a:t>
            </a:r>
          </a:p>
          <a:p>
            <a:r>
              <a:t>            "outside_share_pct": 70.61803005330172,</a:t>
            </a:r>
          </a:p>
          <a:p>
            <a:r>
              <a:t>            "total": 207498.0,</a:t>
            </a:r>
          </a:p>
          <a:p>
            <a:r>
              <a:t>            "year": 2023</a:t>
            </a:r>
          </a:p>
          <a:p>
            <a:r>
              <a:t>          },</a:t>
            </a:r>
          </a:p>
          <a:p>
            <a:r>
              <a:t>          {</a:t>
            </a:r>
          </a:p>
          <a:p>
            <a:r>
              <a:t>            "daily": 24575.0,</a:t>
            </a:r>
          </a:p>
          <a:p>
            <a:r>
              <a:t>            "days": 10,</a:t>
            </a:r>
          </a:p>
          <a:p>
            <a:r>
              <a:t>            "foreign": 1170.0,</a:t>
            </a:r>
          </a:p>
          <a:p>
            <a:r>
              <a:t>            "local": 64582.0,</a:t>
            </a:r>
          </a:p>
          <a:p>
            <a:r>
              <a:t>            "outside": 179998.0,</a:t>
            </a:r>
          </a:p>
          <a:p>
            <a:r>
              <a:t>            "outside_daily": 17999.8,</a:t>
            </a:r>
          </a:p>
          <a:p>
            <a:r>
              <a:t>            "outside_share_pct": 73.2443540183113,</a:t>
            </a:r>
          </a:p>
          <a:p>
            <a:r>
              <a:t>            "total": 245750.0,</a:t>
            </a:r>
          </a:p>
          <a:p>
            <a:r>
              <a:t>            "year": 2024</a:t>
            </a:r>
          </a:p>
          <a:p>
            <a:r>
              <a:t>          },</a:t>
            </a:r>
          </a:p>
          <a:p>
            <a:r>
              <a:t>          {</a:t>
            </a:r>
          </a:p>
          <a:p>
            <a:r>
              <a:t>            "daily": 28507.777777777777,</a:t>
            </a:r>
          </a:p>
          <a:p>
            <a:r>
              <a:t>            "days": 9,</a:t>
            </a:r>
          </a:p>
          <a:p>
            <a:r>
              <a:t>            "foreign": 1166.0,</a:t>
            </a:r>
          </a:p>
          <a:p>
            <a:r>
              <a:t>            "local": 58704.0,</a:t>
            </a:r>
          </a:p>
          <a:p>
            <a:r>
              <a:t>            "outside": 196700.0,</a:t>
            </a:r>
          </a:p>
          <a:p>
            <a:r>
              <a:t>            "outside_daily": 21855.555555555555,</a:t>
            </a:r>
          </a:p>
          <a:p>
            <a:r>
              <a:t>            "outside_share_pct": 76.66523755700199,</a:t>
            </a:r>
          </a:p>
          <a:p>
            <a:r>
              <a:t>            "total": 256570.0,</a:t>
            </a:r>
          </a:p>
          <a:p>
            <a:r>
              <a:t>            "year": 2025</a:t>
            </a:r>
          </a:p>
          <a:p>
            <a:r>
              <a:t>          }</a:t>
            </a:r>
          </a:p>
          <a:p>
            <a:r>
              <a:t>        ],</a:t>
            </a:r>
          </a:p>
          <a:p>
            <a:r>
              <a:t>        "comparison": {</a:t>
            </a:r>
          </a:p>
          <a:p>
            <a:r>
              <a:t>          "after_days": 9,</a:t>
            </a:r>
          </a:p>
          <a:p>
            <a:r>
              <a:t>          "after_year": 2025,</a:t>
            </a:r>
          </a:p>
          <a:p>
            <a:r>
              <a:t>          "before_days": 10,</a:t>
            </a:r>
          </a:p>
          <a:p>
            <a:r>
              <a:t>          "before_year": 2024,</a:t>
            </a:r>
          </a:p>
          <a:p>
            <a:r>
              <a:t>          "daily": {</a:t>
            </a:r>
          </a:p>
          <a:p>
            <a:r>
              <a:t>            "after": 28507.777777777777,</a:t>
            </a:r>
          </a:p>
          <a:p>
            <a:r>
              <a:t>            "before": 24575.0,</a:t>
            </a:r>
          </a:p>
          <a:p>
            <a:r>
              <a:t>            "change_pct": 16.00316491466034,</a:t>
            </a:r>
          </a:p>
          <a:p>
            <a:r>
              <a:t>            "difference": 3932.7777777777774</a:t>
            </a:r>
          </a:p>
          <a:p>
            <a:r>
              <a:t>          },</a:t>
            </a:r>
          </a:p>
          <a:p>
            <a:r>
              <a:t>          "outside": {</a:t>
            </a:r>
          </a:p>
          <a:p>
            <a:r>
              <a:t>            "after": 196700.0,</a:t>
            </a:r>
          </a:p>
          <a:p>
            <a:r>
              <a:t>            "before": 179998.0,</a:t>
            </a:r>
          </a:p>
          <a:p>
            <a:r>
              <a:t>            "change_pct": 9.278991988799866,</a:t>
            </a:r>
          </a:p>
          <a:p>
            <a:r>
              <a:t>            "difference": 16702.0</a:t>
            </a:r>
          </a:p>
          <a:p>
            <a:r>
              <a:t>          },</a:t>
            </a:r>
          </a:p>
          <a:p>
            <a:r>
              <a:t>          "outside_daily": {</a:t>
            </a:r>
          </a:p>
          <a:p>
            <a:r>
              <a:t>            "after": 21855.555555555555,</a:t>
            </a:r>
          </a:p>
          <a:p>
            <a:r>
              <a:t>            "before": 17999.8,</a:t>
            </a:r>
          </a:p>
          <a:p>
            <a:r>
              <a:t>            "change_pct": 21.421102209777644,</a:t>
            </a:r>
          </a:p>
          <a:p>
            <a:r>
              <a:t>            "difference": 3855.7555555555555</a:t>
            </a:r>
          </a:p>
          <a:p>
            <a:r>
              <a:t>          },</a:t>
            </a:r>
          </a:p>
          <a:p>
            <a:r>
              <a:t>          "total": {</a:t>
            </a:r>
          </a:p>
          <a:p>
            <a:r>
              <a:t>            "after": 256570.0,</a:t>
            </a:r>
          </a:p>
          <a:p>
            <a:r>
              <a:t>            "before": 245750.0,</a:t>
            </a:r>
          </a:p>
          <a:p>
            <a:r>
              <a:t>            "change_pct": 4.402848423194294,</a:t>
            </a:r>
          </a:p>
          <a:p>
            <a:r>
              <a:t>            "difference": 10820.0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"0.414",</a:t>
            </a:r>
          </a:p>
          <a:p>
            <a:r>
              <a:t>            "축제명": "문경찻사발축제"</a:t>
            </a:r>
          </a:p>
          <a:p>
            <a:r>
              <a:t>          },</a:t>
            </a:r>
          </a:p>
          <a:p>
            <a:r>
              <a:t>          {</a:t>
            </a:r>
          </a:p>
          <a:p>
            <a:r>
              <a:t>            "개최년도": "2025",</a:t>
            </a:r>
          </a:p>
          <a:p>
            <a:r>
              <a:t>            "구분명": "현지인방문자 유입",</a:t>
            </a:r>
          </a:p>
          <a:p>
            <a:r>
              <a:t>            "그룹명": "축제기간",</a:t>
            </a:r>
          </a:p>
          <a:p>
            <a:r>
              <a:t>            "지표값": "0.86",</a:t>
            </a:r>
          </a:p>
          <a:p>
            <a:r>
              <a:t>            "축제명": "문경찻사발축제"</a:t>
            </a:r>
          </a:p>
          <a:p>
            <a:r>
              <a:t>          },</a:t>
            </a:r>
          </a:p>
          <a:p>
            <a:r>
              <a:t>          {</a:t>
            </a:r>
          </a:p>
          <a:p>
            <a:r>
              <a:t>            "개최년도": "2025",</a:t>
            </a:r>
          </a:p>
          <a:p>
            <a:r>
              <a:t>            "구분명": "내비게이션 검색량",</a:t>
            </a:r>
          </a:p>
          <a:p>
            <a:r>
              <a:t>            "그룹명": "축제기간",</a:t>
            </a:r>
          </a:p>
          <a:p>
            <a:r>
              <a:t>            "지표값": "0.273",</a:t>
            </a:r>
          </a:p>
          <a:p>
            <a:r>
              <a:t>            "축제명": "문경찻사발축제"</a:t>
            </a:r>
          </a:p>
          <a:p>
            <a:r>
              <a:t>          },</a:t>
            </a:r>
          </a:p>
          <a:p>
            <a:r>
              <a:t>          {</a:t>
            </a:r>
          </a:p>
          <a:p>
            <a:r>
              <a:t>            "개최년도": "2025",</a:t>
            </a:r>
          </a:p>
          <a:p>
            <a:r>
              <a:t>            "구분명": "관광소비",</a:t>
            </a:r>
          </a:p>
          <a:p>
            <a:r>
              <a:t>            "그룹명": "축제기간",</a:t>
            </a:r>
          </a:p>
          <a:p>
            <a:r>
              <a:t>            "지표값": "0.536",</a:t>
            </a:r>
          </a:p>
          <a:p>
            <a:r>
              <a:t>            "축제명": "문경찻사발축제"</a:t>
            </a:r>
          </a:p>
          <a:p>
            <a:r>
              <a:t>          },</a:t>
            </a:r>
          </a:p>
          <a:p>
            <a:r>
              <a:t>          {</a:t>
            </a:r>
          </a:p>
          <a:p>
            <a:r>
              <a:t>            "개최년도": "2025",</a:t>
            </a:r>
          </a:p>
          <a:p>
            <a:r>
              <a:t>            "구분명": "축제지 집중률",</a:t>
            </a:r>
          </a:p>
          <a:p>
            <a:r>
              <a:t>            "그룹명": "축제기간",</a:t>
            </a:r>
          </a:p>
          <a:p>
            <a:r>
              <a:t>            "지표값": "0.716",</a:t>
            </a:r>
          </a:p>
          <a:p>
            <a:r>
              <a:t>            "축제명": "문경찻사발축제"</a:t>
            </a:r>
          </a:p>
          <a:p>
            <a:r>
              <a:t>          },</a:t>
            </a:r>
          </a:p>
          <a:p>
            <a:r>
              <a:t>          {</a:t>
            </a:r>
          </a:p>
          <a:p>
            <a:r>
              <a:t>            "개최년도": "2025",</a:t>
            </a:r>
          </a:p>
          <a:p>
            <a:r>
              <a:t>            "구분명": "외부방문자 유입",</a:t>
            </a:r>
          </a:p>
          <a:p>
            <a:r>
              <a:t>            "그룹명": "비축제기간",</a:t>
            </a:r>
          </a:p>
          <a:p>
            <a:r>
              <a:t>            "지표값": "0.217",</a:t>
            </a:r>
          </a:p>
          <a:p>
            <a:r>
              <a:t>            "축제명": "문경찻사발축제"</a:t>
            </a:r>
          </a:p>
          <a:p>
            <a:r>
              <a:t>          },</a:t>
            </a:r>
          </a:p>
          <a:p>
            <a:r>
              <a:t>          {</a:t>
            </a:r>
          </a:p>
          <a:p>
            <a:r>
              <a:t>            "개최년도": "2025",</a:t>
            </a:r>
          </a:p>
          <a:p>
            <a:r>
              <a:t>            "구분명": "현지인방문자 유입",</a:t>
            </a:r>
          </a:p>
          <a:p>
            <a:r>
              <a:t>            "그룹명": "비축제기간",</a:t>
            </a:r>
          </a:p>
          <a:p>
            <a:r>
              <a:t>            "지표값": "0.725",</a:t>
            </a:r>
          </a:p>
          <a:p>
            <a:r>
              <a:t>            "축제명": "문경찻사발축제"</a:t>
            </a:r>
          </a:p>
          <a:p>
            <a:r>
              <a:t>          },</a:t>
            </a:r>
          </a:p>
          <a:p>
            <a:r>
              <a:t>          {</a:t>
            </a:r>
          </a:p>
          <a:p>
            <a:r>
              <a:t>            "개최년도": "2025",</a:t>
            </a:r>
          </a:p>
          <a:p>
            <a:r>
              <a:t>            "구분명": "내비게이션 검색량",</a:t>
            </a:r>
          </a:p>
          <a:p>
            <a:r>
              <a:t>            "그룹명": "비축제기간",</a:t>
            </a:r>
          </a:p>
          <a:p>
            <a:r>
              <a:t>            "지표값": "0.148",</a:t>
            </a:r>
          </a:p>
          <a:p>
            <a:r>
              <a:t>            "축제명": "문경찻사발축제"</a:t>
            </a:r>
          </a:p>
          <a:p>
            <a:r>
              <a:t>          },</a:t>
            </a:r>
          </a:p>
          <a:p>
            <a:r>
              <a:t>          {</a:t>
            </a:r>
          </a:p>
          <a:p>
            <a:r>
              <a:t>            "개최년도": "2025",</a:t>
            </a:r>
          </a:p>
          <a:p>
            <a:r>
              <a:t>            "구분명": "관광소비",</a:t>
            </a:r>
          </a:p>
          <a:p>
            <a:r>
              <a:t>            "그룹명": "비축제기간",</a:t>
            </a:r>
          </a:p>
          <a:p>
            <a:r>
              <a:t>            "지표값": "0.381",</a:t>
            </a:r>
          </a:p>
          <a:p>
            <a:r>
              <a:t>            "축제명": "문경찻사발축제"</a:t>
            </a:r>
          </a:p>
          <a:p>
            <a:r>
              <a:t>          },</a:t>
            </a:r>
          </a:p>
          <a:p>
            <a:r>
              <a:t>          {</a:t>
            </a:r>
          </a:p>
          <a:p>
            <a:r>
              <a:t>            "개최년도": "2025",</a:t>
            </a:r>
          </a:p>
          <a:p>
            <a:r>
              <a:t>            "구분명": "축제지 집중률",</a:t>
            </a:r>
          </a:p>
          <a:p>
            <a:r>
              <a:t>            "그룹명": "비축제기간",</a:t>
            </a:r>
          </a:p>
          <a:p>
            <a:r>
              <a:t>            "지표값": "0.607",</a:t>
            </a:r>
          </a:p>
          <a:p>
            <a:r>
              <a:t>            "축제명": "문경찻사발축제"</a:t>
            </a:r>
          </a:p>
          <a:p>
            <a:r>
              <a:t>          }</a:t>
            </a:r>
          </a:p>
          <a:p>
            <a:r>
              <a:t>        ],</a:t>
            </a:r>
          </a:p>
          <a:p>
            <a:r>
              <a:t>        "indicator_rule": "원본 지표값만 보존. 산식·단위 미확인으로 성장률/원화/정원/참여율 변환 금지.",</a:t>
            </a:r>
          </a:p>
          <a:p>
            <a:r>
              <a:t>        "audience": [</a:t>
            </a:r>
          </a:p>
          <a:p>
            <a:r>
              <a:t>          {</a:t>
            </a:r>
          </a:p>
          <a:p>
            <a:r>
              <a:t>            "남성비율": "4.0",</a:t>
            </a:r>
          </a:p>
          <a:p>
            <a:r>
              <a:t>            "여성비율": "3.8",</a:t>
            </a:r>
          </a:p>
          <a:p>
            <a:r>
              <a:t>            "연령대": "70세 이상",</a:t>
            </a:r>
          </a:p>
          <a:p>
            <a:r>
              <a:t>            "축제명": "문경찻사발축제"</a:t>
            </a:r>
          </a:p>
          <a:p>
            <a:r>
              <a:t>          },</a:t>
            </a:r>
          </a:p>
          <a:p>
            <a:r>
              <a:t>          {</a:t>
            </a:r>
          </a:p>
          <a:p>
            <a:r>
              <a:t>            "남성비율": "12.3",</a:t>
            </a:r>
          </a:p>
          <a:p>
            <a:r>
              <a:t>            "여성비율": "10.0",</a:t>
            </a:r>
          </a:p>
          <a:p>
            <a:r>
              <a:t>            "연령대": "60~69세",</a:t>
            </a:r>
          </a:p>
          <a:p>
            <a:r>
              <a:t>            "축제명": "문경찻사발축제"</a:t>
            </a:r>
          </a:p>
          <a:p>
            <a:r>
              <a:t>          },</a:t>
            </a:r>
          </a:p>
          <a:p>
            <a:r>
              <a:t>          {</a:t>
            </a:r>
          </a:p>
          <a:p>
            <a:r>
              <a:t>            "남성비율": "13.0",</a:t>
            </a:r>
          </a:p>
          <a:p>
            <a:r>
              <a:t>            "여성비율": "11.7",</a:t>
            </a:r>
          </a:p>
          <a:p>
            <a:r>
              <a:t>            "연령대": "50~59세",</a:t>
            </a:r>
          </a:p>
          <a:p>
            <a:r>
              <a:t>            "축제명": "문경찻사발축제"</a:t>
            </a:r>
          </a:p>
          <a:p>
            <a:r>
              <a:t>          },</a:t>
            </a:r>
          </a:p>
          <a:p>
            <a:r>
              <a:t>          {</a:t>
            </a:r>
          </a:p>
          <a:p>
            <a:r>
              <a:t>            "남성비율": "9.3",</a:t>
            </a:r>
          </a:p>
          <a:p>
            <a:r>
              <a:t>            "여성비율": "7.6",</a:t>
            </a:r>
          </a:p>
          <a:p>
            <a:r>
              <a:t>            "연령대": "40~49세",</a:t>
            </a:r>
          </a:p>
          <a:p>
            <a:r>
              <a:t>            "축제명": "문경찻사발축제"</a:t>
            </a:r>
          </a:p>
          <a:p>
            <a:r>
              <a:t>          },</a:t>
            </a:r>
          </a:p>
          <a:p>
            <a:r>
              <a:t>          {</a:t>
            </a:r>
          </a:p>
          <a:p>
            <a:r>
              <a:t>            "남성비율": "7.2",</a:t>
            </a:r>
          </a:p>
          <a:p>
            <a:r>
              <a:t>            "여성비율": "6.1",</a:t>
            </a:r>
          </a:p>
          <a:p>
            <a:r>
              <a:t>            "연령대": "30~39세",</a:t>
            </a:r>
          </a:p>
          <a:p>
            <a:r>
              <a:t>            "축제명": "문경찻사발축제"</a:t>
            </a:r>
          </a:p>
          <a:p>
            <a:r>
              <a:t>          },</a:t>
            </a:r>
          </a:p>
          <a:p>
            <a:r>
              <a:t>          {</a:t>
            </a:r>
          </a:p>
          <a:p>
            <a:r>
              <a:t>            "남성비율": "4.6",</a:t>
            </a:r>
          </a:p>
          <a:p>
            <a:r>
              <a:t>            "여성비율": "4.1",</a:t>
            </a:r>
          </a:p>
          <a:p>
            <a:r>
              <a:t>            "연령대": "20~29세",</a:t>
            </a:r>
          </a:p>
          <a:p>
            <a:r>
              <a:t>            "축제명": "문경찻사발축제"</a:t>
            </a:r>
          </a:p>
          <a:p>
            <a:r>
              <a:t>          },</a:t>
            </a:r>
          </a:p>
          <a:p>
            <a:r>
              <a:t>          {</a:t>
            </a:r>
          </a:p>
          <a:p>
            <a:r>
              <a:t>            "남성비율": "2.5",</a:t>
            </a:r>
          </a:p>
          <a:p>
            <a:r>
              <a:t>            "여성비율": "2.5",</a:t>
            </a:r>
          </a:p>
          <a:p>
            <a:r>
              <a:t>            "연령대": "10~19세",</a:t>
            </a:r>
          </a:p>
          <a:p>
            <a:r>
              <a:t>            "축제명": "문경찻사발축제"</a:t>
            </a:r>
          </a:p>
          <a:p>
            <a:r>
              <a:t>          },</a:t>
            </a:r>
          </a:p>
          <a:p>
            <a:r>
              <a:t>          {</a:t>
            </a:r>
          </a:p>
          <a:p>
            <a:r>
              <a:t>            "남성비율": "0.6",</a:t>
            </a:r>
          </a:p>
          <a:p>
            <a:r>
              <a:t>            "여성비율": "0.6",</a:t>
            </a:r>
          </a:p>
          <a:p>
            <a:r>
              <a:t>            "연령대": "0~9세",</a:t>
            </a:r>
          </a:p>
          <a:p>
            <a:r>
              <a:t>            "축제명": "문경찻사발축제"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문경찻사발축제 방문자 추이",</a:t>
            </a:r>
          </a:p>
          <a:p>
            <a:r>
              <a:t>      "summary": "2024→2025년 전체 245,750→256,570명 (+4.40%). 개최 10→9일, 일평균 +16.00%, 외지인 +9.28%."</a:t>
            </a:r>
          </a:p>
          <a:p>
            <a:r>
              <a:t>    },</a:t>
            </a:r>
          </a:p>
          <a:p>
            <a:r>
              <a:t>    {</a:t>
            </a:r>
          </a:p>
          <a:p>
            <a:r>
              <a:t>      "source_id": "case:festival:0e9c7c065555b0",</a:t>
            </a:r>
          </a:p>
          <a:p>
            <a:r>
              <a:t>      "document_type": "case_study",</a:t>
            </a:r>
          </a:p>
          <a:p>
            <a:r>
              <a:t>      "evidence_kind": "festival_statistics",</a:t>
            </a:r>
          </a:p>
          <a:p>
            <a:r>
              <a:t>      "retrieval_method": "datalab_festival_table",</a:t>
            </a:r>
          </a:p>
          <a:p>
            <a:r>
              <a:t>      "region_code": "47170",</a:t>
            </a:r>
          </a:p>
          <a:p>
            <a:r>
              <a:t>      "region_name": "경상북도 안동시",</a:t>
            </a:r>
          </a:p>
          <a:p>
            <a:r>
              <a:t>      "case_region": "경상북도 안동시",</a:t>
            </a:r>
          </a:p>
          <a:p>
            <a:r>
              <a:t>      "intervention": "안동탈춤축제",</a:t>
            </a:r>
          </a:p>
          <a:p>
            <a:r>
              <a:t>      "problem_addressed": "타지역 축제 방문 실적 참고 · 공연·문화",</a:t>
            </a:r>
          </a:p>
          <a:p>
            <a:r>
              <a:t>      "target_group": "축제 관측구역 방문자(현지인·외지인·외국인 구분)",</a:t>
            </a:r>
          </a:p>
          <a:p>
            <a:r>
              <a:t>      "operating_model": "안동탈춤축제를 2025년 10일 개최한 문화관광축제 운영 사례. 세부 프로그램·예약·혜택은 이 CSV에 기록되어 있지 않으며 새로운 운영안은 제안으로 구분한다.",</a:t>
            </a:r>
          </a:p>
          <a:p>
            <a:r>
              <a:t>      "duration": "2025년 10일",</a:t>
            </a:r>
          </a:p>
          <a:p>
            <a:r>
              <a:t>      "public_budget": "CSV에 사업비 없음",</a:t>
            </a:r>
          </a:p>
          <a:p>
            <a:r>
              <a:t>      "observed_result": "2024→2025년 전체 504,573→554,494명 (+9.89%). 개최 10→10일, 일평균 +9.89%, 외지인 +10.75%.",</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안동탈춤축제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"20260820175023_안동탈춤축제_연도별 방문자 추이.csv",</a:t>
            </a:r>
          </a:p>
          <a:p>
            <a:r>
              <a:t>          "provenance_status": "team_download_exact_query_url_unrecorded",</a:t>
            </a:r>
          </a:p>
          <a:p>
            <a:r>
              <a:t>          "provider": "한국관광 데이터랩",</a:t>
            </a:r>
          </a:p>
          <a:p>
            <a:r>
              <a:t>          "relative_path": "data/source_snapshots/festivals_20260820/43. 안동탈춤축제_2023-2025/20260820175023_안동탈춤축제_연도별 방문자 추이.csv",</a:t>
            </a:r>
          </a:p>
          <a:p>
            <a:r>
              <a:t>          "sha256": "28f418873eda5b37d320d3fef32c46bef172ca1cfea3861db2d5fc96a0b16f50",</a:t>
            </a:r>
          </a:p>
          <a:p>
            <a:r>
              <a:t>          "source_id": "festival-file:28f418873eda5b37d320",</a:t>
            </a:r>
          </a:p>
          <a:p>
            <a:r>
              <a:t>          "source_url": "https://datalab.visitkorea.or.kr/"</a:t>
            </a:r>
          </a:p>
          <a:p>
            <a:r>
              <a:t>        },</a:t>
            </a:r>
          </a:p>
          <a:p>
            <a:r>
              <a:t>        {</a:t>
            </a:r>
          </a:p>
          <a:p>
            <a:r>
              <a:t>          "downloaded_at": "2026-08-20",</a:t>
            </a:r>
          </a:p>
          <a:p>
            <a:r>
              <a:t>          "file_name": "20260820175023_안동탈춤축제_성_연령별 내국인 방문자.csv",</a:t>
            </a:r>
          </a:p>
          <a:p>
            <a:r>
              <a:t>          "provenance_status": "team_download_exact_query_url_unrecorded",</a:t>
            </a:r>
          </a:p>
          <a:p>
            <a:r>
              <a:t>          "provider": "한국관광 데이터랩",</a:t>
            </a:r>
          </a:p>
          <a:p>
            <a:r>
              <a:t>          "relative_path": "data/source_snapshots/festivals_20260820/43. 안동탈춤축제_2023-2025/20260820175023_안동탈춤축제_성_연령별 내국인 방문자.csv",</a:t>
            </a:r>
          </a:p>
          <a:p>
            <a:r>
              <a:t>          "sha256": "c0b34e003112bda1f5afa06dcb153cc870d61730036ef23f1b3e7aed39ca5458",</a:t>
            </a:r>
          </a:p>
          <a:p>
            <a:r>
              <a:t>          "source_id": "festival-file:c0b34e003112bda1f5af",</a:t>
            </a:r>
          </a:p>
          <a:p>
            <a:r>
              <a:t>          "source_url": "https://datalab.visitkorea.or.kr/"</a:t>
            </a:r>
          </a:p>
          <a:p>
            <a:r>
              <a:t>        },</a:t>
            </a:r>
          </a:p>
          <a:p>
            <a:r>
              <a:t>        {</a:t>
            </a:r>
          </a:p>
          <a:p>
            <a:r>
              <a:t>          "downloaded_at": "2026-08-20",</a:t>
            </a:r>
          </a:p>
          <a:p>
            <a:r>
              <a:t>          "file_name": "20260820175023_안동탈춤축제_목적지 검색순위.csv",</a:t>
            </a:r>
          </a:p>
          <a:p>
            <a:r>
              <a:t>          "provenance_status": "team_download_exact_query_url_unrecorded",</a:t>
            </a:r>
          </a:p>
          <a:p>
            <a:r>
              <a:t>          "provider": "한국관광 데이터랩",</a:t>
            </a:r>
          </a:p>
          <a:p>
            <a:r>
              <a:t>          "relative_path": "data/source_snapshots/festivals_20260820/43. 안동탈춤축제_2023-2025/20260820175023_안동탈춤축제_목적지 검색순위.csv",</a:t>
            </a:r>
          </a:p>
          <a:p>
            <a:r>
              <a:t>          "sha256": "11de7e20288dde00f7f18e353a24b5a95c511a7dc354ec9cc2c7a3a2436712f6",</a:t>
            </a:r>
          </a:p>
          <a:p>
            <a:r>
              <a:t>          "source_id": "festival-file:11de7e20288dde00f7f1",</a:t>
            </a:r>
          </a:p>
          <a:p>
            <a:r>
              <a:t>          "source_url": "https://datalab.visitkorea.or.kr/"</a:t>
            </a:r>
          </a:p>
          <a:p>
            <a:r>
              <a:t>        },</a:t>
            </a:r>
          </a:p>
          <a:p>
            <a:r>
              <a:t>        {</a:t>
            </a:r>
          </a:p>
          <a:p>
            <a:r>
              <a:t>          "downloaded_at": "2026-08-20",</a:t>
            </a:r>
          </a:p>
          <a:p>
            <a:r>
              <a:t>          "file_name": "20260820175023_안동탈춤축제_문화관광축제 주요 지표.csv",</a:t>
            </a:r>
          </a:p>
          <a:p>
            <a:r>
              <a:t>          "provenance_status": "team_download_exact_query_url_unrecorded",</a:t>
            </a:r>
          </a:p>
          <a:p>
            <a:r>
              <a:t>          "provider": "한국관광 데이터랩",</a:t>
            </a:r>
          </a:p>
          <a:p>
            <a:r>
              <a:t>          "relative_path": "data/source_snapshots/festivals_20260820/43. 안동탈춤축제_2023-2025/20260820175023_안동탈춤축제_문화관광축제 주요 지표.csv",</a:t>
            </a:r>
          </a:p>
          <a:p>
            <a:r>
              <a:t>          "sha256": "40ddabd2e46fcb12bc9cc2361174e1a5ebe80f169611896b6d4b5e60d9fda352",</a:t>
            </a:r>
          </a:p>
          <a:p>
            <a:r>
              <a:t>          "source_id": "festival-file:40ddabd2e46fcb12bc9c",</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"festival_statistics": {</a:t>
            </a:r>
          </a:p>
          <a:p>
            <a:r>
              <a:t>        "name": "안동탈춤축제",</a:t>
            </a:r>
          </a:p>
          <a:p>
            <a:r>
              <a:t>        "annual": [</a:t>
            </a:r>
          </a:p>
          <a:p>
            <a:r>
              <a:t>          {</a:t>
            </a:r>
          </a:p>
          <a:p>
            <a:r>
              <a:t>            "daily": 45517.125,</a:t>
            </a:r>
          </a:p>
          <a:p>
            <a:r>
              <a:t>            "days": 8,</a:t>
            </a:r>
          </a:p>
          <a:p>
            <a:r>
              <a:t>            "foreign": 3319.0,</a:t>
            </a:r>
          </a:p>
          <a:p>
            <a:r>
              <a:t>            "local": 233513.0,</a:t>
            </a:r>
          </a:p>
          <a:p>
            <a:r>
              <a:t>            "outside": 127305.0,</a:t>
            </a:r>
          </a:p>
          <a:p>
            <a:r>
              <a:t>            "outside_daily": 15913.125,</a:t>
            </a:r>
          </a:p>
          <a:p>
            <a:r>
              <a:t>            "outside_share_pct": 34.960742797353745,</a:t>
            </a:r>
          </a:p>
          <a:p>
            <a:r>
              <a:t>            "total": 364137.0,</a:t>
            </a:r>
          </a:p>
          <a:p>
            <a:r>
              <a:t>            "year": 2023</a:t>
            </a:r>
          </a:p>
          <a:p>
            <a:r>
              <a:t>          },</a:t>
            </a:r>
          </a:p>
          <a:p>
            <a:r>
              <a:t>          {</a:t>
            </a:r>
          </a:p>
          <a:p>
            <a:r>
              <a:t>            "daily": 50457.3,</a:t>
            </a:r>
          </a:p>
          <a:p>
            <a:r>
              <a:t>            "days": 10,</a:t>
            </a:r>
          </a:p>
          <a:p>
            <a:r>
              <a:t>            "foreign": 4684.0,</a:t>
            </a:r>
          </a:p>
          <a:p>
            <a:r>
              <a:t>            "local": 317925.0,</a:t>
            </a:r>
          </a:p>
          <a:p>
            <a:r>
              <a:t>            "outside": 181964.0,</a:t>
            </a:r>
          </a:p>
          <a:p>
            <a:r>
              <a:t>            "outside_daily": 18196.4,</a:t>
            </a:r>
          </a:p>
          <a:p>
            <a:r>
              <a:t>            "outside_share_pct": 36.06296809381398,</a:t>
            </a:r>
          </a:p>
          <a:p>
            <a:r>
              <a:t>            "total": 504573.0,</a:t>
            </a:r>
          </a:p>
          <a:p>
            <a:r>
              <a:t>            "year": 2024</a:t>
            </a:r>
          </a:p>
          <a:p>
            <a:r>
              <a:t>          },</a:t>
            </a:r>
          </a:p>
          <a:p>
            <a:r>
              <a:t>          {</a:t>
            </a:r>
          </a:p>
          <a:p>
            <a:r>
              <a:t>            "daily": 55449.4,</a:t>
            </a:r>
          </a:p>
          <a:p>
            <a:r>
              <a:t>            "days": 10,</a:t>
            </a:r>
          </a:p>
          <a:p>
            <a:r>
              <a:t>            "foreign": 5702.0,</a:t>
            </a:r>
          </a:p>
          <a:p>
            <a:r>
              <a:t>            "local": 347269.0,</a:t>
            </a:r>
          </a:p>
          <a:p>
            <a:r>
              <a:t>            "outside": 201523.0,</a:t>
            </a:r>
          </a:p>
          <a:p>
            <a:r>
              <a:t>            "outside_daily": 20152.3,</a:t>
            </a:r>
          </a:p>
          <a:p>
            <a:r>
              <a:t>            "outside_share_pct": 36.34358532283487,</a:t>
            </a:r>
          </a:p>
          <a:p>
            <a:r>
              <a:t>            "total": 554494.0,</a:t>
            </a:r>
          </a:p>
          <a:p>
            <a:r>
              <a:t>            "year": 2025</a:t>
            </a:r>
          </a:p>
          <a:p>
            <a:r>
              <a:t>          }</a:t>
            </a:r>
          </a:p>
          <a:p>
            <a:r>
              <a:t>        ],</a:t>
            </a:r>
          </a:p>
          <a:p>
            <a:r>
              <a:t>        "comparison": {</a:t>
            </a:r>
          </a:p>
          <a:p>
            <a:r>
              <a:t>          "after_days": 10,</a:t>
            </a:r>
          </a:p>
          <a:p>
            <a:r>
              <a:t>          "after_year": 2025,</a:t>
            </a:r>
          </a:p>
          <a:p>
            <a:r>
              <a:t>          "before_days": 10,</a:t>
            </a:r>
          </a:p>
          <a:p>
            <a:r>
              <a:t>          "before_year": 2024,</a:t>
            </a:r>
          </a:p>
          <a:p>
            <a:r>
              <a:t>          "daily": {</a:t>
            </a:r>
          </a:p>
          <a:p>
            <a:r>
              <a:t>            "after": 55449.4,</a:t>
            </a:r>
          </a:p>
          <a:p>
            <a:r>
              <a:t>            "before": 50457.3,</a:t>
            </a:r>
          </a:p>
          <a:p>
            <a:r>
              <a:t>            "change_pct": 9.893712109050611,</a:t>
            </a:r>
          </a:p>
          <a:p>
            <a:r>
              <a:t>            "difference": 4992.0999999999985</a:t>
            </a:r>
          </a:p>
          <a:p>
            <a:r>
              <a:t>          },</a:t>
            </a:r>
          </a:p>
          <a:p>
            <a:r>
              <a:t>          "outside": {</a:t>
            </a:r>
          </a:p>
          <a:p>
            <a:r>
              <a:t>            "after": 201523.0,</a:t>
            </a:r>
          </a:p>
          <a:p>
            <a:r>
              <a:t>            "before": 181964.0,</a:t>
            </a:r>
          </a:p>
          <a:p>
            <a:r>
              <a:t>            "change_pct": 10.748829438790096,</a:t>
            </a:r>
          </a:p>
          <a:p>
            <a:r>
              <a:t>            "difference": 19559.0</a:t>
            </a:r>
          </a:p>
          <a:p>
            <a:r>
              <a:t>          },</a:t>
            </a:r>
          </a:p>
          <a:p>
            <a:r>
              <a:t>          "outside_daily": {</a:t>
            </a:r>
          </a:p>
          <a:p>
            <a:r>
              <a:t>            "after": 20152.3,</a:t>
            </a:r>
          </a:p>
          <a:p>
            <a:r>
              <a:t>            "before": 18196.4,</a:t>
            </a:r>
          </a:p>
          <a:p>
            <a:r>
              <a:t>            "change_pct": 10.748829438790075,</a:t>
            </a:r>
          </a:p>
          <a:p>
            <a:r>
              <a:t>            "difference": 1955.8999999999978</a:t>
            </a:r>
          </a:p>
          <a:p>
            <a:r>
              <a:t>          },</a:t>
            </a:r>
          </a:p>
          <a:p>
            <a:r>
              <a:t>          "total": {</a:t>
            </a:r>
          </a:p>
          <a:p>
            <a:r>
              <a:t>            "after": 554494.0,</a:t>
            </a:r>
          </a:p>
          <a:p>
            <a:r>
              <a:t>            "before": 504573.0,</a:t>
            </a:r>
          </a:p>
          <a:p>
            <a:r>
              <a:t>            "change_pct": 9.893712109050611,</a:t>
            </a:r>
          </a:p>
          <a:p>
            <a:r>
              <a:t>            "difference": 49921.0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"20260820175023_안동탈춤축제_연도별 방문자 추이.csv",</a:t>
            </a:r>
          </a:p>
          <a:p>
            <a:r>
              <a:t>          "provenance_status": "team_download_exact_query_url_unrecorded",</a:t>
            </a:r>
          </a:p>
          <a:p>
            <a:r>
              <a:t>          "provider": "한국관광 데이터랩",</a:t>
            </a:r>
          </a:p>
          <a:p>
            <a:r>
              <a:t>          "relative_path": "data/source_snapshots/festivals_20260820/43. 안동탈춤축제_2023-2025/20260820175023_안동탈춤축제_연도별 방문자 추이.csv",</a:t>
            </a:r>
          </a:p>
          <a:p>
            <a:r>
              <a:t>          "sha256": "28f418873eda5b37d320d3fef32c46bef172ca1cfea3861db2d5fc96a0b16f50",</a:t>
            </a:r>
          </a:p>
          <a:p>
            <a:r>
              <a:t>          "source_id": "festival-file:28f418873eda5b37d320",</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"0.515",</a:t>
            </a:r>
          </a:p>
          <a:p>
            <a:r>
              <a:t>            "축제명": "안동탈춤축제"</a:t>
            </a:r>
          </a:p>
          <a:p>
            <a:r>
              <a:t>          },</a:t>
            </a:r>
          </a:p>
          <a:p>
            <a:r>
              <a:t>          {</a:t>
            </a:r>
          </a:p>
          <a:p>
            <a:r>
              <a:t>            "개최년도": "2025",</a:t>
            </a:r>
          </a:p>
          <a:p>
            <a:r>
              <a:t>            "구분명": "현지인방문자 유입",</a:t>
            </a:r>
          </a:p>
          <a:p>
            <a:r>
              <a:t>            "그룹명": "축제기간",</a:t>
            </a:r>
          </a:p>
          <a:p>
            <a:r>
              <a:t>            "지표값": "0.859",</a:t>
            </a:r>
          </a:p>
          <a:p>
            <a:r>
              <a:t>            "축제명": "안동탈춤축제"</a:t>
            </a:r>
          </a:p>
          <a:p>
            <a:r>
              <a:t>          },</a:t>
            </a:r>
          </a:p>
          <a:p>
            <a:r>
              <a:t>          {</a:t>
            </a:r>
          </a:p>
          <a:p>
            <a:r>
              <a:t>            "개최년도": "2025",</a:t>
            </a:r>
          </a:p>
          <a:p>
            <a:r>
              <a:t>            "구분명": "내비게이션 검색량",</a:t>
            </a:r>
          </a:p>
          <a:p>
            <a:r>
              <a:t>            "그룹명": "축제기간",</a:t>
            </a:r>
          </a:p>
          <a:p>
            <a:r>
              <a:t>            "지표값": "0.434",</a:t>
            </a:r>
          </a:p>
          <a:p>
            <a:r>
              <a:t>            "축제명": "안동탈춤축제"</a:t>
            </a:r>
          </a:p>
          <a:p>
            <a:r>
              <a:t>          },</a:t>
            </a:r>
          </a:p>
          <a:p>
            <a:r>
              <a:t>          {</a:t>
            </a:r>
          </a:p>
          <a:p>
            <a:r>
              <a:t>            "개최년도": "2025",</a:t>
            </a:r>
          </a:p>
          <a:p>
            <a:r>
              <a:t>            "구분명": "관광소비",</a:t>
            </a:r>
          </a:p>
          <a:p>
            <a:r>
              <a:t>            "그룹명": "축제기간",</a:t>
            </a:r>
          </a:p>
          <a:p>
            <a:r>
              <a:t>            "지표값": "0.544",</a:t>
            </a:r>
          </a:p>
          <a:p>
            <a:r>
              <a:t>            "축제명": "안동탈춤축제"</a:t>
            </a:r>
          </a:p>
          <a:p>
            <a:r>
              <a:t>          },</a:t>
            </a:r>
          </a:p>
          <a:p>
            <a:r>
              <a:t>          {</a:t>
            </a:r>
          </a:p>
          <a:p>
            <a:r>
              <a:t>            "개최년도": "2025",</a:t>
            </a:r>
          </a:p>
          <a:p>
            <a:r>
              <a:t>            "구분명": "축제지 집중률",</a:t>
            </a:r>
          </a:p>
          <a:p>
            <a:r>
              <a:t>            "그룹명": "축제기간",</a:t>
            </a:r>
          </a:p>
          <a:p>
            <a:r>
              <a:t>            "지표값": "0.879",</a:t>
            </a:r>
          </a:p>
          <a:p>
            <a:r>
              <a:t>            "축제명": "안동탈춤축제"</a:t>
            </a:r>
          </a:p>
          <a:p>
            <a:r>
              <a:t>          },</a:t>
            </a:r>
          </a:p>
          <a:p>
            <a:r>
              <a:t>          {</a:t>
            </a:r>
          </a:p>
          <a:p>
            <a:r>
              <a:t>            "개최년도": "2025",</a:t>
            </a:r>
          </a:p>
          <a:p>
            <a:r>
              <a:t>            "구분명": "외부방문자 유입",</a:t>
            </a:r>
          </a:p>
          <a:p>
            <a:r>
              <a:t>            "그룹명": "비축제기간",</a:t>
            </a:r>
          </a:p>
          <a:p>
            <a:r>
              <a:t>            "지표값": "0.258",</a:t>
            </a:r>
          </a:p>
          <a:p>
            <a:r>
              <a:t>            "축제명": "안동탈춤축제"</a:t>
            </a:r>
          </a:p>
          <a:p>
            <a:r>
              <a:t>          },</a:t>
            </a:r>
          </a:p>
          <a:p>
            <a:r>
              <a:t>          {</a:t>
            </a:r>
          </a:p>
          <a:p>
            <a:r>
              <a:t>            "개최년도": "2025",</a:t>
            </a:r>
          </a:p>
          <a:p>
            <a:r>
              <a:t>            "구분명": "현지인방문자 유입",</a:t>
            </a:r>
          </a:p>
          <a:p>
            <a:r>
              <a:t>            "그룹명": "비축제기간",</a:t>
            </a:r>
          </a:p>
          <a:p>
            <a:r>
              <a:t>            "지표값": "0.618",</a:t>
            </a:r>
          </a:p>
          <a:p>
            <a:r>
              <a:t>            "축제명": "안동탈춤축제"</a:t>
            </a:r>
          </a:p>
          <a:p>
            <a:r>
              <a:t>          },</a:t>
            </a:r>
          </a:p>
          <a:p>
            <a:r>
              <a:t>          {</a:t>
            </a:r>
          </a:p>
          <a:p>
            <a:r>
              <a:t>            "개최년도": "2025",</a:t>
            </a:r>
          </a:p>
          <a:p>
            <a:r>
              <a:t>            "구분명": "내비게이션 검색량",</a:t>
            </a:r>
          </a:p>
          <a:p>
            <a:r>
              <a:t>            "그룹명": "비축제기간",</a:t>
            </a:r>
          </a:p>
          <a:p>
            <a:r>
              <a:t>            "지표값": "0.252",</a:t>
            </a:r>
          </a:p>
          <a:p>
            <a:r>
              <a:t>            "축제명": "안동탈춤축제"</a:t>
            </a:r>
          </a:p>
          <a:p>
            <a:r>
              <a:t>          },</a:t>
            </a:r>
          </a:p>
          <a:p>
            <a:r>
              <a:t>          {</a:t>
            </a:r>
          </a:p>
          <a:p>
            <a:r>
              <a:t>            "개최년도": "2025",</a:t>
            </a:r>
          </a:p>
          <a:p>
            <a:r>
              <a:t>            "구분명": "관광소비",</a:t>
            </a:r>
          </a:p>
          <a:p>
            <a:r>
              <a:t>            "그룹명": "비축제기간",</a:t>
            </a:r>
          </a:p>
          <a:p>
            <a:r>
              <a:t>            "지표값": "0.375",</a:t>
            </a:r>
          </a:p>
          <a:p>
            <a:r>
              <a:t>            "축제명": "안동탈춤축제"</a:t>
            </a:r>
          </a:p>
          <a:p>
            <a:r>
              <a:t>          },</a:t>
            </a:r>
          </a:p>
          <a:p>
            <a:r>
              <a:t>          {</a:t>
            </a:r>
          </a:p>
          <a:p>
            <a:r>
              <a:t>            "개최년도": "2025",</a:t>
            </a:r>
          </a:p>
          <a:p>
            <a:r>
              <a:t>            "구분명": "축제지 집중률",</a:t>
            </a:r>
          </a:p>
          <a:p>
            <a:r>
              <a:t>            "그룹명": "비축제기간",</a:t>
            </a:r>
          </a:p>
          <a:p>
            <a:r>
              <a:t>            "지표값": "0.65",</a:t>
            </a:r>
          </a:p>
          <a:p>
            <a:r>
              <a:t>            "축제명": "안동탈춤축제"</a:t>
            </a:r>
          </a:p>
          <a:p>
            <a:r>
              <a:t>          }</a:t>
            </a:r>
          </a:p>
          <a:p>
            <a:r>
              <a:t>        ],</a:t>
            </a:r>
          </a:p>
          <a:p>
            <a:r>
              <a:t>        "indicator_rule": "원본 지표값만 보존. 산식·단위 미확인으로 성장률/원화/정원/참여율 변환 금지.",</a:t>
            </a:r>
          </a:p>
          <a:p>
            <a:r>
              <a:t>        "audience": [</a:t>
            </a:r>
          </a:p>
          <a:p>
            <a:r>
              <a:t>          {</a:t>
            </a:r>
          </a:p>
          <a:p>
            <a:r>
              <a:t>            "남성비율": "4.4",</a:t>
            </a:r>
          </a:p>
          <a:p>
            <a:r>
              <a:t>            "여성비율": "5.0",</a:t>
            </a:r>
          </a:p>
          <a:p>
            <a:r>
              <a:t>            "연령대": "70세 이상",</a:t>
            </a:r>
          </a:p>
          <a:p>
            <a:r>
              <a:t>            "축제명": "안동탈춤축제"</a:t>
            </a:r>
          </a:p>
          <a:p>
            <a:r>
              <a:t>          },</a:t>
            </a:r>
          </a:p>
          <a:p>
            <a:r>
              <a:t>          {</a:t>
            </a:r>
          </a:p>
          <a:p>
            <a:r>
              <a:t>            "남성비율": "8.0",</a:t>
            </a:r>
          </a:p>
          <a:p>
            <a:r>
              <a:t>            "여성비율": "8.5",</a:t>
            </a:r>
          </a:p>
          <a:p>
            <a:r>
              <a:t>            "연령대": "60~69세",</a:t>
            </a:r>
          </a:p>
          <a:p>
            <a:r>
              <a:t>            "축제명": "안동탈춤축제"</a:t>
            </a:r>
          </a:p>
          <a:p>
            <a:r>
              <a:t>          },</a:t>
            </a:r>
          </a:p>
          <a:p>
            <a:r>
              <a:t>          {</a:t>
            </a:r>
          </a:p>
          <a:p>
            <a:r>
              <a:t>            "남성비율": "9.2",</a:t>
            </a:r>
          </a:p>
          <a:p>
            <a:r>
              <a:t>            "여성비율": "10.9",</a:t>
            </a:r>
          </a:p>
          <a:p>
            <a:r>
              <a:t>            "연령대": "50~59세",</a:t>
            </a:r>
          </a:p>
          <a:p>
            <a:r>
              <a:t>            "축제명": "안동탈춤축제"</a:t>
            </a:r>
          </a:p>
          <a:p>
            <a:r>
              <a:t>          },</a:t>
            </a:r>
          </a:p>
          <a:p>
            <a:r>
              <a:t>          {</a:t>
            </a:r>
          </a:p>
          <a:p>
            <a:r>
              <a:t>            "남성비율": "7.5",</a:t>
            </a:r>
          </a:p>
          <a:p>
            <a:r>
              <a:t>            "여성비율": "7.9",</a:t>
            </a:r>
          </a:p>
          <a:p>
            <a:r>
              <a:t>            "연령대": "40~49세",</a:t>
            </a:r>
          </a:p>
          <a:p>
            <a:r>
              <a:t>            "축제명": "안동탈춤축제"</a:t>
            </a:r>
          </a:p>
          <a:p>
            <a:r>
              <a:t>          },</a:t>
            </a:r>
          </a:p>
          <a:p>
            <a:r>
              <a:t>          {</a:t>
            </a:r>
          </a:p>
          <a:p>
            <a:r>
              <a:t>            "남성비율": "7.9",</a:t>
            </a:r>
          </a:p>
          <a:p>
            <a:r>
              <a:t>            "여성비율": "7.2",</a:t>
            </a:r>
          </a:p>
          <a:p>
            <a:r>
              <a:t>            "연령대": "30~39세",</a:t>
            </a:r>
          </a:p>
          <a:p>
            <a:r>
              <a:t>            "축제명": "안동탈춤축제"</a:t>
            </a:r>
          </a:p>
          <a:p>
            <a:r>
              <a:t>          },</a:t>
            </a:r>
          </a:p>
          <a:p>
            <a:r>
              <a:t>          {</a:t>
            </a:r>
          </a:p>
          <a:p>
            <a:r>
              <a:t>            "남성비율": "7.1",</a:t>
            </a:r>
          </a:p>
          <a:p>
            <a:r>
              <a:t>            "여성비율": "8.2",</a:t>
            </a:r>
          </a:p>
          <a:p>
            <a:r>
              <a:t>            "연령대": "20~29세",</a:t>
            </a:r>
          </a:p>
          <a:p>
            <a:r>
              <a:t>            "축제명": "안동탈춤축제"</a:t>
            </a:r>
          </a:p>
          <a:p>
            <a:r>
              <a:t>          },</a:t>
            </a:r>
          </a:p>
          <a:p>
            <a:r>
              <a:t>          {</a:t>
            </a:r>
          </a:p>
          <a:p>
            <a:r>
              <a:t>            "남성비율": "3.2",</a:t>
            </a:r>
          </a:p>
          <a:p>
            <a:r>
              <a:t>            "여성비율": "3.9",</a:t>
            </a:r>
          </a:p>
          <a:p>
            <a:r>
              <a:t>            "연령대": "10~19세",</a:t>
            </a:r>
          </a:p>
          <a:p>
            <a:r>
              <a:t>            "축제명": "안동탈춤축제"</a:t>
            </a:r>
          </a:p>
          <a:p>
            <a:r>
              <a:t>          },</a:t>
            </a:r>
          </a:p>
          <a:p>
            <a:r>
              <a:t>          {</a:t>
            </a:r>
          </a:p>
          <a:p>
            <a:r>
              <a:t>            "남성비율": "0.5",</a:t>
            </a:r>
          </a:p>
          <a:p>
            <a:r>
              <a:t>            "여성비율": "0.7",</a:t>
            </a:r>
          </a:p>
          <a:p>
            <a:r>
              <a:t>            "연령대": "0~9세",</a:t>
            </a:r>
          </a:p>
          <a:p>
            <a:r>
              <a:t>            "축제명": "안동탈춤축제"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안동탈춤축제 방문자 추이",</a:t>
            </a:r>
          </a:p>
          <a:p>
            <a:r>
              <a:t>      "summary": "2024→2025년 전체 504,573→554,494명 (+9.89%). 개최 10→10일, 일평균 +9.89%, 외지인 +10.75%."</a:t>
            </a:r>
          </a:p>
          <a:p>
            <a:r>
              <a:t>    },</a:t>
            </a:r>
          </a:p>
          <a:p>
            <a:r>
              <a:t>    {</a:t>
            </a:r>
          </a:p>
          <a:p>
            <a:r>
              <a:t>      "source_id": "case:festival:1ff9d11d3ee0ee",</a:t>
            </a:r>
          </a:p>
          <a:p>
            <a:r>
              <a:t>      "document_type": "case_study",</a:t>
            </a:r>
          </a:p>
          <a:p>
            <a:r>
              <a:t>      "evidence_kind": "festival_statistics",</a:t>
            </a:r>
          </a:p>
          <a:p>
            <a:r>
              <a:t>      "retrieval_method": "datalab_festival_table",</a:t>
            </a:r>
          </a:p>
          <a:p>
            <a:r>
              <a:t>      "region_code": "46900",</a:t>
            </a:r>
          </a:p>
          <a:p>
            <a:r>
              <a:t>      "region_name": "전라남도 진도군",</a:t>
            </a:r>
          </a:p>
          <a:p>
            <a:r>
              <a:t>      "case_region": "전라남도 진도군",</a:t>
            </a:r>
          </a:p>
          <a:p>
            <a:r>
              <a:t>      "intervention": "진도신비의바닷길축제",</a:t>
            </a:r>
          </a:p>
          <a:p>
            <a:r>
              <a:t>      "problem_addressed": "타지역 축제 방문 실적 참고 · 자연·야외",</a:t>
            </a:r>
          </a:p>
          <a:p>
            <a:r>
              <a:t>      "target_group": "축제 관측구역 방문자(현지인·외지인·외국인 구분)",</a:t>
            </a:r>
          </a:p>
          <a:p>
            <a:r>
              <a:t>      "operating_model": "진도신비의바닷길축제를 2025년 4일 개최한 문화관광축제 운영 사례. 세부 프로그램·예약·혜택은 이 CSV에 기록되어 있지 않으며 새로운 운영안은 제안으로 구분한다.",</a:t>
            </a:r>
          </a:p>
          <a:p>
            <a:r>
              <a:t>      "duration": "2025년 4일",</a:t>
            </a:r>
          </a:p>
          <a:p>
            <a:r>
              <a:t>      "public_budget": "CSV에 사업비 없음",</a:t>
            </a:r>
          </a:p>
          <a:p>
            <a:r>
              <a:t>      "observed_result": "2024→2025년 전체 28,171→43,973명 (+56.09%). 개최 3→4일, 일평균 +17.07%, 외지인 +89.98%.",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진도신비의바닷길축제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"20260820182448_진도신비의바닷길축제_연도별 방문자 추이.csv",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진도신비의바닷길축제_2023-2025/20260820182448_진도신비의바닷길축제_연도별 방문자 추이.csv",</a:t>
            </a:r>
          </a:p>
          <a:p>
            <a:r>
              <a:t>          "sha256": "3cf7484d808e807aeffda7504a3d316839b9220f0f7a72550f5387af3ee3f8d9",</a:t>
            </a:r>
          </a:p>
          <a:p>
            <a:r>
              <a:t>          "source_id": "festival-file:3cf7484d808e807aeffd",</a:t>
            </a:r>
          </a:p>
          <a:p>
            <a:r>
              <a:t>          "source_url": "https://datalab.visitkorea.or.kr/"</a:t>
            </a:r>
          </a:p>
          <a:p>
            <a:r>
              <a:t>        },</a:t>
            </a:r>
          </a:p>
          <a:p>
            <a:r>
              <a:t>        {</a:t>
            </a:r>
          </a:p>
          <a:p>
            <a:r>
              <a:t>          "downloaded_at": "2026-08-20",</a:t>
            </a:r>
          </a:p>
          <a:p>
            <a:r>
              <a:t>          "file_name": "20260820182448_진도신비의바닷길축제_성_연령별 내국인 방문자.csv",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진도신비의바닷길축제_2023-2025/20260820182448_진도신비의바닷길축제_성_연령별 내국인 방문자.csv",</a:t>
            </a:r>
          </a:p>
          <a:p>
            <a:r>
              <a:t>          "sha256": "cb3424e725c84352d81fdb987f6d3ade162f54f63a9590ac8730dddcfcc48ed7",</a:t>
            </a:r>
          </a:p>
          <a:p>
            <a:r>
              <a:t>          "source_id": "festival-file:cb3424e725c84352d81f",</a:t>
            </a:r>
          </a:p>
          <a:p>
            <a:r>
              <a:t>          "source_url": "https://datalab.visitkorea.or.kr/"</a:t>
            </a:r>
          </a:p>
          <a:p>
            <a:r>
              <a:t>        },</a:t>
            </a:r>
          </a:p>
          <a:p>
            <a:r>
              <a:t>        {</a:t>
            </a:r>
          </a:p>
          <a:p>
            <a:r>
              <a:t>          "downloaded_at": "2026-08-20",</a:t>
            </a:r>
          </a:p>
          <a:p>
            <a:r>
              <a:t>          "file_name": "20260820182448_진도신비의바닷길축제_목적지 검색순위.csv",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진도신비의바닷길축제_2023-2025/20260820182448_진도신비의바닷길축제_목적지 검색순위.csv",</a:t>
            </a:r>
          </a:p>
          <a:p>
            <a:r>
              <a:t>          "sha256": "b8aa76a62ac8159da3b9234363c8c0026f70875997af88b4e750f2f6154c65ae",</a:t>
            </a:r>
          </a:p>
          <a:p>
            <a:r>
              <a:t>          "source_id": "festival-file:b8aa76a62ac8159da3b9",</a:t>
            </a:r>
          </a:p>
          <a:p>
            <a:r>
              <a:t>          "source_url": "https://datalab.visitkorea.or.kr/"</a:t>
            </a:r>
          </a:p>
          <a:p>
            <a:r>
              <a:t>        },</a:t>
            </a:r>
          </a:p>
          <a:p>
            <a:r>
              <a:t>        {</a:t>
            </a:r>
          </a:p>
          <a:p>
            <a:r>
              <a:t>          "downloaded_at": "2026-08-20",</a:t>
            </a:r>
          </a:p>
          <a:p>
            <a:r>
              <a:t>          "file_name": "20260820182448_진도신비의바닷길축제_문화관광축제 주요 지표.csv",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진도신비의바닷길축제_2023-2025/20260820182448_진도신비의바닷길축제_문화관광축제 주요 지표.csv",</a:t>
            </a:r>
          </a:p>
          <a:p>
            <a:r>
              <a:t>          "sha256": "c9332a0e0d15d1550b1b545b8b739cc6a919a13ca701800d87203b06b2fecd46",</a:t>
            </a:r>
          </a:p>
          <a:p>
            <a:r>
              <a:t>          "source_id": "festival-file:c9332a0e0d15d1550b1b",</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"자연·야외",</a:t>
            </a:r>
          </a:p>
          <a:p>
            <a:r>
              <a:t>        "priority_signal": "visit",</a:t>
            </a:r>
          </a:p>
          <a:p>
            <a:r>
              <a:t>        "rule": "함수 기반 조사 우선순위. 사업효과·인구/환경 유사도 점수가 아니며 소비·체류 개선은 조사 가설이다."</a:t>
            </a:r>
          </a:p>
          <a:p>
            <a:r>
              <a:t>      },</a:t>
            </a:r>
          </a:p>
          <a:p>
            <a:r>
              <a:t>      "festival_statistics": {</a:t>
            </a:r>
          </a:p>
          <a:p>
            <a:r>
              <a:t>        "name": "진도신비의바닷길축제",</a:t>
            </a:r>
          </a:p>
          <a:p>
            <a:r>
              <a:t>        "annual": [</a:t>
            </a:r>
          </a:p>
          <a:p>
            <a:r>
              <a:t>          {</a:t>
            </a:r>
          </a:p>
          <a:p>
            <a:r>
              <a:t>            "daily": 11185.333333333334,</a:t>
            </a:r>
          </a:p>
          <a:p>
            <a:r>
              <a:t>            "days": 3,</a:t>
            </a:r>
          </a:p>
          <a:p>
            <a:r>
              <a:t>            "foreign": 278.0,</a:t>
            </a:r>
          </a:p>
          <a:p>
            <a:r>
              <a:t>            "local": 12120.0,</a:t>
            </a:r>
          </a:p>
          <a:p>
            <a:r>
              <a:t>            "outside": 21158.0,</a:t>
            </a:r>
          </a:p>
          <a:p>
            <a:r>
              <a:t>            "outside_daily": 7052.666666666667,</a:t>
            </a:r>
          </a:p>
          <a:p>
            <a:r>
              <a:t>            "outside_share_pct": 63.05280724758613,</a:t>
            </a:r>
          </a:p>
          <a:p>
            <a:r>
              <a:t>            "total": 33556.0,</a:t>
            </a:r>
          </a:p>
          <a:p>
            <a:r>
              <a:t>            "year": 2023</a:t>
            </a:r>
          </a:p>
          <a:p>
            <a:r>
              <a:t>          },</a:t>
            </a:r>
          </a:p>
          <a:p>
            <a:r>
              <a:t>          {</a:t>
            </a:r>
          </a:p>
          <a:p>
            <a:r>
              <a:t>            "daily": 9390.333333333334,</a:t>
            </a:r>
          </a:p>
          <a:p>
            <a:r>
              <a:t>            "days": 3,</a:t>
            </a:r>
          </a:p>
          <a:p>
            <a:r>
              <a:t>            "foreign": 223.0,</a:t>
            </a:r>
          </a:p>
          <a:p>
            <a:r>
              <a:t>            "local": 13068.0,</a:t>
            </a:r>
          </a:p>
          <a:p>
            <a:r>
              <a:t>            "outside": 14880.0,</a:t>
            </a:r>
          </a:p>
          <a:p>
            <a:r>
              <a:t>            "outside_daily": 4960.0,</a:t>
            </a:r>
          </a:p>
          <a:p>
            <a:r>
              <a:t>            "outside_share_pct": 52.82027617052998,</a:t>
            </a:r>
          </a:p>
          <a:p>
            <a:r>
              <a:t>            "total": 28171.0,</a:t>
            </a:r>
          </a:p>
          <a:p>
            <a:r>
              <a:t>            "year": 2024</a:t>
            </a:r>
          </a:p>
          <a:p>
            <a:r>
              <a:t>          },</a:t>
            </a:r>
          </a:p>
          <a:p>
            <a:r>
              <a:t>          {</a:t>
            </a:r>
          </a:p>
          <a:p>
            <a:r>
              <a:t>            "daily": 10993.25,</a:t>
            </a:r>
          </a:p>
          <a:p>
            <a:r>
              <a:t>            "days": 4,</a:t>
            </a:r>
          </a:p>
          <a:p>
            <a:r>
              <a:t>            "foreign": 359.0,</a:t>
            </a:r>
          </a:p>
          <a:p>
            <a:r>
              <a:t>            "local": 15345.0,</a:t>
            </a:r>
          </a:p>
          <a:p>
            <a:r>
              <a:t>            "outside": 28269.0,</a:t>
            </a:r>
          </a:p>
          <a:p>
            <a:r>
              <a:t>            "outside_daily": 7067.25,</a:t>
            </a:r>
          </a:p>
          <a:p>
            <a:r>
              <a:t>            "outside_share_pct": 64.28717622177244,</a:t>
            </a:r>
          </a:p>
          <a:p>
            <a:r>
              <a:t>            "total": 43973.0,</a:t>
            </a:r>
          </a:p>
          <a:p>
            <a:r>
              <a:t>            "year": 2025</a:t>
            </a:r>
          </a:p>
          <a:p>
            <a:r>
              <a:t>          }</a:t>
            </a:r>
          </a:p>
          <a:p>
            <a:r>
              <a:t>        ],</a:t>
            </a:r>
          </a:p>
          <a:p>
            <a:r>
              <a:t>        "comparison": {</a:t>
            </a:r>
          </a:p>
          <a:p>
            <a:r>
              <a:t>          "after_days": 4,</a:t>
            </a:r>
          </a:p>
          <a:p>
            <a:r>
              <a:t>          "after_year": 2025,</a:t>
            </a:r>
          </a:p>
          <a:p>
            <a:r>
              <a:t>          "before_days": 3,</a:t>
            </a:r>
          </a:p>
          <a:p>
            <a:r>
              <a:t>          "before_year": 2024,</a:t>
            </a:r>
          </a:p>
          <a:p>
            <a:r>
              <a:t>          "daily": {</a:t>
            </a:r>
          </a:p>
          <a:p>
            <a:r>
              <a:t>            "after": 10993.25,</a:t>
            </a:r>
          </a:p>
          <a:p>
            <a:r>
              <a:t>            "before": 9390.333333333334,</a:t>
            </a:r>
          </a:p>
          <a:p>
            <a:r>
              <a:t>            "change_pct": 17.069859074935213,</a:t>
            </a:r>
          </a:p>
          <a:p>
            <a:r>
              <a:t>            "difference": 1602.916666666666</a:t>
            </a:r>
          </a:p>
          <a:p>
            <a:r>
              <a:t>          },</a:t>
            </a:r>
          </a:p>
          <a:p>
            <a:r>
              <a:t>          "outside": {</a:t>
            </a:r>
          </a:p>
          <a:p>
            <a:r>
              <a:t>            "after": 28269.0,</a:t>
            </a:r>
          </a:p>
          <a:p>
            <a:r>
              <a:t>            "before": 14880.0,</a:t>
            </a:r>
          </a:p>
          <a:p>
            <a:r>
              <a:t>            "change_pct": 89.97983870967742,</a:t>
            </a:r>
          </a:p>
          <a:p>
            <a:r>
              <a:t>            "difference": 13389.0</a:t>
            </a:r>
          </a:p>
          <a:p>
            <a:r>
              <a:t>          },</a:t>
            </a:r>
          </a:p>
          <a:p>
            <a:r>
              <a:t>          "outside_daily": {</a:t>
            </a:r>
          </a:p>
          <a:p>
            <a:r>
              <a:t>            "after": 7067.25,</a:t>
            </a:r>
          </a:p>
          <a:p>
            <a:r>
              <a:t>            "before": 4960.0,</a:t>
            </a:r>
          </a:p>
          <a:p>
            <a:r>
              <a:t>            "change_pct": 42.484879032258064,</a:t>
            </a:r>
          </a:p>
          <a:p>
            <a:r>
              <a:t>            "difference": 2107.25</a:t>
            </a:r>
          </a:p>
          <a:p>
            <a:r>
              <a:t>          },</a:t>
            </a:r>
          </a:p>
          <a:p>
            <a:r>
              <a:t>          "total": {</a:t>
            </a:r>
          </a:p>
          <a:p>
            <a:r>
              <a:t>            "after": 43973.0,</a:t>
            </a:r>
          </a:p>
          <a:p>
            <a:r>
              <a:t>            "before": 28171.0,</a:t>
            </a:r>
          </a:p>
          <a:p>
            <a:r>
              <a:t>            "change_pct": 56.093145433246946,</a:t>
            </a:r>
          </a:p>
          <a:p>
            <a:r>
              <a:t>            "difference": 15802.0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"20260820182448_진도신비의바닷길축제_연도별 방문자 추이.csv",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진도신비의바닷길축제_2023-2025/20260820182448_진도신비의바닷길축제_연도별 방문자 추이.csv",</a:t>
            </a:r>
          </a:p>
          <a:p>
            <a:r>
              <a:t>          "sha256": "3cf7484d808e807aeffda7504a3d316839b9220f0f7a72550f5387af3ee3f8d9",</a:t>
            </a:r>
          </a:p>
          <a:p>
            <a:r>
              <a:t>          "source_id": "festival-file:3cf7484d808e807aeffd",</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"0.568",</a:t>
            </a:r>
          </a:p>
          <a:p>
            <a:r>
              <a:t>            "축제명": "진도신비의바닷길축제"</a:t>
            </a:r>
          </a:p>
          <a:p>
            <a:r>
              <a:t>          },</a:t>
            </a:r>
          </a:p>
          <a:p>
            <a:r>
              <a:t>          {</a:t>
            </a:r>
          </a:p>
          <a:p>
            <a:r>
              <a:t>            "개최년도": "2025",</a:t>
            </a:r>
          </a:p>
          <a:p>
            <a:r>
              <a:t>            "구분명": "현지인방문자 유입",</a:t>
            </a:r>
          </a:p>
          <a:p>
            <a:r>
              <a:t>            "그룹명": "축제기간",</a:t>
            </a:r>
          </a:p>
          <a:p>
            <a:r>
              <a:t>            "지표값": "0.858",</a:t>
            </a:r>
          </a:p>
          <a:p>
            <a:r>
              <a:t>            "축제명": "진도신비의바닷길축제"</a:t>
            </a:r>
          </a:p>
          <a:p>
            <a:r>
              <a:t>          },</a:t>
            </a:r>
          </a:p>
          <a:p>
            <a:r>
              <a:t>          {</a:t>
            </a:r>
          </a:p>
          <a:p>
            <a:r>
              <a:t>            "개최년도": "2025",</a:t>
            </a:r>
          </a:p>
          <a:p>
            <a:r>
              <a:t>            "구분명": "내비게이션 검색량",</a:t>
            </a:r>
          </a:p>
          <a:p>
            <a:r>
              <a:t>            "그룹명": "축제기간",</a:t>
            </a:r>
          </a:p>
          <a:p>
            <a:r>
              <a:t>            "지표값": "0.513",</a:t>
            </a:r>
          </a:p>
          <a:p>
            <a:r>
              <a:t>            "축제명": "진도신비의바닷길축제"</a:t>
            </a:r>
          </a:p>
          <a:p>
            <a:r>
              <a:t>          },</a:t>
            </a:r>
          </a:p>
          <a:p>
            <a:r>
              <a:t>          {</a:t>
            </a:r>
          </a:p>
          <a:p>
            <a:r>
              <a:t>            "개최년도": "2025",</a:t>
            </a:r>
          </a:p>
          <a:p>
            <a:r>
              <a:t>            "구분명": "관광소비",</a:t>
            </a:r>
          </a:p>
          <a:p>
            <a:r>
              <a:t>            "그룹명": "축제기간",</a:t>
            </a:r>
          </a:p>
          <a:p>
            <a:r>
              <a:t>            "지표값": "0.283",</a:t>
            </a:r>
          </a:p>
          <a:p>
            <a:r>
              <a:t>            "축제명": "진도신비의바닷길축제"</a:t>
            </a:r>
          </a:p>
          <a:p>
            <a:r>
              <a:t>          },</a:t>
            </a:r>
          </a:p>
          <a:p>
            <a:r>
              <a:t>          {</a:t>
            </a:r>
          </a:p>
          <a:p>
            <a:r>
              <a:t>            "개최년도": "2025",</a:t>
            </a:r>
          </a:p>
          <a:p>
            <a:r>
              <a:t>            "구분명": "축제지 집중률",</a:t>
            </a:r>
          </a:p>
          <a:p>
            <a:r>
              <a:t>            "그룹명": "축제기간",</a:t>
            </a:r>
          </a:p>
          <a:p>
            <a:r>
              <a:t>            "지표값": "0.791",</a:t>
            </a:r>
          </a:p>
          <a:p>
            <a:r>
              <a:t>            "축제명": "진도신비의바닷길축제"</a:t>
            </a:r>
          </a:p>
          <a:p>
            <a:r>
              <a:t>          },</a:t>
            </a:r>
          </a:p>
          <a:p>
            <a:r>
              <a:t>          {</a:t>
            </a:r>
          </a:p>
          <a:p>
            <a:r>
              <a:t>            "개최년도": "2025",</a:t>
            </a:r>
          </a:p>
          <a:p>
            <a:r>
              <a:t>            "구분명": "외부방문자 유입",</a:t>
            </a:r>
          </a:p>
          <a:p>
            <a:r>
              <a:t>            "그룹명": "비축제기간",</a:t>
            </a:r>
          </a:p>
          <a:p>
            <a:r>
              <a:t>            "지표값": "0.137",</a:t>
            </a:r>
          </a:p>
          <a:p>
            <a:r>
              <a:t>            "축제명": "진도신비의바닷길축제"</a:t>
            </a:r>
          </a:p>
          <a:p>
            <a:r>
              <a:t>          },</a:t>
            </a:r>
          </a:p>
          <a:p>
            <a:r>
              <a:t>          {</a:t>
            </a:r>
          </a:p>
          <a:p>
            <a:r>
              <a:t>            "개최년도": "2025",</a:t>
            </a:r>
          </a:p>
          <a:p>
            <a:r>
              <a:t>            "구분명": "현지인방문자 유입",</a:t>
            </a:r>
          </a:p>
          <a:p>
            <a:r>
              <a:t>            "그룹명": "비축제기간",</a:t>
            </a:r>
          </a:p>
          <a:p>
            <a:r>
              <a:t>            "지표값": "0.472",</a:t>
            </a:r>
          </a:p>
          <a:p>
            <a:r>
              <a:t>            "축제명": "진도신비의바닷길축제"</a:t>
            </a:r>
          </a:p>
          <a:p>
            <a:r>
              <a:t>          },</a:t>
            </a:r>
          </a:p>
          <a:p>
            <a:r>
              <a:t>          {</a:t>
            </a:r>
          </a:p>
          <a:p>
            <a:r>
              <a:t>            "개최년도": "2025",</a:t>
            </a:r>
          </a:p>
          <a:p>
            <a:r>
              <a:t>            "구분명": "내비게이션 검색량",</a:t>
            </a:r>
          </a:p>
          <a:p>
            <a:r>
              <a:t>            "그룹명": "비축제기간",</a:t>
            </a:r>
          </a:p>
          <a:p>
            <a:r>
              <a:t>            "지표값": "0.06",</a:t>
            </a:r>
          </a:p>
          <a:p>
            <a:r>
              <a:t>            "축제명": "진도신비의바닷길축제"</a:t>
            </a:r>
          </a:p>
          <a:p>
            <a:r>
              <a:t>          },</a:t>
            </a:r>
          </a:p>
          <a:p>
            <a:r>
              <a:t>          {</a:t>
            </a:r>
          </a:p>
          <a:p>
            <a:r>
              <a:t>            "개최년도": "2025",</a:t>
            </a:r>
          </a:p>
          <a:p>
            <a:r>
              <a:t>            "구분명": "관광소비",</a:t>
            </a:r>
          </a:p>
          <a:p>
            <a:r>
              <a:t>            "그룹명": "비축제기간",</a:t>
            </a:r>
          </a:p>
          <a:p>
            <a:r>
              <a:t>            "지표값": "0.212",</a:t>
            </a:r>
          </a:p>
          <a:p>
            <a:r>
              <a:t>            "축제명": "진도신비의바닷길축제"</a:t>
            </a:r>
          </a:p>
          <a:p>
            <a:r>
              <a:t>          },</a:t>
            </a:r>
          </a:p>
          <a:p>
            <a:r>
              <a:t>          {</a:t>
            </a:r>
          </a:p>
          <a:p>
            <a:r>
              <a:t>            "개최년도": "2025",</a:t>
            </a:r>
          </a:p>
          <a:p>
            <a:r>
              <a:t>            "구분명": "축제지 집중률",</a:t>
            </a:r>
          </a:p>
          <a:p>
            <a:r>
              <a:t>            "그룹명": "비축제기간",</a:t>
            </a:r>
          </a:p>
          <a:p>
            <a:r>
              <a:t>            "지표값": "0.269",</a:t>
            </a:r>
          </a:p>
          <a:p>
            <a:r>
              <a:t>            "축제명": "진도신비의바닷길축제"</a:t>
            </a:r>
          </a:p>
          <a:p>
            <a:r>
              <a:t>          }</a:t>
            </a:r>
          </a:p>
          <a:p>
            <a:r>
              <a:t>        ],</a:t>
            </a:r>
          </a:p>
          <a:p>
            <a:r>
              <a:t>        "indicator_rule": "원본 지표값만 보존. 산식·단위 미확인으로 성장률/원화/정원/참여율 변환 금지.",</a:t>
            </a:r>
          </a:p>
          <a:p>
            <a:r>
              <a:t>        "audience": [</a:t>
            </a:r>
          </a:p>
          <a:p>
            <a:r>
              <a:t>          {</a:t>
            </a:r>
          </a:p>
          <a:p>
            <a:r>
              <a:t>            "남성비율": "7.4",</a:t>
            </a:r>
          </a:p>
          <a:p>
            <a:r>
              <a:t>            "여성비율": "6.8",</a:t>
            </a:r>
          </a:p>
          <a:p>
            <a:r>
              <a:t>            "연령대": "70세 이상",</a:t>
            </a:r>
          </a:p>
          <a:p>
            <a:r>
              <a:t>            "축제명": "진도신비의바닷길축제"</a:t>
            </a:r>
          </a:p>
          <a:p>
            <a:r>
              <a:t>          },</a:t>
            </a:r>
          </a:p>
          <a:p>
            <a:r>
              <a:t>          {</a:t>
            </a:r>
          </a:p>
          <a:p>
            <a:r>
              <a:t>            "남성비율": "13.8",</a:t>
            </a:r>
          </a:p>
          <a:p>
            <a:r>
              <a:t>            "여성비율": "14.3",</a:t>
            </a:r>
          </a:p>
          <a:p>
            <a:r>
              <a:t>            "연령대": "60~69세",</a:t>
            </a:r>
          </a:p>
          <a:p>
            <a:r>
              <a:t>            "축제명": "진도신비의바닷길축제"</a:t>
            </a:r>
          </a:p>
          <a:p>
            <a:r>
              <a:t>          },</a:t>
            </a:r>
          </a:p>
          <a:p>
            <a:r>
              <a:t>          {</a:t>
            </a:r>
          </a:p>
          <a:p>
            <a:r>
              <a:t>            "남성비율": "10.7",</a:t>
            </a:r>
          </a:p>
          <a:p>
            <a:r>
              <a:t>            "여성비율": "11.5",</a:t>
            </a:r>
          </a:p>
          <a:p>
            <a:r>
              <a:t>            "연령대": "50~59세",</a:t>
            </a:r>
          </a:p>
          <a:p>
            <a:r>
              <a:t>            "축제명": "진도신비의바닷길축제"</a:t>
            </a:r>
          </a:p>
          <a:p>
            <a:r>
              <a:t>          },</a:t>
            </a:r>
          </a:p>
          <a:p>
            <a:r>
              <a:t>          {</a:t>
            </a:r>
          </a:p>
          <a:p>
            <a:r>
              <a:t>            "남성비율": "7.7",</a:t>
            </a:r>
          </a:p>
          <a:p>
            <a:r>
              <a:t>            "여성비율": "4.9",</a:t>
            </a:r>
          </a:p>
          <a:p>
            <a:r>
              <a:t>            "연령대": "40~49세",</a:t>
            </a:r>
          </a:p>
          <a:p>
            <a:r>
              <a:t>            "축제명": "진도신비의바닷길축제"</a:t>
            </a:r>
          </a:p>
          <a:p>
            <a:r>
              <a:t>          },</a:t>
            </a:r>
          </a:p>
          <a:p>
            <a:r>
              <a:t>          {</a:t>
            </a:r>
          </a:p>
          <a:p>
            <a:r>
              <a:t>            "남성비율": "6.8",</a:t>
            </a:r>
          </a:p>
          <a:p>
            <a:r>
              <a:t>            "여성비율": "4.2",</a:t>
            </a:r>
          </a:p>
          <a:p>
            <a:r>
              <a:t>            "연령대": "30~39세",</a:t>
            </a:r>
          </a:p>
          <a:p>
            <a:r>
              <a:t>            "축제명": "진도신비의바닷길축제"</a:t>
            </a:r>
          </a:p>
          <a:p>
            <a:r>
              <a:t>          },</a:t>
            </a:r>
          </a:p>
          <a:p>
            <a:r>
              <a:t>          {</a:t>
            </a:r>
          </a:p>
          <a:p>
            <a:r>
              <a:t>            "남성비율": "5.3",</a:t>
            </a:r>
          </a:p>
          <a:p>
            <a:r>
              <a:t>            "여성비율": "3.0",</a:t>
            </a:r>
          </a:p>
          <a:p>
            <a:r>
              <a:t>            "연령대": "20~29세",</a:t>
            </a:r>
          </a:p>
          <a:p>
            <a:r>
              <a:t>            "축제명": "진도신비의바닷길축제"</a:t>
            </a:r>
          </a:p>
          <a:p>
            <a:r>
              <a:t>          },</a:t>
            </a:r>
          </a:p>
          <a:p>
            <a:r>
              <a:t>          {</a:t>
            </a:r>
          </a:p>
          <a:p>
            <a:r>
              <a:t>            "남성비율": "1.3",</a:t>
            </a:r>
          </a:p>
          <a:p>
            <a:r>
              <a:t>            "여성비율": "1.3",</a:t>
            </a:r>
          </a:p>
          <a:p>
            <a:r>
              <a:t>            "연령대": "10~19세",</a:t>
            </a:r>
          </a:p>
          <a:p>
            <a:r>
              <a:t>            "축제명": "진도신비의바닷길축제"</a:t>
            </a:r>
          </a:p>
          <a:p>
            <a:r>
              <a:t>          },</a:t>
            </a:r>
          </a:p>
          <a:p>
            <a:r>
              <a:t>          {</a:t>
            </a:r>
          </a:p>
          <a:p>
            <a:r>
              <a:t>            "남성비율": "0.5",</a:t>
            </a:r>
          </a:p>
          <a:p>
            <a:r>
              <a:t>            "여성비율": "0.4",</a:t>
            </a:r>
          </a:p>
          <a:p>
            <a:r>
              <a:t>            "연령대": "0~9세",</a:t>
            </a:r>
          </a:p>
          <a:p>
            <a:r>
              <a:t>            "축제명": "진도신비의바닷길축제"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"진도신비의바닷길축제",</a:t>
            </a:r>
          </a:p>
          <a:p>
            <a:r>
              <a:t>            "도로명주소": "전남 진도군 신비의바닷길 74-0",</a:t>
            </a:r>
          </a:p>
          <a:p>
            <a:r>
              <a:t>            "카테고리": "기타문화관광지"</a:t>
            </a:r>
          </a:p>
          <a:p>
            <a:r>
              <a:t>          },</a:t>
            </a:r>
          </a:p>
          <a:p>
            <a:r>
              <a:t>          {</a:t>
            </a:r>
          </a:p>
          <a:p>
            <a:r>
              <a:t>            "구분": "외지인",</a:t>
            </a:r>
          </a:p>
          <a:p>
            <a:r>
              <a:t>            "순위": "2",</a:t>
            </a:r>
          </a:p>
          <a:p>
            <a:r>
              <a:t>            "목적지명": "진도신비의바닷길",</a:t>
            </a:r>
          </a:p>
          <a:p>
            <a:r>
              <a:t>            "도로명주소": "전남 진도군",</a:t>
            </a:r>
          </a:p>
          <a:p>
            <a:r>
              <a:t>            "카테고리": "테마공원"</a:t>
            </a:r>
          </a:p>
          <a:p>
            <a:r>
              <a:t>          },</a:t>
            </a:r>
          </a:p>
          <a:p>
            <a:r>
              <a:t>          {</a:t>
            </a:r>
          </a:p>
          <a:p>
            <a:r>
              <a:t>            "구분": "외지인",</a:t>
            </a:r>
          </a:p>
          <a:p>
            <a:r>
              <a:t>            "순위": "3",</a:t>
            </a:r>
          </a:p>
          <a:p>
            <a:r>
              <a:t>            "목적지명": "가계해변",</a:t>
            </a:r>
          </a:p>
          <a:p>
            <a:r>
              <a:t>            "도로명주소": "전남 진도군 신비의바닷길 0-0",</a:t>
            </a:r>
          </a:p>
          <a:p>
            <a:r>
              <a:t>            "카테고리": "자연경관(하천/해양)"</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진도신비의바닷길축제 방문자 추이",</a:t>
            </a:r>
          </a:p>
          <a:p>
            <a:r>
              <a:t>      "summary": "2024→2025년 전체 28,171→43,973명 (+56.09%). 개최 3→4일, 일평균 +17.07%, 외지인 +89.98%."</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0.02323573257890193,</a:t>
            </a:r>
          </a:p>
          <a:p>
            <a:r>
              <a:t>    "spending_target_pct": 0.04851529703080466,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"case:festival:01474ef75569b1",</a:t>
            </a:r>
          </a:p>
          <a:p>
            <a:r>
              <a:t>    "document_type": "case_study",</a:t>
            </a:r>
          </a:p>
          <a:p>
            <a:r>
              <a:t>    "evidence_kind": "festival_statistics",</a:t>
            </a:r>
          </a:p>
          <a:p>
            <a:r>
              <a:t>    "retrieval_method": "datalab_festival_table",</a:t>
            </a:r>
          </a:p>
          <a:p>
            <a:r>
              <a:t>    "region_code": "47280",</a:t>
            </a:r>
          </a:p>
          <a:p>
            <a:r>
              <a:t>    "region_name": "경상북도 문경시",</a:t>
            </a:r>
          </a:p>
          <a:p>
            <a:r>
              <a:t>    "case_region": "경상북도 문경시",</a:t>
            </a:r>
          </a:p>
          <a:p>
            <a:r>
              <a:t>    "intervention": "문경찻사발축제",</a:t>
            </a:r>
          </a:p>
          <a:p>
            <a:r>
              <a:t>    "problem_addressed": "타지역 축제 방문 실적 참고 · 역사·공예",</a:t>
            </a:r>
          </a:p>
          <a:p>
            <a:r>
              <a:t>    "target_group": "축제 관측구역 방문자(현지인·외지인·외국인 구분)",</a:t>
            </a:r>
          </a:p>
          <a:p>
            <a:r>
              <a:t>    "operating_model": "문경찻사발축제를 2025년 9일 개최한 문화관광축제 운영 사례. 세부 프로그램·예약·혜택은 이 CSV에 기록되어 있지 않으며 새로운 운영안은 제안으로 구분한다.",</a:t>
            </a:r>
          </a:p>
          <a:p>
            <a:r>
              <a:t>    "duration": "2025년 9일",</a:t>
            </a:r>
          </a:p>
          <a:p>
            <a:r>
              <a:t>    "public_budget": "CSV에 사업비 없음",</a:t>
            </a:r>
          </a:p>
          <a:p>
            <a:r>
              <a:t>    "observed_result": "2024→2025년 전체 245,750→256,570명 (+4.40%). 개최 10→9일, 일평균 +16.00%, 외지인 +9.28%.",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문경찻사발축제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a:t>
            </a:r>
          </a:p>
          <a:p>
            <a:r>
              <a:t>        "downloaded_at": "2026-08-20",</a:t>
            </a:r>
          </a:p>
          <a:p>
            <a:r>
              <a:t>        "file_name": "20260820160334_문경찻사발축제_성_연령별 내국인 방문자.csv",</a:t>
            </a:r>
          </a:p>
          <a:p>
            <a:r>
              <a:t>        "provenance_status": "team_download_exact_query_url_unrecorded",</a:t>
            </a:r>
          </a:p>
          <a:p>
            <a:r>
              <a:t>        "provider": "한국관광 데이터랩",</a:t>
            </a:r>
          </a:p>
          <a:p>
            <a:r>
              <a:t>        "relative_path": "data/source_snapshots/festivals_20260820/25. 문경찻사발축제_2023-2025/20260820160334_문경찻사발축제_성_연령별 내국인 방문자.csv",</a:t>
            </a:r>
          </a:p>
          <a:p>
            <a:r>
              <a:t>        "sha256": "44238aecdfa68974febce93cd262e119492da76910929b96da438d8b6ee7a9b3",</a:t>
            </a:r>
          </a:p>
          <a:p>
            <a:r>
              <a:t>        "source_id": "festival-file:44238aecdfa68974febc",</a:t>
            </a:r>
          </a:p>
          <a:p>
            <a:r>
              <a:t>        "source_url": "https://datalab.visitkorea.or.kr/"</a:t>
            </a:r>
          </a:p>
          <a:p>
            <a:r>
              <a:t>      },</a:t>
            </a:r>
          </a:p>
          <a:p>
            <a:r>
              <a:t>      {</a:t>
            </a:r>
          </a:p>
          <a:p>
            <a:r>
              <a:t>        "downloaded_at": "2026-08-20",</a:t>
            </a:r>
          </a:p>
          <a:p>
            <a:r>
              <a:t>        "file_name": "20260820160334_문경찻사발축제_목적지 검색순위.csv",</a:t>
            </a:r>
          </a:p>
          <a:p>
            <a:r>
              <a:t>        "provenance_status": "team_download_exact_query_url_unrecorded",</a:t>
            </a:r>
          </a:p>
          <a:p>
            <a:r>
              <a:t>        "provider": "한국관광 데이터랩",</a:t>
            </a:r>
          </a:p>
          <a:p>
            <a:r>
              <a:t>        "relative_path": "data/source_snapshots/festivals_20260820/25. 문경찻사발축제_2023-2025/20260820160334_문경찻사발축제_목적지 검색순위.csv",</a:t>
            </a:r>
          </a:p>
          <a:p>
            <a:r>
              <a:t>        "sha256": "343671c431cfa7e76ba333ca2ea221803e111e0db5e9a51c6d387b0ba5d7eeaf",</a:t>
            </a:r>
          </a:p>
          <a:p>
            <a:r>
              <a:t>        "source_id": "festival-file:343671c431cfa7e76ba3",</a:t>
            </a:r>
          </a:p>
          <a:p>
            <a:r>
              <a:t>        "source_url": "https://datalab.visitkorea.or.kr/"</a:t>
            </a:r>
          </a:p>
          <a:p>
            <a:r>
              <a:t>      },</a:t>
            </a:r>
          </a:p>
          <a:p>
            <a:r>
              <a:t>      {</a:t>
            </a:r>
          </a:p>
          <a:p>
            <a:r>
              <a:t>        "downloaded_at": "2026-08-20",</a:t>
            </a:r>
          </a:p>
          <a:p>
            <a:r>
              <a:t>        "file_name": "20260820160334_문경찻사발축제_문화관광축제 주요 지표.csv",</a:t>
            </a:r>
          </a:p>
          <a:p>
            <a:r>
              <a:t>        "provenance_status": "team_download_exact_query_url_unrecorded",</a:t>
            </a:r>
          </a:p>
          <a:p>
            <a:r>
              <a:t>        "provider": "한국관광 데이터랩",</a:t>
            </a:r>
          </a:p>
          <a:p>
            <a:r>
              <a:t>        "relative_path": "data/source_snapshots/festivals_20260820/25. 문경찻사발축제_2023-2025/20260820160334_문경찻사발축제_문화관광축제 주요 지표.csv",</a:t>
            </a:r>
          </a:p>
          <a:p>
            <a:r>
              <a:t>        "sha256": "eadf4622620ddb1575df5f358ec588aeed8718c09e0998a19494cf0f3cfe0f16",</a:t>
            </a:r>
          </a:p>
          <a:p>
            <a:r>
              <a:t>        "source_id": "festival-file:eadf4622620ddb1575df",</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"festival_statistics": {</a:t>
            </a:r>
          </a:p>
          <a:p>
            <a:r>
              <a:t>      "name": "문경찻사발축제",</a:t>
            </a:r>
          </a:p>
          <a:p>
            <a:r>
              <a:t>      "annual": [</a:t>
            </a:r>
          </a:p>
          <a:p>
            <a:r>
              <a:t>        {</a:t>
            </a:r>
          </a:p>
          <a:p>
            <a:r>
              <a:t>          "daily": 23055.333333333332,</a:t>
            </a:r>
          </a:p>
          <a:p>
            <a:r>
              <a:t>          "days": 9,</a:t>
            </a:r>
          </a:p>
          <a:p>
            <a:r>
              <a:t>          "foreign": 1241.0,</a:t>
            </a:r>
          </a:p>
          <a:p>
            <a:r>
              <a:t>          "local": 59726.0,</a:t>
            </a:r>
          </a:p>
          <a:p>
            <a:r>
              <a:t>          "outside": 146531.0,</a:t>
            </a:r>
          </a:p>
          <a:p>
            <a:r>
              <a:t>          "outside_daily": 16281.222222222223,</a:t>
            </a:r>
          </a:p>
          <a:p>
            <a:r>
              <a:t>          "outside_share_pct": 70.61803005330172,</a:t>
            </a:r>
          </a:p>
          <a:p>
            <a:r>
              <a:t>          "total": 207498.0,</a:t>
            </a:r>
          </a:p>
          <a:p>
            <a:r>
              <a:t>          "year": 2023</a:t>
            </a:r>
          </a:p>
          <a:p>
            <a:r>
              <a:t>        },</a:t>
            </a:r>
          </a:p>
          <a:p>
            <a:r>
              <a:t>        {</a:t>
            </a:r>
          </a:p>
          <a:p>
            <a:r>
              <a:t>          "daily": 24575.0,</a:t>
            </a:r>
          </a:p>
          <a:p>
            <a:r>
              <a:t>          "days": 10,</a:t>
            </a:r>
          </a:p>
          <a:p>
            <a:r>
              <a:t>          "foreign": 1170.0,</a:t>
            </a:r>
          </a:p>
          <a:p>
            <a:r>
              <a:t>          "local": 64582.0,</a:t>
            </a:r>
          </a:p>
          <a:p>
            <a:r>
              <a:t>          "outside": 179998.0,</a:t>
            </a:r>
          </a:p>
          <a:p>
            <a:r>
              <a:t>          "outside_daily": 17999.8,</a:t>
            </a:r>
          </a:p>
          <a:p>
            <a:r>
              <a:t>          "outside_share_pct": 73.2443540183113,</a:t>
            </a:r>
          </a:p>
          <a:p>
            <a:r>
              <a:t>          "total": 245750.0,</a:t>
            </a:r>
          </a:p>
          <a:p>
            <a:r>
              <a:t>          "year": 2024</a:t>
            </a:r>
          </a:p>
          <a:p>
            <a:r>
              <a:t>        },</a:t>
            </a:r>
          </a:p>
          <a:p>
            <a:r>
              <a:t>        {</a:t>
            </a:r>
          </a:p>
          <a:p>
            <a:r>
              <a:t>          "daily": 28507.777777777777,</a:t>
            </a:r>
          </a:p>
          <a:p>
            <a:r>
              <a:t>          "days": 9,</a:t>
            </a:r>
          </a:p>
          <a:p>
            <a:r>
              <a:t>          "foreign": 1166.0,</a:t>
            </a:r>
          </a:p>
          <a:p>
            <a:r>
              <a:t>          "local": 58704.0,</a:t>
            </a:r>
          </a:p>
          <a:p>
            <a:r>
              <a:t>          "outside": 196700.0,</a:t>
            </a:r>
          </a:p>
          <a:p>
            <a:r>
              <a:t>          "outside_daily": 21855.555555555555,</a:t>
            </a:r>
          </a:p>
          <a:p>
            <a:r>
              <a:t>          "outside_share_pct": 76.66523755700199,</a:t>
            </a:r>
          </a:p>
          <a:p>
            <a:r>
              <a:t>          "total": 256570.0,</a:t>
            </a:r>
          </a:p>
          <a:p>
            <a:r>
              <a:t>          "year": 2025</a:t>
            </a:r>
          </a:p>
          <a:p>
            <a:r>
              <a:t>        }</a:t>
            </a:r>
          </a:p>
          <a:p>
            <a:r>
              <a:t>      ],</a:t>
            </a:r>
          </a:p>
          <a:p>
            <a:r>
              <a:t>      "comparison": {</a:t>
            </a:r>
          </a:p>
          <a:p>
            <a:r>
              <a:t>        "after_days": 9,</a:t>
            </a:r>
          </a:p>
          <a:p>
            <a:r>
              <a:t>        "after_year": 2025,</a:t>
            </a:r>
          </a:p>
          <a:p>
            <a:r>
              <a:t>        "before_days": 10,</a:t>
            </a:r>
          </a:p>
          <a:p>
            <a:r>
              <a:t>        "before_year": 2024,</a:t>
            </a:r>
          </a:p>
          <a:p>
            <a:r>
              <a:t>        "daily": {</a:t>
            </a:r>
          </a:p>
          <a:p>
            <a:r>
              <a:t>          "after": 28507.777777777777,</a:t>
            </a:r>
          </a:p>
          <a:p>
            <a:r>
              <a:t>          "before": 24575.0,</a:t>
            </a:r>
          </a:p>
          <a:p>
            <a:r>
              <a:t>          "change_pct": 16.00316491466034,</a:t>
            </a:r>
          </a:p>
          <a:p>
            <a:r>
              <a:t>          "difference": 3932.7777777777774</a:t>
            </a:r>
          </a:p>
          <a:p>
            <a:r>
              <a:t>        },</a:t>
            </a:r>
          </a:p>
          <a:p>
            <a:r>
              <a:t>        "outside": {</a:t>
            </a:r>
          </a:p>
          <a:p>
            <a:r>
              <a:t>          "after": 196700.0,</a:t>
            </a:r>
          </a:p>
          <a:p>
            <a:r>
              <a:t>          "before": 179998.0,</a:t>
            </a:r>
          </a:p>
          <a:p>
            <a:r>
              <a:t>          "change_pct": 9.278991988799866,</a:t>
            </a:r>
          </a:p>
          <a:p>
            <a:r>
              <a:t>          "difference": 16702.0</a:t>
            </a:r>
          </a:p>
          <a:p>
            <a:r>
              <a:t>        },</a:t>
            </a:r>
          </a:p>
          <a:p>
            <a:r>
              <a:t>        "outside_daily": {</a:t>
            </a:r>
          </a:p>
          <a:p>
            <a:r>
              <a:t>          "after": 21855.555555555555,</a:t>
            </a:r>
          </a:p>
          <a:p>
            <a:r>
              <a:t>          "before": 17999.8,</a:t>
            </a:r>
          </a:p>
          <a:p>
            <a:r>
              <a:t>          "change_pct": 21.421102209777644,</a:t>
            </a:r>
          </a:p>
          <a:p>
            <a:r>
              <a:t>          "difference": 3855.7555555555555</a:t>
            </a:r>
          </a:p>
          <a:p>
            <a:r>
              <a:t>        },</a:t>
            </a:r>
          </a:p>
          <a:p>
            <a:r>
              <a:t>        "total": {</a:t>
            </a:r>
          </a:p>
          <a:p>
            <a:r>
              <a:t>          "after": 256570.0,</a:t>
            </a:r>
          </a:p>
          <a:p>
            <a:r>
              <a:t>          "before": 245750.0,</a:t>
            </a:r>
          </a:p>
          <a:p>
            <a:r>
              <a:t>          "change_pct": 4.402848423194294,</a:t>
            </a:r>
          </a:p>
          <a:p>
            <a:r>
              <a:t>          "difference": 10820.0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"0.414",</a:t>
            </a:r>
          </a:p>
          <a:p>
            <a:r>
              <a:t>          "축제명": "문경찻사발축제"</a:t>
            </a:r>
          </a:p>
          <a:p>
            <a:r>
              <a:t>        },</a:t>
            </a:r>
          </a:p>
          <a:p>
            <a:r>
              <a:t>        {</a:t>
            </a:r>
          </a:p>
          <a:p>
            <a:r>
              <a:t>          "개최년도": "2025",</a:t>
            </a:r>
          </a:p>
          <a:p>
            <a:r>
              <a:t>          "구분명": "현지인방문자 유입",</a:t>
            </a:r>
          </a:p>
          <a:p>
            <a:r>
              <a:t>          "그룹명": "축제기간",</a:t>
            </a:r>
          </a:p>
          <a:p>
            <a:r>
              <a:t>          "지표값": "0.86",</a:t>
            </a:r>
          </a:p>
          <a:p>
            <a:r>
              <a:t>          "축제명": "문경찻사발축제"</a:t>
            </a:r>
          </a:p>
          <a:p>
            <a:r>
              <a:t>        },</a:t>
            </a:r>
          </a:p>
          <a:p>
            <a:r>
              <a:t>        {</a:t>
            </a:r>
          </a:p>
          <a:p>
            <a:r>
              <a:t>          "개최년도": "2025",</a:t>
            </a:r>
          </a:p>
          <a:p>
            <a:r>
              <a:t>          "구분명": "내비게이션 검색량",</a:t>
            </a:r>
          </a:p>
          <a:p>
            <a:r>
              <a:t>          "그룹명": "축제기간",</a:t>
            </a:r>
          </a:p>
          <a:p>
            <a:r>
              <a:t>          "지표값": "0.273",</a:t>
            </a:r>
          </a:p>
          <a:p>
            <a:r>
              <a:t>          "축제명": "문경찻사발축제"</a:t>
            </a:r>
          </a:p>
          <a:p>
            <a:r>
              <a:t>        },</a:t>
            </a:r>
          </a:p>
          <a:p>
            <a:r>
              <a:t>        {</a:t>
            </a:r>
          </a:p>
          <a:p>
            <a:r>
              <a:t>          "개최년도": "2025",</a:t>
            </a:r>
          </a:p>
          <a:p>
            <a:r>
              <a:t>          "구분명": "관광소비",</a:t>
            </a:r>
          </a:p>
          <a:p>
            <a:r>
              <a:t>          "그룹명": "축제기간",</a:t>
            </a:r>
          </a:p>
          <a:p>
            <a:r>
              <a:t>          "지표값": "0.536",</a:t>
            </a:r>
          </a:p>
          <a:p>
            <a:r>
              <a:t>          "축제명": "문경찻사발축제"</a:t>
            </a:r>
          </a:p>
          <a:p>
            <a:r>
              <a:t>        },</a:t>
            </a:r>
          </a:p>
          <a:p>
            <a:r>
              <a:t>        {</a:t>
            </a:r>
          </a:p>
          <a:p>
            <a:r>
              <a:t>          "개최년도": "2025",</a:t>
            </a:r>
          </a:p>
          <a:p>
            <a:r>
              <a:t>          "구분명": "축제지 집중률",</a:t>
            </a:r>
          </a:p>
          <a:p>
            <a:r>
              <a:t>          "그룹명": "축제기간",</a:t>
            </a:r>
          </a:p>
          <a:p>
            <a:r>
              <a:t>          "지표값": "0.716",</a:t>
            </a:r>
          </a:p>
          <a:p>
            <a:r>
              <a:t>          "축제명": "문경찻사발축제"</a:t>
            </a:r>
          </a:p>
          <a:p>
            <a:r>
              <a:t>        },</a:t>
            </a:r>
          </a:p>
          <a:p>
            <a:r>
              <a:t>        {</a:t>
            </a:r>
          </a:p>
          <a:p>
            <a:r>
              <a:t>          "개최년도": "2025",</a:t>
            </a:r>
          </a:p>
          <a:p>
            <a:r>
              <a:t>          "구분명": "외부방문자 유입",</a:t>
            </a:r>
          </a:p>
          <a:p>
            <a:r>
              <a:t>          "그룹명": "비축제기간",</a:t>
            </a:r>
          </a:p>
          <a:p>
            <a:r>
              <a:t>          "지표값": "0.217",</a:t>
            </a:r>
          </a:p>
          <a:p>
            <a:r>
              <a:t>          "축제명": "문경찻사발축제"</a:t>
            </a:r>
          </a:p>
          <a:p>
            <a:r>
              <a:t>        },</a:t>
            </a:r>
          </a:p>
          <a:p>
            <a:r>
              <a:t>        {</a:t>
            </a:r>
          </a:p>
          <a:p>
            <a:r>
              <a:t>          "개최년도": "2025",</a:t>
            </a:r>
          </a:p>
          <a:p>
            <a:r>
              <a:t>          "구분명": "현지인방문자 유입",</a:t>
            </a:r>
          </a:p>
          <a:p>
            <a:r>
              <a:t>          "그룹명": "비축제기간",</a:t>
            </a:r>
          </a:p>
          <a:p>
            <a:r>
              <a:t>          "지표값": "0.725",</a:t>
            </a:r>
          </a:p>
          <a:p>
            <a:r>
              <a:t>          "축제명": "문경찻사발축제"</a:t>
            </a:r>
          </a:p>
          <a:p>
            <a:r>
              <a:t>        },</a:t>
            </a:r>
          </a:p>
          <a:p>
            <a:r>
              <a:t>        {</a:t>
            </a:r>
          </a:p>
          <a:p>
            <a:r>
              <a:t>          "개최년도": "2025",</a:t>
            </a:r>
          </a:p>
          <a:p>
            <a:r>
              <a:t>          "구분명": "내비게이션 검색량",</a:t>
            </a:r>
          </a:p>
          <a:p>
            <a:r>
              <a:t>          "그룹명": "비축제기간",</a:t>
            </a:r>
          </a:p>
          <a:p>
            <a:r>
              <a:t>          "지표값": "0.148",</a:t>
            </a:r>
          </a:p>
          <a:p>
            <a:r>
              <a:t>          "축제명": "문경찻사발축제"</a:t>
            </a:r>
          </a:p>
          <a:p>
            <a:r>
              <a:t>        },</a:t>
            </a:r>
          </a:p>
          <a:p>
            <a:r>
              <a:t>        {</a:t>
            </a:r>
          </a:p>
          <a:p>
            <a:r>
              <a:t>          "개최년도": "2025",</a:t>
            </a:r>
          </a:p>
          <a:p>
            <a:r>
              <a:t>          "구분명": "관광소비",</a:t>
            </a:r>
          </a:p>
          <a:p>
            <a:r>
              <a:t>          "그룹명": "비축제기간",</a:t>
            </a:r>
          </a:p>
          <a:p>
            <a:r>
              <a:t>          "지표값": "0.381",</a:t>
            </a:r>
          </a:p>
          <a:p>
            <a:r>
              <a:t>          "축제명": "문경찻사발축제"</a:t>
            </a:r>
          </a:p>
          <a:p>
            <a:r>
              <a:t>        },</a:t>
            </a:r>
          </a:p>
          <a:p>
            <a:r>
              <a:t>        {</a:t>
            </a:r>
          </a:p>
          <a:p>
            <a:r>
              <a:t>          "개최년도": "2025",</a:t>
            </a:r>
          </a:p>
          <a:p>
            <a:r>
              <a:t>          "구분명": "축제지 집중률",</a:t>
            </a:r>
          </a:p>
          <a:p>
            <a:r>
              <a:t>          "그룹명": "비축제기간",</a:t>
            </a:r>
          </a:p>
          <a:p>
            <a:r>
              <a:t>          "지표값": "0.607",</a:t>
            </a:r>
          </a:p>
          <a:p>
            <a:r>
              <a:t>          "축제명": "문경찻사발축제"</a:t>
            </a:r>
          </a:p>
          <a:p>
            <a:r>
              <a:t>        }</a:t>
            </a:r>
          </a:p>
          <a:p>
            <a:r>
              <a:t>      ],</a:t>
            </a:r>
          </a:p>
          <a:p>
            <a:r>
              <a:t>      "indicator_rule": "원본 지표값만 보존. 산식·단위 미확인으로 성장률/원화/정원/참여율 변환 금지.",</a:t>
            </a:r>
          </a:p>
          <a:p>
            <a:r>
              <a:t>      "audience": [</a:t>
            </a:r>
          </a:p>
          <a:p>
            <a:r>
              <a:t>        {</a:t>
            </a:r>
          </a:p>
          <a:p>
            <a:r>
              <a:t>          "남성비율": "4.0",</a:t>
            </a:r>
          </a:p>
          <a:p>
            <a:r>
              <a:t>          "여성비율": "3.8",</a:t>
            </a:r>
          </a:p>
          <a:p>
            <a:r>
              <a:t>          "연령대": "70세 이상",</a:t>
            </a:r>
          </a:p>
          <a:p>
            <a:r>
              <a:t>          "축제명": "문경찻사발축제"</a:t>
            </a:r>
          </a:p>
          <a:p>
            <a:r>
              <a:t>        },</a:t>
            </a:r>
          </a:p>
          <a:p>
            <a:r>
              <a:t>        {</a:t>
            </a:r>
          </a:p>
          <a:p>
            <a:r>
              <a:t>          "남성비율": "12.3",</a:t>
            </a:r>
          </a:p>
          <a:p>
            <a:r>
              <a:t>          "여성비율": "10.0",</a:t>
            </a:r>
          </a:p>
          <a:p>
            <a:r>
              <a:t>          "연령대": "60~69세",</a:t>
            </a:r>
          </a:p>
          <a:p>
            <a:r>
              <a:t>          "축제명": "문경찻사발축제"</a:t>
            </a:r>
          </a:p>
          <a:p>
            <a:r>
              <a:t>        },</a:t>
            </a:r>
          </a:p>
          <a:p>
            <a:r>
              <a:t>        {</a:t>
            </a:r>
          </a:p>
          <a:p>
            <a:r>
              <a:t>          "남성비율": "13.0",</a:t>
            </a:r>
          </a:p>
          <a:p>
            <a:r>
              <a:t>          "여성비율": "11.7",</a:t>
            </a:r>
          </a:p>
          <a:p>
            <a:r>
              <a:t>          "연령대": "50~59세",</a:t>
            </a:r>
          </a:p>
          <a:p>
            <a:r>
              <a:t>          "축제명": "문경찻사발축제"</a:t>
            </a:r>
          </a:p>
          <a:p>
            <a:r>
              <a:t>        },</a:t>
            </a:r>
          </a:p>
          <a:p>
            <a:r>
              <a:t>        {</a:t>
            </a:r>
          </a:p>
          <a:p>
            <a:r>
              <a:t>          "남성비율": "9.3",</a:t>
            </a:r>
          </a:p>
          <a:p>
            <a:r>
              <a:t>          "여성비율": "7.6",</a:t>
            </a:r>
          </a:p>
          <a:p>
            <a:r>
              <a:t>          "연령대": "40~49세",</a:t>
            </a:r>
          </a:p>
          <a:p>
            <a:r>
              <a:t>          "축제명": "문경찻사발축제"</a:t>
            </a:r>
          </a:p>
          <a:p>
            <a:r>
              <a:t>        },</a:t>
            </a:r>
          </a:p>
          <a:p>
            <a:r>
              <a:t>        {</a:t>
            </a:r>
          </a:p>
          <a:p>
            <a:r>
              <a:t>          "남성비율": "7.2",</a:t>
            </a:r>
          </a:p>
          <a:p>
            <a:r>
              <a:t>          "여성비율": "6.1",</a:t>
            </a:r>
          </a:p>
          <a:p>
            <a:r>
              <a:t>          "연령대": "30~39세",</a:t>
            </a:r>
          </a:p>
          <a:p>
            <a:r>
              <a:t>          "축제명": "문경찻사발축제"</a:t>
            </a:r>
          </a:p>
          <a:p>
            <a:r>
              <a:t>        },</a:t>
            </a:r>
          </a:p>
          <a:p>
            <a:r>
              <a:t>        {</a:t>
            </a:r>
          </a:p>
          <a:p>
            <a:r>
              <a:t>          "남성비율": "4.6",</a:t>
            </a:r>
          </a:p>
          <a:p>
            <a:r>
              <a:t>          "여성비율": "4.1",</a:t>
            </a:r>
          </a:p>
          <a:p>
            <a:r>
              <a:t>          "연령대": "20~29세",</a:t>
            </a:r>
          </a:p>
          <a:p>
            <a:r>
              <a:t>          "축제명": "문경찻사발축제"</a:t>
            </a:r>
          </a:p>
          <a:p>
            <a:r>
              <a:t>        },</a:t>
            </a:r>
          </a:p>
          <a:p>
            <a:r>
              <a:t>        {</a:t>
            </a:r>
          </a:p>
          <a:p>
            <a:r>
              <a:t>          "남성비율": "2.5",</a:t>
            </a:r>
          </a:p>
          <a:p>
            <a:r>
              <a:t>          "여성비율": "2.5",</a:t>
            </a:r>
          </a:p>
          <a:p>
            <a:r>
              <a:t>          "연령대": "10~19세",</a:t>
            </a:r>
          </a:p>
          <a:p>
            <a:r>
              <a:t>          "축제명": "문경찻사발축제"</a:t>
            </a:r>
          </a:p>
          <a:p>
            <a:r>
              <a:t>        },</a:t>
            </a:r>
          </a:p>
          <a:p>
            <a:r>
              <a:t>        {</a:t>
            </a:r>
          </a:p>
          <a:p>
            <a:r>
              <a:t>          "남성비율": "0.6",</a:t>
            </a:r>
          </a:p>
          <a:p>
            <a:r>
              <a:t>          "여성비율": "0.6",</a:t>
            </a:r>
          </a:p>
          <a:p>
            <a:r>
              <a:t>          "연령대": "0~9세",</a:t>
            </a:r>
          </a:p>
          <a:p>
            <a:r>
              <a:t>          "축제명": "문경찻사발축제"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문경찻사발축제 방문자 추이",</a:t>
            </a:r>
          </a:p>
          <a:p>
            <a:r>
              <a:t>    "summary": "2024→2025년 전체 245,750→256,570명 (+4.40%). 개최 10→9일, 일평균 +16.00%, 외지인 +9.28%."</a:t>
            </a:r>
          </a:p>
          <a:p>
            <a:r>
              <a:t>  },</a:t>
            </a:r>
          </a:p>
          <a:p>
            <a:r>
              <a:t>  "export_evidence": {</a:t>
            </a:r>
          </a:p>
          <a:p>
            <a:r>
              <a:t>    "title": "경상북도 문경시 · 문경찻사발축제",</a:t>
            </a:r>
          </a:p>
          <a:p>
            <a:r>
              <a:t>    "scope": "관광데이터랩 축제 관측구역의 개최기간 방문 실적",</a:t>
            </a:r>
          </a:p>
          <a:p>
            <a:r>
              <a:t>    "action": "문경찻사발축제 · 10일→9일 개최",</a:t>
            </a:r>
          </a:p>
          <a:p>
            <a:r>
              <a:t>    "metric": "축제 관측구역 전체 방문자",</a:t>
            </a:r>
          </a:p>
          <a:p>
            <a:r>
              <a:t>    "before": 245750,</a:t>
            </a:r>
          </a:p>
          <a:p>
            <a:r>
              <a:t>    "after": 256570,</a:t>
            </a:r>
          </a:p>
          <a:p>
            <a:r>
              <a:t>    "before_label": "2024년 · 10일",</a:t>
            </a:r>
          </a:p>
          <a:p>
            <a:r>
              <a:t>    "after_label": "2025년 · 9일",</a:t>
            </a:r>
          </a:p>
          <a:p>
            <a:r>
              <a:t>    "before_note": "외지인 179,998명",</a:t>
            </a:r>
          </a:p>
          <a:p>
            <a:r>
              <a:t>    "after_note": "외지인 196,700명",</a:t>
            </a:r>
          </a:p>
          <a:p>
            <a:r>
              <a:t>    "interpretation": "일평균 방문 +16.00%. 행사 방문 실적이며 도시 전체 순증·사업 단독 효과가 아닙니다.",</a:t>
            </a:r>
          </a:p>
          <a:p>
            <a:r>
              <a:t>    "references": [</a:t>
            </a:r>
          </a:p>
          <a:p>
            <a:r>
              <a:t>      [</a:t>
            </a:r>
          </a:p>
          <a:p>
            <a:r>
              <a:t>        "한국관광 데이터랩 다운로드 · 20260820160334_문경찻사발축제_연도별 방문자 추이.csv",</a:t>
            </a:r>
          </a:p>
          <a:p>
            <a:r>
              <a:t>        "https://datalab.visitkorea.or.kr/"</a:t>
            </a:r>
          </a:p>
          <a:p>
            <a:r>
              <a:t>      ]</a:t>
            </a:r>
          </a:p>
          <a:p>
            <a:r>
              <a:t>    ],</a:t>
            </a:r>
          </a:p>
          <a:p>
            <a:r>
              <a:t>    "photo": null,</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"verified_at": "CSV 합계·일수·증감 산술 대조"</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운영 규모와 참여 가정에서 추가 방문·소비를 계산합니다. 지역 전체 사례 증가율이나 인구 비율을 신규 사업의 효과로 복사하지 않습니다. 운영량과 단가를 곱해 예상 견적을 산정합니다. 자동 제안과 사용자 수정 목표는 구분하며 계획 시나리오는 통계적 신뢰구간이 아닙니다.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10,581,785명 (추가 1,620명, +0.02%)\n관광소비액: 기준 444,918,852,321원 → 목표 445,062,576,830원 (추가 143,724,509원, +0.03%)\n월별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4건 → 설계 후보 1개 → 선정 사업의 운영 근거와 추가 참고 사례 1건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체험 상품: 6개 × 월 8일 × 3개월 × 하루 2회 × 회당 25명 = 7,200명분. 편성 한도 7,200명분에 이용률 75%를 적용해 5,400명 참여, 추가 방문 비중 30%로 1,620명 유치를 제안합니다. 기간 합계 ML 전망 대비 방문 +0.02%, 소비 +0.03%의 계획 시나리오입니다. 참여 목표 75%는 공통 최소 운영 목표입니다. 사례 참여율을 인용한 값이 아닙니다.\n6개 × 월 8일 × 3개월 × 하루 2회 × 회당 25명 = 7,200명분 → 편성 참여 한도 7,200건.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10581785.0,</a:t>
            </a:r>
          </a:p>
          <a:p>
            <a:r>
              <a:t>        "additional": 1620.0,</a:t>
            </a:r>
          </a:p>
          <a:p>
            <a:r>
              <a:t>        "pct": 0.01531167047017501</a:t>
            </a:r>
          </a:p>
          <a:p>
            <a:r>
              <a:t>      },</a:t>
            </a:r>
          </a:p>
          <a:p>
            <a:r>
              <a:t>      {</a:t>
            </a:r>
          </a:p>
          <a:p>
            <a:r>
              <a:t>        "key": "spending",</a:t>
            </a:r>
          </a:p>
          <a:p>
            <a:r>
              <a:t>        "label": "관광소비액",</a:t>
            </a:r>
          </a:p>
          <a:p>
            <a:r>
              <a:t>        "unit": "원",</a:t>
            </a:r>
          </a:p>
          <a:p>
            <a:r>
              <a:t>        "baseline": 444918852321.0,</a:t>
            </a:r>
          </a:p>
          <a:p>
            <a:r>
              <a:t>        "target": 445062576830.0,</a:t>
            </a:r>
          </a:p>
          <a:p>
            <a:r>
              <a:t>        "additional": 143724509.0,</a:t>
            </a:r>
          </a:p>
          <a:p>
            <a:r>
              <a:t>        "pct": 0.03230353316121537</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4,</a:t>
            </a:r>
          </a:p>
          <a:p>
            <a:r>
              <a:t>    "case_region_count": 4,</a:t>
            </a:r>
          </a:p>
          <a:p>
            <a:r>
              <a:t>    "candidate_count": 1,</a:t>
            </a:r>
          </a:p>
          <a:p>
            <a:r>
              <a:t>    "displayed_count": 1,</a:t>
            </a:r>
          </a:p>
          <a:p>
            <a:r>
              <a:t>    "primary": {</a:t>
            </a:r>
          </a:p>
          <a:p>
            <a:r>
              <a:t>      "source_id": "case:festival:01474ef75569b1",</a:t>
            </a:r>
          </a:p>
          <a:p>
            <a:r>
              <a:t>      "document_type": "case_study",</a:t>
            </a:r>
          </a:p>
          <a:p>
            <a:r>
              <a:t>      "evidence_kind": "festival_statistics",</a:t>
            </a:r>
          </a:p>
          <a:p>
            <a:r>
              <a:t>      "retrieval_method": "datalab_festival_table",</a:t>
            </a:r>
          </a:p>
          <a:p>
            <a:r>
              <a:t>      "region_code": "47280",</a:t>
            </a:r>
          </a:p>
          <a:p>
            <a:r>
              <a:t>      "region_name": "경상북도 문경시",</a:t>
            </a:r>
          </a:p>
          <a:p>
            <a:r>
              <a:t>      "case_region": "경상북도 문경시",</a:t>
            </a:r>
          </a:p>
          <a:p>
            <a:r>
              <a:t>      "intervention": "문경찻사발축제",</a:t>
            </a:r>
          </a:p>
          <a:p>
            <a:r>
              <a:t>      "problem_addressed": "타지역 축제 방문 실적 참고 · 역사·공예",</a:t>
            </a:r>
          </a:p>
          <a:p>
            <a:r>
              <a:t>      "target_group": "축제 관측구역 방문자(현지인·외지인·외국인 구분)",</a:t>
            </a:r>
          </a:p>
          <a:p>
            <a:r>
              <a:t>      "operating_model": "문경찻사발축제를 2025년 9일 개최한 문화관광축제 운영 사례. 세부 프로그램·예약·혜택은 이 CSV에 기록되어 있지 않으며 새로운 운영안은 제안으로 구분한다.",</a:t>
            </a:r>
          </a:p>
          <a:p>
            <a:r>
              <a:t>      "duration": "2025년 9일",</a:t>
            </a:r>
          </a:p>
          <a:p>
            <a:r>
              <a:t>      "public_budget": "CSV에 사업비 없음",</a:t>
            </a:r>
          </a:p>
          <a:p>
            <a:r>
              <a:t>      "observed_result": "2024→2025년 전체 245,750→256,570명 (+4.40%). 개최 10→9일, 일평균 +16.00%, 외지인 +9.28%.",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문경찻사발축제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a:t>
            </a:r>
          </a:p>
          <a:p>
            <a:r>
              <a:t>          "downloaded_at": "2026-08-20",</a:t>
            </a:r>
          </a:p>
          <a:p>
            <a:r>
              <a:t>          "file_name": "20260820160334_문경찻사발축제_성_연령별 내국인 방문자.csv",</a:t>
            </a:r>
          </a:p>
          <a:p>
            <a:r>
              <a:t>          "provenance_status": "team_download_exact_query_url_unrecorded",</a:t>
            </a:r>
          </a:p>
          <a:p>
            <a:r>
              <a:t>          "provider": "한국관광 데이터랩",</a:t>
            </a:r>
          </a:p>
          <a:p>
            <a:r>
              <a:t>          "relative_path": "data/source_snapshots/festivals_20260820/25. 문경찻사발축제_2023-2025/20260820160334_문경찻사발축제_성_연령별 내국인 방문자.csv",</a:t>
            </a:r>
          </a:p>
          <a:p>
            <a:r>
              <a:t>          "sha256": "44238aecdfa68974febce93cd262e119492da76910929b96da438d8b6ee7a9b3",</a:t>
            </a:r>
          </a:p>
          <a:p>
            <a:r>
              <a:t>          "source_id": "festival-file:44238aecdfa68974febc",</a:t>
            </a:r>
          </a:p>
          <a:p>
            <a:r>
              <a:t>          "source_url": "https://datalab.visitkorea.or.kr/"</a:t>
            </a:r>
          </a:p>
          <a:p>
            <a:r>
              <a:t>        },</a:t>
            </a:r>
          </a:p>
          <a:p>
            <a:r>
              <a:t>        {</a:t>
            </a:r>
          </a:p>
          <a:p>
            <a:r>
              <a:t>          "downloaded_at": "2026-08-20",</a:t>
            </a:r>
          </a:p>
          <a:p>
            <a:r>
              <a:t>          "file_name": "20260820160334_문경찻사발축제_목적지 검색순위.csv",</a:t>
            </a:r>
          </a:p>
          <a:p>
            <a:r>
              <a:t>          "provenance_status": "team_download_exact_query_url_unrecorded",</a:t>
            </a:r>
          </a:p>
          <a:p>
            <a:r>
              <a:t>          "provider": "한국관광 데이터랩",</a:t>
            </a:r>
          </a:p>
          <a:p>
            <a:r>
              <a:t>          "relative_path": "data/source_snapshots/festivals_20260820/25. 문경찻사발축제_2023-2025/20260820160334_문경찻사발축제_목적지 검색순위.csv",</a:t>
            </a:r>
          </a:p>
          <a:p>
            <a:r>
              <a:t>          "sha256": "343671c431cfa7e76ba333ca2ea221803e111e0db5e9a51c6d387b0ba5d7eeaf",</a:t>
            </a:r>
          </a:p>
          <a:p>
            <a:r>
              <a:t>          "source_id": "festival-file:343671c431cfa7e76ba3",</a:t>
            </a:r>
          </a:p>
          <a:p>
            <a:r>
              <a:t>          "source_url": "https://datalab.visitkorea.or.kr/"</a:t>
            </a:r>
          </a:p>
          <a:p>
            <a:r>
              <a:t>        },</a:t>
            </a:r>
          </a:p>
          <a:p>
            <a:r>
              <a:t>        {</a:t>
            </a:r>
          </a:p>
          <a:p>
            <a:r>
              <a:t>          "downloaded_at": "2026-08-20",</a:t>
            </a:r>
          </a:p>
          <a:p>
            <a:r>
              <a:t>          "file_name": "20260820160334_문경찻사발축제_문화관광축제 주요 지표.csv",</a:t>
            </a:r>
          </a:p>
          <a:p>
            <a:r>
              <a:t>          "provenance_status": "team_download_exact_query_url_unrecorded",</a:t>
            </a:r>
          </a:p>
          <a:p>
            <a:r>
              <a:t>          "provider": "한국관광 데이터랩",</a:t>
            </a:r>
          </a:p>
          <a:p>
            <a:r>
              <a:t>          "relative_path": "data/source_snapshots/festivals_20260820/25. 문경찻사발축제_2023-2025/20260820160334_문경찻사발축제_문화관광축제 주요 지표.csv",</a:t>
            </a:r>
          </a:p>
          <a:p>
            <a:r>
              <a:t>          "sha256": "eadf4622620ddb1575df5f358ec588aeed8718c09e0998a19494cf0f3cfe0f16",</a:t>
            </a:r>
          </a:p>
          <a:p>
            <a:r>
              <a:t>          "source_id": "festival-file:eadf4622620ddb1575df",</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"festival_statistics": {</a:t>
            </a:r>
          </a:p>
          <a:p>
            <a:r>
              <a:t>        "name": "문경찻사발축제",</a:t>
            </a:r>
          </a:p>
          <a:p>
            <a:r>
              <a:t>        "annual": [</a:t>
            </a:r>
          </a:p>
          <a:p>
            <a:r>
              <a:t>          {</a:t>
            </a:r>
          </a:p>
          <a:p>
            <a:r>
              <a:t>            "daily": 23055.333333333332,</a:t>
            </a:r>
          </a:p>
          <a:p>
            <a:r>
              <a:t>            "days": 9,</a:t>
            </a:r>
          </a:p>
          <a:p>
            <a:r>
              <a:t>            "foreign": 1241.0,</a:t>
            </a:r>
          </a:p>
          <a:p>
            <a:r>
              <a:t>            "local": 59726.0,</a:t>
            </a:r>
          </a:p>
          <a:p>
            <a:r>
              <a:t>            "outside": 146531.0,</a:t>
            </a:r>
          </a:p>
          <a:p>
            <a:r>
              <a:t>            "outside_daily": 16281.222222222223,</a:t>
            </a:r>
          </a:p>
          <a:p>
            <a:r>
              <a:t>            "outside_share_pct": 70.61803005330172,</a:t>
            </a:r>
          </a:p>
          <a:p>
            <a:r>
              <a:t>            "total": 207498.0,</a:t>
            </a:r>
          </a:p>
          <a:p>
            <a:r>
              <a:t>            "year": 2023</a:t>
            </a:r>
          </a:p>
          <a:p>
            <a:r>
              <a:t>          },</a:t>
            </a:r>
          </a:p>
          <a:p>
            <a:r>
              <a:t>          {</a:t>
            </a:r>
          </a:p>
          <a:p>
            <a:r>
              <a:t>            "daily": 24575.0,</a:t>
            </a:r>
          </a:p>
          <a:p>
            <a:r>
              <a:t>            "days": 10,</a:t>
            </a:r>
          </a:p>
          <a:p>
            <a:r>
              <a:t>            "foreign": 1170.0,</a:t>
            </a:r>
          </a:p>
          <a:p>
            <a:r>
              <a:t>            "local": 64582.0,</a:t>
            </a:r>
          </a:p>
          <a:p>
            <a:r>
              <a:t>            "outside": 179998.0,</a:t>
            </a:r>
          </a:p>
          <a:p>
            <a:r>
              <a:t>            "outside_daily": 17999.8,</a:t>
            </a:r>
          </a:p>
          <a:p>
            <a:r>
              <a:t>            "outside_share_pct": 73.2443540183113,</a:t>
            </a:r>
          </a:p>
          <a:p>
            <a:r>
              <a:t>            "total": 245750.0,</a:t>
            </a:r>
          </a:p>
          <a:p>
            <a:r>
              <a:t>            "year": 2024</a:t>
            </a:r>
          </a:p>
          <a:p>
            <a:r>
              <a:t>          },</a:t>
            </a:r>
          </a:p>
          <a:p>
            <a:r>
              <a:t>          {</a:t>
            </a:r>
          </a:p>
          <a:p>
            <a:r>
              <a:t>            "daily": 28507.777777777777,</a:t>
            </a:r>
          </a:p>
          <a:p>
            <a:r>
              <a:t>            "days": 9,</a:t>
            </a:r>
          </a:p>
          <a:p>
            <a:r>
              <a:t>            "foreign": 1166.0,</a:t>
            </a:r>
          </a:p>
          <a:p>
            <a:r>
              <a:t>            "local": 58704.0,</a:t>
            </a:r>
          </a:p>
          <a:p>
            <a:r>
              <a:t>            "outside": 196700.0,</a:t>
            </a:r>
          </a:p>
          <a:p>
            <a:r>
              <a:t>            "outside_daily": 21855.555555555555,</a:t>
            </a:r>
          </a:p>
          <a:p>
            <a:r>
              <a:t>            "outside_share_pct": 76.66523755700199,</a:t>
            </a:r>
          </a:p>
          <a:p>
            <a:r>
              <a:t>            "total": 256570.0,</a:t>
            </a:r>
          </a:p>
          <a:p>
            <a:r>
              <a:t>            "year": 2025</a:t>
            </a:r>
          </a:p>
          <a:p>
            <a:r>
              <a:t>          }</a:t>
            </a:r>
          </a:p>
          <a:p>
            <a:r>
              <a:t>        ],</a:t>
            </a:r>
          </a:p>
          <a:p>
            <a:r>
              <a:t>        "comparison": {</a:t>
            </a:r>
          </a:p>
          <a:p>
            <a:r>
              <a:t>          "after_days": 9,</a:t>
            </a:r>
          </a:p>
          <a:p>
            <a:r>
              <a:t>          "after_year": 2025,</a:t>
            </a:r>
          </a:p>
          <a:p>
            <a:r>
              <a:t>          "before_days": 10,</a:t>
            </a:r>
          </a:p>
          <a:p>
            <a:r>
              <a:t>          "before_year": 2024,</a:t>
            </a:r>
          </a:p>
          <a:p>
            <a:r>
              <a:t>          "daily": {</a:t>
            </a:r>
          </a:p>
          <a:p>
            <a:r>
              <a:t>            "after": 28507.777777777777,</a:t>
            </a:r>
          </a:p>
          <a:p>
            <a:r>
              <a:t>            "before": 24575.0,</a:t>
            </a:r>
          </a:p>
          <a:p>
            <a:r>
              <a:t>            "change_pct": 16.00316491466034,</a:t>
            </a:r>
          </a:p>
          <a:p>
            <a:r>
              <a:t>            "difference": 3932.7777777777774</a:t>
            </a:r>
          </a:p>
          <a:p>
            <a:r>
              <a:t>          },</a:t>
            </a:r>
          </a:p>
          <a:p>
            <a:r>
              <a:t>          "outside": {</a:t>
            </a:r>
          </a:p>
          <a:p>
            <a:r>
              <a:t>            "after": 196700.0,</a:t>
            </a:r>
          </a:p>
          <a:p>
            <a:r>
              <a:t>            "before": 179998.0,</a:t>
            </a:r>
          </a:p>
          <a:p>
            <a:r>
              <a:t>            "change_pct": 9.278991988799866,</a:t>
            </a:r>
          </a:p>
          <a:p>
            <a:r>
              <a:t>            "difference": 16702.0</a:t>
            </a:r>
          </a:p>
          <a:p>
            <a:r>
              <a:t>          },</a:t>
            </a:r>
          </a:p>
          <a:p>
            <a:r>
              <a:t>          "outside_daily": {</a:t>
            </a:r>
          </a:p>
          <a:p>
            <a:r>
              <a:t>            "after": 21855.555555555555,</a:t>
            </a:r>
          </a:p>
          <a:p>
            <a:r>
              <a:t>            "before": 17999.8,</a:t>
            </a:r>
          </a:p>
          <a:p>
            <a:r>
              <a:t>            "change_pct": 21.421102209777644,</a:t>
            </a:r>
          </a:p>
          <a:p>
            <a:r>
              <a:t>            "difference": 3855.7555555555555</a:t>
            </a:r>
          </a:p>
          <a:p>
            <a:r>
              <a:t>          },</a:t>
            </a:r>
          </a:p>
          <a:p>
            <a:r>
              <a:t>          "total": {</a:t>
            </a:r>
          </a:p>
          <a:p>
            <a:r>
              <a:t>            "after": 256570.0,</a:t>
            </a:r>
          </a:p>
          <a:p>
            <a:r>
              <a:t>            "before": 245750.0,</a:t>
            </a:r>
          </a:p>
          <a:p>
            <a:r>
              <a:t>            "change_pct": 4.402848423194294,</a:t>
            </a:r>
          </a:p>
          <a:p>
            <a:r>
              <a:t>            "difference": 10820.0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"0.414",</a:t>
            </a:r>
          </a:p>
          <a:p>
            <a:r>
              <a:t>            "축제명": "문경찻사발축제"</a:t>
            </a:r>
          </a:p>
          <a:p>
            <a:r>
              <a:t>          },</a:t>
            </a:r>
          </a:p>
          <a:p>
            <a:r>
              <a:t>          {</a:t>
            </a:r>
          </a:p>
          <a:p>
            <a:r>
              <a:t>            "개최년도": "2025",</a:t>
            </a:r>
          </a:p>
          <a:p>
            <a:r>
              <a:t>            "구분명": "현지인방문자 유입",</a:t>
            </a:r>
          </a:p>
          <a:p>
            <a:r>
              <a:t>            "그룹명": "축제기간",</a:t>
            </a:r>
          </a:p>
          <a:p>
            <a:r>
              <a:t>            "지표값": "0.86",</a:t>
            </a:r>
          </a:p>
          <a:p>
            <a:r>
              <a:t>            "축제명": "문경찻사발축제"</a:t>
            </a:r>
          </a:p>
          <a:p>
            <a:r>
              <a:t>          },</a:t>
            </a:r>
          </a:p>
          <a:p>
            <a:r>
              <a:t>          {</a:t>
            </a:r>
          </a:p>
          <a:p>
            <a:r>
              <a:t>            "개최년도": "2025",</a:t>
            </a:r>
          </a:p>
          <a:p>
            <a:r>
              <a:t>            "구분명": "내비게이션 검색량",</a:t>
            </a:r>
          </a:p>
          <a:p>
            <a:r>
              <a:t>            "그룹명": "축제기간",</a:t>
            </a:r>
          </a:p>
          <a:p>
            <a:r>
              <a:t>            "지표값": "0.273",</a:t>
            </a:r>
          </a:p>
          <a:p>
            <a:r>
              <a:t>            "축제명": "문경찻사발축제"</a:t>
            </a:r>
          </a:p>
          <a:p>
            <a:r>
              <a:t>          },</a:t>
            </a:r>
          </a:p>
          <a:p>
            <a:r>
              <a:t>          {</a:t>
            </a:r>
          </a:p>
          <a:p>
            <a:r>
              <a:t>            "개최년도": "2025",</a:t>
            </a:r>
          </a:p>
          <a:p>
            <a:r>
              <a:t>            "구분명": "관광소비",</a:t>
            </a:r>
          </a:p>
          <a:p>
            <a:r>
              <a:t>            "그룹명": "축제기간",</a:t>
            </a:r>
          </a:p>
          <a:p>
            <a:r>
              <a:t>            "지표값": "0.536",</a:t>
            </a:r>
          </a:p>
          <a:p>
            <a:r>
              <a:t>            "축제명": "문경찻사발축제"</a:t>
            </a:r>
          </a:p>
          <a:p>
            <a:r>
              <a:t>          },</a:t>
            </a:r>
          </a:p>
          <a:p>
            <a:r>
              <a:t>          {</a:t>
            </a:r>
          </a:p>
          <a:p>
            <a:r>
              <a:t>            "개최년도": "2025",</a:t>
            </a:r>
          </a:p>
          <a:p>
            <a:r>
              <a:t>            "구분명": "축제지 집중률",</a:t>
            </a:r>
          </a:p>
          <a:p>
            <a:r>
              <a:t>            "그룹명": "축제기간",</a:t>
            </a:r>
          </a:p>
          <a:p>
            <a:r>
              <a:t>            "지표값": "0.716",</a:t>
            </a:r>
          </a:p>
          <a:p>
            <a:r>
              <a:t>            "축제명": "문경찻사발축제"</a:t>
            </a:r>
          </a:p>
          <a:p>
            <a:r>
              <a:t>          },</a:t>
            </a:r>
          </a:p>
          <a:p>
            <a:r>
              <a:t>          {</a:t>
            </a:r>
          </a:p>
          <a:p>
            <a:r>
              <a:t>            "개최년도": "2025",</a:t>
            </a:r>
          </a:p>
          <a:p>
            <a:r>
              <a:t>            "구분명": "외부방문자 유입",</a:t>
            </a:r>
          </a:p>
          <a:p>
            <a:r>
              <a:t>            "그룹명": "비축제기간",</a:t>
            </a:r>
          </a:p>
          <a:p>
            <a:r>
              <a:t>            "지표값": "0.217",</a:t>
            </a:r>
          </a:p>
          <a:p>
            <a:r>
              <a:t>            "축제명": "문경찻사발축제"</a:t>
            </a:r>
          </a:p>
          <a:p>
            <a:r>
              <a:t>          },</a:t>
            </a:r>
          </a:p>
          <a:p>
            <a:r>
              <a:t>          {</a:t>
            </a:r>
          </a:p>
          <a:p>
            <a:r>
              <a:t>            "개최년도": "2025",</a:t>
            </a:r>
          </a:p>
          <a:p>
            <a:r>
              <a:t>            "구분명": "현지인방문자 유입",</a:t>
            </a:r>
          </a:p>
          <a:p>
            <a:r>
              <a:t>            "그룹명": "비축제기간",</a:t>
            </a:r>
          </a:p>
          <a:p>
            <a:r>
              <a:t>            "지표값": "0.725",</a:t>
            </a:r>
          </a:p>
          <a:p>
            <a:r>
              <a:t>            "축제명": "문경찻사발축제"</a:t>
            </a:r>
          </a:p>
          <a:p>
            <a:r>
              <a:t>          },</a:t>
            </a:r>
          </a:p>
          <a:p>
            <a:r>
              <a:t>          {</a:t>
            </a:r>
          </a:p>
          <a:p>
            <a:r>
              <a:t>            "개최년도": "2025",</a:t>
            </a:r>
          </a:p>
          <a:p>
            <a:r>
              <a:t>            "구분명": "내비게이션 검색량",</a:t>
            </a:r>
          </a:p>
          <a:p>
            <a:r>
              <a:t>            "그룹명": "비축제기간",</a:t>
            </a:r>
          </a:p>
          <a:p>
            <a:r>
              <a:t>            "지표값": "0.148",</a:t>
            </a:r>
          </a:p>
          <a:p>
            <a:r>
              <a:t>            "축제명": "문경찻사발축제"</a:t>
            </a:r>
          </a:p>
          <a:p>
            <a:r>
              <a:t>          },</a:t>
            </a:r>
          </a:p>
          <a:p>
            <a:r>
              <a:t>          {</a:t>
            </a:r>
          </a:p>
          <a:p>
            <a:r>
              <a:t>            "개최년도": "2025",</a:t>
            </a:r>
          </a:p>
          <a:p>
            <a:r>
              <a:t>            "구분명": "관광소비",</a:t>
            </a:r>
          </a:p>
          <a:p>
            <a:r>
              <a:t>            "그룹명": "비축제기간",</a:t>
            </a:r>
          </a:p>
          <a:p>
            <a:r>
              <a:t>            "지표값": "0.381",</a:t>
            </a:r>
          </a:p>
          <a:p>
            <a:r>
              <a:t>            "축제명": "문경찻사발축제"</a:t>
            </a:r>
          </a:p>
          <a:p>
            <a:r>
              <a:t>          },</a:t>
            </a:r>
          </a:p>
          <a:p>
            <a:r>
              <a:t>          {</a:t>
            </a:r>
          </a:p>
          <a:p>
            <a:r>
              <a:t>            "개최년도": "2025",</a:t>
            </a:r>
          </a:p>
          <a:p>
            <a:r>
              <a:t>            "구분명": "축제지 집중률",</a:t>
            </a:r>
          </a:p>
          <a:p>
            <a:r>
              <a:t>            "그룹명": "비축제기간",</a:t>
            </a:r>
          </a:p>
          <a:p>
            <a:r>
              <a:t>            "지표값": "0.607",</a:t>
            </a:r>
          </a:p>
          <a:p>
            <a:r>
              <a:t>            "축제명": "문경찻사발축제"</a:t>
            </a:r>
          </a:p>
          <a:p>
            <a:r>
              <a:t>          }</a:t>
            </a:r>
          </a:p>
          <a:p>
            <a:r>
              <a:t>        ],</a:t>
            </a:r>
          </a:p>
          <a:p>
            <a:r>
              <a:t>        "indicator_rule": "원본 지표값만 보존. 산식·단위 미확인으로 성장률/원화/정원/참여율 변환 금지.",</a:t>
            </a:r>
          </a:p>
          <a:p>
            <a:r>
              <a:t>        "audience": [</a:t>
            </a:r>
          </a:p>
          <a:p>
            <a:r>
              <a:t>          {</a:t>
            </a:r>
          </a:p>
          <a:p>
            <a:r>
              <a:t>            "남성비율": "4.0",</a:t>
            </a:r>
          </a:p>
          <a:p>
            <a:r>
              <a:t>            "여성비율": "3.8",</a:t>
            </a:r>
          </a:p>
          <a:p>
            <a:r>
              <a:t>            "연령대": "70세 이상",</a:t>
            </a:r>
          </a:p>
          <a:p>
            <a:r>
              <a:t>            "축제명": "문경찻사발축제"</a:t>
            </a:r>
          </a:p>
          <a:p>
            <a:r>
              <a:t>          },</a:t>
            </a:r>
          </a:p>
          <a:p>
            <a:r>
              <a:t>          {</a:t>
            </a:r>
          </a:p>
          <a:p>
            <a:r>
              <a:t>            "남성비율": "12.3",</a:t>
            </a:r>
          </a:p>
          <a:p>
            <a:r>
              <a:t>            "여성비율": "10.0",</a:t>
            </a:r>
          </a:p>
          <a:p>
            <a:r>
              <a:t>            "연령대": "60~69세",</a:t>
            </a:r>
          </a:p>
          <a:p>
            <a:r>
              <a:t>            "축제명": "문경찻사발축제"</a:t>
            </a:r>
          </a:p>
          <a:p>
            <a:r>
              <a:t>          },</a:t>
            </a:r>
          </a:p>
          <a:p>
            <a:r>
              <a:t>          {</a:t>
            </a:r>
          </a:p>
          <a:p>
            <a:r>
              <a:t>            "남성비율": "13.0",</a:t>
            </a:r>
          </a:p>
          <a:p>
            <a:r>
              <a:t>            "여성비율": "11.7",</a:t>
            </a:r>
          </a:p>
          <a:p>
            <a:r>
              <a:t>            "연령대": "50~59세",</a:t>
            </a:r>
          </a:p>
          <a:p>
            <a:r>
              <a:t>            "축제명": "문경찻사발축제"</a:t>
            </a:r>
          </a:p>
          <a:p>
            <a:r>
              <a:t>          },</a:t>
            </a:r>
          </a:p>
          <a:p>
            <a:r>
              <a:t>          {</a:t>
            </a:r>
          </a:p>
          <a:p>
            <a:r>
              <a:t>            "남성비율": "9.3",</a:t>
            </a:r>
          </a:p>
          <a:p>
            <a:r>
              <a:t>            "여성비율": "7.6",</a:t>
            </a:r>
          </a:p>
          <a:p>
            <a:r>
              <a:t>            "연령대": "40~49세",</a:t>
            </a:r>
          </a:p>
          <a:p>
            <a:r>
              <a:t>            "축제명": "문경찻사발축제"</a:t>
            </a:r>
          </a:p>
          <a:p>
            <a:r>
              <a:t>          },</a:t>
            </a:r>
          </a:p>
          <a:p>
            <a:r>
              <a:t>          {</a:t>
            </a:r>
          </a:p>
          <a:p>
            <a:r>
              <a:t>            "남성비율": "7.2",</a:t>
            </a:r>
          </a:p>
          <a:p>
            <a:r>
              <a:t>            "여성비율": "6.1",</a:t>
            </a:r>
          </a:p>
          <a:p>
            <a:r>
              <a:t>            "연령대": "30~39세",</a:t>
            </a:r>
          </a:p>
          <a:p>
            <a:r>
              <a:t>            "축제명": "문경찻사발축제"</a:t>
            </a:r>
          </a:p>
          <a:p>
            <a:r>
              <a:t>          },</a:t>
            </a:r>
          </a:p>
          <a:p>
            <a:r>
              <a:t>          {</a:t>
            </a:r>
          </a:p>
          <a:p>
            <a:r>
              <a:t>            "남성비율": "4.6",</a:t>
            </a:r>
          </a:p>
          <a:p>
            <a:r>
              <a:t>            "여성비율": "4.1",</a:t>
            </a:r>
          </a:p>
          <a:p>
            <a:r>
              <a:t>            "연령대": "20~29세",</a:t>
            </a:r>
          </a:p>
          <a:p>
            <a:r>
              <a:t>            "축제명": "문경찻사발축제"</a:t>
            </a:r>
          </a:p>
          <a:p>
            <a:r>
              <a:t>          },</a:t>
            </a:r>
          </a:p>
          <a:p>
            <a:r>
              <a:t>          {</a:t>
            </a:r>
          </a:p>
          <a:p>
            <a:r>
              <a:t>            "남성비율": "2.5",</a:t>
            </a:r>
          </a:p>
          <a:p>
            <a:r>
              <a:t>            "여성비율": "2.5",</a:t>
            </a:r>
          </a:p>
          <a:p>
            <a:r>
              <a:t>            "연령대": "10~19세",</a:t>
            </a:r>
          </a:p>
          <a:p>
            <a:r>
              <a:t>            "축제명": "문경찻사발축제"</a:t>
            </a:r>
          </a:p>
          <a:p>
            <a:r>
              <a:t>          },</a:t>
            </a:r>
          </a:p>
          <a:p>
            <a:r>
              <a:t>          {</a:t>
            </a:r>
          </a:p>
          <a:p>
            <a:r>
              <a:t>            "남성비율": "0.6",</a:t>
            </a:r>
          </a:p>
          <a:p>
            <a:r>
              <a:t>            "여성비율": "0.6",</a:t>
            </a:r>
          </a:p>
          <a:p>
            <a:r>
              <a:t>            "연령대": "0~9세",</a:t>
            </a:r>
          </a:p>
          <a:p>
            <a:r>
              <a:t>            "축제명": "문경찻사발축제"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문경찻사발축제 방문자 추이",</a:t>
            </a:r>
          </a:p>
          <a:p>
            <a:r>
              <a:t>      "summary": "2024→2025년 전체 245,750→256,570명 (+4.40%). 개최 10→9일, 일평균 +16.00%, 외지인 +9.28%."</a:t>
            </a:r>
          </a:p>
          <a:p>
            <a:r>
              <a:t>    },</a:t>
            </a:r>
          </a:p>
          <a:p>
            <a:r>
              <a:t>    "selection_reason": "공식 문서의 experience_product 운영 방식과 기획안의 실행 방식이 일치하는 사례 1건을 함수로 연결했습니다. 지리·인구가 유사하다는 판정이나 사업 성과 예측은 아닙니다.",</a:t>
            </a:r>
          </a:p>
          <a:p>
            <a:r>
              <a:t>    "target_explanation": "지역 체험 상품: 6개 × 월 8일 × 3개월 × 하루 2회 × 회당 25명 = 7,200명분. 편성 한도 7,200명분에 이용률 75%를 적용해 5,400명 참여, 추가 방문 비중 30%로 1,620명 유치를 제안합니다. 기간 합계 ML 전망 대비 방문 +0.02%, 소비 +0.03%의 계획 시나리오입니다. 참여 목표 75%는 공통 최소 운영 목표입니다. 사례 참여율을 인용한 값이 아닙니다.",</a:t>
            </a:r>
          </a:p>
          <a:p>
            <a:r>
              <a:t>    "estimate": {</a:t>
            </a:r>
          </a:p>
          <a:p>
            <a:r>
              <a:t>      "version": "operating-capacity-v2-participation-floor",</a:t>
            </a:r>
          </a:p>
          <a:p>
            <a:r>
              <a:t>      "status": "planning_assumption_not_quote",</a:t>
            </a:r>
          </a:p>
          <a:p>
            <a:r>
              <a:t>      "scale_basis": "6개 × 월 8일 × 3개월 × 하루 2회 × 회당 25명 = 7,200명분 → 편성 참여 한도 7,200건. 모든 단가는 기획 가정.",</a:t>
            </a:r>
          </a:p>
          <a:p>
            <a:r>
              <a:t>      "months": 3,</a:t>
            </a:r>
          </a:p>
          <a:p>
            <a:r>
              <a:t>      "refund": false,</a:t>
            </a:r>
          </a:p>
          <a:p>
            <a:r>
              <a:t>      "quantity": 7200,</a:t>
            </a:r>
          </a:p>
          <a:p>
            <a:r>
              <a:t>      "unit_krw": 15000,</a:t>
            </a:r>
          </a:p>
          <a:p>
            <a:r>
              <a:t>      "redemption_target_pct": 75.0,</a:t>
            </a:r>
          </a:p>
          <a:p>
            <a:r>
              <a:t>      "redemption_count": 5400,</a:t>
            </a:r>
          </a:p>
          <a:p>
            <a:r>
              <a:t>      "qualifying_spend_krw": null,</a:t>
            </a:r>
          </a:p>
          <a:p>
            <a:r>
              <a:t>      "subtotal_krw": 145600000,</a:t>
            </a:r>
          </a:p>
          <a:p>
            <a:r>
              <a:t>      "reserve_krw": 14560000,</a:t>
            </a:r>
          </a:p>
          <a:p>
            <a:r>
              <a:t>      "total_krw": 160160000,</a:t>
            </a:r>
          </a:p>
          <a:p>
            <a:r>
              <a:t>      "within_hard_budget": true,</a:t>
            </a:r>
          </a:p>
          <a:p>
            <a:r>
              <a:t>      "items": [</a:t>
            </a:r>
          </a:p>
          <a:p>
            <a:r>
              <a:t>        {</a:t>
            </a:r>
          </a:p>
          <a:p>
            <a:r>
              <a:t>          "name": "프로그램 운영·참여 지원",</a:t>
            </a:r>
          </a:p>
          <a:p>
            <a:r>
              <a:t>          "basis": "편성 참여 한도 7,200건 × 가정 단가 15,000원",</a:t>
            </a:r>
          </a:p>
          <a:p>
            <a:r>
              <a:t>          "amount": 108000000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145,600,000원 × 10%",</a:t>
            </a:r>
          </a:p>
          <a:p>
            <a:r>
              <a:t>          "amount": 14560000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"operating-capacity-v2-participation-floor",</a:t>
            </a:r>
          </a:p>
          <a:p>
            <a:r>
              <a:t>  "status": "planning_assumption_not_quote",</a:t>
            </a:r>
          </a:p>
          <a:p>
            <a:r>
              <a:t>  "scale_basis": "6개 × 월 8일 × 3개월 × 하루 2회 × 회당 25명 = 7,200명분 → 편성 참여 한도 7,200건. 모든 단가는 기획 가정.",</a:t>
            </a:r>
          </a:p>
          <a:p>
            <a:r>
              <a:t>  "months": 3,</a:t>
            </a:r>
          </a:p>
          <a:p>
            <a:r>
              <a:t>  "refund": false,</a:t>
            </a:r>
          </a:p>
          <a:p>
            <a:r>
              <a:t>  "quantity": 7200,</a:t>
            </a:r>
          </a:p>
          <a:p>
            <a:r>
              <a:t>  "unit_krw": 15000,</a:t>
            </a:r>
          </a:p>
          <a:p>
            <a:r>
              <a:t>  "redemption_target_pct": 75.0,</a:t>
            </a:r>
          </a:p>
          <a:p>
            <a:r>
              <a:t>  "redemption_count": 5400,</a:t>
            </a:r>
          </a:p>
          <a:p>
            <a:r>
              <a:t>  "qualifying_spend_krw": null,</a:t>
            </a:r>
          </a:p>
          <a:p>
            <a:r>
              <a:t>  "subtotal_krw": 145600000,</a:t>
            </a:r>
          </a:p>
          <a:p>
            <a:r>
              <a:t>  "reserve_krw": 14560000,</a:t>
            </a:r>
          </a:p>
          <a:p>
            <a:r>
              <a:t>  "total_krw": 160160000,</a:t>
            </a:r>
          </a:p>
          <a:p>
            <a:r>
              <a:t>  "within_hard_budget": true,</a:t>
            </a:r>
          </a:p>
          <a:p>
            <a:r>
              <a:t>  "items": [</a:t>
            </a:r>
          </a:p>
          <a:p>
            <a:r>
              <a:t>    {</a:t>
            </a:r>
          </a:p>
          <a:p>
            <a:r>
              <a:t>      "name": "프로그램 운영·참여 지원",</a:t>
            </a:r>
          </a:p>
          <a:p>
            <a:r>
              <a:t>      "basis": "편성 참여 한도 7,200건 × 가정 단가 15,000원",</a:t>
            </a:r>
          </a:p>
          <a:p>
            <a:r>
              <a:t>      "amount": 108000000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145,600,000원 × 10%",</a:t>
            </a:r>
          </a:p>
          <a:p>
            <a:r>
              <a:t>      "amount": 14560000</a:t>
            </a:r>
          </a:p>
          <a:p>
            <a:r>
              <a:t>    }</a:t>
            </a:r>
          </a:p>
          <a:p>
            <a:r>
              <a:t>  ],</a:t>
            </a:r>
          </a:p>
          <a:p>
            <a:r>
              <a:t>  "sources": [],</a:t>
            </a:r>
          </a:p>
          <a:p>
            <a:r>
              <a:t>  "assumptions": [</a:t>
            </a:r>
          </a:p>
          <a:p>
            <a:r>
              <a:t>    "기획용 예상 견적이며 실제 액수와 다를 수 있습니다."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case:festival:394c5c43788b4e | 한국관광 데이터랩 · 탐라문화제 방문자 추이 | https://datalab.visitkorea.or.kr/</a:t>
            </a:r>
          </a:p>
          <a:p xmlns:a="http://schemas.openxmlformats.org/drawingml/2006/main">
            <a:r>
              <a:t>case:festival:01474ef75569b1 | 한국관광 데이터랩 · 문경찻사발축제 방문자 추이 | https://datalab.visitkorea.or.kr/</a:t>
            </a:r>
          </a:p>
          <a:p xmlns:a="http://schemas.openxmlformats.org/drawingml/2006/main">
            <a:r>
              <a:t>case:festival:0e9c7c065555b0 | 한국관광 데이터랩 · 안동탈춤축제 방문자 추이 | https://datalab.visitkorea.or.kr/</a:t>
            </a:r>
          </a:p>
          <a:p xmlns:a="http://schemas.openxmlformats.org/drawingml/2006/main">
            <a:r>
              <a:t>case:festival:1ff9d11d3ee0ee | 한국관광 데이터랩 · 진도신비의바닷길축제 방문자 추이 | https://datalab.visitkorea.or.kr/</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"case:festival:394c5c43788b4e",</a:t>
            </a:r>
          </a:p>
          <a:p xmlns:a="http://schemas.openxmlformats.org/drawingml/2006/main">
            <a:r>
              <a:t>      "document_type": "case_study",</a:t>
            </a:r>
          </a:p>
          <a:p xmlns:a="http://schemas.openxmlformats.org/drawingml/2006/main">
            <a:r>
              <a:t>      "evidence_kind": "festival_statistics",</a:t>
            </a:r>
          </a:p>
          <a:p xmlns:a="http://schemas.openxmlformats.org/drawingml/2006/main">
            <a:r>
              <a:t>      "retrieval_method": "datalab_festival_table",</a:t>
            </a:r>
          </a:p>
          <a:p xmlns:a="http://schemas.openxmlformats.org/drawingml/2006/main">
            <a:r>
              <a:t>      "region_code": "50110",</a:t>
            </a:r>
          </a:p>
          <a:p xmlns:a="http://schemas.openxmlformats.org/drawingml/2006/main">
            <a:r>
              <a:t>      "region_name": "제주특별자치도 제주시",</a:t>
            </a:r>
          </a:p>
          <a:p xmlns:a="http://schemas.openxmlformats.org/drawingml/2006/main">
            <a:r>
              <a:t>      "case_region": "제주특별자치도 제주시",</a:t>
            </a:r>
          </a:p>
          <a:p xmlns:a="http://schemas.openxmlformats.org/drawingml/2006/main">
            <a:r>
              <a:t>      "intervention": "탐라문화제",</a:t>
            </a:r>
          </a:p>
          <a:p xmlns:a="http://schemas.openxmlformats.org/drawingml/2006/main">
            <a:r>
              <a:t>      "problem_addressed": "선택 지역의 기존 축제 현황 · 공연·문화",</a:t>
            </a:r>
          </a:p>
          <a:p xmlns:a="http://schemas.openxmlformats.org/drawingml/2006/main">
            <a:r>
              <a:t>      "target_group": "축제 관측구역 방문자(현지인·외지인·외국인 구분)",</a:t>
            </a:r>
          </a:p>
          <a:p xmlns:a="http://schemas.openxmlformats.org/drawingml/2006/main">
            <a:r>
              <a:t>      "operating_model": "탐라문화제를 2025년 5일 개최한 문화관광축제 운영 사례. 세부 프로그램·예약·혜택은 이 CSV에 기록되어 있지 않으며 새로운 운영안은 제안으로 구분한다.",</a:t>
            </a:r>
          </a:p>
          <a:p xmlns:a="http://schemas.openxmlformats.org/drawingml/2006/main">
            <a:r>
              <a:t>      "duration": "2025년 5일",</a:t>
            </a:r>
          </a:p>
          <a:p xmlns:a="http://schemas.openxmlformats.org/drawingml/2006/main">
            <a:r>
              <a:t>      "public_budget": "CSV에 사업비 없음",</a:t>
            </a:r>
          </a:p>
          <a:p xmlns:a="http://schemas.openxmlformats.org/drawingml/2006/main">
            <a:r>
              <a:t>      "observed_result": "2024→2025년 전체 166,050→133,245명 (-19.76%). 개최 5→5일, 일평균 -19.76%, 외지인 -0.40%.",</a:t>
            </a:r>
          </a:p>
          <a:p xmlns:a="http://schemas.openxmlformats.org/drawingml/2006/main">
            <a:r>
              <a:t>      "measurement_period": "2023~2025년 각 축제 개최기간",</a:t>
            </a:r>
          </a:p>
          <a:p xmlns:a="http://schemas.openxmlformats.org/drawingml/2006/main">
            <a:r>
              <a:t>      "evidence_strength": "medium",</a:t>
            </a:r>
          </a:p>
          <a:p xmlns:a="http://schemas.openxmlformats.org/drawingml/2006/main">
            <a:r>
              <a:t>      "quantitative_result_approved": true,</a:t>
            </a:r>
          </a:p>
          <a:p xmlns:a="http://schemas.openxmlformats.org/drawingml/2006/main">
            <a:r>
              <a:t>      "operating_statistics":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"risks": [</a:t>
            </a:r>
          </a:p>
          <a:p xmlns:a="http://schemas.openxmlformats.org/drawingml/2006/main">
            <a:r>
              <a:t>        "행사 전후 방문 차이는 사업 단독 효과·도시 순증 방문이 아니다.",</a:t>
            </a:r>
          </a:p>
          <a:p xmlns:a="http://schemas.openxmlformats.org/drawingml/2006/main">
            <a:r>
              <a:t>        "관광소비 지표값은 원화·성장률로 변환하지 않는다. 정원·참여율·실측 객단가 자료는 없다."</a:t>
            </a:r>
          </a:p>
          <a:p xmlns:a="http://schemas.openxmlformats.org/drawingml/2006/main">
            <a:r>
              <a:t>      ],</a:t>
            </a:r>
          </a:p>
          <a:p xmlns:a="http://schemas.openxmlformats.org/drawingml/2006/main">
            <a:r>
              <a:t>      "source_title": "한국관광 데이터랩 · 탐라문화제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"dataset_hash": "ad20e3daf70fd44fd481d672398c07bb9c96fce77acb450784065a568735e2e2",</a:t>
            </a:r>
          </a:p>
          <a:p xmlns:a="http://schemas.openxmlformats.org/drawingml/2006/main">
            <a:r>
              <a:t>      "source_files": [</a:t>
            </a:r>
          </a:p>
          <a:p xmlns:a="http://schemas.openxmlformats.org/drawingml/2006/main">
            <a:r>
              <a:t>        {</a:t>
            </a:r>
          </a:p>
          <a:p xmlns:a="http://schemas.openxmlformats.org/drawingml/2006/main">
            <a:r>
              <a:t>          "downloaded_at": "2026-08-20",</a:t>
            </a:r>
          </a:p>
          <a:p xmlns:a="http://schemas.openxmlformats.org/drawingml/2006/main">
            <a:r>
              <a:t>          "file_name": "20260820183300_탐라문화제_연도별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"data/source_snapshots/festivals_20260820/77. 탐라문화제_2023-2025/20260820183300_탐라문화제_연도별 방문자 추이.csv",</a:t>
            </a:r>
          </a:p>
          <a:p xmlns:a="http://schemas.openxmlformats.org/drawingml/2006/main">
            <a:r>
              <a:t>          "sha256": "d6f7a30cf5328ffb863d707cf8f0987af509d9b014ebe7c6eed7e65610518aa9",</a:t>
            </a:r>
          </a:p>
          <a:p xmlns:a="http://schemas.openxmlformats.org/drawingml/2006/main">
            <a:r>
              <a:t>          "source_id": "festival-file:d6f7a30cf5328ffb863d",</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"20260820183300_탐라문화제_성_연령별 내국인 방문자.csv",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"data/source_snapshots/festivals_20260820/77. 탐라문화제_2023-2025/20260820183300_탐라문화제_성_연령별 내국인 방문자.csv",</a:t>
            </a:r>
          </a:p>
          <a:p xmlns:a="http://schemas.openxmlformats.org/drawingml/2006/main">
            <a:r>
              <a:t>          "sha256": "c6a7ef43f1907d8c23587d7097e2d4e9d5ad6510e8f7c8ea4d7588881c869e55",</a:t>
            </a:r>
          </a:p>
          <a:p xmlns:a="http://schemas.openxmlformats.org/drawingml/2006/main">
            <a:r>
              <a:t>          "source_id": "festival-file:c6a7ef43f1907d8c2358",</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"20260820183300_탐라문화제_목적지 검색순위.csv",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"data/source_snapshots/festivals_20260820/77. 탐라문화제_2023-2025/20260820183300_탐라문화제_목적지 검색순위.csv",</a:t>
            </a:r>
          </a:p>
          <a:p xmlns:a="http://schemas.openxmlformats.org/drawingml/2006/main">
            <a:r>
              <a:t>          "sha256": "2328823a2091babc37a8326a925721547b0c433ce1f7ad1bed58c4d446eef0b7",</a:t>
            </a:r>
          </a:p>
          <a:p xmlns:a="http://schemas.openxmlformats.org/drawingml/2006/main">
            <a:r>
              <a:t>          "source_id": "festival-file:2328823a2091babc37a8",</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"20260820183300_탐라문화제_문화관광축제 주요 지표.csv",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"data/source_snapshots/festivals_20260820/77. 탐라문화제_2023-2025/20260820183300_탐라문화제_문화관광축제 주요 지표.csv",</a:t>
            </a:r>
          </a:p>
          <a:p xmlns:a="http://schemas.openxmlformats.org/drawingml/2006/main">
            <a:r>
              <a:t>          "sha256": "31118c09b772aa0cd272a1d50ba5f6c09038d11466ca7dff9b193547e90bd731",</a:t>
            </a:r>
          </a:p>
          <a:p xmlns:a="http://schemas.openxmlformats.org/drawingml/2006/main">
            <a:r>
              <a:t>          "source_id": "festival-file:31118c09b772aa0cd272",</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"retrieval_basis": {</a:t>
            </a:r>
          </a:p>
          <a:p xmlns:a="http://schemas.openxmlformats.org/drawingml/2006/main">
            <a:r>
              <a:t>        "kind": "local_context",</a:t>
            </a:r>
          </a:p>
          <a:p xmlns:a="http://schemas.openxmlformats.org/drawingml/2006/main">
            <a:r>
              <a:t>        "score": 16,</a:t>
            </a:r>
          </a:p>
          <a:p xmlns:a="http://schemas.openxmlformats.org/drawingml/2006/main">
            <a:r>
              <a:t>        "components": {</a:t>
            </a:r>
          </a:p>
          <a:p xmlns:a="http://schemas.openxmlformats.org/drawingml/2006/main">
            <a:r>
              <a:t>          "같은 시도 조사 맥락": 10,</a:t>
            </a:r>
          </a:p>
          <a:p xmlns:a="http://schemas.openxmlformats.org/drawingml/2006/main">
            <a:r>
              <a:t>          "최근 개최연도": 6</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"festival_statistics": {</a:t>
            </a:r>
          </a:p>
          <a:p xmlns:a="http://schemas.openxmlformats.org/drawingml/2006/main">
            <a:r>
              <a:t>        "name": "탐라문화제",</a:t>
            </a:r>
          </a:p>
          <a:p xmlns:a="http://schemas.openxmlformats.org/drawingml/2006/main">
            <a:r>
              <a:t>        "annual": [</a:t>
            </a:r>
          </a:p>
          <a:p xmlns:a="http://schemas.openxmlformats.org/drawingml/2006/main">
            <a:r>
              <a:t>          {</a:t>
            </a:r>
          </a:p>
          <a:p xmlns:a="http://schemas.openxmlformats.org/drawingml/2006/main">
            <a:r>
              <a:t>            "daily": 25015.0,</a:t>
            </a:r>
          </a:p>
          <a:p xmlns:a="http://schemas.openxmlformats.org/drawingml/2006/main">
            <a:r>
              <a:t>            "days": 5,</a:t>
            </a:r>
          </a:p>
          <a:p xmlns:a="http://schemas.openxmlformats.org/drawingml/2006/main">
            <a:r>
              <a:t>            "foreign": 5148.0,</a:t>
            </a:r>
          </a:p>
          <a:p xmlns:a="http://schemas.openxmlformats.org/drawingml/2006/main">
            <a:r>
              <a:t>            "local": 74290.0,</a:t>
            </a:r>
          </a:p>
          <a:p xmlns:a="http://schemas.openxmlformats.org/drawingml/2006/main">
            <a:r>
              <a:t>            "outside": 45637.0,</a:t>
            </a:r>
          </a:p>
          <a:p xmlns:a="http://schemas.openxmlformats.org/drawingml/2006/main">
            <a:r>
              <a:t>            "outside_daily": 9127.4,</a:t>
            </a:r>
          </a:p>
          <a:p xmlns:a="http://schemas.openxmlformats.org/drawingml/2006/main">
            <a:r>
              <a:t>            "outside_share_pct": 36.48770737557466,</a:t>
            </a:r>
          </a:p>
          <a:p xmlns:a="http://schemas.openxmlformats.org/drawingml/2006/main">
            <a:r>
              <a:t>            "total": 125075.0,</a:t>
            </a:r>
          </a:p>
          <a:p xmlns:a="http://schemas.openxmlformats.org/drawingml/2006/main">
            <a:r>
              <a:t>            "year": 2023</a:t>
            </a:r>
          </a:p>
          <a:p xmlns:a="http://schemas.openxmlformats.org/drawingml/2006/main">
            <a:r>
              <a:t>          },</a:t>
            </a:r>
          </a:p>
          <a:p xmlns:a="http://schemas.openxmlformats.org/drawingml/2006/main">
            <a:r>
              <a:t>          {</a:t>
            </a:r>
          </a:p>
          <a:p xmlns:a="http://schemas.openxmlformats.org/drawingml/2006/main">
            <a:r>
              <a:t>            "daily": 33210.0,</a:t>
            </a:r>
          </a:p>
          <a:p xmlns:a="http://schemas.openxmlformats.org/drawingml/2006/main">
            <a:r>
              <a:t>            "days": 5,</a:t>
            </a:r>
          </a:p>
          <a:p xmlns:a="http://schemas.openxmlformats.org/drawingml/2006/main">
            <a:r>
              <a:t>            "foreign": 10569.0,</a:t>
            </a:r>
          </a:p>
          <a:p xmlns:a="http://schemas.openxmlformats.org/drawingml/2006/main">
            <a:r>
              <a:t>            "local": 110482.0,</a:t>
            </a:r>
          </a:p>
          <a:p xmlns:a="http://schemas.openxmlformats.org/drawingml/2006/main">
            <a:r>
              <a:t>            "outside": 44999.0,</a:t>
            </a:r>
          </a:p>
          <a:p xmlns:a="http://schemas.openxmlformats.org/drawingml/2006/main">
            <a:r>
              <a:t>            "outside_daily": 8999.8,</a:t>
            </a:r>
          </a:p>
          <a:p xmlns:a="http://schemas.openxmlformats.org/drawingml/2006/main">
            <a:r>
              <a:t>            "outside_share_pct": 27.099668774465524,</a:t>
            </a:r>
          </a:p>
          <a:p xmlns:a="http://schemas.openxmlformats.org/drawingml/2006/main">
            <a:r>
              <a:t>            "total": 166050.0,</a:t>
            </a:r>
          </a:p>
          <a:p xmlns:a="http://schemas.openxmlformats.org/drawingml/2006/main">
            <a:r>
              <a:t>            "year": 2024</a:t>
            </a:r>
          </a:p>
          <a:p xmlns:a="http://schemas.openxmlformats.org/drawingml/2006/main">
            <a:r>
              <a:t>          },</a:t>
            </a:r>
          </a:p>
          <a:p xmlns:a="http://schemas.openxmlformats.org/drawingml/2006/main">
            <a:r>
              <a:t>          {</a:t>
            </a:r>
          </a:p>
          <a:p xmlns:a="http://schemas.openxmlformats.org/drawingml/2006/main">
            <a:r>
              <a:t>            "daily": 26649.0,</a:t>
            </a:r>
          </a:p>
          <a:p xmlns:a="http://schemas.openxmlformats.org/drawingml/2006/main">
            <a:r>
              <a:t>            "days": 5,</a:t>
            </a:r>
          </a:p>
          <a:p xmlns:a="http://schemas.openxmlformats.org/drawingml/2006/main">
            <a:r>
              <a:t>            "foreign": 11781.0,</a:t>
            </a:r>
          </a:p>
          <a:p xmlns:a="http://schemas.openxmlformats.org/drawingml/2006/main">
            <a:r>
              <a:t>            "local": 76647.0,</a:t>
            </a:r>
          </a:p>
          <a:p xmlns:a="http://schemas.openxmlformats.org/drawingml/2006/main">
            <a:r>
              <a:t>            "outside": 44817.0,</a:t>
            </a:r>
          </a:p>
          <a:p xmlns:a="http://schemas.openxmlformats.org/drawingml/2006/main">
            <a:r>
              <a:t>            "outside_daily": 8963.4,</a:t>
            </a:r>
          </a:p>
          <a:p xmlns:a="http://schemas.openxmlformats.org/drawingml/2006/main">
            <a:r>
              <a:t>            "outside_share_pct": 33.635033209501294,</a:t>
            </a:r>
          </a:p>
          <a:p xmlns:a="http://schemas.openxmlformats.org/drawingml/2006/main">
            <a:r>
              <a:t>            "total": 133245.0,</a:t>
            </a:r>
          </a:p>
          <a:p xmlns:a="http://schemas.openxmlformats.org/drawingml/2006/main">
            <a:r>
              <a:t>            "year": 2025</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"after_days": 5,</a:t>
            </a:r>
          </a:p>
          <a:p xmlns:a="http://schemas.openxmlformats.org/drawingml/2006/main">
            <a:r>
              <a:t>          "after_year": 2025,</a:t>
            </a:r>
          </a:p>
          <a:p xmlns:a="http://schemas.openxmlformats.org/drawingml/2006/main">
            <a:r>
              <a:t>          "before_days": 5,</a:t>
            </a:r>
          </a:p>
          <a:p xmlns:a="http://schemas.openxmlformats.org/drawingml/2006/main">
            <a:r>
              <a:t>          "before_year": 2024,</a:t>
            </a:r>
          </a:p>
          <a:p xmlns:a="http://schemas.openxmlformats.org/drawingml/2006/main">
            <a:r>
              <a:t>          "daily": {</a:t>
            </a:r>
          </a:p>
          <a:p xmlns:a="http://schemas.openxmlformats.org/drawingml/2006/main">
            <a:r>
              <a:t>            "after": 26649.0,</a:t>
            </a:r>
          </a:p>
          <a:p xmlns:a="http://schemas.openxmlformats.org/drawingml/2006/main">
            <a:r>
              <a:t>            "before": 33210.0,</a:t>
            </a:r>
          </a:p>
          <a:p xmlns:a="http://schemas.openxmlformats.org/drawingml/2006/main">
            <a:r>
              <a:t>            "change_pct": -19.756097560975604,</a:t>
            </a:r>
          </a:p>
          <a:p xmlns:a="http://schemas.openxmlformats.org/drawingml/2006/main">
            <a:r>
              <a:t>            "difference": -6561.0</a:t>
            </a:r>
          </a:p>
          <a:p xmlns:a="http://schemas.openxmlformats.org/drawingml/2006/main">
            <a:r>
              <a:t>          },</a:t>
            </a:r>
          </a:p>
          <a:p xmlns:a="http://schemas.openxmlformats.org/drawingml/2006/main">
            <a:r>
              <a:t>          "outside": {</a:t>
            </a:r>
          </a:p>
          <a:p xmlns:a="http://schemas.openxmlformats.org/drawingml/2006/main">
            <a:r>
              <a:t>            "after": 44817.0,</a:t>
            </a:r>
          </a:p>
          <a:p xmlns:a="http://schemas.openxmlformats.org/drawingml/2006/main">
            <a:r>
              <a:t>            "before": 44999.0,</a:t>
            </a:r>
          </a:p>
          <a:p xmlns:a="http://schemas.openxmlformats.org/drawingml/2006/main">
            <a:r>
              <a:t>            "change_pct": -0.4044534322984905,</a:t>
            </a:r>
          </a:p>
          <a:p xmlns:a="http://schemas.openxmlformats.org/drawingml/2006/main">
            <a:r>
              <a:t>            "difference": -182.0</a:t>
            </a:r>
          </a:p>
          <a:p xmlns:a="http://schemas.openxmlformats.org/drawingml/2006/main">
            <a:r>
              <a:t>          },</a:t>
            </a:r>
          </a:p>
          <a:p xmlns:a="http://schemas.openxmlformats.org/drawingml/2006/main">
            <a:r>
              <a:t>          "outside_daily": {</a:t>
            </a:r>
          </a:p>
          <a:p xmlns:a="http://schemas.openxmlformats.org/drawingml/2006/main">
            <a:r>
              <a:t>            "after": 8963.4,</a:t>
            </a:r>
          </a:p>
          <a:p xmlns:a="http://schemas.openxmlformats.org/drawingml/2006/main">
            <a:r>
              <a:t>            "before": 8999.8,</a:t>
            </a:r>
          </a:p>
          <a:p xmlns:a="http://schemas.openxmlformats.org/drawingml/2006/main">
            <a:r>
              <a:t>            "change_pct": -0.4044534322984905,</a:t>
            </a:r>
          </a:p>
          <a:p xmlns:a="http://schemas.openxmlformats.org/drawingml/2006/main">
            <a:r>
              <a:t>            "difference": -36.399999999999636</a:t>
            </a:r>
          </a:p>
          <a:p xmlns:a="http://schemas.openxmlformats.org/drawingml/2006/main">
            <a:r>
              <a:t>          },</a:t>
            </a:r>
          </a:p>
          <a:p xmlns:a="http://schemas.openxmlformats.org/drawingml/2006/main">
            <a:r>
              <a:t>          "total": {</a:t>
            </a:r>
          </a:p>
          <a:p xmlns:a="http://schemas.openxmlformats.org/drawingml/2006/main">
            <a:r>
              <a:t>            "after": 133245.0,</a:t>
            </a:r>
          </a:p>
          <a:p xmlns:a="http://schemas.openxmlformats.org/drawingml/2006/main">
            <a:r>
              <a:t>            "before": 166050.0,</a:t>
            </a:r>
          </a:p>
          <a:p xmlns:a="http://schemas.openxmlformats.org/drawingml/2006/main">
            <a:r>
              <a:t>            "change_pct": -19.756097560975604,</a:t>
            </a:r>
          </a:p>
          <a:p xmlns:a="http://schemas.openxmlformats.org/drawingml/2006/main">
            <a:r>
              <a:t>            "difference": -32805.0</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"downloaded_at": "2026-08-20",</a:t>
            </a:r>
          </a:p>
          <a:p xmlns:a="http://schemas.openxmlformats.org/drawingml/2006/main">
            <a:r>
              <a:t>          "file_name": "20260820183300_탐라문화제_연도별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"data/source_snapshots/festivals_20260820/77. 탐라문화제_2023-2025/20260820183300_탐라문화제_연도별 방문자 추이.csv",</a:t>
            </a:r>
          </a:p>
          <a:p xmlns:a="http://schemas.openxmlformats.org/drawingml/2006/main">
            <a:r>
              <a:t>          "sha256": "d6f7a30cf5328ffb863d707cf8f0987af509d9b014ebe7c6eed7e65610518aa9",</a:t>
            </a:r>
          </a:p>
          <a:p xmlns:a="http://schemas.openxmlformats.org/drawingml/2006/main">
            <a:r>
              <a:t>          "source_id": "festival-file:d6f7a30cf5328ffb863d",</a:t>
            </a:r>
          </a:p>
          <a:p xmlns:a="http://schemas.openxmlformats.org/drawingml/2006/main">
            <a:r>
              <a:t>          "source_url": "https://datalab.visitkorea.or.kr/"</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"축제기간",</a:t>
            </a:r>
          </a:p>
          <a:p xmlns:a="http://schemas.openxmlformats.org/drawingml/2006/main">
            <a:r>
              <a:t>            "지표값": "0.622",</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"축제기간",</a:t>
            </a:r>
          </a:p>
          <a:p xmlns:a="http://schemas.openxmlformats.org/drawingml/2006/main">
            <a:r>
              <a:t>            "지표값": "0.87",</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"축제기간",</a:t>
            </a:r>
          </a:p>
          <a:p xmlns:a="http://schemas.openxmlformats.org/drawingml/2006/main">
            <a:r>
              <a:t>            "지표값": "0.783",</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"축제기간",</a:t>
            </a:r>
          </a:p>
          <a:p xmlns:a="http://schemas.openxmlformats.org/drawingml/2006/main">
            <a:r>
              <a:t>            "지표값": "0.694",</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"축제기간",</a:t>
            </a:r>
          </a:p>
          <a:p xmlns:a="http://schemas.openxmlformats.org/drawingml/2006/main">
            <a:r>
              <a:t>            "지표값": "0.68",</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"비축제기간",</a:t>
            </a:r>
          </a:p>
          <a:p xmlns:a="http://schemas.openxmlformats.org/drawingml/2006/main">
            <a:r>
              <a:t>            "지표값": "0.634",</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"0.738",</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"0.507",</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"비축제기간",</a:t>
            </a:r>
          </a:p>
          <a:p xmlns:a="http://schemas.openxmlformats.org/drawingml/2006/main">
            <a:r>
              <a:t>            "지표값": "0.716",</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"비축제기간",</a:t>
            </a:r>
          </a:p>
          <a:p xmlns:a="http://schemas.openxmlformats.org/drawingml/2006/main">
            <a:r>
              <a:t>            "지표값": "0.681",</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"남성비율": "3.4",</a:t>
            </a:r>
          </a:p>
          <a:p xmlns:a="http://schemas.openxmlformats.org/drawingml/2006/main">
            <a:r>
              <a:t>            "여성비율": "4.3",</a:t>
            </a:r>
          </a:p>
          <a:p xmlns:a="http://schemas.openxmlformats.org/drawingml/2006/main">
            <a:r>
              <a:t>            "연령대": "70세 이상",</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"남성비율": "8.9",</a:t>
            </a:r>
          </a:p>
          <a:p xmlns:a="http://schemas.openxmlformats.org/drawingml/2006/main">
            <a:r>
              <a:t>            "여성비율": "8.9",</a:t>
            </a:r>
          </a:p>
          <a:p xmlns:a="http://schemas.openxmlformats.org/drawingml/2006/main">
            <a:r>
              <a:t>            "연령대": "60~69세",</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"남성비율": "10.1",</a:t>
            </a:r>
          </a:p>
          <a:p xmlns:a="http://schemas.openxmlformats.org/drawingml/2006/main">
            <a:r>
              <a:t>            "여성비율": "10.3",</a:t>
            </a:r>
          </a:p>
          <a:p xmlns:a="http://schemas.openxmlformats.org/drawingml/2006/main">
            <a:r>
              <a:t>            "연령대": "50~59세",</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"남성비율": "8.3",</a:t>
            </a:r>
          </a:p>
          <a:p xmlns:a="http://schemas.openxmlformats.org/drawingml/2006/main">
            <a:r>
              <a:t>            "여성비율": "8.0",</a:t>
            </a:r>
          </a:p>
          <a:p xmlns:a="http://schemas.openxmlformats.org/drawingml/2006/main">
            <a:r>
              <a:t>            "연령대": "40~49세",</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"남성비율": "8.6",</a:t>
            </a:r>
          </a:p>
          <a:p xmlns:a="http://schemas.openxmlformats.org/drawingml/2006/main">
            <a:r>
              <a:t>            "여성비율": "8.2",</a:t>
            </a:r>
          </a:p>
          <a:p xmlns:a="http://schemas.openxmlformats.org/drawingml/2006/main">
            <a:r>
              <a:t>            "연령대": "30~39세",</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"남성비율": "6.9",</a:t>
            </a:r>
          </a:p>
          <a:p xmlns:a="http://schemas.openxmlformats.org/drawingml/2006/main">
            <a:r>
              <a:t>            "여성비율": "7.9",</a:t>
            </a:r>
          </a:p>
          <a:p xmlns:a="http://schemas.openxmlformats.org/drawingml/2006/main">
            <a:r>
              <a:t>            "연령대": "20~29세",</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"남성비율": "2.5",</a:t>
            </a:r>
          </a:p>
          <a:p xmlns:a="http://schemas.openxmlformats.org/drawingml/2006/main">
            <a:r>
              <a:t>            "여성비율": "2.6",</a:t>
            </a:r>
          </a:p>
          <a:p xmlns:a="http://schemas.openxmlformats.org/drawingml/2006/main">
            <a:r>
              <a:t>            "연령대": "10~19세",</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"남성비율": "0.5",</a:t>
            </a:r>
          </a:p>
          <a:p xmlns:a="http://schemas.openxmlformats.org/drawingml/2006/main">
            <a:r>
              <a:t>            "여성비율": "0.6",</a:t>
            </a:r>
          </a:p>
          <a:p xmlns:a="http://schemas.openxmlformats.org/drawingml/2006/main">
            <a:r>
              <a:t>            "연령대": "0~9세",</a:t>
            </a:r>
          </a:p>
          <a:p xmlns:a="http://schemas.openxmlformats.org/drawingml/2006/main">
            <a:r>
              <a:t>            "축제명": "탐라문화제"</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"탑동해변공연장",</a:t>
            </a:r>
          </a:p>
          <a:p xmlns:a="http://schemas.openxmlformats.org/drawingml/2006/main">
            <a:r>
              <a:t>            "도로명주소": "제주 제주시 중앙로 2-0",</a:t>
            </a:r>
          </a:p>
          <a:p xmlns:a="http://schemas.openxmlformats.org/drawingml/2006/main">
            <a:r>
              <a:t>            "카테고리": "공연시설"</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"관덕정",</a:t>
            </a:r>
          </a:p>
          <a:p xmlns:a="http://schemas.openxmlformats.org/drawingml/2006/main">
            <a:r>
              <a:t>            "도로명주소": "제주 제주시 관덕로 19-0",</a:t>
            </a:r>
          </a:p>
          <a:p xmlns:a="http://schemas.openxmlformats.org/drawingml/2006/main">
            <a:r>
              <a:t>            "카테고리": "역사유적지"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"탐라문화광장",</a:t>
            </a:r>
          </a:p>
          <a:p xmlns:a="http://schemas.openxmlformats.org/drawingml/2006/main">
            <a:r>
              <a:t>            "도로명주소": "제주 제주시",</a:t>
            </a:r>
          </a:p>
          <a:p xmlns:a="http://schemas.openxmlformats.org/drawingml/2006/main">
            <a:r>
              <a:t>            "카테고리": "테마공원"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"source_type": "benchmark_case",</a:t>
            </a:r>
          </a:p>
          <a:p xmlns:a="http://schemas.openxmlformats.org/drawingml/2006/main">
            <a:r>
              <a:t>      "title": "한국관광 데이터랩 · 탐라문화제 방문자 추이",</a:t>
            </a:r>
          </a:p>
          <a:p xmlns:a="http://schemas.openxmlformats.org/drawingml/2006/main">
            <a:r>
              <a:t>      "summary": "2024→2025년 전체 166,050→133,245명 (-19.76%). 개최 5→5일, 일평균 -19.76%, 외지인 -0.40%."</a:t>
            </a:r>
          </a:p>
          <a:p xmlns:a="http://schemas.openxmlformats.org/drawingml/2006/main">
            <a:r>
              <a:t>    },</a:t>
            </a:r>
          </a:p>
          <a:p xmlns:a="http://schemas.openxmlformats.org/drawingml/2006/main">
            <a:r>
              <a:t>    {</a:t>
            </a:r>
          </a:p>
          <a:p xmlns:a="http://schemas.openxmlformats.org/drawingml/2006/main">
            <a:r>
              <a:t>      "source_id": "case:festival:01474ef75569b1",</a:t>
            </a:r>
          </a:p>
          <a:p xmlns:a="http://schemas.openxmlformats.org/drawingml/2006/main">
            <a:r>
              <a:t>      "document_type": "case_study",</a:t>
            </a:r>
          </a:p>
          <a:p xmlns:a="http://schemas.openxmlformats.org/drawingml/2006/main">
            <a:r>
              <a:t>      "evidence_kind": "festival_statistics",</a:t>
            </a:r>
          </a:p>
          <a:p xmlns:a="http://schemas.openxmlformats.org/drawingml/2006/main">
            <a:r>
              <a:t>      "retrieval_method": "datalab_festival_table",</a:t>
            </a:r>
          </a:p>
          <a:p xmlns:a="http://schemas.openxmlformats.org/drawingml/2006/main">
            <a:r>
              <a:t>      "region_code": "47280",</a:t>
            </a:r>
          </a:p>
          <a:p xmlns:a="http://schemas.openxmlformats.org/drawingml/2006/main">
            <a:r>
              <a:t>      "region_name": "경상북도 문경시",</a:t>
            </a:r>
          </a:p>
          <a:p xmlns:a="http://schemas.openxmlformats.org/drawingml/2006/main">
            <a:r>
              <a:t>      "case_region": "경상북도 문경시",</a:t>
            </a:r>
          </a:p>
          <a:p xmlns:a="http://schemas.openxmlformats.org/drawingml/2006/main">
            <a:r>
              <a:t>      "intervention": "문경찻사발축제",</a:t>
            </a:r>
          </a:p>
          <a:p xmlns:a="http://schemas.openxmlformats.org/drawingml/2006/main">
            <a:r>
              <a:t>      "problem_addressed": "타지역 축제 방문 실적 참고 · 역사·공예",</a:t>
            </a:r>
          </a:p>
          <a:p xmlns:a="http://schemas.openxmlformats.org/drawingml/2006/main">
            <a:r>
              <a:t>      "target_group": "축제 관측구역 방문자(현지인·외지인·외국인 구분)",</a:t>
            </a:r>
          </a:p>
          <a:p xmlns:a="http://schemas.openxmlformats.org/drawingml/2006/main">
            <a:r>
              <a:t>      "operating_model": "문경찻사발축제를 2025년 9일 개최한 문화관광축제 운영 사례. 세부 프로그램·예약·혜택은 이 CSV에 기록되어 있지 않으며 새로운 운영안은 제안으로 구분한다.",</a:t>
            </a:r>
          </a:p>
          <a:p xmlns:a="http://schemas.openxmlformats.org/drawingml/2006/main">
            <a:r>
              <a:t>      "duration": "2025년 9일",</a:t>
            </a:r>
          </a:p>
          <a:p xmlns:a="http://schemas.openxmlformats.org/drawingml/2006/main">
            <a:r>
              <a:t>      "public_budget": "CSV에 사업비 없음",</a:t>
            </a:r>
          </a:p>
          <a:p xmlns:a="http://schemas.openxmlformats.org/drawingml/2006/main">
            <a:r>
              <a:t>      "observed_result": "2024→2025년 전체 245,750→256,570명 (+4.40%). 개최 10→9일, 일평균 +16.00%, 외지인 +9.28%.",</a:t>
            </a:r>
          </a:p>
          <a:p xmlns:a="http://schemas.openxmlformats.org/drawingml/2006/main">
            <a:r>
              <a:t>      "measurement_period": "2023~2025년 각 축제 개최기간",</a:t>
            </a:r>
          </a:p>
          <a:p xmlns:a="http://schemas.openxmlformats.org/drawingml/2006/main">
            <a:r>
              <a:t>      "evidence_strength": "medium",</a:t>
            </a:r>
          </a:p>
          <a:p xmlns:a="http://schemas.openxmlformats.org/drawingml/2006/main">
            <a:r>
              <a:t>      "quantitative_result_approved": true,</a:t>
            </a:r>
          </a:p>
          <a:p xmlns:a="http://schemas.openxmlformats.org/drawingml/2006/main">
            <a:r>
              <a:t>      "operating_statistics":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"risks": [</a:t>
            </a:r>
          </a:p>
          <a:p xmlns:a="http://schemas.openxmlformats.org/drawingml/2006/main">
            <a:r>
              <a:t>        "행사 전후 방문 차이는 사업 단독 효과·도시 순증 방문이 아니다.",</a:t>
            </a:r>
          </a:p>
          <a:p xmlns:a="http://schemas.openxmlformats.org/drawingml/2006/main">
            <a:r>
              <a:t>        "관광소비 지표값은 원화·성장률로 변환하지 않는다. 정원·참여율·실측 객단가 자료는 없다."</a:t>
            </a:r>
          </a:p>
          <a:p xmlns:a="http://schemas.openxmlformats.org/drawingml/2006/main">
            <a:r>
              <a:t>      ],</a:t>
            </a:r>
          </a:p>
          <a:p xmlns:a="http://schemas.openxmlformats.org/drawingml/2006/main">
            <a:r>
              <a:t>      "source_title": "한국관광 데이터랩 · 문경찻사발축제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"dataset_hash": "ad20e3daf70fd44fd481d672398c07bb9c96fce77acb450784065a568735e2e2",</a:t>
            </a:r>
          </a:p>
          <a:p xmlns:a="http://schemas.openxmlformats.org/drawingml/2006/main">
            <a:r>
              <a:t>      "source_files":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"sha256": "dfcb5b619f820d7ce4451f5e89294681bc37f49f8200ba859754d423602e51a1",</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"20260820160334_문경찻사발축제_성_연령별 내국인 방문자.csv",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문경찻사발축제_2023-2025/20260820160334_문경찻사발축제_성_연령별 내국인 방문자.csv",</a:t>
            </a:r>
          </a:p>
          <a:p xmlns:a="http://schemas.openxmlformats.org/drawingml/2006/main">
            <a:r>
              <a:t>          "sha256": "44238aecdfa68974febce93cd262e119492da76910929b96da438d8b6ee7a9b3",</a:t>
            </a:r>
          </a:p>
          <a:p xmlns:a="http://schemas.openxmlformats.org/drawingml/2006/main">
            <a:r>
              <a:t>          "source_id": "festival-file:44238aecdfa68974febc",</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"20260820160334_문경찻사발축제_목적지 검색순위.csv",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문경찻사발축제_2023-2025/20260820160334_문경찻사발축제_목적지 검색순위.csv",</a:t>
            </a:r>
          </a:p>
          <a:p xmlns:a="http://schemas.openxmlformats.org/drawingml/2006/main">
            <a:r>
              <a:t>          "sha256": "343671c431cfa7e76ba333ca2ea221803e111e0db5e9a51c6d387b0ba5d7eeaf",</a:t>
            </a:r>
          </a:p>
          <a:p xmlns:a="http://schemas.openxmlformats.org/drawingml/2006/main">
            <a:r>
              <a:t>          "source_id": "festival-file:343671c431cfa7e76ba3",</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"20260820160334_문경찻사발축제_문화관광축제 주요 지표.csv",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문경찻사발축제_2023-2025/20260820160334_문경찻사발축제_문화관광축제 주요 지표.csv",</a:t>
            </a:r>
          </a:p>
          <a:p xmlns:a="http://schemas.openxmlformats.org/drawingml/2006/main">
            <a:r>
              <a:t>          "sha256": "eadf4622620ddb1575df5f358ec588aeed8718c09e0998a19494cf0f3cfe0f16",</a:t>
            </a:r>
          </a:p>
          <a:p xmlns:a="http://schemas.openxmlformats.org/drawingml/2006/main">
            <a:r>
              <a:t>          "source_id": "festival-file:eadf4622620ddb1575df",</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"역사·공예",</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"festival_statistics": {</a:t>
            </a:r>
          </a:p>
          <a:p xmlns:a="http://schemas.openxmlformats.org/drawingml/2006/main">
            <a:r>
              <a:t>        "name": "문경찻사발축제",</a:t>
            </a:r>
          </a:p>
          <a:p xmlns:a="http://schemas.openxmlformats.org/drawingml/2006/main">
            <a:r>
              <a:t>        "annual": [</a:t>
            </a:r>
          </a:p>
          <a:p xmlns:a="http://schemas.openxmlformats.org/drawingml/2006/main">
            <a:r>
              <a:t>          {</a:t>
            </a:r>
          </a:p>
          <a:p xmlns:a="http://schemas.openxmlformats.org/drawingml/2006/main">
            <a:r>
              <a:t>            "daily": 23055.333333333332,</a:t>
            </a:r>
          </a:p>
          <a:p xmlns:a="http://schemas.openxmlformats.org/drawingml/2006/main">
            <a:r>
              <a:t>            "days": 9,</a:t>
            </a:r>
          </a:p>
          <a:p xmlns:a="http://schemas.openxmlformats.org/drawingml/2006/main">
            <a:r>
              <a:t>            "foreign": 1241.0,</a:t>
            </a:r>
          </a:p>
          <a:p xmlns:a="http://schemas.openxmlformats.org/drawingml/2006/main">
            <a:r>
              <a:t>            "local": 59726.0,</a:t>
            </a:r>
          </a:p>
          <a:p xmlns:a="http://schemas.openxmlformats.org/drawingml/2006/main">
            <a:r>
              <a:t>            "outside": 146531.0,</a:t>
            </a:r>
          </a:p>
          <a:p xmlns:a="http://schemas.openxmlformats.org/drawingml/2006/main">
            <a:r>
              <a:t>            "outside_daily": 16281.222222222223,</a:t>
            </a:r>
          </a:p>
          <a:p xmlns:a="http://schemas.openxmlformats.org/drawingml/2006/main">
            <a:r>
              <a:t>            "outside_share_pct": 70.61803005330172,</a:t>
            </a:r>
          </a:p>
          <a:p xmlns:a="http://schemas.openxmlformats.org/drawingml/2006/main">
            <a:r>
              <a:t>            "total": 207498.0,</a:t>
            </a:r>
          </a:p>
          <a:p xmlns:a="http://schemas.openxmlformats.org/drawingml/2006/main">
            <a:r>
              <a:t>            "year": 2023</a:t>
            </a:r>
          </a:p>
          <a:p xmlns:a="http://schemas.openxmlformats.org/drawingml/2006/main">
            <a:r>
              <a:t>          },</a:t>
            </a:r>
          </a:p>
          <a:p xmlns:a="http://schemas.openxmlformats.org/drawingml/2006/main">
            <a:r>
              <a:t>          {</a:t>
            </a:r>
          </a:p>
          <a:p xmlns:a="http://schemas.openxmlformats.org/drawingml/2006/main">
            <a:r>
              <a:t>            "daily": 24575.0,</a:t>
            </a:r>
          </a:p>
          <a:p xmlns:a="http://schemas.openxmlformats.org/drawingml/2006/main">
            <a:r>
              <a:t>            "days": 10,</a:t>
            </a:r>
          </a:p>
          <a:p xmlns:a="http://schemas.openxmlformats.org/drawingml/2006/main">
            <a:r>
              <a:t>            "foreign": 1170.0,</a:t>
            </a:r>
          </a:p>
          <a:p xmlns:a="http://schemas.openxmlformats.org/drawingml/2006/main">
            <a:r>
              <a:t>            "local": 64582.0,</a:t>
            </a:r>
          </a:p>
          <a:p xmlns:a="http://schemas.openxmlformats.org/drawingml/2006/main">
            <a:r>
              <a:t>            "outside": 179998.0,</a:t>
            </a:r>
          </a:p>
          <a:p xmlns:a="http://schemas.openxmlformats.org/drawingml/2006/main">
            <a:r>
              <a:t>            "outside_daily": 17999.8,</a:t>
            </a:r>
          </a:p>
          <a:p xmlns:a="http://schemas.openxmlformats.org/drawingml/2006/main">
            <a:r>
              <a:t>            "outside_share_pct": 73.2443540183113,</a:t>
            </a:r>
          </a:p>
          <a:p xmlns:a="http://schemas.openxmlformats.org/drawingml/2006/main">
            <a:r>
              <a:t>            "total": 245750.0,</a:t>
            </a:r>
          </a:p>
          <a:p xmlns:a="http://schemas.openxmlformats.org/drawingml/2006/main">
            <a:r>
              <a:t>            "year": 2024</a:t>
            </a:r>
          </a:p>
          <a:p xmlns:a="http://schemas.openxmlformats.org/drawingml/2006/main">
            <a:r>
              <a:t>          },</a:t>
            </a:r>
          </a:p>
          <a:p xmlns:a="http://schemas.openxmlformats.org/drawingml/2006/main">
            <a:r>
              <a:t>          {</a:t>
            </a:r>
          </a:p>
          <a:p xmlns:a="http://schemas.openxmlformats.org/drawingml/2006/main">
            <a:r>
              <a:t>            "daily": 28507.777777777777,</a:t>
            </a:r>
          </a:p>
          <a:p xmlns:a="http://schemas.openxmlformats.org/drawingml/2006/main">
            <a:r>
              <a:t>            "days": 9,</a:t>
            </a:r>
          </a:p>
          <a:p xmlns:a="http://schemas.openxmlformats.org/drawingml/2006/main">
            <a:r>
              <a:t>            "foreign": 1166.0,</a:t>
            </a:r>
          </a:p>
          <a:p xmlns:a="http://schemas.openxmlformats.org/drawingml/2006/main">
            <a:r>
              <a:t>            "local": 58704.0,</a:t>
            </a:r>
          </a:p>
          <a:p xmlns:a="http://schemas.openxmlformats.org/drawingml/2006/main">
            <a:r>
              <a:t>            "outside": 196700.0,</a:t>
            </a:r>
          </a:p>
          <a:p xmlns:a="http://schemas.openxmlformats.org/drawingml/2006/main">
            <a:r>
              <a:t>            "outside_daily": 21855.555555555555,</a:t>
            </a:r>
          </a:p>
          <a:p xmlns:a="http://schemas.openxmlformats.org/drawingml/2006/main">
            <a:r>
              <a:t>            "outside_share_pct": 76.66523755700199,</a:t>
            </a:r>
          </a:p>
          <a:p xmlns:a="http://schemas.openxmlformats.org/drawingml/2006/main">
            <a:r>
              <a:t>            "total": 256570.0,</a:t>
            </a:r>
          </a:p>
          <a:p xmlns:a="http://schemas.openxmlformats.org/drawingml/2006/main">
            <a:r>
              <a:t>            "year": 2025</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"after_days": 9,</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"daily": {</a:t>
            </a:r>
          </a:p>
          <a:p xmlns:a="http://schemas.openxmlformats.org/drawingml/2006/main">
            <a:r>
              <a:t>            "after": 28507.777777777777,</a:t>
            </a:r>
          </a:p>
          <a:p xmlns:a="http://schemas.openxmlformats.org/drawingml/2006/main">
            <a:r>
              <a:t>            "before": 24575.0,</a:t>
            </a:r>
          </a:p>
          <a:p xmlns:a="http://schemas.openxmlformats.org/drawingml/2006/main">
            <a:r>
              <a:t>            "change_pct": 16.00316491466034,</a:t>
            </a:r>
          </a:p>
          <a:p xmlns:a="http://schemas.openxmlformats.org/drawingml/2006/main">
            <a:r>
              <a:t>            "difference": 3932.7777777777774</a:t>
            </a:r>
          </a:p>
          <a:p xmlns:a="http://schemas.openxmlformats.org/drawingml/2006/main">
            <a:r>
              <a:t>          },</a:t>
            </a:r>
          </a:p>
          <a:p xmlns:a="http://schemas.openxmlformats.org/drawingml/2006/main">
            <a:r>
              <a:t>          "outside": {</a:t>
            </a:r>
          </a:p>
          <a:p xmlns:a="http://schemas.openxmlformats.org/drawingml/2006/main">
            <a:r>
              <a:t>            "after": 196700.0,</a:t>
            </a:r>
          </a:p>
          <a:p xmlns:a="http://schemas.openxmlformats.org/drawingml/2006/main">
            <a:r>
              <a:t>            "before": 179998.0,</a:t>
            </a:r>
          </a:p>
          <a:p xmlns:a="http://schemas.openxmlformats.org/drawingml/2006/main">
            <a:r>
              <a:t>            "change_pct": 9.278991988799866,</a:t>
            </a:r>
          </a:p>
          <a:p xmlns:a="http://schemas.openxmlformats.org/drawingml/2006/main">
            <a:r>
              <a:t>            "difference": 16702.0</a:t>
            </a:r>
          </a:p>
          <a:p xmlns:a="http://schemas.openxmlformats.org/drawingml/2006/main">
            <a:r>
              <a:t>          },</a:t>
            </a:r>
          </a:p>
          <a:p xmlns:a="http://schemas.openxmlformats.org/drawingml/2006/main">
            <a:r>
              <a:t>          "outside_daily": {</a:t>
            </a:r>
          </a:p>
          <a:p xmlns:a="http://schemas.openxmlformats.org/drawingml/2006/main">
            <a:r>
              <a:t>            "after": 21855.555555555555,</a:t>
            </a:r>
          </a:p>
          <a:p xmlns:a="http://schemas.openxmlformats.org/drawingml/2006/main">
            <a:r>
              <a:t>            "before": 17999.8,</a:t>
            </a:r>
          </a:p>
          <a:p xmlns:a="http://schemas.openxmlformats.org/drawingml/2006/main">
            <a:r>
              <a:t>            "change_pct": 21.421102209777644,</a:t>
            </a:r>
          </a:p>
          <a:p xmlns:a="http://schemas.openxmlformats.org/drawingml/2006/main">
            <a:r>
              <a:t>            "difference": 3855.7555555555555</a:t>
            </a:r>
          </a:p>
          <a:p xmlns:a="http://schemas.openxmlformats.org/drawingml/2006/main">
            <a:r>
              <a:t>          },</a:t>
            </a:r>
          </a:p>
          <a:p xmlns:a="http://schemas.openxmlformats.org/drawingml/2006/main">
            <a:r>
              <a:t>          "total": {</a:t>
            </a:r>
          </a:p>
          <a:p xmlns:a="http://schemas.openxmlformats.org/drawingml/2006/main">
            <a:r>
              <a:t>            "after": 256570.0,</a:t>
            </a:r>
          </a:p>
          <a:p xmlns:a="http://schemas.openxmlformats.org/drawingml/2006/main">
            <a:r>
              <a:t>            "before": 245750.0,</a:t>
            </a:r>
          </a:p>
          <a:p xmlns:a="http://schemas.openxmlformats.org/drawingml/2006/main">
            <a:r>
              <a:t>            "change_pct": 4.402848423194294,</a:t>
            </a:r>
          </a:p>
          <a:p xmlns:a="http://schemas.openxmlformats.org/drawingml/2006/main">
            <a:r>
              <a:t>            "difference": 10820.0</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"downloaded_at": "2026-08-20",</a:t>
            </a:r>
          </a:p>
          <a:p xmlns:a="http://schemas.openxmlformats.org/drawingml/2006/main">
            <a:r>
              <a:t>          "file_name": "20260820160334_문경찻사발축제_연도별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"data/source_snapshots/festivals_20260820/25. 문경찻사발축제_2023-2025/20260820160334_문경찻사발축제_연도별 방문자 추이.csv",</a:t>
            </a:r>
          </a:p>
          <a:p xmlns:a="http://schemas.openxmlformats.org/drawingml/2006/main">
            <a:r>
              <a:t>          "sha256": "dfcb5b619f820d7ce4451f5e89294681bc37f49f8200ba859754d423602e51a1",</a:t>
            </a:r>
          </a:p>
          <a:p xmlns:a="http://schemas.openxmlformats.org/drawingml/2006/main">
            <a:r>
              <a:t>          "source_id": "festival-file:dfcb5b619f820d7ce445",</a:t>
            </a:r>
          </a:p>
          <a:p xmlns:a="http://schemas.openxmlformats.org/drawingml/2006/main">
            <a:r>
              <a:t>          "source_url": "https://datalab.visitkorea.or.kr/"</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"축제기간",</a:t>
            </a:r>
          </a:p>
          <a:p xmlns:a="http://schemas.openxmlformats.org/drawingml/2006/main">
            <a:r>
              <a:t>            "지표값": "0.414",</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"축제기간",</a:t>
            </a:r>
          </a:p>
          <a:p xmlns:a="http://schemas.openxmlformats.org/drawingml/2006/main">
            <a:r>
              <a:t>            "지표값": "0.86",</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"축제기간",</a:t>
            </a:r>
          </a:p>
          <a:p xmlns:a="http://schemas.openxmlformats.org/drawingml/2006/main">
            <a:r>
              <a:t>            "지표값": "0.273",</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"축제기간",</a:t>
            </a:r>
          </a:p>
          <a:p xmlns:a="http://schemas.openxmlformats.org/drawingml/2006/main">
            <a:r>
              <a:t>            "지표값": "0.536",</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"축제기간",</a:t>
            </a:r>
          </a:p>
          <a:p xmlns:a="http://schemas.openxmlformats.org/drawingml/2006/main">
            <a:r>
              <a:t>            "지표값": "0.716",</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"비축제기간",</a:t>
            </a:r>
          </a:p>
          <a:p xmlns:a="http://schemas.openxmlformats.org/drawingml/2006/main">
            <a:r>
              <a:t>            "지표값": "0.217",</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"0.725",</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"0.148",</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"비축제기간",</a:t>
            </a:r>
          </a:p>
          <a:p xmlns:a="http://schemas.openxmlformats.org/drawingml/2006/main">
            <a:r>
              <a:t>            "지표값": "0.381",</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"비축제기간",</a:t>
            </a:r>
          </a:p>
          <a:p xmlns:a="http://schemas.openxmlformats.org/drawingml/2006/main">
            <a:r>
              <a:t>            "지표값": "0.607",</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"남성비율": "4.0",</a:t>
            </a:r>
          </a:p>
          <a:p xmlns:a="http://schemas.openxmlformats.org/drawingml/2006/main">
            <a:r>
              <a:t>            "여성비율": "3.8",</a:t>
            </a:r>
          </a:p>
          <a:p xmlns:a="http://schemas.openxmlformats.org/drawingml/2006/main">
            <a:r>
              <a:t>            "연령대": "70세 이상",</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"12.3",</a:t>
            </a:r>
          </a:p>
          <a:p xmlns:a="http://schemas.openxmlformats.org/drawingml/2006/main">
            <a:r>
              <a:t>            "여성비율": "10.0",</a:t>
            </a:r>
          </a:p>
          <a:p xmlns:a="http://schemas.openxmlformats.org/drawingml/2006/main">
            <a:r>
              <a:t>            "연령대": "60~69세",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"13.0",</a:t>
            </a:r>
          </a:p>
          <a:p xmlns:a="http://schemas.openxmlformats.org/drawingml/2006/main">
            <a:r>
              <a:t>            "여성비율": "11.7",</a:t>
            </a:r>
          </a:p>
          <a:p xmlns:a="http://schemas.openxmlformats.org/drawingml/2006/main">
            <a:r>
              <a:t>            "연령대": "50~59세",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"9.3",</a:t>
            </a:r>
          </a:p>
          <a:p xmlns:a="http://schemas.openxmlformats.org/drawingml/2006/main">
            <a:r>
              <a:t>            "여성비율": "7.6",</a:t>
            </a:r>
          </a:p>
          <a:p xmlns:a="http://schemas.openxmlformats.org/drawingml/2006/main">
            <a:r>
              <a:t>            "연령대": "40~49세",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"7.2",</a:t>
            </a:r>
          </a:p>
          <a:p xmlns:a="http://schemas.openxmlformats.org/drawingml/2006/main">
            <a:r>
              <a:t>            "여성비율": "6.1",</a:t>
            </a:r>
          </a:p>
          <a:p xmlns:a="http://schemas.openxmlformats.org/drawingml/2006/main">
            <a:r>
              <a:t>            "연령대": "30~39세",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"4.6",</a:t>
            </a:r>
          </a:p>
          <a:p xmlns:a="http://schemas.openxmlformats.org/drawingml/2006/main">
            <a:r>
              <a:t>            "여성비율": "4.1",</a:t>
            </a:r>
          </a:p>
          <a:p xmlns:a="http://schemas.openxmlformats.org/drawingml/2006/main">
            <a:r>
              <a:t>            "연령대": "20~29세",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"2.5",</a:t>
            </a:r>
          </a:p>
          <a:p xmlns:a="http://schemas.openxmlformats.org/drawingml/2006/main">
            <a:r>
              <a:t>            "여성비율": "2.5",</a:t>
            </a:r>
          </a:p>
          <a:p xmlns:a="http://schemas.openxmlformats.org/drawingml/2006/main">
            <a:r>
              <a:t>            "연령대": "10~19세",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"남성비율": "0.6",</a:t>
            </a:r>
          </a:p>
          <a:p xmlns:a="http://schemas.openxmlformats.org/drawingml/2006/main">
            <a:r>
              <a:t>            "여성비율": "0.6",</a:t>
            </a:r>
          </a:p>
          <a:p xmlns:a="http://schemas.openxmlformats.org/drawingml/2006/main">
            <a:r>
              <a:t>            "연령대": "0~9세",</a:t>
            </a:r>
          </a:p>
          <a:p xmlns:a="http://schemas.openxmlformats.org/drawingml/2006/main">
            <a:r>
              <a:t>            "축제명": "문경찻사발축제"</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"문경새재",</a:t>
            </a:r>
          </a:p>
          <a:p xmlns:a="http://schemas.openxmlformats.org/drawingml/2006/main">
            <a:r>
              <a:t>            "도로명주소": "경북 문경시 새재로 932-0",</a:t>
            </a:r>
          </a:p>
          <a:p xmlns:a="http://schemas.openxmlformats.org/drawingml/2006/main">
            <a:r>
              <a:t>            "카테고리": "역사유적지"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"문경종합온천",</a:t>
            </a:r>
          </a:p>
          <a:p xmlns:a="http://schemas.openxmlformats.org/drawingml/2006/main">
            <a:r>
              <a:t>            "도로명주소": "경북 문경시 온천2길 24-0",</a:t>
            </a:r>
          </a:p>
          <a:p xmlns:a="http://schemas.openxmlformats.org/drawingml/2006/main">
            <a:r>
              <a:t>            "카테고리": "웰니스관광"</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"문경찻사발축제",</a:t>
            </a:r>
          </a:p>
          <a:p xmlns:a="http://schemas.openxmlformats.org/drawingml/2006/main">
            <a:r>
              <a:t>            "도로명주소": "경북 문경시 새재로 933-0",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"source_type": "benchmark_case",</a:t>
            </a:r>
          </a:p>
          <a:p xmlns:a="http://schemas.openxmlformats.org/drawingml/2006/main">
            <a:r>
              <a:t>      "title": "한국관광 데이터랩 · 문경찻사발축제 방문자 추이",</a:t>
            </a:r>
          </a:p>
          <a:p xmlns:a="http://schemas.openxmlformats.org/drawingml/2006/main">
            <a:r>
              <a:t>      "summary": "2024→2025년 전체 245,750→256,570명 (+4.40%). 개최 10→9일, 일평균 +16.00%, 외지인 +9.28%."</a:t>
            </a:r>
          </a:p>
          <a:p xmlns:a="http://schemas.openxmlformats.org/drawingml/2006/main">
            <a:r>
              <a:t>    },</a:t>
            </a:r>
          </a:p>
          <a:p xmlns:a="http://schemas.openxmlformats.org/drawingml/2006/main">
            <a:r>
              <a:t>    {</a:t>
            </a:r>
          </a:p>
          <a:p xmlns:a="http://schemas.openxmlformats.org/drawingml/2006/main">
            <a:r>
              <a:t>      "source_id": "case:festival:0e9c7c065555b0",</a:t>
            </a:r>
          </a:p>
          <a:p xmlns:a="http://schemas.openxmlformats.org/drawingml/2006/main">
            <a:r>
              <a:t>      "document_type": "case_study",</a:t>
            </a:r>
          </a:p>
          <a:p xmlns:a="http://schemas.openxmlformats.org/drawingml/2006/main">
            <a:r>
              <a:t>      "evidence_kind": "festival_statistics",</a:t>
            </a:r>
          </a:p>
          <a:p xmlns:a="http://schemas.openxmlformats.org/drawingml/2006/main">
            <a:r>
              <a:t>      "retrieval_method": "datalab_festival_table",</a:t>
            </a:r>
          </a:p>
          <a:p xmlns:a="http://schemas.openxmlformats.org/drawingml/2006/main">
            <a:r>
              <a:t>      "region_code": "47170",</a:t>
            </a:r>
          </a:p>
          <a:p xmlns:a="http://schemas.openxmlformats.org/drawingml/2006/main">
            <a:r>
              <a:t>      "region_name": "경상북도 안동시",</a:t>
            </a:r>
          </a:p>
          <a:p xmlns:a="http://schemas.openxmlformats.org/drawingml/2006/main">
            <a:r>
              <a:t>      "case_region": "경상북도 안동시",</a:t>
            </a:r>
          </a:p>
          <a:p xmlns:a="http://schemas.openxmlformats.org/drawingml/2006/main">
            <a:r>
              <a:t>      "intervention": "안동탈춤축제",</a:t>
            </a:r>
          </a:p>
          <a:p xmlns:a="http://schemas.openxmlformats.org/drawingml/2006/main">
            <a:r>
              <a:t>      "problem_addressed": "타지역 축제 방문 실적 참고 · 공연·문화",</a:t>
            </a:r>
          </a:p>
          <a:p xmlns:a="http://schemas.openxmlformats.org/drawingml/2006/main">
            <a:r>
              <a:t>      "target_group": "축제 관측구역 방문자(현지인·외지인·외국인 구분)",</a:t>
            </a:r>
          </a:p>
          <a:p xmlns:a="http://schemas.openxmlformats.org/drawingml/2006/main">
            <a:r>
              <a:t>      "operating_model": "안동탈춤축제를 2025년 10일 개최한 문화관광축제 운영 사례. 세부 프로그램·예약·혜택은 이 CSV에 기록되어 있지 않으며 새로운 운영안은 제안으로 구분한다.",</a:t>
            </a:r>
          </a:p>
          <a:p xmlns:a="http://schemas.openxmlformats.org/drawingml/2006/main">
            <a:r>
              <a:t>      "duration": "2025년 10일",</a:t>
            </a:r>
          </a:p>
          <a:p xmlns:a="http://schemas.openxmlformats.org/drawingml/2006/main">
            <a:r>
              <a:t>      "public_budget": "CSV에 사업비 없음",</a:t>
            </a:r>
          </a:p>
          <a:p xmlns:a="http://schemas.openxmlformats.org/drawingml/2006/main">
            <a:r>
              <a:t>      "observed_result": "2024→2025년 전체 504,573→554,494명 (+9.89%). 개최 10→10일, 일평균 +9.89%, 외지인 +10.75%.",</a:t>
            </a:r>
          </a:p>
          <a:p xmlns:a="http://schemas.openxmlformats.org/drawingml/2006/main">
            <a:r>
              <a:t>      "measurement_period": "2023~2025년 각 축제 개최기간",</a:t>
            </a:r>
          </a:p>
          <a:p xmlns:a="http://schemas.openxmlformats.org/drawingml/2006/main">
            <a:r>
              <a:t>      "evidence_strength": "medium",</a:t>
            </a:r>
          </a:p>
          <a:p xmlns:a="http://schemas.openxmlformats.org/drawingml/2006/main">
            <a:r>
              <a:t>      "quantitative_result_approved": true,</a:t>
            </a:r>
          </a:p>
          <a:p xmlns:a="http://schemas.openxmlformats.org/drawingml/2006/main">
            <a:r>
              <a:t>      "operating_statistics":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"risks": [</a:t>
            </a:r>
          </a:p>
          <a:p xmlns:a="http://schemas.openxmlformats.org/drawingml/2006/main">
            <a:r>
              <a:t>        "행사 전후 방문 차이는 사업 단독 효과·도시 순증 방문이 아니다.",</a:t>
            </a:r>
          </a:p>
          <a:p xmlns:a="http://schemas.openxmlformats.org/drawingml/2006/main">
            <a:r>
              <a:t>        "관광소비 지표값은 원화·성장률로 변환하지 않는다. 정원·참여율·실측 객단가 자료는 없다."</a:t>
            </a:r>
          </a:p>
          <a:p xmlns:a="http://schemas.openxmlformats.org/drawingml/2006/main">
            <a:r>
              <a:t>      ],</a:t>
            </a:r>
          </a:p>
          <a:p xmlns:a="http://schemas.openxmlformats.org/drawingml/2006/main">
            <a:r>
              <a:t>      "source_title": "한국관광 데이터랩 · 안동탈춤축제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"dataset_hash": "ad20e3daf70fd44fd481d672398c07bb9c96fce77acb450784065a568735e2e2",</a:t>
            </a:r>
          </a:p>
          <a:p xmlns:a="http://schemas.openxmlformats.org/drawingml/2006/main">
            <a:r>
              <a:t>      "source_files": [</a:t>
            </a:r>
          </a:p>
          <a:p xmlns:a="http://schemas.openxmlformats.org/drawingml/2006/main">
            <a:r>
              <a:t>        {</a:t>
            </a:r>
          </a:p>
          <a:p xmlns:a="http://schemas.openxmlformats.org/drawingml/2006/main">
            <a:r>
              <a:t>          "downloaded_at": "2026-08-20",</a:t>
            </a:r>
          </a:p>
          <a:p xmlns:a="http://schemas.openxmlformats.org/drawingml/2006/main">
            <a:r>
              <a:t>          "file_name": "20260820175023_안동탈춤축제_연도별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"sha256": "28f418873eda5b37d320d3fef32c46bef172ca1cfea3861db2d5fc96a0b16f50",</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"20260820175023_안동탈춤축제_성_연령별 내국인 방문자.csv",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"data/source_snapshots/festivals_20260820/43. 안동탈춤축제_2023-2025/20260820175023_안동탈춤축제_성_연령별 내국인 방문자.csv",</a:t>
            </a:r>
          </a:p>
          <a:p xmlns:a="http://schemas.openxmlformats.org/drawingml/2006/main">
            <a:r>
              <a:t>          "sha256": "c0b34e003112bda1f5afa06dcb153cc870d61730036ef23f1b3e7aed39ca5458",</a:t>
            </a:r>
          </a:p>
          <a:p xmlns:a="http://schemas.openxmlformats.org/drawingml/2006/main">
            <a:r>
              <a:t>          "source_id": "festival-file:c0b34e003112bda1f5af",</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"20260820175023_안동탈춤축제_목적지 검색순위.csv",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"data/source_snapshots/festivals_20260820/43. 안동탈춤축제_2023-2025/20260820175023_안동탈춤축제_목적지 검색순위.csv",</a:t>
            </a:r>
          </a:p>
          <a:p xmlns:a="http://schemas.openxmlformats.org/drawingml/2006/main">
            <a:r>
              <a:t>          "sha256": "11de7e20288dde00f7f18e353a24b5a95c511a7dc354ec9cc2c7a3a2436712f6",</a:t>
            </a:r>
          </a:p>
          <a:p xmlns:a="http://schemas.openxmlformats.org/drawingml/2006/main">
            <a:r>
              <a:t>          "source_id": "festival-file:11de7e20288dde00f7f1",</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"20260820175023_안동탈춤축제_문화관광축제 주요 지표.csv",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"data/source_snapshots/festivals_20260820/43. 안동탈춤축제_2023-2025/20260820175023_안동탈춤축제_문화관광축제 주요 지표.csv",</a:t>
            </a:r>
          </a:p>
          <a:p xmlns:a="http://schemas.openxmlformats.org/drawingml/2006/main">
            <a:r>
              <a:t>          "sha256": "40ddabd2e46fcb12bc9cc2361174e1a5ebe80f169611896b6d4b5e60d9fda352",</a:t>
            </a:r>
          </a:p>
          <a:p xmlns:a="http://schemas.openxmlformats.org/drawingml/2006/main">
            <a:r>
              <a:t>          "source_id": "festival-file:40ddabd2e46fcb12bc9c",</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"공연·문화",</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"festival_statistics": {</a:t>
            </a:r>
          </a:p>
          <a:p xmlns:a="http://schemas.openxmlformats.org/drawingml/2006/main">
            <a:r>
              <a:t>        "name": "안동탈춤축제",</a:t>
            </a:r>
          </a:p>
          <a:p xmlns:a="http://schemas.openxmlformats.org/drawingml/2006/main">
            <a:r>
              <a:t>        "annual": [</a:t>
            </a:r>
          </a:p>
          <a:p xmlns:a="http://schemas.openxmlformats.org/drawingml/2006/main">
            <a:r>
              <a:t>          {</a:t>
            </a:r>
          </a:p>
          <a:p xmlns:a="http://schemas.openxmlformats.org/drawingml/2006/main">
            <a:r>
              <a:t>            "daily": 45517.125,</a:t>
            </a:r>
          </a:p>
          <a:p xmlns:a="http://schemas.openxmlformats.org/drawingml/2006/main">
            <a:r>
              <a:t>            "days": 8,</a:t>
            </a:r>
          </a:p>
          <a:p xmlns:a="http://schemas.openxmlformats.org/drawingml/2006/main">
            <a:r>
              <a:t>            "foreign": 3319.0,</a:t>
            </a:r>
          </a:p>
          <a:p xmlns:a="http://schemas.openxmlformats.org/drawingml/2006/main">
            <a:r>
              <a:t>            "local": 233513.0,</a:t>
            </a:r>
          </a:p>
          <a:p xmlns:a="http://schemas.openxmlformats.org/drawingml/2006/main">
            <a:r>
              <a:t>            "outside": 127305.0,</a:t>
            </a:r>
          </a:p>
          <a:p xmlns:a="http://schemas.openxmlformats.org/drawingml/2006/main">
            <a:r>
              <a:t>            "outside_daily": 15913.125,</a:t>
            </a:r>
          </a:p>
          <a:p xmlns:a="http://schemas.openxmlformats.org/drawingml/2006/main">
            <a:r>
              <a:t>            "outside_share_pct": 34.960742797353745,</a:t>
            </a:r>
          </a:p>
          <a:p xmlns:a="http://schemas.openxmlformats.org/drawingml/2006/main">
            <a:r>
              <a:t>            "total": 364137.0,</a:t>
            </a:r>
          </a:p>
          <a:p xmlns:a="http://schemas.openxmlformats.org/drawingml/2006/main">
            <a:r>
              <a:t>            "year": 2023</a:t>
            </a:r>
          </a:p>
          <a:p xmlns:a="http://schemas.openxmlformats.org/drawingml/2006/main">
            <a:r>
              <a:t>          },</a:t>
            </a:r>
          </a:p>
          <a:p xmlns:a="http://schemas.openxmlformats.org/drawingml/2006/main">
            <a:r>
              <a:t>          {</a:t>
            </a:r>
          </a:p>
          <a:p xmlns:a="http://schemas.openxmlformats.org/drawingml/2006/main">
            <a:r>
              <a:t>            "daily": 50457.3,</a:t>
            </a:r>
          </a:p>
          <a:p xmlns:a="http://schemas.openxmlformats.org/drawingml/2006/main">
            <a:r>
              <a:t>            "days": 10,</a:t>
            </a:r>
          </a:p>
          <a:p xmlns:a="http://schemas.openxmlformats.org/drawingml/2006/main">
            <a:r>
              <a:t>            "foreign": 4684.0,</a:t>
            </a:r>
          </a:p>
          <a:p xmlns:a="http://schemas.openxmlformats.org/drawingml/2006/main">
            <a:r>
              <a:t>            "local": 317925.0,</a:t>
            </a:r>
          </a:p>
          <a:p xmlns:a="http://schemas.openxmlformats.org/drawingml/2006/main">
            <a:r>
              <a:t>            "outside": 181964.0,</a:t>
            </a:r>
          </a:p>
          <a:p xmlns:a="http://schemas.openxmlformats.org/drawingml/2006/main">
            <a:r>
              <a:t>            "outside_daily": 18196.4,</a:t>
            </a:r>
          </a:p>
          <a:p xmlns:a="http://schemas.openxmlformats.org/drawingml/2006/main">
            <a:r>
              <a:t>            "outside_share_pct": 36.06296809381398,</a:t>
            </a:r>
          </a:p>
          <a:p xmlns:a="http://schemas.openxmlformats.org/drawingml/2006/main">
            <a:r>
              <a:t>            "total": 504573.0,</a:t>
            </a:r>
          </a:p>
          <a:p xmlns:a="http://schemas.openxmlformats.org/drawingml/2006/main">
            <a:r>
              <a:t>            "year": 2024</a:t>
            </a:r>
          </a:p>
          <a:p xmlns:a="http://schemas.openxmlformats.org/drawingml/2006/main">
            <a:r>
              <a:t>          },</a:t>
            </a:r>
          </a:p>
          <a:p xmlns:a="http://schemas.openxmlformats.org/drawingml/2006/main">
            <a:r>
              <a:t>          {</a:t>
            </a:r>
          </a:p>
          <a:p xmlns:a="http://schemas.openxmlformats.org/drawingml/2006/main">
            <a:r>
              <a:t>            "daily": 55449.4,</a:t>
            </a:r>
          </a:p>
          <a:p xmlns:a="http://schemas.openxmlformats.org/drawingml/2006/main">
            <a:r>
              <a:t>            "days": 10,</a:t>
            </a:r>
          </a:p>
          <a:p xmlns:a="http://schemas.openxmlformats.org/drawingml/2006/main">
            <a:r>
              <a:t>            "foreign": 5702.0,</a:t>
            </a:r>
          </a:p>
          <a:p xmlns:a="http://schemas.openxmlformats.org/drawingml/2006/main">
            <a:r>
              <a:t>            "local": 347269.0,</a:t>
            </a:r>
          </a:p>
          <a:p xmlns:a="http://schemas.openxmlformats.org/drawingml/2006/main">
            <a:r>
              <a:t>            "outside": 201523.0,</a:t>
            </a:r>
          </a:p>
          <a:p xmlns:a="http://schemas.openxmlformats.org/drawingml/2006/main">
            <a:r>
              <a:t>            "outside_daily": 20152.3,</a:t>
            </a:r>
          </a:p>
          <a:p xmlns:a="http://schemas.openxmlformats.org/drawingml/2006/main">
            <a:r>
              <a:t>            "outside_share_pct": 36.34358532283487,</a:t>
            </a:r>
          </a:p>
          <a:p xmlns:a="http://schemas.openxmlformats.org/drawingml/2006/main">
            <a:r>
              <a:t>            "total": 554494.0,</a:t>
            </a:r>
          </a:p>
          <a:p xmlns:a="http://schemas.openxmlformats.org/drawingml/2006/main">
            <a:r>
              <a:t>            "year": 2025</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"after_days": 10,</a:t>
            </a:r>
          </a:p>
          <a:p xmlns:a="http://schemas.openxmlformats.org/drawingml/2006/main">
            <a:r>
              <a:t>          "after_year": 2025,</a:t>
            </a:r>
          </a:p>
          <a:p xmlns:a="http://schemas.openxmlformats.org/drawingml/2006/main">
            <a:r>
              <a:t>          "before_days": 10,</a:t>
            </a:r>
          </a:p>
          <a:p xmlns:a="http://schemas.openxmlformats.org/drawingml/2006/main">
            <a:r>
              <a:t>          "before_year": 2024,</a:t>
            </a:r>
          </a:p>
          <a:p xmlns:a="http://schemas.openxmlformats.org/drawingml/2006/main">
            <a:r>
              <a:t>          "daily": {</a:t>
            </a:r>
          </a:p>
          <a:p xmlns:a="http://schemas.openxmlformats.org/drawingml/2006/main">
            <a:r>
              <a:t>            "after": 55449.4,</a:t>
            </a:r>
          </a:p>
          <a:p xmlns:a="http://schemas.openxmlformats.org/drawingml/2006/main">
            <a:r>
              <a:t>            "before": 50457.3,</a:t>
            </a:r>
          </a:p>
          <a:p xmlns:a="http://schemas.openxmlformats.org/drawingml/2006/main">
            <a:r>
              <a:t>            "change_pct": 9.893712109050611,</a:t>
            </a:r>
          </a:p>
          <a:p xmlns:a="http://schemas.openxmlformats.org/drawingml/2006/main">
            <a:r>
              <a:t>            "difference": 4992.0999999999985</a:t>
            </a:r>
          </a:p>
          <a:p xmlns:a="http://schemas.openxmlformats.org/drawingml/2006/main">
            <a:r>
              <a:t>          },</a:t>
            </a:r>
          </a:p>
          <a:p xmlns:a="http://schemas.openxmlformats.org/drawingml/2006/main">
            <a:r>
              <a:t>          "outside": {</a:t>
            </a:r>
          </a:p>
          <a:p xmlns:a="http://schemas.openxmlformats.org/drawingml/2006/main">
            <a:r>
              <a:t>            "after": 201523.0,</a:t>
            </a:r>
          </a:p>
          <a:p xmlns:a="http://schemas.openxmlformats.org/drawingml/2006/main">
            <a:r>
              <a:t>            "before": 181964.0,</a:t>
            </a:r>
          </a:p>
          <a:p xmlns:a="http://schemas.openxmlformats.org/drawingml/2006/main">
            <a:r>
              <a:t>            "change_pct": 10.748829438790096,</a:t>
            </a:r>
          </a:p>
          <a:p xmlns:a="http://schemas.openxmlformats.org/drawingml/2006/main">
            <a:r>
              <a:t>            "difference": 19559.0</a:t>
            </a:r>
          </a:p>
          <a:p xmlns:a="http://schemas.openxmlformats.org/drawingml/2006/main">
            <a:r>
              <a:t>          },</a:t>
            </a:r>
          </a:p>
          <a:p xmlns:a="http://schemas.openxmlformats.org/drawingml/2006/main">
            <a:r>
              <a:t>          "outside_daily": {</a:t>
            </a:r>
          </a:p>
          <a:p xmlns:a="http://schemas.openxmlformats.org/drawingml/2006/main">
            <a:r>
              <a:t>            "after": 20152.3,</a:t>
            </a:r>
          </a:p>
          <a:p xmlns:a="http://schemas.openxmlformats.org/drawingml/2006/main">
            <a:r>
              <a:t>            "before": 18196.4,</a:t>
            </a:r>
          </a:p>
          <a:p xmlns:a="http://schemas.openxmlformats.org/drawingml/2006/main">
            <a:r>
              <a:t>            "change_pct": 10.748829438790075,</a:t>
            </a:r>
          </a:p>
          <a:p xmlns:a="http://schemas.openxmlformats.org/drawingml/2006/main">
            <a:r>
              <a:t>            "difference": 1955.8999999999978</a:t>
            </a:r>
          </a:p>
          <a:p xmlns:a="http://schemas.openxmlformats.org/drawingml/2006/main">
            <a:r>
              <a:t>          },</a:t>
            </a:r>
          </a:p>
          <a:p xmlns:a="http://schemas.openxmlformats.org/drawingml/2006/main">
            <a:r>
              <a:t>          "total": {</a:t>
            </a:r>
          </a:p>
          <a:p xmlns:a="http://schemas.openxmlformats.org/drawingml/2006/main">
            <a:r>
              <a:t>            "after": 554494.0,</a:t>
            </a:r>
          </a:p>
          <a:p xmlns:a="http://schemas.openxmlformats.org/drawingml/2006/main">
            <a:r>
              <a:t>            "before": 504573.0,</a:t>
            </a:r>
          </a:p>
          <a:p xmlns:a="http://schemas.openxmlformats.org/drawingml/2006/main">
            <a:r>
              <a:t>            "change_pct": 9.893712109050611,</a:t>
            </a:r>
          </a:p>
          <a:p xmlns:a="http://schemas.openxmlformats.org/drawingml/2006/main">
            <a:r>
              <a:t>            "difference": 49921.0</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"downloaded_at": "2026-08-20",</a:t>
            </a:r>
          </a:p>
          <a:p xmlns:a="http://schemas.openxmlformats.org/drawingml/2006/main">
            <a:r>
              <a:t>          "file_name": "20260820175023_안동탈춤축제_연도별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"data/source_snapshots/festivals_20260820/43. 안동탈춤축제_2023-2025/20260820175023_안동탈춤축제_연도별 방문자 추이.csv",</a:t>
            </a:r>
          </a:p>
          <a:p xmlns:a="http://schemas.openxmlformats.org/drawingml/2006/main">
            <a:r>
              <a:t>          "sha256": "28f418873eda5b37d320d3fef32c46bef172ca1cfea3861db2d5fc96a0b16f50",</a:t>
            </a:r>
          </a:p>
          <a:p xmlns:a="http://schemas.openxmlformats.org/drawingml/2006/main">
            <a:r>
              <a:t>          "source_id": "festival-file:28f418873eda5b37d320",</a:t>
            </a:r>
          </a:p>
          <a:p xmlns:a="http://schemas.openxmlformats.org/drawingml/2006/main">
            <a:r>
              <a:t>          "source_url": "https://datalab.visitkorea.or.kr/"</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"축제기간",</a:t>
            </a:r>
          </a:p>
          <a:p xmlns:a="http://schemas.openxmlformats.org/drawingml/2006/main">
            <a:r>
              <a:t>            "지표값": "0.515",</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"0.859",</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"축제기간",</a:t>
            </a:r>
          </a:p>
          <a:p xmlns:a="http://schemas.openxmlformats.org/drawingml/2006/main">
            <a:r>
              <a:t>            "지표값": "0.434",</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"축제기간",</a:t>
            </a:r>
          </a:p>
          <a:p xmlns:a="http://schemas.openxmlformats.org/drawingml/2006/main">
            <a:r>
              <a:t>            "지표값": "0.544",</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"축제기간",</a:t>
            </a:r>
          </a:p>
          <a:p xmlns:a="http://schemas.openxmlformats.org/drawingml/2006/main">
            <a:r>
              <a:t>            "지표값": "0.879",</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"비축제기간",</a:t>
            </a:r>
          </a:p>
          <a:p xmlns:a="http://schemas.openxmlformats.org/drawingml/2006/main">
            <a:r>
              <a:t>            "지표값": "0.258",</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"0.618",</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"0.252",</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"비축제기간",</a:t>
            </a:r>
          </a:p>
          <a:p xmlns:a="http://schemas.openxmlformats.org/drawingml/2006/main">
            <a:r>
              <a:t>            "지표값": "0.375",</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"비축제기간",</a:t>
            </a:r>
          </a:p>
          <a:p xmlns:a="http://schemas.openxmlformats.org/drawingml/2006/main">
            <a:r>
              <a:t>            "지표값": "0.65",</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"남성비율": "4.4",</a:t>
            </a:r>
          </a:p>
          <a:p xmlns:a="http://schemas.openxmlformats.org/drawingml/2006/main">
            <a:r>
              <a:t>            "여성비율": "5.0",</a:t>
            </a:r>
          </a:p>
          <a:p xmlns:a="http://schemas.openxmlformats.org/drawingml/2006/main">
            <a:r>
              <a:t>            "연령대": "70세 이상",</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"남성비율": "8.0",</a:t>
            </a:r>
          </a:p>
          <a:p xmlns:a="http://schemas.openxmlformats.org/drawingml/2006/main">
            <a:r>
              <a:t>            "여성비율": "8.5",</a:t>
            </a:r>
          </a:p>
          <a:p xmlns:a="http://schemas.openxmlformats.org/drawingml/2006/main">
            <a:r>
              <a:t>            "연령대": "60~69세",</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"남성비율": "9.2",</a:t>
            </a:r>
          </a:p>
          <a:p xmlns:a="http://schemas.openxmlformats.org/drawingml/2006/main">
            <a:r>
              <a:t>            "여성비율": "10.9",</a:t>
            </a:r>
          </a:p>
          <a:p xmlns:a="http://schemas.openxmlformats.org/drawingml/2006/main">
            <a:r>
              <a:t>            "연령대": "50~59세",</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"남성비율": "7.5",</a:t>
            </a:r>
          </a:p>
          <a:p xmlns:a="http://schemas.openxmlformats.org/drawingml/2006/main">
            <a:r>
              <a:t>            "여성비율": "7.9",</a:t>
            </a:r>
          </a:p>
          <a:p xmlns:a="http://schemas.openxmlformats.org/drawingml/2006/main">
            <a:r>
              <a:t>            "연령대": "40~49세",</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"남성비율": "7.9",</a:t>
            </a:r>
          </a:p>
          <a:p xmlns:a="http://schemas.openxmlformats.org/drawingml/2006/main">
            <a:r>
              <a:t>            "여성비율": "7.2",</a:t>
            </a:r>
          </a:p>
          <a:p xmlns:a="http://schemas.openxmlformats.org/drawingml/2006/main">
            <a:r>
              <a:t>            "연령대": "30~39세",</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"남성비율": "7.1",</a:t>
            </a:r>
          </a:p>
          <a:p xmlns:a="http://schemas.openxmlformats.org/drawingml/2006/main">
            <a:r>
              <a:t>            "여성비율": "8.2",</a:t>
            </a:r>
          </a:p>
          <a:p xmlns:a="http://schemas.openxmlformats.org/drawingml/2006/main">
            <a:r>
              <a:t>            "연령대": "20~29세",</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"남성비율": "3.2",</a:t>
            </a:r>
          </a:p>
          <a:p xmlns:a="http://schemas.openxmlformats.org/drawingml/2006/main">
            <a:r>
              <a:t>            "여성비율": "3.9",</a:t>
            </a:r>
          </a:p>
          <a:p xmlns:a="http://schemas.openxmlformats.org/drawingml/2006/main">
            <a:r>
              <a:t>            "연령대": "10~19세",</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"남성비율": "0.5",</a:t>
            </a:r>
          </a:p>
          <a:p xmlns:a="http://schemas.openxmlformats.org/drawingml/2006/main">
            <a:r>
              <a:t>            "여성비율": "0.7",</a:t>
            </a:r>
          </a:p>
          <a:p xmlns:a="http://schemas.openxmlformats.org/drawingml/2006/main">
            <a:r>
              <a:t>            "연령대": "0~9세",</a:t>
            </a:r>
          </a:p>
          <a:p xmlns:a="http://schemas.openxmlformats.org/drawingml/2006/main">
            <a:r>
              <a:t>            "축제명": "안동탈춤축제"</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"안동구시장",</a:t>
            </a:r>
          </a:p>
          <a:p xmlns:a="http://schemas.openxmlformats.org/drawingml/2006/main">
            <a:r>
              <a:t>            "도로명주소": "경북 안동시 번영1길 47-0",</a:t>
            </a:r>
          </a:p>
          <a:p xmlns:a="http://schemas.openxmlformats.org/drawingml/2006/main">
            <a:r>
              <a:t>            "카테고리": "시장"</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"안동국제탈춤페스티벌",</a:t>
            </a:r>
          </a:p>
          <a:p xmlns:a="http://schemas.openxmlformats.org/drawingml/2006/main">
            <a:r>
              <a:t>            "도로명주소": "경북 안동시 육사로 239-0",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"탈춤공원",</a:t>
            </a:r>
          </a:p>
          <a:p xmlns:a="http://schemas.openxmlformats.org/drawingml/2006/main">
            <a:r>
              <a:t>            "도로명주소": "경북 안동시 육사로 239-0",</a:t>
            </a:r>
          </a:p>
          <a:p xmlns:a="http://schemas.openxmlformats.org/drawingml/2006/main">
            <a:r>
              <a:t>            "카테고리": "도시공원"</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"source_type": "benchmark_case",</a:t>
            </a:r>
          </a:p>
          <a:p xmlns:a="http://schemas.openxmlformats.org/drawingml/2006/main">
            <a:r>
              <a:t>      "title": "한국관광 데이터랩 · 안동탈춤축제 방문자 추이",</a:t>
            </a:r>
          </a:p>
          <a:p xmlns:a="http://schemas.openxmlformats.org/drawingml/2006/main">
            <a:r>
              <a:t>      "summary": "2024→2025년 전체 504,573→554,494명 (+9.89%). 개최 10→10일, 일평균 +9.89%, 외지인 +10.75%."</a:t>
            </a:r>
          </a:p>
          <a:p xmlns:a="http://schemas.openxmlformats.org/drawingml/2006/main">
            <a:r>
              <a:t>    },</a:t>
            </a:r>
          </a:p>
          <a:p xmlns:a="http://schemas.openxmlformats.org/drawingml/2006/main">
            <a:r>
              <a:t>    {</a:t>
            </a:r>
          </a:p>
          <a:p xmlns:a="http://schemas.openxmlformats.org/drawingml/2006/main">
            <a:r>
              <a:t>      "source_id": "case:festival:1ff9d11d3ee0ee",</a:t>
            </a:r>
          </a:p>
          <a:p xmlns:a="http://schemas.openxmlformats.org/drawingml/2006/main">
            <a:r>
              <a:t>      "document_type": "case_study",</a:t>
            </a:r>
          </a:p>
          <a:p xmlns:a="http://schemas.openxmlformats.org/drawingml/2006/main">
            <a:r>
              <a:t>      "evidence_kind": "festival_statistics",</a:t>
            </a:r>
          </a:p>
          <a:p xmlns:a="http://schemas.openxmlformats.org/drawingml/2006/main">
            <a:r>
              <a:t>      "retrieval_method": "datalab_festival_table",</a:t>
            </a:r>
          </a:p>
          <a:p xmlns:a="http://schemas.openxmlformats.org/drawingml/2006/main">
            <a:r>
              <a:t>      "region_code": "46900",</a:t>
            </a:r>
          </a:p>
          <a:p xmlns:a="http://schemas.openxmlformats.org/drawingml/2006/main">
            <a:r>
              <a:t>      "region_name": "전라남도 진도군",</a:t>
            </a:r>
          </a:p>
          <a:p xmlns:a="http://schemas.openxmlformats.org/drawingml/2006/main">
            <a:r>
              <a:t>      "case_region": "전라남도 진도군",</a:t>
            </a:r>
          </a:p>
          <a:p xmlns:a="http://schemas.openxmlformats.org/drawingml/2006/main">
            <a:r>
              <a:t>      "intervention": "진도신비의바닷길축제",</a:t>
            </a:r>
          </a:p>
          <a:p xmlns:a="http://schemas.openxmlformats.org/drawingml/2006/main">
            <a:r>
              <a:t>      "problem_addressed": "타지역 축제 방문 실적 참고 · 자연·야외",</a:t>
            </a:r>
          </a:p>
          <a:p xmlns:a="http://schemas.openxmlformats.org/drawingml/2006/main">
            <a:r>
              <a:t>      "target_group": "축제 관측구역 방문자(현지인·외지인·외국인 구분)",</a:t>
            </a:r>
          </a:p>
          <a:p xmlns:a="http://schemas.openxmlformats.org/drawingml/2006/main">
            <a:r>
              <a:t>      "operating_model": "진도신비의바닷길축제를 2025년 4일 개최한 문화관광축제 운영 사례. 세부 프로그램·예약·혜택은 이 CSV에 기록되어 있지 않으며 새로운 운영안은 제안으로 구분한다.",</a:t>
            </a:r>
          </a:p>
          <a:p xmlns:a="http://schemas.openxmlformats.org/drawingml/2006/main">
            <a:r>
              <a:t>      "duration": "2025년 4일",</a:t>
            </a:r>
          </a:p>
          <a:p xmlns:a="http://schemas.openxmlformats.org/drawingml/2006/main">
            <a:r>
              <a:t>      "public_budget": "CSV에 사업비 없음",</a:t>
            </a:r>
          </a:p>
          <a:p xmlns:a="http://schemas.openxmlformats.org/drawingml/2006/main">
            <a:r>
              <a:t>      "observed_result": "2024→2025년 전체 28,171→43,973명 (+56.09%). 개최 3→4일, 일평균 +17.07%, 외지인 +89.98%.",</a:t>
            </a:r>
          </a:p>
          <a:p xmlns:a="http://schemas.openxmlformats.org/drawingml/2006/main">
            <a:r>
              <a:t>      "measurement_period": "2023~2025년 각 축제 개최기간",</a:t>
            </a:r>
          </a:p>
          <a:p xmlns:a="http://schemas.openxmlformats.org/drawingml/2006/main">
            <a:r>
              <a:t>      "evidence_strength": "medium",</a:t>
            </a:r>
          </a:p>
          <a:p xmlns:a="http://schemas.openxmlformats.org/drawingml/2006/main">
            <a:r>
              <a:t>      "quantitative_result_approved": true,</a:t>
            </a:r>
          </a:p>
          <a:p xmlns:a="http://schemas.openxmlformats.org/drawingml/2006/main">
            <a:r>
              <a:t>      "operating_statistics": [],</a:t>
            </a:r>
          </a:p>
          <a:p xmlns:a="http://schemas.openxmlformats.org/drawingml/2006/main">
            <a:r>
              <a:t>      "transfer_conditions": [</a:t>
            </a:r>
          </a:p>
          <a:p xmlns:a="http://schemas.openxmlformats.org/drawingml/2006/main">
            <a:r>
              <a:t>        "지역 지표와 자원에 맞춰 행사 콘텐츠·운영일·참여처를 새로 설계한다.",</a:t>
            </a:r>
          </a:p>
          <a:p xmlns:a="http://schemas.openxmlformats.org/drawingml/2006/main">
            <a:r>
              <a:t>        "개최 일수는 사례 실적이며 우리 지역의 월 운영일·회차·정원으로 복사하지 않는다."</a:t>
            </a:r>
          </a:p>
          <a:p xmlns:a="http://schemas.openxmlformats.org/drawingml/2006/main">
            <a:r>
              <a:t>      ],</a:t>
            </a:r>
          </a:p>
          <a:p xmlns:a="http://schemas.openxmlformats.org/drawingml/2006/main">
            <a:r>
              <a:t>      "risks": [</a:t>
            </a:r>
          </a:p>
          <a:p xmlns:a="http://schemas.openxmlformats.org/drawingml/2006/main">
            <a:r>
              <a:t>        "행사 전후 방문 차이는 사업 단독 효과·도시 순증 방문이 아니다.",</a:t>
            </a:r>
          </a:p>
          <a:p xmlns:a="http://schemas.openxmlformats.org/drawingml/2006/main">
            <a:r>
              <a:t>        "관광소비 지표값은 원화·성장률로 변환하지 않는다. 정원·참여율·실측 객단가 자료는 없다."</a:t>
            </a:r>
          </a:p>
          <a:p xmlns:a="http://schemas.openxmlformats.org/drawingml/2006/main">
            <a:r>
              <a:t>      ],</a:t>
            </a:r>
          </a:p>
          <a:p xmlns:a="http://schemas.openxmlformats.org/drawingml/2006/main">
            <a:r>
              <a:t>      "source_title": "한국관광 데이터랩 · 진도신비의바닷길축제 방문자 추이",</a:t>
            </a:r>
          </a:p>
          <a:p xmlns:a="http://schemas.openxmlformats.org/drawingml/2006/main">
            <a:r>
              <a:t>      "source_url": "https://datalab.visitkorea.or.kr/",</a:t>
            </a:r>
          </a:p>
          <a:p xmlns:a="http://schemas.openxmlformats.org/drawingml/2006/main">
            <a:r>
              <a:t>      "published_or_updated_at": "2026-08-20",</a:t>
            </a:r>
          </a:p>
          <a:p xmlns:a="http://schemas.openxmlformats.org/drawingml/2006/main">
            <a:r>
              <a:t>      "dataset_hash": "ad20e3daf70fd44fd481d672398c07bb9c96fce77acb450784065a568735e2e2",</a:t>
            </a:r>
          </a:p>
          <a:p xmlns:a="http://schemas.openxmlformats.org/drawingml/2006/main">
            <a:r>
              <a:t>      "source_files": [</a:t>
            </a:r>
          </a:p>
          <a:p xmlns:a="http://schemas.openxmlformats.org/drawingml/2006/main">
            <a:r>
              <a:t>        {</a:t>
            </a:r>
          </a:p>
          <a:p xmlns:a="http://schemas.openxmlformats.org/drawingml/2006/main">
            <a:r>
              <a:t>          "downloaded_at": "2026-08-20",</a:t>
            </a:r>
          </a:p>
          <a:p xmlns:a="http://schemas.openxmlformats.org/drawingml/2006/main">
            <a:r>
              <a:t>          "file_name": "20260820182448_진도신비의바닷길축제_연도별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"sha256": "3cf7484d808e807aeffda7504a3d316839b9220f0f7a72550f5387af3ee3f8d9",</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"20260820182448_진도신비의바닷길축제_성_연령별 내국인 방문자.csv",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"data/source_snapshots/festivals_20260820/69. 진도신비의바닷길축제_2023-2025/20260820182448_진도신비의바닷길축제_성_연령별 내국인 방문자.csv",</a:t>
            </a:r>
          </a:p>
          <a:p xmlns:a="http://schemas.openxmlformats.org/drawingml/2006/main">
            <a:r>
              <a:t>          "sha256": "cb3424e725c84352d81fdb987f6d3ade162f54f63a9590ac8730dddcfcc48ed7",</a:t>
            </a:r>
          </a:p>
          <a:p xmlns:a="http://schemas.openxmlformats.org/drawingml/2006/main">
            <a:r>
              <a:t>          "source_id": "festival-file:cb3424e725c84352d81f",</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"20260820182448_진도신비의바닷길축제_목적지 검색순위.csv",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"data/source_snapshots/festivals_20260820/69. 진도신비의바닷길축제_2023-2025/20260820182448_진도신비의바닷길축제_목적지 검색순위.csv",</a:t>
            </a:r>
          </a:p>
          <a:p xmlns:a="http://schemas.openxmlformats.org/drawingml/2006/main">
            <a:r>
              <a:t>          "sha256": "b8aa76a62ac8159da3b9234363c8c0026f70875997af88b4e750f2f6154c65ae",</a:t>
            </a:r>
          </a:p>
          <a:p xmlns:a="http://schemas.openxmlformats.org/drawingml/2006/main">
            <a:r>
              <a:t>          "source_id": "festival-file:b8aa76a62ac8159da3b9",</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"downloaded_at": "2026-08-20",</a:t>
            </a:r>
          </a:p>
          <a:p xmlns:a="http://schemas.openxmlformats.org/drawingml/2006/main">
            <a:r>
              <a:t>          "file_name": "20260820182448_진도신비의바닷길축제_문화관광축제 주요 지표.csv",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"data/source_snapshots/festivals_20260820/69. 진도신비의바닷길축제_2023-2025/20260820182448_진도신비의바닷길축제_문화관광축제 주요 지표.csv",</a:t>
            </a:r>
          </a:p>
          <a:p xmlns:a="http://schemas.openxmlformats.org/drawingml/2006/main">
            <a:r>
              <a:t>          "sha256": "c9332a0e0d15d1550b1b545b8b739cc6a919a13ca701800d87203b06b2fecd46",</a:t>
            </a:r>
          </a:p>
          <a:p xmlns:a="http://schemas.openxmlformats.org/drawingml/2006/main">
            <a:r>
              <a:t>          "source_id": "festival-file:c9332a0e0d15d1550b1b",</a:t>
            </a:r>
          </a:p>
          <a:p xmlns:a="http://schemas.openxmlformats.org/drawingml/2006/main">
            <a:r>
              <a:t>          "source_url": "https://datalab.visitkorea.or.kr/"</a:t>
            </a:r>
          </a:p>
          <a:p xmlns:a="http://schemas.openxmlformats.org/drawingml/2006/main">
            <a:r>
              <a:t>        }</a:t>
            </a:r>
          </a:p>
          <a:p xmlns:a="http://schemas.openxmlformats.org/drawingml/2006/main">
            <a:r>
              <a:t>      ],</a:t>
            </a:r>
          </a:p>
          <a:p xmlns:a="http://schemas.openxmlformats.org/drawingml/2006/main">
            <a:r>
              <a:t>      "retrieval_basis": {</a:t>
            </a:r>
          </a:p>
          <a:p xmlns:a="http://schemas.openxmlformats.org/drawingml/2006/main">
            <a:r>
              <a:t>        "kind": "external_benchmark",</a:t>
            </a:r>
          </a:p>
          <a:p xmlns:a="http://schemas.openxmlformats.org/drawingml/2006/main">
            <a:r>
              <a:t>        "score": 31,</a:t>
            </a:r>
          </a:p>
          <a:p xmlns:a="http://schemas.openxmlformats.org/drawingml/2006/main">
            <a:r>
              <a:t>        "components": {</a:t>
            </a:r>
          </a:p>
          <a:p xmlns:a="http://schemas.openxmlformats.org/drawingml/2006/main">
            <a:r>
              <a:t>          "방문 전망 조사: 외지인·일평균 동반 증가": 15,</a:t>
            </a:r>
          </a:p>
          <a:p xmlns:a="http://schemas.openxmlformats.org/drawingml/2006/main">
            <a:r>
              <a:t>          "최근 개최연도": 6,</a:t>
            </a:r>
          </a:p>
          <a:p xmlns:a="http://schemas.openxmlformats.org/drawingml/2006/main">
            <a:r>
              <a:t>          "방문 실적 비교 가능": 10</a:t>
            </a:r>
          </a:p>
          <a:p xmlns:a="http://schemas.openxmlformats.org/drawingml/2006/main">
            <a:r>
              <a:t>        },</a:t>
            </a:r>
          </a:p>
          <a:p xmlns:a="http://schemas.openxmlformats.org/drawingml/2006/main">
            <a:r>
              <a:t>        "theme": "자연·야외",</a:t>
            </a:r>
          </a:p>
          <a:p xmlns:a="http://schemas.openxmlformats.org/drawingml/2006/main">
            <a:r>
              <a:t>        "priority_signal": "visit",</a:t>
            </a:r>
          </a:p>
          <a:p xmlns:a="http://schemas.openxmlformats.org/drawingml/2006/main">
            <a:r>
              <a:t>        "rule": "함수 기반 조사 우선순위. 사업효과·인구/환경 유사도 점수가 아니며 소비·체류 개선은 조사 가설이다."</a:t>
            </a:r>
          </a:p>
          <a:p xmlns:a="http://schemas.openxmlformats.org/drawingml/2006/main">
            <a:r>
              <a:t>      },</a:t>
            </a:r>
          </a:p>
          <a:p xmlns:a="http://schemas.openxmlformats.org/drawingml/2006/main">
            <a:r>
              <a:t>      "festival_statistics": {</a:t>
            </a:r>
          </a:p>
          <a:p xmlns:a="http://schemas.openxmlformats.org/drawingml/2006/main">
            <a:r>
              <a:t>        "name": "진도신비의바닷길축제",</a:t>
            </a:r>
          </a:p>
          <a:p xmlns:a="http://schemas.openxmlformats.org/drawingml/2006/main">
            <a:r>
              <a:t>        "annual": [</a:t>
            </a:r>
          </a:p>
          <a:p xmlns:a="http://schemas.openxmlformats.org/drawingml/2006/main">
            <a:r>
              <a:t>          {</a:t>
            </a:r>
          </a:p>
          <a:p xmlns:a="http://schemas.openxmlformats.org/drawingml/2006/main">
            <a:r>
              <a:t>            "daily": 11185.333333333334,</a:t>
            </a:r>
          </a:p>
          <a:p xmlns:a="http://schemas.openxmlformats.org/drawingml/2006/main">
            <a:r>
              <a:t>            "days": 3,</a:t>
            </a:r>
          </a:p>
          <a:p xmlns:a="http://schemas.openxmlformats.org/drawingml/2006/main">
            <a:r>
              <a:t>            "foreign": 278.0,</a:t>
            </a:r>
          </a:p>
          <a:p xmlns:a="http://schemas.openxmlformats.org/drawingml/2006/main">
            <a:r>
              <a:t>            "local": 12120.0,</a:t>
            </a:r>
          </a:p>
          <a:p xmlns:a="http://schemas.openxmlformats.org/drawingml/2006/main">
            <a:r>
              <a:t>            "outside": 21158.0,</a:t>
            </a:r>
          </a:p>
          <a:p xmlns:a="http://schemas.openxmlformats.org/drawingml/2006/main">
            <a:r>
              <a:t>            "outside_daily": 7052.666666666667,</a:t>
            </a:r>
          </a:p>
          <a:p xmlns:a="http://schemas.openxmlformats.org/drawingml/2006/main">
            <a:r>
              <a:t>            "outside_share_pct": 63.05280724758613,</a:t>
            </a:r>
          </a:p>
          <a:p xmlns:a="http://schemas.openxmlformats.org/drawingml/2006/main">
            <a:r>
              <a:t>            "total": 33556.0,</a:t>
            </a:r>
          </a:p>
          <a:p xmlns:a="http://schemas.openxmlformats.org/drawingml/2006/main">
            <a:r>
              <a:t>            "year": 2023</a:t>
            </a:r>
          </a:p>
          <a:p xmlns:a="http://schemas.openxmlformats.org/drawingml/2006/main">
            <a:r>
              <a:t>          },</a:t>
            </a:r>
          </a:p>
          <a:p xmlns:a="http://schemas.openxmlformats.org/drawingml/2006/main">
            <a:r>
              <a:t>          {</a:t>
            </a:r>
          </a:p>
          <a:p xmlns:a="http://schemas.openxmlformats.org/drawingml/2006/main">
            <a:r>
              <a:t>            "daily": 9390.333333333334,</a:t>
            </a:r>
          </a:p>
          <a:p xmlns:a="http://schemas.openxmlformats.org/drawingml/2006/main">
            <a:r>
              <a:t>            "days": 3,</a:t>
            </a:r>
          </a:p>
          <a:p xmlns:a="http://schemas.openxmlformats.org/drawingml/2006/main">
            <a:r>
              <a:t>            "foreign": 223.0,</a:t>
            </a:r>
          </a:p>
          <a:p xmlns:a="http://schemas.openxmlformats.org/drawingml/2006/main">
            <a:r>
              <a:t>            "local": 13068.0,</a:t>
            </a:r>
          </a:p>
          <a:p xmlns:a="http://schemas.openxmlformats.org/drawingml/2006/main">
            <a:r>
              <a:t>            "outside": 14880.0,</a:t>
            </a:r>
          </a:p>
          <a:p xmlns:a="http://schemas.openxmlformats.org/drawingml/2006/main">
            <a:r>
              <a:t>            "outside_daily": 4960.0,</a:t>
            </a:r>
          </a:p>
          <a:p xmlns:a="http://schemas.openxmlformats.org/drawingml/2006/main">
            <a:r>
              <a:t>            "outside_share_pct": 52.82027617052998,</a:t>
            </a:r>
          </a:p>
          <a:p xmlns:a="http://schemas.openxmlformats.org/drawingml/2006/main">
            <a:r>
              <a:t>            "total": 28171.0,</a:t>
            </a:r>
          </a:p>
          <a:p xmlns:a="http://schemas.openxmlformats.org/drawingml/2006/main">
            <a:r>
              <a:t>            "year": 2024</a:t>
            </a:r>
          </a:p>
          <a:p xmlns:a="http://schemas.openxmlformats.org/drawingml/2006/main">
            <a:r>
              <a:t>          },</a:t>
            </a:r>
          </a:p>
          <a:p xmlns:a="http://schemas.openxmlformats.org/drawingml/2006/main">
            <a:r>
              <a:t>          {</a:t>
            </a:r>
          </a:p>
          <a:p xmlns:a="http://schemas.openxmlformats.org/drawingml/2006/main">
            <a:r>
              <a:t>            "daily": 10993.25,</a:t>
            </a:r>
          </a:p>
          <a:p xmlns:a="http://schemas.openxmlformats.org/drawingml/2006/main">
            <a:r>
              <a:t>            "days": 4,</a:t>
            </a:r>
          </a:p>
          <a:p xmlns:a="http://schemas.openxmlformats.org/drawingml/2006/main">
            <a:r>
              <a:t>            "foreign": 359.0,</a:t>
            </a:r>
          </a:p>
          <a:p xmlns:a="http://schemas.openxmlformats.org/drawingml/2006/main">
            <a:r>
              <a:t>            "local": 15345.0,</a:t>
            </a:r>
          </a:p>
          <a:p xmlns:a="http://schemas.openxmlformats.org/drawingml/2006/main">
            <a:r>
              <a:t>            "outside": 28269.0,</a:t>
            </a:r>
          </a:p>
          <a:p xmlns:a="http://schemas.openxmlformats.org/drawingml/2006/main">
            <a:r>
              <a:t>            "outside_daily": 7067.25,</a:t>
            </a:r>
          </a:p>
          <a:p xmlns:a="http://schemas.openxmlformats.org/drawingml/2006/main">
            <a:r>
              <a:t>            "outside_share_pct": 64.28717622177244,</a:t>
            </a:r>
          </a:p>
          <a:p xmlns:a="http://schemas.openxmlformats.org/drawingml/2006/main">
            <a:r>
              <a:t>            "total": 43973.0,</a:t>
            </a:r>
          </a:p>
          <a:p xmlns:a="http://schemas.openxmlformats.org/drawingml/2006/main">
            <a:r>
              <a:t>            "year": 2025</a:t>
            </a:r>
          </a:p>
          <a:p xmlns:a="http://schemas.openxmlformats.org/drawingml/2006/main">
            <a:r>
              <a:t>          }</a:t>
            </a:r>
          </a:p>
          <a:p xmlns:a="http://schemas.openxmlformats.org/drawingml/2006/main">
            <a:r>
              <a:t>        ],</a:t>
            </a:r>
          </a:p>
          <a:p xmlns:a="http://schemas.openxmlformats.org/drawingml/2006/main">
            <a:r>
              <a:t>        "comparison": {</a:t>
            </a:r>
          </a:p>
          <a:p xmlns:a="http://schemas.openxmlformats.org/drawingml/2006/main">
            <a:r>
              <a:t>          "after_days": 4,</a:t>
            </a:r>
          </a:p>
          <a:p xmlns:a="http://schemas.openxmlformats.org/drawingml/2006/main">
            <a:r>
              <a:t>          "after_year": 2025,</a:t>
            </a:r>
          </a:p>
          <a:p xmlns:a="http://schemas.openxmlformats.org/drawingml/2006/main">
            <a:r>
              <a:t>          "before_days": 3,</a:t>
            </a:r>
          </a:p>
          <a:p xmlns:a="http://schemas.openxmlformats.org/drawingml/2006/main">
            <a:r>
              <a:t>          "before_year": 2024,</a:t>
            </a:r>
          </a:p>
          <a:p xmlns:a="http://schemas.openxmlformats.org/drawingml/2006/main">
            <a:r>
              <a:t>          "daily": {</a:t>
            </a:r>
          </a:p>
          <a:p xmlns:a="http://schemas.openxmlformats.org/drawingml/2006/main">
            <a:r>
              <a:t>            "after": 10993.25,</a:t>
            </a:r>
          </a:p>
          <a:p xmlns:a="http://schemas.openxmlformats.org/drawingml/2006/main">
            <a:r>
              <a:t>            "before": 9390.333333333334,</a:t>
            </a:r>
          </a:p>
          <a:p xmlns:a="http://schemas.openxmlformats.org/drawingml/2006/main">
            <a:r>
              <a:t>            "change_pct": 17.069859074935213,</a:t>
            </a:r>
          </a:p>
          <a:p xmlns:a="http://schemas.openxmlformats.org/drawingml/2006/main">
            <a:r>
              <a:t>            "difference": 1602.916666666666</a:t>
            </a:r>
          </a:p>
          <a:p xmlns:a="http://schemas.openxmlformats.org/drawingml/2006/main">
            <a:r>
              <a:t>          },</a:t>
            </a:r>
          </a:p>
          <a:p xmlns:a="http://schemas.openxmlformats.org/drawingml/2006/main">
            <a:r>
              <a:t>          "outside": {</a:t>
            </a:r>
          </a:p>
          <a:p xmlns:a="http://schemas.openxmlformats.org/drawingml/2006/main">
            <a:r>
              <a:t>            "after": 28269.0,</a:t>
            </a:r>
          </a:p>
          <a:p xmlns:a="http://schemas.openxmlformats.org/drawingml/2006/main">
            <a:r>
              <a:t>            "before": 14880.0,</a:t>
            </a:r>
          </a:p>
          <a:p xmlns:a="http://schemas.openxmlformats.org/drawingml/2006/main">
            <a:r>
              <a:t>            "change_pct": 89.97983870967742,</a:t>
            </a:r>
          </a:p>
          <a:p xmlns:a="http://schemas.openxmlformats.org/drawingml/2006/main">
            <a:r>
              <a:t>            "difference": 13389.0</a:t>
            </a:r>
          </a:p>
          <a:p xmlns:a="http://schemas.openxmlformats.org/drawingml/2006/main">
            <a:r>
              <a:t>          },</a:t>
            </a:r>
          </a:p>
          <a:p xmlns:a="http://schemas.openxmlformats.org/drawingml/2006/main">
            <a:r>
              <a:t>          "outside_daily": {</a:t>
            </a:r>
          </a:p>
          <a:p xmlns:a="http://schemas.openxmlformats.org/drawingml/2006/main">
            <a:r>
              <a:t>            "after": 7067.25,</a:t>
            </a:r>
          </a:p>
          <a:p xmlns:a="http://schemas.openxmlformats.org/drawingml/2006/main">
            <a:r>
              <a:t>            "before": 4960.0,</a:t>
            </a:r>
          </a:p>
          <a:p xmlns:a="http://schemas.openxmlformats.org/drawingml/2006/main">
            <a:r>
              <a:t>            "change_pct": 42.484879032258064,</a:t>
            </a:r>
          </a:p>
          <a:p xmlns:a="http://schemas.openxmlformats.org/drawingml/2006/main">
            <a:r>
              <a:t>            "difference": 2107.25</a:t>
            </a:r>
          </a:p>
          <a:p xmlns:a="http://schemas.openxmlformats.org/drawingml/2006/main">
            <a:r>
              <a:t>          },</a:t>
            </a:r>
          </a:p>
          <a:p xmlns:a="http://schemas.openxmlformats.org/drawingml/2006/main">
            <a:r>
              <a:t>          "total": {</a:t>
            </a:r>
          </a:p>
          <a:p xmlns:a="http://schemas.openxmlformats.org/drawingml/2006/main">
            <a:r>
              <a:t>            "after": 43973.0,</a:t>
            </a:r>
          </a:p>
          <a:p xmlns:a="http://schemas.openxmlformats.org/drawingml/2006/main">
            <a:r>
              <a:t>            "before": 28171.0,</a:t>
            </a:r>
          </a:p>
          <a:p xmlns:a="http://schemas.openxmlformats.org/drawingml/2006/main">
            <a:r>
              <a:t>            "change_pct": 56.093145433246946,</a:t>
            </a:r>
          </a:p>
          <a:p xmlns:a="http://schemas.openxmlformats.org/drawingml/2006/main">
            <a:r>
              <a:t>            "difference": 15802.0</a:t>
            </a:r>
          </a:p>
          <a:p xmlns:a="http://schemas.openxmlformats.org/drawingml/2006/main">
            <a:r>
              <a:t>          }</a:t>
            </a:r>
          </a:p>
          <a:p xmlns:a="http://schemas.openxmlformats.org/drawingml/2006/main">
            <a:r>
              <a:t>        },</a:t>
            </a:r>
          </a:p>
          <a:p xmlns:a="http://schemas.openxmlformats.org/drawingml/2006/main">
            <a:r>
              <a:t>        "scope": "축제 관측구역 방문 지표. 도시 전체·순증 관광객·입장권 실구매자 수가 아님.",</a:t>
            </a:r>
          </a:p>
          <a:p xmlns:a="http://schemas.openxmlformats.org/drawingml/2006/main">
            <a:r>
              <a:t>        "region_basis": "목적지 검색 CSV의 시도+시군구 최빈 주소; 행사장 행정경계 확정은 아님",</a:t>
            </a:r>
          </a:p>
          <a:p xmlns:a="http://schemas.openxmlformats.org/drawingml/2006/main">
            <a:r>
              <a:t>        "source_file": {</a:t>
            </a:r>
          </a:p>
          <a:p xmlns:a="http://schemas.openxmlformats.org/drawingml/2006/main">
            <a:r>
              <a:t>          "downloaded_at": "2026-08-20",</a:t>
            </a:r>
          </a:p>
          <a:p xmlns:a="http://schemas.openxmlformats.org/drawingml/2006/main">
            <a:r>
              <a:t>          "file_name": "20260820182448_진도신비의바닷길축제_연도별 방문자 추이.csv",</a:t>
            </a:r>
          </a:p>
          <a:p xmlns:a="http://schemas.openxmlformats.org/drawingml/2006/main">
            <a:r>
              <a:t>          "provenance_status": "team_download_exact_query_url_unrecorded",</a:t>
            </a:r>
          </a:p>
          <a:p xmlns:a="http://schemas.openxmlformats.org/drawingml/2006/main">
            <a:r>
              <a:t>          "provider": "한국관광 데이터랩",</a:t>
            </a:r>
          </a:p>
          <a:p xmlns:a="http://schemas.openxmlformats.org/drawingml/2006/main">
            <a:r>
              <a:t>          "relative_path": "data/source_snapshots/festivals_20260820/69. 진도신비의바닷길축제_2023-2025/20260820182448_진도신비의바닷길축제_연도별 방문자 추이.csv",</a:t>
            </a:r>
          </a:p>
          <a:p xmlns:a="http://schemas.openxmlformats.org/drawingml/2006/main">
            <a:r>
              <a:t>          "sha256": "3cf7484d808e807aeffda7504a3d316839b9220f0f7a72550f5387af3ee3f8d9",</a:t>
            </a:r>
          </a:p>
          <a:p xmlns:a="http://schemas.openxmlformats.org/drawingml/2006/main">
            <a:r>
              <a:t>          "source_id": "festival-file:3cf7484d808e807aeffd",</a:t>
            </a:r>
          </a:p>
          <a:p xmlns:a="http://schemas.openxmlformats.org/drawingml/2006/main">
            <a:r>
              <a:t>          "source_url": "https://datalab.visitkorea.or.kr/"</a:t>
            </a:r>
          </a:p>
          <a:p xmlns:a="http://schemas.openxmlformats.org/drawingml/2006/main">
            <a:r>
              <a:t>        },</a:t>
            </a:r>
          </a:p>
          <a:p xmlns:a="http://schemas.openxmlformats.org/drawingml/2006/main">
            <a:r>
              <a:t>        "indicator_values":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"축제기간",</a:t>
            </a:r>
          </a:p>
          <a:p xmlns:a="http://schemas.openxmlformats.org/drawingml/2006/main">
            <a:r>
              <a:t>            "지표값": "0.568",</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"축제기간",</a:t>
            </a:r>
          </a:p>
          <a:p xmlns:a="http://schemas.openxmlformats.org/drawingml/2006/main">
            <a:r>
              <a:t>            "지표값": "0.858",</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"축제기간",</a:t>
            </a:r>
          </a:p>
          <a:p xmlns:a="http://schemas.openxmlformats.org/drawingml/2006/main">
            <a:r>
              <a:t>            "지표값": "0.513",</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"축제기간",</a:t>
            </a:r>
          </a:p>
          <a:p xmlns:a="http://schemas.openxmlformats.org/drawingml/2006/main">
            <a:r>
              <a:t>            "지표값": "0.283",</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"축제기간",</a:t>
            </a:r>
          </a:p>
          <a:p xmlns:a="http://schemas.openxmlformats.org/drawingml/2006/main">
            <a:r>
              <a:t>            "지표값": "0.791",</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"외부방문자 유입",</a:t>
            </a:r>
          </a:p>
          <a:p xmlns:a="http://schemas.openxmlformats.org/drawingml/2006/main">
            <a:r>
              <a:t>            "그룹명": "비축제기간",</a:t>
            </a:r>
          </a:p>
          <a:p xmlns:a="http://schemas.openxmlformats.org/drawingml/2006/main">
            <a:r>
              <a:t>            "지표값": "0.137",</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"현지인방문자 유입",</a:t>
            </a:r>
          </a:p>
          <a:p xmlns:a="http://schemas.openxmlformats.org/drawingml/2006/main">
            <a:r>
              <a:t>            "그룹명": "비축제기간",</a:t>
            </a:r>
          </a:p>
          <a:p xmlns:a="http://schemas.openxmlformats.org/drawingml/2006/main">
            <a:r>
              <a:t>            "지표값": "0.472",</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"내비게이션 검색량",</a:t>
            </a:r>
          </a:p>
          <a:p xmlns:a="http://schemas.openxmlformats.org/drawingml/2006/main">
            <a:r>
              <a:t>            "그룹명": "비축제기간",</a:t>
            </a:r>
          </a:p>
          <a:p xmlns:a="http://schemas.openxmlformats.org/drawingml/2006/main">
            <a:r>
              <a:t>            "지표값": "0.06",</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"관광소비",</a:t>
            </a:r>
          </a:p>
          <a:p xmlns:a="http://schemas.openxmlformats.org/drawingml/2006/main">
            <a:r>
              <a:t>            "그룹명": "비축제기간",</a:t>
            </a:r>
          </a:p>
          <a:p xmlns:a="http://schemas.openxmlformats.org/drawingml/2006/main">
            <a:r>
              <a:t>            "지표값": "0.212",</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"개최년도": "2025",</a:t>
            </a:r>
          </a:p>
          <a:p xmlns:a="http://schemas.openxmlformats.org/drawingml/2006/main">
            <a:r>
              <a:t>            "구분명": "축제지 집중률",</a:t>
            </a:r>
          </a:p>
          <a:p xmlns:a="http://schemas.openxmlformats.org/drawingml/2006/main">
            <a:r>
              <a:t>            "그룹명": "비축제기간",</a:t>
            </a:r>
          </a:p>
          <a:p xmlns:a="http://schemas.openxmlformats.org/drawingml/2006/main">
            <a:r>
              <a:t>            "지표값": "0.269",</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"indicator_rule": "원본 지표값만 보존. 산식·단위 미확인으로 성장률/원화/정원/참여율 변환 금지.",</a:t>
            </a:r>
          </a:p>
          <a:p xmlns:a="http://schemas.openxmlformats.org/drawingml/2006/main">
            <a:r>
              <a:t>        "audience": [</a:t>
            </a:r>
          </a:p>
          <a:p xmlns:a="http://schemas.openxmlformats.org/drawingml/2006/main">
            <a:r>
              <a:t>          {</a:t>
            </a:r>
          </a:p>
          <a:p xmlns:a="http://schemas.openxmlformats.org/drawingml/2006/main">
            <a:r>
              <a:t>            "남성비율": "7.4",</a:t>
            </a:r>
          </a:p>
          <a:p xmlns:a="http://schemas.openxmlformats.org/drawingml/2006/main">
            <a:r>
              <a:t>            "여성비율": "6.8",</a:t>
            </a:r>
          </a:p>
          <a:p xmlns:a="http://schemas.openxmlformats.org/drawingml/2006/main">
            <a:r>
              <a:t>            "연령대": "70세 이상",</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"남성비율": "13.8",</a:t>
            </a:r>
          </a:p>
          <a:p xmlns:a="http://schemas.openxmlformats.org/drawingml/2006/main">
            <a:r>
              <a:t>            "여성비율": "14.3",</a:t>
            </a:r>
          </a:p>
          <a:p xmlns:a="http://schemas.openxmlformats.org/drawingml/2006/main">
            <a:r>
              <a:t>            "연령대": "60~69세",</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"남성비율": "10.7",</a:t>
            </a:r>
          </a:p>
          <a:p xmlns:a="http://schemas.openxmlformats.org/drawingml/2006/main">
            <a:r>
              <a:t>            "여성비율": "11.5",</a:t>
            </a:r>
          </a:p>
          <a:p xmlns:a="http://schemas.openxmlformats.org/drawingml/2006/main">
            <a:r>
              <a:t>            "연령대": "50~59세",</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"남성비율": "7.7",</a:t>
            </a:r>
          </a:p>
          <a:p xmlns:a="http://schemas.openxmlformats.org/drawingml/2006/main">
            <a:r>
              <a:t>            "여성비율": "4.9",</a:t>
            </a:r>
          </a:p>
          <a:p xmlns:a="http://schemas.openxmlformats.org/drawingml/2006/main">
            <a:r>
              <a:t>            "연령대": "40~49세",</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"남성비율": "6.8",</a:t>
            </a:r>
          </a:p>
          <a:p xmlns:a="http://schemas.openxmlformats.org/drawingml/2006/main">
            <a:r>
              <a:t>            "여성비율": "4.2",</a:t>
            </a:r>
          </a:p>
          <a:p xmlns:a="http://schemas.openxmlformats.org/drawingml/2006/main">
            <a:r>
              <a:t>            "연령대": "30~39세",</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"남성비율": "5.3",</a:t>
            </a:r>
          </a:p>
          <a:p xmlns:a="http://schemas.openxmlformats.org/drawingml/2006/main">
            <a:r>
              <a:t>            "여성비율": "3.0",</a:t>
            </a:r>
          </a:p>
          <a:p xmlns:a="http://schemas.openxmlformats.org/drawingml/2006/main">
            <a:r>
              <a:t>            "연령대": "20~29세",</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"남성비율": "1.3",</a:t>
            </a:r>
          </a:p>
          <a:p xmlns:a="http://schemas.openxmlformats.org/drawingml/2006/main">
            <a:r>
              <a:t>            "여성비율": "1.3",</a:t>
            </a:r>
          </a:p>
          <a:p xmlns:a="http://schemas.openxmlformats.org/drawingml/2006/main">
            <a:r>
              <a:t>            "연령대": "10~19세",</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"남성비율": "0.5",</a:t>
            </a:r>
          </a:p>
          <a:p xmlns:a="http://schemas.openxmlformats.org/drawingml/2006/main">
            <a:r>
              <a:t>            "여성비율": "0.4",</a:t>
            </a:r>
          </a:p>
          <a:p xmlns:a="http://schemas.openxmlformats.org/drawingml/2006/main">
            <a:r>
              <a:t>            "연령대": "0~9세",</a:t>
            </a:r>
          </a:p>
          <a:p xmlns:a="http://schemas.openxmlformats.org/drawingml/2006/main">
            <a:r>
              <a:t>            "축제명": "진도신비의바닷길축제"</a:t>
            </a:r>
          </a:p>
          <a:p xmlns:a="http://schemas.openxmlformats.org/drawingml/2006/main">
            <a:r>
              <a:t>          }</a:t>
            </a:r>
          </a:p>
          <a:p xmlns:a="http://schemas.openxmlformats.org/drawingml/2006/main">
            <a:r>
              <a:t>        ],</a:t>
            </a:r>
          </a:p>
          <a:p xmlns:a="http://schemas.openxmlformats.org/drawingml/2006/main">
            <a:r>
              <a:t>        "audience_period": "다운로드 CSV에 연도 열 없음; 최신 개최연도와 자동 결합하지 않음",</a:t>
            </a:r>
          </a:p>
          <a:p xmlns:a="http://schemas.openxmlformats.org/drawingml/2006/main">
            <a:r>
              <a:t>        "destination_examples": [</a:t>
            </a:r>
          </a:p>
          <a:p xmlns:a="http://schemas.openxmlformats.org/drawingml/2006/main">
            <a:r>
              <a:t>          {</a:t>
            </a:r>
          </a:p>
          <a:p xmlns:a="http://schemas.openxmlformats.org/drawingml/2006/main">
            <a:r>
              <a:t>            "구분": "외지인",</a:t>
            </a:r>
          </a:p>
          <a:p xmlns:a="http://schemas.openxmlformats.org/drawingml/2006/main">
            <a:r>
              <a:t>            "순위": "1",</a:t>
            </a:r>
          </a:p>
          <a:p xmlns:a="http://schemas.openxmlformats.org/drawingml/2006/main">
            <a:r>
              <a:t>            "목적지명": "진도신비의바닷길축제",</a:t>
            </a:r>
          </a:p>
          <a:p xmlns:a="http://schemas.openxmlformats.org/drawingml/2006/main">
            <a:r>
              <a:t>            "도로명주소": "전남 진도군 신비의바닷길 74-0",</a:t>
            </a:r>
          </a:p>
          <a:p xmlns:a="http://schemas.openxmlformats.org/drawingml/2006/main">
            <a:r>
              <a:t>            "카테고리": "기타문화관광지"</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"2",</a:t>
            </a:r>
          </a:p>
          <a:p xmlns:a="http://schemas.openxmlformats.org/drawingml/2006/main">
            <a:r>
              <a:t>            "목적지명": "진도신비의바닷길",</a:t>
            </a:r>
          </a:p>
          <a:p xmlns:a="http://schemas.openxmlformats.org/drawingml/2006/main">
            <a:r>
              <a:t>            "도로명주소": "전남 진도군",</a:t>
            </a:r>
          </a:p>
          <a:p xmlns:a="http://schemas.openxmlformats.org/drawingml/2006/main">
            <a:r>
              <a:t>            "카테고리": "테마공원"</a:t>
            </a:r>
          </a:p>
          <a:p xmlns:a="http://schemas.openxmlformats.org/drawingml/2006/main">
            <a:r>
              <a:t>          },</a:t>
            </a:r>
          </a:p>
          <a:p xmlns:a="http://schemas.openxmlformats.org/drawingml/2006/main">
            <a:r>
              <a:t>          {</a:t>
            </a:r>
          </a:p>
          <a:p xmlns:a="http://schemas.openxmlformats.org/drawingml/2006/main">
            <a:r>
              <a:t>            "구분": "외지인",</a:t>
            </a:r>
          </a:p>
          <a:p xmlns:a="http://schemas.openxmlformats.org/drawingml/2006/main">
            <a:r>
              <a:t>            "순위": "3",</a:t>
            </a:r>
          </a:p>
          <a:p xmlns:a="http://schemas.openxmlformats.org/drawingml/2006/main">
            <a:r>
              <a:t>            "목적지명": "가계해변",</a:t>
            </a:r>
          </a:p>
          <a:p xmlns:a="http://schemas.openxmlformats.org/drawingml/2006/main">
            <a:r>
              <a:t>            "도로명주소": "전남 진도군 신비의바닷길 0-0",</a:t>
            </a:r>
          </a:p>
          <a:p xmlns:a="http://schemas.openxmlformats.org/drawingml/2006/main">
            <a:r>
              <a:t>            "카테고리": "자연경관(하천/해양)"</a:t>
            </a:r>
          </a:p>
          <a:p xmlns:a="http://schemas.openxmlformats.org/drawingml/2006/main">
            <a:r>
              <a:t>          }</a:t>
            </a:r>
          </a:p>
          <a:p xmlns:a="http://schemas.openxmlformats.org/drawingml/2006/main">
            <a:r>
              <a:t>        ],</a:t>
            </a:r>
          </a:p>
          <a:p xmlns:a="http://schemas.openxmlformats.org/drawingml/2006/main">
            <a:r>
              <a:t>        "destination_period": "다운로드 CSV에 연도 열 없음; 주변 검색 후보이며 제휴·실제 방문 증거 아님"</a:t>
            </a:r>
          </a:p>
          <a:p xmlns:a="http://schemas.openxmlformats.org/drawingml/2006/main">
            <a:r>
              <a:t>      },</a:t>
            </a:r>
          </a:p>
          <a:p xmlns:a="http://schemas.openxmlformats.org/drawingml/2006/main">
            <a:r>
              <a:t>      "source_type": "benchmark_case",</a:t>
            </a:r>
          </a:p>
          <a:p xmlns:a="http://schemas.openxmlformats.org/drawingml/2006/main">
            <a:r>
              <a:t>      "title": "한국관광 데이터랩 · 진도신비의바닷길축제 방문자 추이",</a:t>
            </a:r>
          </a:p>
          <a:p xmlns:a="http://schemas.openxmlformats.org/drawingml/2006/main">
            <a:r>
              <a:t>      "summary": "2024→2025년 전체 28,171→43,973명 (+56.09%). 개최 3→4일, 일평균 +17.07%, 외지인 +89.98%."</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0.02323573257890193,</a:t>
            </a:r>
          </a:p>
          <a:p xmlns:a="http://schemas.openxmlformats.org/drawingml/2006/main">
            <a:r>
              <a:t>    "spending_target_pct": 0.04851529703080466,</a:t>
            </a:r>
          </a:p>
          <a:p xmlns:a="http://schemas.openxmlformats.org/drawingml/2006/main">
            <a:r>
              <a:t>    "target_origin": "operating_capacity"</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case:festival:394c5c43788b4e | 한국관광 데이터랩 · 탐라문화제 방문자 추이 | https://datalab.visitkorea.or.kr/</a:t>
            </a:r>
          </a:p>
          <a:p>
            <a:r>
              <a:t>case:festival:01474ef75569b1 | 한국관광 데이터랩 · 문경찻사발축제 방문자 추이 | https://datalab.visitkorea.or.kr/</a:t>
            </a:r>
          </a:p>
          <a:p>
            <a:r>
              <a:t>case:festival:0e9c7c065555b0 | 한국관광 데이터랩 · 안동탈춤축제 방문자 추이 | https://datalab.visitkorea.or.kr/</a:t>
            </a:r>
          </a:p>
          <a:p>
            <a:r>
              <a:t>case:festival:1ff9d11d3ee0ee | 한국관광 데이터랩 · 진도신비의바닷길축제 방문자 추이 | https://datalab.visitkorea.or.kr/</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"case:festival:394c5c43788b4e",</a:t>
            </a:r>
          </a:p>
          <a:p>
            <a:r>
              <a:t>      "document_type": "case_study",</a:t>
            </a:r>
          </a:p>
          <a:p>
            <a:r>
              <a:t>      "evidence_kind": "festival_statistics",</a:t>
            </a:r>
          </a:p>
          <a:p>
            <a:r>
              <a:t>      "retrieval_method": "datalab_festival_table",</a:t>
            </a:r>
          </a:p>
          <a:p>
            <a:r>
              <a:t>      "region_code": "50110",</a:t>
            </a:r>
          </a:p>
          <a:p>
            <a:r>
              <a:t>      "region_name": "제주특별자치도 제주시",</a:t>
            </a:r>
          </a:p>
          <a:p>
            <a:r>
              <a:t>      "case_region": "제주특별자치도 제주시",</a:t>
            </a:r>
          </a:p>
          <a:p>
            <a:r>
              <a:t>      "intervention": "탐라문화제",</a:t>
            </a:r>
          </a:p>
          <a:p>
            <a:r>
              <a:t>      "problem_addressed": "선택 지역의 기존 축제 현황 · 공연·문화",</a:t>
            </a:r>
          </a:p>
          <a:p>
            <a:r>
              <a:t>      "target_group": "축제 관측구역 방문자(현지인·외지인·외국인 구분)",</a:t>
            </a:r>
          </a:p>
          <a:p>
            <a:r>
              <a:t>      "operating_model": "탐라문화제를 2025년 5일 개최한 문화관광축제 운영 사례. 세부 프로그램·예약·혜택은 이 CSV에 기록되어 있지 않으며 새로운 운영안은 제안으로 구분한다.",</a:t>
            </a:r>
          </a:p>
          <a:p>
            <a:r>
              <a:t>      "duration": "2025년 5일",</a:t>
            </a:r>
          </a:p>
          <a:p>
            <a:r>
              <a:t>      "public_budget": "CSV에 사업비 없음",</a:t>
            </a:r>
          </a:p>
          <a:p>
            <a:r>
              <a:t>      "observed_result": "2024→2025년 전체 166,050→133,245명 (-19.76%). 개최 5→5일, 일평균 -19.76%, 외지인 -0.40%.",</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탐라문화제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"20260820183300_탐라문화제_연도별 방문자 추이.csv",</a:t>
            </a:r>
          </a:p>
          <a:p>
            <a:r>
              <a:t>          "provenance_status": "team_download_exact_query_url_unrecorded",</a:t>
            </a:r>
          </a:p>
          <a:p>
            <a:r>
              <a:t>          "provider": "한국관광 데이터랩",</a:t>
            </a:r>
          </a:p>
          <a:p>
            <a:r>
              <a:t>          "relative_path": "data/source_snapshots/festivals_20260820/77. 탐라문화제_2023-2025/20260820183300_탐라문화제_연도별 방문자 추이.csv",</a:t>
            </a:r>
          </a:p>
          <a:p>
            <a:r>
              <a:t>          "sha256": "d6f7a30cf5328ffb863d707cf8f0987af509d9b014ebe7c6eed7e65610518aa9",</a:t>
            </a:r>
          </a:p>
          <a:p>
            <a:r>
              <a:t>          "source_id": "festival-file:d6f7a30cf5328ffb863d",</a:t>
            </a:r>
          </a:p>
          <a:p>
            <a:r>
              <a:t>          "source_url": "https://datalab.visitkorea.or.kr/"</a:t>
            </a:r>
          </a:p>
          <a:p>
            <a:r>
              <a:t>        },</a:t>
            </a:r>
          </a:p>
          <a:p>
            <a:r>
              <a:t>        {</a:t>
            </a:r>
          </a:p>
          <a:p>
            <a:r>
              <a:t>          "downloaded_at": "2026-08-20",</a:t>
            </a:r>
          </a:p>
          <a:p>
            <a:r>
              <a:t>          "file_name": "20260820183300_탐라문화제_성_연령별 내국인 방문자.csv",</a:t>
            </a:r>
          </a:p>
          <a:p>
            <a:r>
              <a:t>          "provenance_status": "team_download_exact_query_url_unrecorded",</a:t>
            </a:r>
          </a:p>
          <a:p>
            <a:r>
              <a:t>          "provider": "한국관광 데이터랩",</a:t>
            </a:r>
          </a:p>
          <a:p>
            <a:r>
              <a:t>          "relative_path": "data/source_snapshots/festivals_20260820/77. 탐라문화제_2023-2025/20260820183300_탐라문화제_성_연령별 내국인 방문자.csv",</a:t>
            </a:r>
          </a:p>
          <a:p>
            <a:r>
              <a:t>          "sha256": "c6a7ef43f1907d8c23587d7097e2d4e9d5ad6510e8f7c8ea4d7588881c869e55",</a:t>
            </a:r>
          </a:p>
          <a:p>
            <a:r>
              <a:t>          "source_id": "festival-file:c6a7ef43f1907d8c2358",</a:t>
            </a:r>
          </a:p>
          <a:p>
            <a:r>
              <a:t>          "source_url": "https://datalab.visitkorea.or.kr/"</a:t>
            </a:r>
          </a:p>
          <a:p>
            <a:r>
              <a:t>        },</a:t>
            </a:r>
          </a:p>
          <a:p>
            <a:r>
              <a:t>        {</a:t>
            </a:r>
          </a:p>
          <a:p>
            <a:r>
              <a:t>          "downloaded_at": "2026-08-20",</a:t>
            </a:r>
          </a:p>
          <a:p>
            <a:r>
              <a:t>          "file_name": "20260820183300_탐라문화제_목적지 검색순위.csv",</a:t>
            </a:r>
          </a:p>
          <a:p>
            <a:r>
              <a:t>          "provenance_status": "team_download_exact_query_url_unrecorded",</a:t>
            </a:r>
          </a:p>
          <a:p>
            <a:r>
              <a:t>          "provider": "한국관광 데이터랩",</a:t>
            </a:r>
          </a:p>
          <a:p>
            <a:r>
              <a:t>          "relative_path": "data/source_snapshots/festivals_20260820/77. 탐라문화제_2023-2025/20260820183300_탐라문화제_목적지 검색순위.csv",</a:t>
            </a:r>
          </a:p>
          <a:p>
            <a:r>
              <a:t>          "sha256": "2328823a2091babc37a8326a925721547b0c433ce1f7ad1bed58c4d446eef0b7",</a:t>
            </a:r>
          </a:p>
          <a:p>
            <a:r>
              <a:t>          "source_id": "festival-file:2328823a2091babc37a8",</a:t>
            </a:r>
          </a:p>
          <a:p>
            <a:r>
              <a:t>          "source_url": "https://datalab.visitkorea.or.kr/"</a:t>
            </a:r>
          </a:p>
          <a:p>
            <a:r>
              <a:t>        },</a:t>
            </a:r>
          </a:p>
          <a:p>
            <a:r>
              <a:t>        {</a:t>
            </a:r>
          </a:p>
          <a:p>
            <a:r>
              <a:t>          "downloaded_at": "2026-08-20",</a:t>
            </a:r>
          </a:p>
          <a:p>
            <a:r>
              <a:t>          "file_name": "20260820183300_탐라문화제_문화관광축제 주요 지표.csv",</a:t>
            </a:r>
          </a:p>
          <a:p>
            <a:r>
              <a:t>          "provenance_status": "team_download_exact_query_url_unrecorded",</a:t>
            </a:r>
          </a:p>
          <a:p>
            <a:r>
              <a:t>          "provider": "한국관광 데이터랩",</a:t>
            </a:r>
          </a:p>
          <a:p>
            <a:r>
              <a:t>          "relative_path": "data/source_snapshots/festivals_20260820/77. 탐라문화제_2023-2025/20260820183300_탐라문화제_문화관광축제 주요 지표.csv",</a:t>
            </a:r>
          </a:p>
          <a:p>
            <a:r>
              <a:t>          "sha256": "31118c09b772aa0cd272a1d50ba5f6c09038d11466ca7dff9b193547e90bd731",</a:t>
            </a:r>
          </a:p>
          <a:p>
            <a:r>
              <a:t>          "source_id": "festival-file:31118c09b772aa0cd272",</a:t>
            </a:r>
          </a:p>
          <a:p>
            <a:r>
              <a:t>          "source_url": "https://datalab.visitkorea.or.kr/"</a:t>
            </a:r>
          </a:p>
          <a:p>
            <a:r>
              <a:t>        }</a:t>
            </a:r>
          </a:p>
          <a:p>
            <a:r>
              <a:t>      ],</a:t>
            </a:r>
          </a:p>
          <a:p>
            <a:r>
              <a:t>      "retrieval_basis": {</a:t>
            </a:r>
          </a:p>
          <a:p>
            <a:r>
              <a:t>        "kind": "local_context",</a:t>
            </a:r>
          </a:p>
          <a:p>
            <a:r>
              <a:t>        "score": 16,</a:t>
            </a:r>
          </a:p>
          <a:p>
            <a:r>
              <a:t>        "components": {</a:t>
            </a:r>
          </a:p>
          <a:p>
            <a:r>
              <a:t>          "같은 시도 조사 맥락": 10,</a:t>
            </a:r>
          </a:p>
          <a:p>
            <a:r>
              <a:t>          "최근 개최연도": 6</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"festival_statistics": {</a:t>
            </a:r>
          </a:p>
          <a:p>
            <a:r>
              <a:t>        "name": "탐라문화제",</a:t>
            </a:r>
          </a:p>
          <a:p>
            <a:r>
              <a:t>        "annual": [</a:t>
            </a:r>
          </a:p>
          <a:p>
            <a:r>
              <a:t>          {</a:t>
            </a:r>
          </a:p>
          <a:p>
            <a:r>
              <a:t>            "daily": 25015.0,</a:t>
            </a:r>
          </a:p>
          <a:p>
            <a:r>
              <a:t>            "days": 5,</a:t>
            </a:r>
          </a:p>
          <a:p>
            <a:r>
              <a:t>            "foreign": 5148.0,</a:t>
            </a:r>
          </a:p>
          <a:p>
            <a:r>
              <a:t>            "local": 74290.0,</a:t>
            </a:r>
          </a:p>
          <a:p>
            <a:r>
              <a:t>            "outside": 45637.0,</a:t>
            </a:r>
          </a:p>
          <a:p>
            <a:r>
              <a:t>            "outside_daily": 9127.4,</a:t>
            </a:r>
          </a:p>
          <a:p>
            <a:r>
              <a:t>            "outside_share_pct": 36.48770737557466,</a:t>
            </a:r>
          </a:p>
          <a:p>
            <a:r>
              <a:t>            "total": 125075.0,</a:t>
            </a:r>
          </a:p>
          <a:p>
            <a:r>
              <a:t>            "year": 2023</a:t>
            </a:r>
          </a:p>
          <a:p>
            <a:r>
              <a:t>          },</a:t>
            </a:r>
          </a:p>
          <a:p>
            <a:r>
              <a:t>          {</a:t>
            </a:r>
          </a:p>
          <a:p>
            <a:r>
              <a:t>            "daily": 33210.0,</a:t>
            </a:r>
          </a:p>
          <a:p>
            <a:r>
              <a:t>            "days": 5,</a:t>
            </a:r>
          </a:p>
          <a:p>
            <a:r>
              <a:t>            "foreign": 10569.0,</a:t>
            </a:r>
          </a:p>
          <a:p>
            <a:r>
              <a:t>            "local": 110482.0,</a:t>
            </a:r>
          </a:p>
          <a:p>
            <a:r>
              <a:t>            "outside": 44999.0,</a:t>
            </a:r>
          </a:p>
          <a:p>
            <a:r>
              <a:t>            "outside_daily": 8999.8,</a:t>
            </a:r>
          </a:p>
          <a:p>
            <a:r>
              <a:t>            "outside_share_pct": 27.099668774465524,</a:t>
            </a:r>
          </a:p>
          <a:p>
            <a:r>
              <a:t>            "total": 166050.0,</a:t>
            </a:r>
          </a:p>
          <a:p>
            <a:r>
              <a:t>            "year": 2024</a:t>
            </a:r>
          </a:p>
          <a:p>
            <a:r>
              <a:t>          },</a:t>
            </a:r>
          </a:p>
          <a:p>
            <a:r>
              <a:t>          {</a:t>
            </a:r>
          </a:p>
          <a:p>
            <a:r>
              <a:t>            "daily": 26649.0,</a:t>
            </a:r>
          </a:p>
          <a:p>
            <a:r>
              <a:t>            "days": 5,</a:t>
            </a:r>
          </a:p>
          <a:p>
            <a:r>
              <a:t>            "foreign": 11781.0,</a:t>
            </a:r>
          </a:p>
          <a:p>
            <a:r>
              <a:t>            "local": 76647.0,</a:t>
            </a:r>
          </a:p>
          <a:p>
            <a:r>
              <a:t>            "outside": 44817.0,</a:t>
            </a:r>
          </a:p>
          <a:p>
            <a:r>
              <a:t>            "outside_daily": 8963.4,</a:t>
            </a:r>
          </a:p>
          <a:p>
            <a:r>
              <a:t>            "outside_share_pct": 33.635033209501294,</a:t>
            </a:r>
          </a:p>
          <a:p>
            <a:r>
              <a:t>            "total": 133245.0,</a:t>
            </a:r>
          </a:p>
          <a:p>
            <a:r>
              <a:t>            "year": 2025</a:t>
            </a:r>
          </a:p>
          <a:p>
            <a:r>
              <a:t>          }</a:t>
            </a:r>
          </a:p>
          <a:p>
            <a:r>
              <a:t>        ],</a:t>
            </a:r>
          </a:p>
          <a:p>
            <a:r>
              <a:t>        "comparison": {</a:t>
            </a:r>
          </a:p>
          <a:p>
            <a:r>
              <a:t>          "after_days": 5,</a:t>
            </a:r>
          </a:p>
          <a:p>
            <a:r>
              <a:t>          "after_year": 2025,</a:t>
            </a:r>
          </a:p>
          <a:p>
            <a:r>
              <a:t>          "before_days": 5,</a:t>
            </a:r>
          </a:p>
          <a:p>
            <a:r>
              <a:t>          "before_year": 2024,</a:t>
            </a:r>
          </a:p>
          <a:p>
            <a:r>
              <a:t>          "daily": {</a:t>
            </a:r>
          </a:p>
          <a:p>
            <a:r>
              <a:t>            "after": 26649.0,</a:t>
            </a:r>
          </a:p>
          <a:p>
            <a:r>
              <a:t>            "before": 33210.0,</a:t>
            </a:r>
          </a:p>
          <a:p>
            <a:r>
              <a:t>            "change_pct": -19.756097560975604,</a:t>
            </a:r>
          </a:p>
          <a:p>
            <a:r>
              <a:t>            "difference": -6561.0</a:t>
            </a:r>
          </a:p>
          <a:p>
            <a:r>
              <a:t>          },</a:t>
            </a:r>
          </a:p>
          <a:p>
            <a:r>
              <a:t>          "outside": {</a:t>
            </a:r>
          </a:p>
          <a:p>
            <a:r>
              <a:t>            "after": 44817.0,</a:t>
            </a:r>
          </a:p>
          <a:p>
            <a:r>
              <a:t>            "before": 44999.0,</a:t>
            </a:r>
          </a:p>
          <a:p>
            <a:r>
              <a:t>            "change_pct": -0.4044534322984905,</a:t>
            </a:r>
          </a:p>
          <a:p>
            <a:r>
              <a:t>            "difference": -182.0</a:t>
            </a:r>
          </a:p>
          <a:p>
            <a:r>
              <a:t>          },</a:t>
            </a:r>
          </a:p>
          <a:p>
            <a:r>
              <a:t>          "outside_daily": {</a:t>
            </a:r>
          </a:p>
          <a:p>
            <a:r>
              <a:t>            "after": 8963.4,</a:t>
            </a:r>
          </a:p>
          <a:p>
            <a:r>
              <a:t>            "before": 8999.8,</a:t>
            </a:r>
          </a:p>
          <a:p>
            <a:r>
              <a:t>            "change_pct": -0.4044534322984905,</a:t>
            </a:r>
          </a:p>
          <a:p>
            <a:r>
              <a:t>            "difference": -36.399999999999636</a:t>
            </a:r>
          </a:p>
          <a:p>
            <a:r>
              <a:t>          },</a:t>
            </a:r>
          </a:p>
          <a:p>
            <a:r>
              <a:t>          "total": {</a:t>
            </a:r>
          </a:p>
          <a:p>
            <a:r>
              <a:t>            "after": 133245.0,</a:t>
            </a:r>
          </a:p>
          <a:p>
            <a:r>
              <a:t>            "before": 166050.0,</a:t>
            </a:r>
          </a:p>
          <a:p>
            <a:r>
              <a:t>            "change_pct": -19.756097560975604,</a:t>
            </a:r>
          </a:p>
          <a:p>
            <a:r>
              <a:t>            "difference": -32805.0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"20260820183300_탐라문화제_연도별 방문자 추이.csv",</a:t>
            </a:r>
          </a:p>
          <a:p>
            <a:r>
              <a:t>          "provenance_status": "team_download_exact_query_url_unrecorded",</a:t>
            </a:r>
          </a:p>
          <a:p>
            <a:r>
              <a:t>          "provider": "한국관광 데이터랩",</a:t>
            </a:r>
          </a:p>
          <a:p>
            <a:r>
              <a:t>          "relative_path": "data/source_snapshots/festivals_20260820/77. 탐라문화제_2023-2025/20260820183300_탐라문화제_연도별 방문자 추이.csv",</a:t>
            </a:r>
          </a:p>
          <a:p>
            <a:r>
              <a:t>          "sha256": "d6f7a30cf5328ffb863d707cf8f0987af509d9b014ebe7c6eed7e65610518aa9",</a:t>
            </a:r>
          </a:p>
          <a:p>
            <a:r>
              <a:t>          "source_id": "festival-file:d6f7a30cf5328ffb863d",</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"0.622",</a:t>
            </a:r>
          </a:p>
          <a:p>
            <a:r>
              <a:t>            "축제명": "탐라문화제"</a:t>
            </a:r>
          </a:p>
          <a:p>
            <a:r>
              <a:t>          },</a:t>
            </a:r>
          </a:p>
          <a:p>
            <a:r>
              <a:t>          {</a:t>
            </a:r>
          </a:p>
          <a:p>
            <a:r>
              <a:t>            "개최년도": "2025",</a:t>
            </a:r>
          </a:p>
          <a:p>
            <a:r>
              <a:t>            "구분명": "현지인방문자 유입",</a:t>
            </a:r>
          </a:p>
          <a:p>
            <a:r>
              <a:t>            "그룹명": "축제기간",</a:t>
            </a:r>
          </a:p>
          <a:p>
            <a:r>
              <a:t>            "지표값": "0.87",</a:t>
            </a:r>
          </a:p>
          <a:p>
            <a:r>
              <a:t>            "축제명": "탐라문화제"</a:t>
            </a:r>
          </a:p>
          <a:p>
            <a:r>
              <a:t>          },</a:t>
            </a:r>
          </a:p>
          <a:p>
            <a:r>
              <a:t>          {</a:t>
            </a:r>
          </a:p>
          <a:p>
            <a:r>
              <a:t>            "개최년도": "2025",</a:t>
            </a:r>
          </a:p>
          <a:p>
            <a:r>
              <a:t>            "구분명": "내비게이션 검색량",</a:t>
            </a:r>
          </a:p>
          <a:p>
            <a:r>
              <a:t>            "그룹명": "축제기간",</a:t>
            </a:r>
          </a:p>
          <a:p>
            <a:r>
              <a:t>            "지표값": "0.783",</a:t>
            </a:r>
          </a:p>
          <a:p>
            <a:r>
              <a:t>            "축제명": "탐라문화제"</a:t>
            </a:r>
          </a:p>
          <a:p>
            <a:r>
              <a:t>          },</a:t>
            </a:r>
          </a:p>
          <a:p>
            <a:r>
              <a:t>          {</a:t>
            </a:r>
          </a:p>
          <a:p>
            <a:r>
              <a:t>            "개최년도": "2025",</a:t>
            </a:r>
          </a:p>
          <a:p>
            <a:r>
              <a:t>            "구분명": "관광소비",</a:t>
            </a:r>
          </a:p>
          <a:p>
            <a:r>
              <a:t>            "그룹명": "축제기간",</a:t>
            </a:r>
          </a:p>
          <a:p>
            <a:r>
              <a:t>            "지표값": "0.694",</a:t>
            </a:r>
          </a:p>
          <a:p>
            <a:r>
              <a:t>            "축제명": "탐라문화제"</a:t>
            </a:r>
          </a:p>
          <a:p>
            <a:r>
              <a:t>          },</a:t>
            </a:r>
          </a:p>
          <a:p>
            <a:r>
              <a:t>          {</a:t>
            </a:r>
          </a:p>
          <a:p>
            <a:r>
              <a:t>            "개최년도": "2025",</a:t>
            </a:r>
          </a:p>
          <a:p>
            <a:r>
              <a:t>            "구분명": "축제지 집중률",</a:t>
            </a:r>
          </a:p>
          <a:p>
            <a:r>
              <a:t>            "그룹명": "축제기간",</a:t>
            </a:r>
          </a:p>
          <a:p>
            <a:r>
              <a:t>            "지표값": "0.68",</a:t>
            </a:r>
          </a:p>
          <a:p>
            <a:r>
              <a:t>            "축제명": "탐라문화제"</a:t>
            </a:r>
          </a:p>
          <a:p>
            <a:r>
              <a:t>          },</a:t>
            </a:r>
          </a:p>
          <a:p>
            <a:r>
              <a:t>          {</a:t>
            </a:r>
          </a:p>
          <a:p>
            <a:r>
              <a:t>            "개최년도": "2025",</a:t>
            </a:r>
          </a:p>
          <a:p>
            <a:r>
              <a:t>            "구분명": "외부방문자 유입",</a:t>
            </a:r>
          </a:p>
          <a:p>
            <a:r>
              <a:t>            "그룹명": "비축제기간",</a:t>
            </a:r>
          </a:p>
          <a:p>
            <a:r>
              <a:t>            "지표값": "0.634",</a:t>
            </a:r>
          </a:p>
          <a:p>
            <a:r>
              <a:t>            "축제명": "탐라문화제"</a:t>
            </a:r>
          </a:p>
          <a:p>
            <a:r>
              <a:t>          },</a:t>
            </a:r>
          </a:p>
          <a:p>
            <a:r>
              <a:t>          {</a:t>
            </a:r>
          </a:p>
          <a:p>
            <a:r>
              <a:t>            "개최년도": "2025",</a:t>
            </a:r>
          </a:p>
          <a:p>
            <a:r>
              <a:t>            "구분명": "현지인방문자 유입",</a:t>
            </a:r>
          </a:p>
          <a:p>
            <a:r>
              <a:t>            "그룹명": "비축제기간",</a:t>
            </a:r>
          </a:p>
          <a:p>
            <a:r>
              <a:t>            "지표값": "0.738",</a:t>
            </a:r>
          </a:p>
          <a:p>
            <a:r>
              <a:t>            "축제명": "탐라문화제"</a:t>
            </a:r>
          </a:p>
          <a:p>
            <a:r>
              <a:t>          },</a:t>
            </a:r>
          </a:p>
          <a:p>
            <a:r>
              <a:t>          {</a:t>
            </a:r>
          </a:p>
          <a:p>
            <a:r>
              <a:t>            "개최년도": "2025",</a:t>
            </a:r>
          </a:p>
          <a:p>
            <a:r>
              <a:t>            "구분명": "내비게이션 검색량",</a:t>
            </a:r>
          </a:p>
          <a:p>
            <a:r>
              <a:t>            "그룹명": "비축제기간",</a:t>
            </a:r>
          </a:p>
          <a:p>
            <a:r>
              <a:t>            "지표값": "0.507",</a:t>
            </a:r>
          </a:p>
          <a:p>
            <a:r>
              <a:t>            "축제명": "탐라문화제"</a:t>
            </a:r>
          </a:p>
          <a:p>
            <a:r>
              <a:t>          },</a:t>
            </a:r>
          </a:p>
          <a:p>
            <a:r>
              <a:t>          {</a:t>
            </a:r>
          </a:p>
          <a:p>
            <a:r>
              <a:t>            "개최년도": "2025",</a:t>
            </a:r>
          </a:p>
          <a:p>
            <a:r>
              <a:t>            "구분명": "관광소비",</a:t>
            </a:r>
          </a:p>
          <a:p>
            <a:r>
              <a:t>            "그룹명": "비축제기간",</a:t>
            </a:r>
          </a:p>
          <a:p>
            <a:r>
              <a:t>            "지표값": "0.716",</a:t>
            </a:r>
          </a:p>
          <a:p>
            <a:r>
              <a:t>            "축제명": "탐라문화제"</a:t>
            </a:r>
          </a:p>
          <a:p>
            <a:r>
              <a:t>          },</a:t>
            </a:r>
          </a:p>
          <a:p>
            <a:r>
              <a:t>          {</a:t>
            </a:r>
          </a:p>
          <a:p>
            <a:r>
              <a:t>            "개최년도": "2025",</a:t>
            </a:r>
          </a:p>
          <a:p>
            <a:r>
              <a:t>            "구분명": "축제지 집중률",</a:t>
            </a:r>
          </a:p>
          <a:p>
            <a:r>
              <a:t>            "그룹명": "비축제기간",</a:t>
            </a:r>
          </a:p>
          <a:p>
            <a:r>
              <a:t>            "지표값": "0.681",</a:t>
            </a:r>
          </a:p>
          <a:p>
            <a:r>
              <a:t>            "축제명": "탐라문화제"</a:t>
            </a:r>
          </a:p>
          <a:p>
            <a:r>
              <a:t>          }</a:t>
            </a:r>
          </a:p>
          <a:p>
            <a:r>
              <a:t>        ],</a:t>
            </a:r>
          </a:p>
          <a:p>
            <a:r>
              <a:t>        "indicator_rule": "원본 지표값만 보존. 산식·단위 미확인으로 성장률/원화/정원/참여율 변환 금지.",</a:t>
            </a:r>
          </a:p>
          <a:p>
            <a:r>
              <a:t>        "audience": [</a:t>
            </a:r>
          </a:p>
          <a:p>
            <a:r>
              <a:t>          {</a:t>
            </a:r>
          </a:p>
          <a:p>
            <a:r>
              <a:t>            "남성비율": "3.4",</a:t>
            </a:r>
          </a:p>
          <a:p>
            <a:r>
              <a:t>            "여성비율": "4.3",</a:t>
            </a:r>
          </a:p>
          <a:p>
            <a:r>
              <a:t>            "연령대": "70세 이상",</a:t>
            </a:r>
          </a:p>
          <a:p>
            <a:r>
              <a:t>            "축제명": "탐라문화제"</a:t>
            </a:r>
          </a:p>
          <a:p>
            <a:r>
              <a:t>          },</a:t>
            </a:r>
          </a:p>
          <a:p>
            <a:r>
              <a:t>          {</a:t>
            </a:r>
          </a:p>
          <a:p>
            <a:r>
              <a:t>            "남성비율": "8.9",</a:t>
            </a:r>
          </a:p>
          <a:p>
            <a:r>
              <a:t>            "여성비율": "8.9",</a:t>
            </a:r>
          </a:p>
          <a:p>
            <a:r>
              <a:t>            "연령대": "60~69세",</a:t>
            </a:r>
          </a:p>
          <a:p>
            <a:r>
              <a:t>            "축제명": "탐라문화제"</a:t>
            </a:r>
          </a:p>
          <a:p>
            <a:r>
              <a:t>          },</a:t>
            </a:r>
          </a:p>
          <a:p>
            <a:r>
              <a:t>          {</a:t>
            </a:r>
          </a:p>
          <a:p>
            <a:r>
              <a:t>            "남성비율": "10.1",</a:t>
            </a:r>
          </a:p>
          <a:p>
            <a:r>
              <a:t>            "여성비율": "10.3",</a:t>
            </a:r>
          </a:p>
          <a:p>
            <a:r>
              <a:t>            "연령대": "50~59세",</a:t>
            </a:r>
          </a:p>
          <a:p>
            <a:r>
              <a:t>            "축제명": "탐라문화제"</a:t>
            </a:r>
          </a:p>
          <a:p>
            <a:r>
              <a:t>          },</a:t>
            </a:r>
          </a:p>
          <a:p>
            <a:r>
              <a:t>          {</a:t>
            </a:r>
          </a:p>
          <a:p>
            <a:r>
              <a:t>            "남성비율": "8.3",</a:t>
            </a:r>
          </a:p>
          <a:p>
            <a:r>
              <a:t>            "여성비율": "8.0",</a:t>
            </a:r>
          </a:p>
          <a:p>
            <a:r>
              <a:t>            "연령대": "40~49세",</a:t>
            </a:r>
          </a:p>
          <a:p>
            <a:r>
              <a:t>            "축제명": "탐라문화제"</a:t>
            </a:r>
          </a:p>
          <a:p>
            <a:r>
              <a:t>          },</a:t>
            </a:r>
          </a:p>
          <a:p>
            <a:r>
              <a:t>          {</a:t>
            </a:r>
          </a:p>
          <a:p>
            <a:r>
              <a:t>            "남성비율": "8.6",</a:t>
            </a:r>
          </a:p>
          <a:p>
            <a:r>
              <a:t>            "여성비율": "8.2",</a:t>
            </a:r>
          </a:p>
          <a:p>
            <a:r>
              <a:t>            "연령대": "30~39세",</a:t>
            </a:r>
          </a:p>
          <a:p>
            <a:r>
              <a:t>            "축제명": "탐라문화제"</a:t>
            </a:r>
          </a:p>
          <a:p>
            <a:r>
              <a:t>          },</a:t>
            </a:r>
          </a:p>
          <a:p>
            <a:r>
              <a:t>          {</a:t>
            </a:r>
          </a:p>
          <a:p>
            <a:r>
              <a:t>            "남성비율": "6.9",</a:t>
            </a:r>
          </a:p>
          <a:p>
            <a:r>
              <a:t>            "여성비율": "7.9",</a:t>
            </a:r>
          </a:p>
          <a:p>
            <a:r>
              <a:t>            "연령대": "20~29세",</a:t>
            </a:r>
          </a:p>
          <a:p>
            <a:r>
              <a:t>            "축제명": "탐라문화제"</a:t>
            </a:r>
          </a:p>
          <a:p>
            <a:r>
              <a:t>          },</a:t>
            </a:r>
          </a:p>
          <a:p>
            <a:r>
              <a:t>          {</a:t>
            </a:r>
          </a:p>
          <a:p>
            <a:r>
              <a:t>            "남성비율": "2.5",</a:t>
            </a:r>
          </a:p>
          <a:p>
            <a:r>
              <a:t>            "여성비율": "2.6",</a:t>
            </a:r>
          </a:p>
          <a:p>
            <a:r>
              <a:t>            "연령대": "10~19세",</a:t>
            </a:r>
          </a:p>
          <a:p>
            <a:r>
              <a:t>            "축제명": "탐라문화제"</a:t>
            </a:r>
          </a:p>
          <a:p>
            <a:r>
              <a:t>          },</a:t>
            </a:r>
          </a:p>
          <a:p>
            <a:r>
              <a:t>          {</a:t>
            </a:r>
          </a:p>
          <a:p>
            <a:r>
              <a:t>            "남성비율": "0.5",</a:t>
            </a:r>
          </a:p>
          <a:p>
            <a:r>
              <a:t>            "여성비율": "0.6",</a:t>
            </a:r>
          </a:p>
          <a:p>
            <a:r>
              <a:t>            "연령대": "0~9세",</a:t>
            </a:r>
          </a:p>
          <a:p>
            <a:r>
              <a:t>            "축제명": "탐라문화제"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"탑동해변공연장",</a:t>
            </a:r>
          </a:p>
          <a:p>
            <a:r>
              <a:t>            "도로명주소": "제주 제주시 중앙로 2-0",</a:t>
            </a:r>
          </a:p>
          <a:p>
            <a:r>
              <a:t>            "카테고리": "공연시설"</a:t>
            </a:r>
          </a:p>
          <a:p>
            <a:r>
              <a:t>          },</a:t>
            </a:r>
          </a:p>
          <a:p>
            <a:r>
              <a:t>          {</a:t>
            </a:r>
          </a:p>
          <a:p>
            <a:r>
              <a:t>            "구분": "외지인",</a:t>
            </a:r>
          </a:p>
          <a:p>
            <a:r>
              <a:t>            "순위": "2",</a:t>
            </a:r>
          </a:p>
          <a:p>
            <a:r>
              <a:t>            "목적지명": "관덕정",</a:t>
            </a:r>
          </a:p>
          <a:p>
            <a:r>
              <a:t>            "도로명주소": "제주 제주시 관덕로 19-0",</a:t>
            </a:r>
          </a:p>
          <a:p>
            <a:r>
              <a:t>            "카테고리": "역사유적지"</a:t>
            </a:r>
          </a:p>
          <a:p>
            <a:r>
              <a:t>          },</a:t>
            </a:r>
          </a:p>
          <a:p>
            <a:r>
              <a:t>          {</a:t>
            </a:r>
          </a:p>
          <a:p>
            <a:r>
              <a:t>            "구분": "외지인",</a:t>
            </a:r>
          </a:p>
          <a:p>
            <a:r>
              <a:t>            "순위": "3",</a:t>
            </a:r>
          </a:p>
          <a:p>
            <a:r>
              <a:t>            "목적지명": "탐라문화광장",</a:t>
            </a:r>
          </a:p>
          <a:p>
            <a:r>
              <a:t>            "도로명주소": "제주 제주시",</a:t>
            </a:r>
          </a:p>
          <a:p>
            <a:r>
              <a:t>            "카테고리": "테마공원"</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탐라문화제 방문자 추이",</a:t>
            </a:r>
          </a:p>
          <a:p>
            <a:r>
              <a:t>      "summary": "2024→2025년 전체 166,050→133,245명 (-19.76%). 개최 5→5일, 일평균 -19.76%, 외지인 -0.40%."</a:t>
            </a:r>
          </a:p>
          <a:p>
            <a:r>
              <a:t>    },</a:t>
            </a:r>
          </a:p>
          <a:p>
            <a:r>
              <a:t>    {</a:t>
            </a:r>
          </a:p>
          <a:p>
            <a:r>
              <a:t>      "source_id": "case:festival:01474ef75569b1",</a:t>
            </a:r>
          </a:p>
          <a:p>
            <a:r>
              <a:t>      "document_type": "case_study",</a:t>
            </a:r>
          </a:p>
          <a:p>
            <a:r>
              <a:t>      "evidence_kind": "festival_statistics",</a:t>
            </a:r>
          </a:p>
          <a:p>
            <a:r>
              <a:t>      "retrieval_method": "datalab_festival_table",</a:t>
            </a:r>
          </a:p>
          <a:p>
            <a:r>
              <a:t>      "region_code": "47280",</a:t>
            </a:r>
          </a:p>
          <a:p>
            <a:r>
              <a:t>      "region_name": "경상북도 문경시",</a:t>
            </a:r>
          </a:p>
          <a:p>
            <a:r>
              <a:t>      "case_region": "경상북도 문경시",</a:t>
            </a:r>
          </a:p>
          <a:p>
            <a:r>
              <a:t>      "intervention": "문경찻사발축제",</a:t>
            </a:r>
          </a:p>
          <a:p>
            <a:r>
              <a:t>      "problem_addressed": "타지역 축제 방문 실적 참고 · 역사·공예",</a:t>
            </a:r>
          </a:p>
          <a:p>
            <a:r>
              <a:t>      "target_group": "축제 관측구역 방문자(현지인·외지인·외국인 구분)",</a:t>
            </a:r>
          </a:p>
          <a:p>
            <a:r>
              <a:t>      "operating_model": "문경찻사발축제를 2025년 9일 개최한 문화관광축제 운영 사례. 세부 프로그램·예약·혜택은 이 CSV에 기록되어 있지 않으며 새로운 운영안은 제안으로 구분한다.",</a:t>
            </a:r>
          </a:p>
          <a:p>
            <a:r>
              <a:t>      "duration": "2025년 9일",</a:t>
            </a:r>
          </a:p>
          <a:p>
            <a:r>
              <a:t>      "public_budget": "CSV에 사업비 없음",</a:t>
            </a:r>
          </a:p>
          <a:p>
            <a:r>
              <a:t>      "observed_result": "2024→2025년 전체 245,750→256,570명 (+4.40%). 개최 10→9일, 일평균 +16.00%, 외지인 +9.28%.",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문경찻사발축제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a:t>
            </a:r>
          </a:p>
          <a:p>
            <a:r>
              <a:t>          "downloaded_at": "2026-08-20",</a:t>
            </a:r>
          </a:p>
          <a:p>
            <a:r>
              <a:t>          "file_name": "20260820160334_문경찻사발축제_성_연령별 내국인 방문자.csv",</a:t>
            </a:r>
          </a:p>
          <a:p>
            <a:r>
              <a:t>          "provenance_status": "team_download_exact_query_url_unrecorded",</a:t>
            </a:r>
          </a:p>
          <a:p>
            <a:r>
              <a:t>          "provider": "한국관광 데이터랩",</a:t>
            </a:r>
          </a:p>
          <a:p>
            <a:r>
              <a:t>          "relative_path": "data/source_snapshots/festivals_20260820/25. 문경찻사발축제_2023-2025/20260820160334_문경찻사발축제_성_연령별 내국인 방문자.csv",</a:t>
            </a:r>
          </a:p>
          <a:p>
            <a:r>
              <a:t>          "sha256": "44238aecdfa68974febce93cd262e119492da76910929b96da438d8b6ee7a9b3",</a:t>
            </a:r>
          </a:p>
          <a:p>
            <a:r>
              <a:t>          "source_id": "festival-file:44238aecdfa68974febc",</a:t>
            </a:r>
          </a:p>
          <a:p>
            <a:r>
              <a:t>          "source_url": "https://datalab.visitkorea.or.kr/"</a:t>
            </a:r>
          </a:p>
          <a:p>
            <a:r>
              <a:t>        },</a:t>
            </a:r>
          </a:p>
          <a:p>
            <a:r>
              <a:t>        {</a:t>
            </a:r>
          </a:p>
          <a:p>
            <a:r>
              <a:t>          "downloaded_at": "2026-08-20",</a:t>
            </a:r>
          </a:p>
          <a:p>
            <a:r>
              <a:t>          "file_name": "20260820160334_문경찻사발축제_목적지 검색순위.csv",</a:t>
            </a:r>
          </a:p>
          <a:p>
            <a:r>
              <a:t>          "provenance_status": "team_download_exact_query_url_unrecorded",</a:t>
            </a:r>
          </a:p>
          <a:p>
            <a:r>
              <a:t>          "provider": "한국관광 데이터랩",</a:t>
            </a:r>
          </a:p>
          <a:p>
            <a:r>
              <a:t>          "relative_path": "data/source_snapshots/festivals_20260820/25. 문경찻사발축제_2023-2025/20260820160334_문경찻사발축제_목적지 검색순위.csv",</a:t>
            </a:r>
          </a:p>
          <a:p>
            <a:r>
              <a:t>          "sha256": "343671c431cfa7e76ba333ca2ea221803e111e0db5e9a51c6d387b0ba5d7eeaf",</a:t>
            </a:r>
          </a:p>
          <a:p>
            <a:r>
              <a:t>          "source_id": "festival-file:343671c431cfa7e76ba3",</a:t>
            </a:r>
          </a:p>
          <a:p>
            <a:r>
              <a:t>          "source_url": "https://datalab.visitkorea.or.kr/"</a:t>
            </a:r>
          </a:p>
          <a:p>
            <a:r>
              <a:t>        },</a:t>
            </a:r>
          </a:p>
          <a:p>
            <a:r>
              <a:t>        {</a:t>
            </a:r>
          </a:p>
          <a:p>
            <a:r>
              <a:t>          "downloaded_at": "2026-08-20",</a:t>
            </a:r>
          </a:p>
          <a:p>
            <a:r>
              <a:t>          "file_name": "20260820160334_문경찻사발축제_문화관광축제 주요 지표.csv",</a:t>
            </a:r>
          </a:p>
          <a:p>
            <a:r>
              <a:t>          "provenance_status": "team_download_exact_query_url_unrecorded",</a:t>
            </a:r>
          </a:p>
          <a:p>
            <a:r>
              <a:t>          "provider": "한국관광 데이터랩",</a:t>
            </a:r>
          </a:p>
          <a:p>
            <a:r>
              <a:t>          "relative_path": "data/source_snapshots/festivals_20260820/25. 문경찻사발축제_2023-2025/20260820160334_문경찻사발축제_문화관광축제 주요 지표.csv",</a:t>
            </a:r>
          </a:p>
          <a:p>
            <a:r>
              <a:t>          "sha256": "eadf4622620ddb1575df5f358ec588aeed8718c09e0998a19494cf0f3cfe0f16",</a:t>
            </a:r>
          </a:p>
          <a:p>
            <a:r>
              <a:t>          "source_id": "festival-file:eadf4622620ddb1575df",</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"festival_statistics": {</a:t>
            </a:r>
          </a:p>
          <a:p>
            <a:r>
              <a:t>        "name": "문경찻사발축제",</a:t>
            </a:r>
          </a:p>
          <a:p>
            <a:r>
              <a:t>        "annual": [</a:t>
            </a:r>
          </a:p>
          <a:p>
            <a:r>
              <a:t>          {</a:t>
            </a:r>
          </a:p>
          <a:p>
            <a:r>
              <a:t>            "daily": 23055.333333333332,</a:t>
            </a:r>
          </a:p>
          <a:p>
            <a:r>
              <a:t>            "days": 9,</a:t>
            </a:r>
          </a:p>
          <a:p>
            <a:r>
              <a:t>            "foreign": 1241.0,</a:t>
            </a:r>
          </a:p>
          <a:p>
            <a:r>
              <a:t>            "local": 59726.0,</a:t>
            </a:r>
          </a:p>
          <a:p>
            <a:r>
              <a:t>            "outside": 146531.0,</a:t>
            </a:r>
          </a:p>
          <a:p>
            <a:r>
              <a:t>            "outside_daily": 16281.222222222223,</a:t>
            </a:r>
          </a:p>
          <a:p>
            <a:r>
              <a:t>            "outside_share_pct": 70.61803005330172,</a:t>
            </a:r>
          </a:p>
          <a:p>
            <a:r>
              <a:t>            "total": 207498.0,</a:t>
            </a:r>
          </a:p>
          <a:p>
            <a:r>
              <a:t>            "year": 2023</a:t>
            </a:r>
          </a:p>
          <a:p>
            <a:r>
              <a:t>          },</a:t>
            </a:r>
          </a:p>
          <a:p>
            <a:r>
              <a:t>          {</a:t>
            </a:r>
          </a:p>
          <a:p>
            <a:r>
              <a:t>            "daily": 24575.0,</a:t>
            </a:r>
          </a:p>
          <a:p>
            <a:r>
              <a:t>            "days": 10,</a:t>
            </a:r>
          </a:p>
          <a:p>
            <a:r>
              <a:t>            "foreign": 1170.0,</a:t>
            </a:r>
          </a:p>
          <a:p>
            <a:r>
              <a:t>            "local": 64582.0,</a:t>
            </a:r>
          </a:p>
          <a:p>
            <a:r>
              <a:t>            "outside": 179998.0,</a:t>
            </a:r>
          </a:p>
          <a:p>
            <a:r>
              <a:t>            "outside_daily": 17999.8,</a:t>
            </a:r>
          </a:p>
          <a:p>
            <a:r>
              <a:t>            "outside_share_pct": 73.2443540183113,</a:t>
            </a:r>
          </a:p>
          <a:p>
            <a:r>
              <a:t>            "total": 245750.0,</a:t>
            </a:r>
          </a:p>
          <a:p>
            <a:r>
              <a:t>            "year": 2024</a:t>
            </a:r>
          </a:p>
          <a:p>
            <a:r>
              <a:t>          },</a:t>
            </a:r>
          </a:p>
          <a:p>
            <a:r>
              <a:t>          {</a:t>
            </a:r>
          </a:p>
          <a:p>
            <a:r>
              <a:t>            "daily": 28507.777777777777,</a:t>
            </a:r>
          </a:p>
          <a:p>
            <a:r>
              <a:t>            "days": 9,</a:t>
            </a:r>
          </a:p>
          <a:p>
            <a:r>
              <a:t>            "foreign": 1166.0,</a:t>
            </a:r>
          </a:p>
          <a:p>
            <a:r>
              <a:t>            "local": 58704.0,</a:t>
            </a:r>
          </a:p>
          <a:p>
            <a:r>
              <a:t>            "outside": 196700.0,</a:t>
            </a:r>
          </a:p>
          <a:p>
            <a:r>
              <a:t>            "outside_daily": 21855.555555555555,</a:t>
            </a:r>
          </a:p>
          <a:p>
            <a:r>
              <a:t>            "outside_share_pct": 76.66523755700199,</a:t>
            </a:r>
          </a:p>
          <a:p>
            <a:r>
              <a:t>            "total": 256570.0,</a:t>
            </a:r>
          </a:p>
          <a:p>
            <a:r>
              <a:t>            "year": 2025</a:t>
            </a:r>
          </a:p>
          <a:p>
            <a:r>
              <a:t>          }</a:t>
            </a:r>
          </a:p>
          <a:p>
            <a:r>
              <a:t>        ],</a:t>
            </a:r>
          </a:p>
          <a:p>
            <a:r>
              <a:t>        "comparison": {</a:t>
            </a:r>
          </a:p>
          <a:p>
            <a:r>
              <a:t>          "after_days": 9,</a:t>
            </a:r>
          </a:p>
          <a:p>
            <a:r>
              <a:t>          "after_year": 2025,</a:t>
            </a:r>
          </a:p>
          <a:p>
            <a:r>
              <a:t>          "before_days": 10,</a:t>
            </a:r>
          </a:p>
          <a:p>
            <a:r>
              <a:t>          "before_year": 2024,</a:t>
            </a:r>
          </a:p>
          <a:p>
            <a:r>
              <a:t>          "daily": {</a:t>
            </a:r>
          </a:p>
          <a:p>
            <a:r>
              <a:t>            "after": 28507.777777777777,</a:t>
            </a:r>
          </a:p>
          <a:p>
            <a:r>
              <a:t>            "before": 24575.0,</a:t>
            </a:r>
          </a:p>
          <a:p>
            <a:r>
              <a:t>            "change_pct": 16.00316491466034,</a:t>
            </a:r>
          </a:p>
          <a:p>
            <a:r>
              <a:t>            "difference": 3932.7777777777774</a:t>
            </a:r>
          </a:p>
          <a:p>
            <a:r>
              <a:t>          },</a:t>
            </a:r>
          </a:p>
          <a:p>
            <a:r>
              <a:t>          "outside": {</a:t>
            </a:r>
          </a:p>
          <a:p>
            <a:r>
              <a:t>            "after": 196700.0,</a:t>
            </a:r>
          </a:p>
          <a:p>
            <a:r>
              <a:t>            "before": 179998.0,</a:t>
            </a:r>
          </a:p>
          <a:p>
            <a:r>
              <a:t>            "change_pct": 9.278991988799866,</a:t>
            </a:r>
          </a:p>
          <a:p>
            <a:r>
              <a:t>            "difference": 16702.0</a:t>
            </a:r>
          </a:p>
          <a:p>
            <a:r>
              <a:t>          },</a:t>
            </a:r>
          </a:p>
          <a:p>
            <a:r>
              <a:t>          "outside_daily": {</a:t>
            </a:r>
          </a:p>
          <a:p>
            <a:r>
              <a:t>            "after": 21855.555555555555,</a:t>
            </a:r>
          </a:p>
          <a:p>
            <a:r>
              <a:t>            "before": 17999.8,</a:t>
            </a:r>
          </a:p>
          <a:p>
            <a:r>
              <a:t>            "change_pct": 21.421102209777644,</a:t>
            </a:r>
          </a:p>
          <a:p>
            <a:r>
              <a:t>            "difference": 3855.7555555555555</a:t>
            </a:r>
          </a:p>
          <a:p>
            <a:r>
              <a:t>          },</a:t>
            </a:r>
          </a:p>
          <a:p>
            <a:r>
              <a:t>          "total": {</a:t>
            </a:r>
          </a:p>
          <a:p>
            <a:r>
              <a:t>            "after": 256570.0,</a:t>
            </a:r>
          </a:p>
          <a:p>
            <a:r>
              <a:t>            "before": 245750.0,</a:t>
            </a:r>
          </a:p>
          <a:p>
            <a:r>
              <a:t>            "change_pct": 4.402848423194294,</a:t>
            </a:r>
          </a:p>
          <a:p>
            <a:r>
              <a:t>            "difference": 10820.0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"0.414",</a:t>
            </a:r>
          </a:p>
          <a:p>
            <a:r>
              <a:t>            "축제명": "문경찻사발축제"</a:t>
            </a:r>
          </a:p>
          <a:p>
            <a:r>
              <a:t>          },</a:t>
            </a:r>
          </a:p>
          <a:p>
            <a:r>
              <a:t>          {</a:t>
            </a:r>
          </a:p>
          <a:p>
            <a:r>
              <a:t>            "개최년도": "2025",</a:t>
            </a:r>
          </a:p>
          <a:p>
            <a:r>
              <a:t>            "구분명": "현지인방문자 유입",</a:t>
            </a:r>
          </a:p>
          <a:p>
            <a:r>
              <a:t>            "그룹명": "축제기간",</a:t>
            </a:r>
          </a:p>
          <a:p>
            <a:r>
              <a:t>            "지표값": "0.86",</a:t>
            </a:r>
          </a:p>
          <a:p>
            <a:r>
              <a:t>            "축제명": "문경찻사발축제"</a:t>
            </a:r>
          </a:p>
          <a:p>
            <a:r>
              <a:t>          },</a:t>
            </a:r>
          </a:p>
          <a:p>
            <a:r>
              <a:t>          {</a:t>
            </a:r>
          </a:p>
          <a:p>
            <a:r>
              <a:t>            "개최년도": "2025",</a:t>
            </a:r>
          </a:p>
          <a:p>
            <a:r>
              <a:t>            "구분명": "내비게이션 검색량",</a:t>
            </a:r>
          </a:p>
          <a:p>
            <a:r>
              <a:t>            "그룹명": "축제기간",</a:t>
            </a:r>
          </a:p>
          <a:p>
            <a:r>
              <a:t>            "지표값": "0.273",</a:t>
            </a:r>
          </a:p>
          <a:p>
            <a:r>
              <a:t>            "축제명": "문경찻사발축제"</a:t>
            </a:r>
          </a:p>
          <a:p>
            <a:r>
              <a:t>          },</a:t>
            </a:r>
          </a:p>
          <a:p>
            <a:r>
              <a:t>          {</a:t>
            </a:r>
          </a:p>
          <a:p>
            <a:r>
              <a:t>            "개최년도": "2025",</a:t>
            </a:r>
          </a:p>
          <a:p>
            <a:r>
              <a:t>            "구분명": "관광소비",</a:t>
            </a:r>
          </a:p>
          <a:p>
            <a:r>
              <a:t>            "그룹명": "축제기간",</a:t>
            </a:r>
          </a:p>
          <a:p>
            <a:r>
              <a:t>            "지표값": "0.536",</a:t>
            </a:r>
          </a:p>
          <a:p>
            <a:r>
              <a:t>            "축제명": "문경찻사발축제"</a:t>
            </a:r>
          </a:p>
          <a:p>
            <a:r>
              <a:t>          },</a:t>
            </a:r>
          </a:p>
          <a:p>
            <a:r>
              <a:t>          {</a:t>
            </a:r>
          </a:p>
          <a:p>
            <a:r>
              <a:t>            "개최년도": "2025",</a:t>
            </a:r>
          </a:p>
          <a:p>
            <a:r>
              <a:t>            "구분명": "축제지 집중률",</a:t>
            </a:r>
          </a:p>
          <a:p>
            <a:r>
              <a:t>            "그룹명": "축제기간",</a:t>
            </a:r>
          </a:p>
          <a:p>
            <a:r>
              <a:t>            "지표값": "0.716",</a:t>
            </a:r>
          </a:p>
          <a:p>
            <a:r>
              <a:t>            "축제명": "문경찻사발축제"</a:t>
            </a:r>
          </a:p>
          <a:p>
            <a:r>
              <a:t>          },</a:t>
            </a:r>
          </a:p>
          <a:p>
            <a:r>
              <a:t>          {</a:t>
            </a:r>
          </a:p>
          <a:p>
            <a:r>
              <a:t>            "개최년도": "2025",</a:t>
            </a:r>
          </a:p>
          <a:p>
            <a:r>
              <a:t>            "구분명": "외부방문자 유입",</a:t>
            </a:r>
          </a:p>
          <a:p>
            <a:r>
              <a:t>            "그룹명": "비축제기간",</a:t>
            </a:r>
          </a:p>
          <a:p>
            <a:r>
              <a:t>            "지표값": "0.217",</a:t>
            </a:r>
          </a:p>
          <a:p>
            <a:r>
              <a:t>            "축제명": "문경찻사발축제"</a:t>
            </a:r>
          </a:p>
          <a:p>
            <a:r>
              <a:t>          },</a:t>
            </a:r>
          </a:p>
          <a:p>
            <a:r>
              <a:t>          {</a:t>
            </a:r>
          </a:p>
          <a:p>
            <a:r>
              <a:t>            "개최년도": "2025",</a:t>
            </a:r>
          </a:p>
          <a:p>
            <a:r>
              <a:t>            "구분명": "현지인방문자 유입",</a:t>
            </a:r>
          </a:p>
          <a:p>
            <a:r>
              <a:t>            "그룹명": "비축제기간",</a:t>
            </a:r>
          </a:p>
          <a:p>
            <a:r>
              <a:t>            "지표값": "0.725",</a:t>
            </a:r>
          </a:p>
          <a:p>
            <a:r>
              <a:t>            "축제명": "문경찻사발축제"</a:t>
            </a:r>
          </a:p>
          <a:p>
            <a:r>
              <a:t>          },</a:t>
            </a:r>
          </a:p>
          <a:p>
            <a:r>
              <a:t>          {</a:t>
            </a:r>
          </a:p>
          <a:p>
            <a:r>
              <a:t>            "개최년도": "2025",</a:t>
            </a:r>
          </a:p>
          <a:p>
            <a:r>
              <a:t>            "구분명": "내비게이션 검색량",</a:t>
            </a:r>
          </a:p>
          <a:p>
            <a:r>
              <a:t>            "그룹명": "비축제기간",</a:t>
            </a:r>
          </a:p>
          <a:p>
            <a:r>
              <a:t>            "지표값": "0.148",</a:t>
            </a:r>
          </a:p>
          <a:p>
            <a:r>
              <a:t>            "축제명": "문경찻사발축제"</a:t>
            </a:r>
          </a:p>
          <a:p>
            <a:r>
              <a:t>          },</a:t>
            </a:r>
          </a:p>
          <a:p>
            <a:r>
              <a:t>          {</a:t>
            </a:r>
          </a:p>
          <a:p>
            <a:r>
              <a:t>            "개최년도": "2025",</a:t>
            </a:r>
          </a:p>
          <a:p>
            <a:r>
              <a:t>            "구분명": "관광소비",</a:t>
            </a:r>
          </a:p>
          <a:p>
            <a:r>
              <a:t>            "그룹명": "비축제기간",</a:t>
            </a:r>
          </a:p>
          <a:p>
            <a:r>
              <a:t>            "지표값": "0.381",</a:t>
            </a:r>
          </a:p>
          <a:p>
            <a:r>
              <a:t>            "축제명": "문경찻사발축제"</a:t>
            </a:r>
          </a:p>
          <a:p>
            <a:r>
              <a:t>          },</a:t>
            </a:r>
          </a:p>
          <a:p>
            <a:r>
              <a:t>          {</a:t>
            </a:r>
          </a:p>
          <a:p>
            <a:r>
              <a:t>            "개최년도": "2025",</a:t>
            </a:r>
          </a:p>
          <a:p>
            <a:r>
              <a:t>            "구분명": "축제지 집중률",</a:t>
            </a:r>
          </a:p>
          <a:p>
            <a:r>
              <a:t>            "그룹명": "비축제기간",</a:t>
            </a:r>
          </a:p>
          <a:p>
            <a:r>
              <a:t>            "지표값": "0.607",</a:t>
            </a:r>
          </a:p>
          <a:p>
            <a:r>
              <a:t>            "축제명": "문경찻사발축제"</a:t>
            </a:r>
          </a:p>
          <a:p>
            <a:r>
              <a:t>          }</a:t>
            </a:r>
          </a:p>
          <a:p>
            <a:r>
              <a:t>        ],</a:t>
            </a:r>
          </a:p>
          <a:p>
            <a:r>
              <a:t>        "indicator_rule": "원본 지표값만 보존. 산식·단위 미확인으로 성장률/원화/정원/참여율 변환 금지.",</a:t>
            </a:r>
          </a:p>
          <a:p>
            <a:r>
              <a:t>        "audience": [</a:t>
            </a:r>
          </a:p>
          <a:p>
            <a:r>
              <a:t>          {</a:t>
            </a:r>
          </a:p>
          <a:p>
            <a:r>
              <a:t>            "남성비율": "4.0",</a:t>
            </a:r>
          </a:p>
          <a:p>
            <a:r>
              <a:t>            "여성비율": "3.8",</a:t>
            </a:r>
          </a:p>
          <a:p>
            <a:r>
              <a:t>            "연령대": "70세 이상",</a:t>
            </a:r>
          </a:p>
          <a:p>
            <a:r>
              <a:t>            "축제명": "문경찻사발축제"</a:t>
            </a:r>
          </a:p>
          <a:p>
            <a:r>
              <a:t>          },</a:t>
            </a:r>
          </a:p>
          <a:p>
            <a:r>
              <a:t>          {</a:t>
            </a:r>
          </a:p>
          <a:p>
            <a:r>
              <a:t>            "남성비율": "12.3",</a:t>
            </a:r>
          </a:p>
          <a:p>
            <a:r>
              <a:t>            "여성비율": "10.0",</a:t>
            </a:r>
          </a:p>
          <a:p>
            <a:r>
              <a:t>            "연령대": "60~69세",</a:t>
            </a:r>
          </a:p>
          <a:p>
            <a:r>
              <a:t>            "축제명": "문경찻사발축제"</a:t>
            </a:r>
          </a:p>
          <a:p>
            <a:r>
              <a:t>          },</a:t>
            </a:r>
          </a:p>
          <a:p>
            <a:r>
              <a:t>          {</a:t>
            </a:r>
          </a:p>
          <a:p>
            <a:r>
              <a:t>            "남성비율": "13.0",</a:t>
            </a:r>
          </a:p>
          <a:p>
            <a:r>
              <a:t>            "여성비율": "11.7",</a:t>
            </a:r>
          </a:p>
          <a:p>
            <a:r>
              <a:t>            "연령대": "50~59세",</a:t>
            </a:r>
          </a:p>
          <a:p>
            <a:r>
              <a:t>            "축제명": "문경찻사발축제"</a:t>
            </a:r>
          </a:p>
          <a:p>
            <a:r>
              <a:t>          },</a:t>
            </a:r>
          </a:p>
          <a:p>
            <a:r>
              <a:t>          {</a:t>
            </a:r>
          </a:p>
          <a:p>
            <a:r>
              <a:t>            "남성비율": "9.3",</a:t>
            </a:r>
          </a:p>
          <a:p>
            <a:r>
              <a:t>            "여성비율": "7.6",</a:t>
            </a:r>
          </a:p>
          <a:p>
            <a:r>
              <a:t>            "연령대": "40~49세",</a:t>
            </a:r>
          </a:p>
          <a:p>
            <a:r>
              <a:t>            "축제명": "문경찻사발축제"</a:t>
            </a:r>
          </a:p>
          <a:p>
            <a:r>
              <a:t>          },</a:t>
            </a:r>
          </a:p>
          <a:p>
            <a:r>
              <a:t>          {</a:t>
            </a:r>
          </a:p>
          <a:p>
            <a:r>
              <a:t>            "남성비율": "7.2",</a:t>
            </a:r>
          </a:p>
          <a:p>
            <a:r>
              <a:t>            "여성비율": "6.1",</a:t>
            </a:r>
          </a:p>
          <a:p>
            <a:r>
              <a:t>            "연령대": "30~39세",</a:t>
            </a:r>
          </a:p>
          <a:p>
            <a:r>
              <a:t>            "축제명": "문경찻사발축제"</a:t>
            </a:r>
          </a:p>
          <a:p>
            <a:r>
              <a:t>          },</a:t>
            </a:r>
          </a:p>
          <a:p>
            <a:r>
              <a:t>          {</a:t>
            </a:r>
          </a:p>
          <a:p>
            <a:r>
              <a:t>            "남성비율": "4.6",</a:t>
            </a:r>
          </a:p>
          <a:p>
            <a:r>
              <a:t>            "여성비율": "4.1",</a:t>
            </a:r>
          </a:p>
          <a:p>
            <a:r>
              <a:t>            "연령대": "20~29세",</a:t>
            </a:r>
          </a:p>
          <a:p>
            <a:r>
              <a:t>            "축제명": "문경찻사발축제"</a:t>
            </a:r>
          </a:p>
          <a:p>
            <a:r>
              <a:t>          },</a:t>
            </a:r>
          </a:p>
          <a:p>
            <a:r>
              <a:t>          {</a:t>
            </a:r>
          </a:p>
          <a:p>
            <a:r>
              <a:t>            "남성비율": "2.5",</a:t>
            </a:r>
          </a:p>
          <a:p>
            <a:r>
              <a:t>            "여성비율": "2.5",</a:t>
            </a:r>
          </a:p>
          <a:p>
            <a:r>
              <a:t>            "연령대": "10~19세",</a:t>
            </a:r>
          </a:p>
          <a:p>
            <a:r>
              <a:t>            "축제명": "문경찻사발축제"</a:t>
            </a:r>
          </a:p>
          <a:p>
            <a:r>
              <a:t>          },</a:t>
            </a:r>
          </a:p>
          <a:p>
            <a:r>
              <a:t>          {</a:t>
            </a:r>
          </a:p>
          <a:p>
            <a:r>
              <a:t>            "남성비율": "0.6",</a:t>
            </a:r>
          </a:p>
          <a:p>
            <a:r>
              <a:t>            "여성비율": "0.6",</a:t>
            </a:r>
          </a:p>
          <a:p>
            <a:r>
              <a:t>            "연령대": "0~9세",</a:t>
            </a:r>
          </a:p>
          <a:p>
            <a:r>
              <a:t>            "축제명": "문경찻사발축제"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문경찻사발축제 방문자 추이",</a:t>
            </a:r>
          </a:p>
          <a:p>
            <a:r>
              <a:t>      "summary": "2024→2025년 전체 245,750→256,570명 (+4.40%). 개최 10→9일, 일평균 +16.00%, 외지인 +9.28%."</a:t>
            </a:r>
          </a:p>
          <a:p>
            <a:r>
              <a:t>    },</a:t>
            </a:r>
          </a:p>
          <a:p>
            <a:r>
              <a:t>    {</a:t>
            </a:r>
          </a:p>
          <a:p>
            <a:r>
              <a:t>      "source_id": "case:festival:0e9c7c065555b0",</a:t>
            </a:r>
          </a:p>
          <a:p>
            <a:r>
              <a:t>      "document_type": "case_study",</a:t>
            </a:r>
          </a:p>
          <a:p>
            <a:r>
              <a:t>      "evidence_kind": "festival_statistics",</a:t>
            </a:r>
          </a:p>
          <a:p>
            <a:r>
              <a:t>      "retrieval_method": "datalab_festival_table",</a:t>
            </a:r>
          </a:p>
          <a:p>
            <a:r>
              <a:t>      "region_code": "47170",</a:t>
            </a:r>
          </a:p>
          <a:p>
            <a:r>
              <a:t>      "region_name": "경상북도 안동시",</a:t>
            </a:r>
          </a:p>
          <a:p>
            <a:r>
              <a:t>      "case_region": "경상북도 안동시",</a:t>
            </a:r>
          </a:p>
          <a:p>
            <a:r>
              <a:t>      "intervention": "안동탈춤축제",</a:t>
            </a:r>
          </a:p>
          <a:p>
            <a:r>
              <a:t>      "problem_addressed": "타지역 축제 방문 실적 참고 · 공연·문화",</a:t>
            </a:r>
          </a:p>
          <a:p>
            <a:r>
              <a:t>      "target_group": "축제 관측구역 방문자(현지인·외지인·외국인 구분)",</a:t>
            </a:r>
          </a:p>
          <a:p>
            <a:r>
              <a:t>      "operating_model": "안동탈춤축제를 2025년 10일 개최한 문화관광축제 운영 사례. 세부 프로그램·예약·혜택은 이 CSV에 기록되어 있지 않으며 새로운 운영안은 제안으로 구분한다.",</a:t>
            </a:r>
          </a:p>
          <a:p>
            <a:r>
              <a:t>      "duration": "2025년 10일",</a:t>
            </a:r>
          </a:p>
          <a:p>
            <a:r>
              <a:t>      "public_budget": "CSV에 사업비 없음",</a:t>
            </a:r>
          </a:p>
          <a:p>
            <a:r>
              <a:t>      "observed_result": "2024→2025년 전체 504,573→554,494명 (+9.89%). 개최 10→10일, 일평균 +9.89%, 외지인 +10.75%.",</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안동탈춤축제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"20260820175023_안동탈춤축제_연도별 방문자 추이.csv",</a:t>
            </a:r>
          </a:p>
          <a:p>
            <a:r>
              <a:t>          "provenance_status": "team_download_exact_query_url_unrecorded",</a:t>
            </a:r>
          </a:p>
          <a:p>
            <a:r>
              <a:t>          "provider": "한국관광 데이터랩",</a:t>
            </a:r>
          </a:p>
          <a:p>
            <a:r>
              <a:t>          "relative_path": "data/source_snapshots/festivals_20260820/43. 안동탈춤축제_2023-2025/20260820175023_안동탈춤축제_연도별 방문자 추이.csv",</a:t>
            </a:r>
          </a:p>
          <a:p>
            <a:r>
              <a:t>          "sha256": "28f418873eda5b37d320d3fef32c46bef172ca1cfea3861db2d5fc96a0b16f50",</a:t>
            </a:r>
          </a:p>
          <a:p>
            <a:r>
              <a:t>          "source_id": "festival-file:28f418873eda5b37d320",</a:t>
            </a:r>
          </a:p>
          <a:p>
            <a:r>
              <a:t>          "source_url": "https://datalab.visitkorea.or.kr/"</a:t>
            </a:r>
          </a:p>
          <a:p>
            <a:r>
              <a:t>        },</a:t>
            </a:r>
          </a:p>
          <a:p>
            <a:r>
              <a:t>        {</a:t>
            </a:r>
          </a:p>
          <a:p>
            <a:r>
              <a:t>          "downloaded_at": "2026-08-20",</a:t>
            </a:r>
          </a:p>
          <a:p>
            <a:r>
              <a:t>          "file_name": "20260820175023_안동탈춤축제_성_연령별 내국인 방문자.csv",</a:t>
            </a:r>
          </a:p>
          <a:p>
            <a:r>
              <a:t>          "provenance_status": "team_download_exact_query_url_unrecorded",</a:t>
            </a:r>
          </a:p>
          <a:p>
            <a:r>
              <a:t>          "provider": "한국관광 데이터랩",</a:t>
            </a:r>
          </a:p>
          <a:p>
            <a:r>
              <a:t>          "relative_path": "data/source_snapshots/festivals_20260820/43. 안동탈춤축제_2023-2025/20260820175023_안동탈춤축제_성_연령별 내국인 방문자.csv",</a:t>
            </a:r>
          </a:p>
          <a:p>
            <a:r>
              <a:t>          "sha256": "c0b34e003112bda1f5afa06dcb153cc870d61730036ef23f1b3e7aed39ca5458",</a:t>
            </a:r>
          </a:p>
          <a:p>
            <a:r>
              <a:t>          "source_id": "festival-file:c0b34e003112bda1f5af",</a:t>
            </a:r>
          </a:p>
          <a:p>
            <a:r>
              <a:t>          "source_url": "https://datalab.visitkorea.or.kr/"</a:t>
            </a:r>
          </a:p>
          <a:p>
            <a:r>
              <a:t>        },</a:t>
            </a:r>
          </a:p>
          <a:p>
            <a:r>
              <a:t>        {</a:t>
            </a:r>
          </a:p>
          <a:p>
            <a:r>
              <a:t>          "downloaded_at": "2026-08-20",</a:t>
            </a:r>
          </a:p>
          <a:p>
            <a:r>
              <a:t>          "file_name": "20260820175023_안동탈춤축제_목적지 검색순위.csv",</a:t>
            </a:r>
          </a:p>
          <a:p>
            <a:r>
              <a:t>          "provenance_status": "team_download_exact_query_url_unrecorded",</a:t>
            </a:r>
          </a:p>
          <a:p>
            <a:r>
              <a:t>          "provider": "한국관광 데이터랩",</a:t>
            </a:r>
          </a:p>
          <a:p>
            <a:r>
              <a:t>          "relative_path": "data/source_snapshots/festivals_20260820/43. 안동탈춤축제_2023-2025/20260820175023_안동탈춤축제_목적지 검색순위.csv",</a:t>
            </a:r>
          </a:p>
          <a:p>
            <a:r>
              <a:t>          "sha256": "11de7e20288dde00f7f18e353a24b5a95c511a7dc354ec9cc2c7a3a2436712f6",</a:t>
            </a:r>
          </a:p>
          <a:p>
            <a:r>
              <a:t>          "source_id": "festival-file:11de7e20288dde00f7f1",</a:t>
            </a:r>
          </a:p>
          <a:p>
            <a:r>
              <a:t>          "source_url": "https://datalab.visitkorea.or.kr/"</a:t>
            </a:r>
          </a:p>
          <a:p>
            <a:r>
              <a:t>        },</a:t>
            </a:r>
          </a:p>
          <a:p>
            <a:r>
              <a:t>        {</a:t>
            </a:r>
          </a:p>
          <a:p>
            <a:r>
              <a:t>          "downloaded_at": "2026-08-20",</a:t>
            </a:r>
          </a:p>
          <a:p>
            <a:r>
              <a:t>          "file_name": "20260820175023_안동탈춤축제_문화관광축제 주요 지표.csv",</a:t>
            </a:r>
          </a:p>
          <a:p>
            <a:r>
              <a:t>          "provenance_status": "team_download_exact_query_url_unrecorded",</a:t>
            </a:r>
          </a:p>
          <a:p>
            <a:r>
              <a:t>          "provider": "한국관광 데이터랩",</a:t>
            </a:r>
          </a:p>
          <a:p>
            <a:r>
              <a:t>          "relative_path": "data/source_snapshots/festivals_20260820/43. 안동탈춤축제_2023-2025/20260820175023_안동탈춤축제_문화관광축제 주요 지표.csv",</a:t>
            </a:r>
          </a:p>
          <a:p>
            <a:r>
              <a:t>          "sha256": "40ddabd2e46fcb12bc9cc2361174e1a5ebe80f169611896b6d4b5e60d9fda352",</a:t>
            </a:r>
          </a:p>
          <a:p>
            <a:r>
              <a:t>          "source_id": "festival-file:40ddabd2e46fcb12bc9c",</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"공연·문화",</a:t>
            </a:r>
          </a:p>
          <a:p>
            <a:r>
              <a:t>        "priority_signal": "visit",</a:t>
            </a:r>
          </a:p>
          <a:p>
            <a:r>
              <a:t>        "rule": "함수 기반 조사 우선순위. 사업효과·인구/환경 유사도 점수가 아니며 소비·체류 개선은 조사 가설이다."</a:t>
            </a:r>
          </a:p>
          <a:p>
            <a:r>
              <a:t>      },</a:t>
            </a:r>
          </a:p>
          <a:p>
            <a:r>
              <a:t>      "festival_statistics": {</a:t>
            </a:r>
          </a:p>
          <a:p>
            <a:r>
              <a:t>        "name": "안동탈춤축제",</a:t>
            </a:r>
          </a:p>
          <a:p>
            <a:r>
              <a:t>        "annual": [</a:t>
            </a:r>
          </a:p>
          <a:p>
            <a:r>
              <a:t>          {</a:t>
            </a:r>
          </a:p>
          <a:p>
            <a:r>
              <a:t>            "daily": 45517.125,</a:t>
            </a:r>
          </a:p>
          <a:p>
            <a:r>
              <a:t>            "days": 8,</a:t>
            </a:r>
          </a:p>
          <a:p>
            <a:r>
              <a:t>            "foreign": 3319.0,</a:t>
            </a:r>
          </a:p>
          <a:p>
            <a:r>
              <a:t>            "local": 233513.0,</a:t>
            </a:r>
          </a:p>
          <a:p>
            <a:r>
              <a:t>            "outside": 127305.0,</a:t>
            </a:r>
          </a:p>
          <a:p>
            <a:r>
              <a:t>            "outside_daily": 15913.125,</a:t>
            </a:r>
          </a:p>
          <a:p>
            <a:r>
              <a:t>            "outside_share_pct": 34.960742797353745,</a:t>
            </a:r>
          </a:p>
          <a:p>
            <a:r>
              <a:t>            "total": 364137.0,</a:t>
            </a:r>
          </a:p>
          <a:p>
            <a:r>
              <a:t>            "year": 2023</a:t>
            </a:r>
          </a:p>
          <a:p>
            <a:r>
              <a:t>          },</a:t>
            </a:r>
          </a:p>
          <a:p>
            <a:r>
              <a:t>          {</a:t>
            </a:r>
          </a:p>
          <a:p>
            <a:r>
              <a:t>            "daily": 50457.3,</a:t>
            </a:r>
          </a:p>
          <a:p>
            <a:r>
              <a:t>            "days": 10,</a:t>
            </a:r>
          </a:p>
          <a:p>
            <a:r>
              <a:t>            "foreign": 4684.0,</a:t>
            </a:r>
          </a:p>
          <a:p>
            <a:r>
              <a:t>            "local": 317925.0,</a:t>
            </a:r>
          </a:p>
          <a:p>
            <a:r>
              <a:t>            "outside": 181964.0,</a:t>
            </a:r>
          </a:p>
          <a:p>
            <a:r>
              <a:t>            "outside_daily": 18196.4,</a:t>
            </a:r>
          </a:p>
          <a:p>
            <a:r>
              <a:t>            "outside_share_pct": 36.06296809381398,</a:t>
            </a:r>
          </a:p>
          <a:p>
            <a:r>
              <a:t>            "total": 504573.0,</a:t>
            </a:r>
          </a:p>
          <a:p>
            <a:r>
              <a:t>            "year": 2024</a:t>
            </a:r>
          </a:p>
          <a:p>
            <a:r>
              <a:t>          },</a:t>
            </a:r>
          </a:p>
          <a:p>
            <a:r>
              <a:t>          {</a:t>
            </a:r>
          </a:p>
          <a:p>
            <a:r>
              <a:t>            "daily": 55449.4,</a:t>
            </a:r>
          </a:p>
          <a:p>
            <a:r>
              <a:t>            "days": 10,</a:t>
            </a:r>
          </a:p>
          <a:p>
            <a:r>
              <a:t>            "foreign": 5702.0,</a:t>
            </a:r>
          </a:p>
          <a:p>
            <a:r>
              <a:t>            "local": 347269.0,</a:t>
            </a:r>
          </a:p>
          <a:p>
            <a:r>
              <a:t>            "outside": 201523.0,</a:t>
            </a:r>
          </a:p>
          <a:p>
            <a:r>
              <a:t>            "outside_daily": 20152.3,</a:t>
            </a:r>
          </a:p>
          <a:p>
            <a:r>
              <a:t>            "outside_share_pct": 36.34358532283487,</a:t>
            </a:r>
          </a:p>
          <a:p>
            <a:r>
              <a:t>            "total": 554494.0,</a:t>
            </a:r>
          </a:p>
          <a:p>
            <a:r>
              <a:t>            "year": 2025</a:t>
            </a:r>
          </a:p>
          <a:p>
            <a:r>
              <a:t>          }</a:t>
            </a:r>
          </a:p>
          <a:p>
            <a:r>
              <a:t>        ],</a:t>
            </a:r>
          </a:p>
          <a:p>
            <a:r>
              <a:t>        "comparison": {</a:t>
            </a:r>
          </a:p>
          <a:p>
            <a:r>
              <a:t>          "after_days": 10,</a:t>
            </a:r>
          </a:p>
          <a:p>
            <a:r>
              <a:t>          "after_year": 2025,</a:t>
            </a:r>
          </a:p>
          <a:p>
            <a:r>
              <a:t>          "before_days": 10,</a:t>
            </a:r>
          </a:p>
          <a:p>
            <a:r>
              <a:t>          "before_year": 2024,</a:t>
            </a:r>
          </a:p>
          <a:p>
            <a:r>
              <a:t>          "daily": {</a:t>
            </a:r>
          </a:p>
          <a:p>
            <a:r>
              <a:t>            "after": 55449.4,</a:t>
            </a:r>
          </a:p>
          <a:p>
            <a:r>
              <a:t>            "before": 50457.3,</a:t>
            </a:r>
          </a:p>
          <a:p>
            <a:r>
              <a:t>            "change_pct": 9.893712109050611,</a:t>
            </a:r>
          </a:p>
          <a:p>
            <a:r>
              <a:t>            "difference": 4992.0999999999985</a:t>
            </a:r>
          </a:p>
          <a:p>
            <a:r>
              <a:t>          },</a:t>
            </a:r>
          </a:p>
          <a:p>
            <a:r>
              <a:t>          "outside": {</a:t>
            </a:r>
          </a:p>
          <a:p>
            <a:r>
              <a:t>            "after": 201523.0,</a:t>
            </a:r>
          </a:p>
          <a:p>
            <a:r>
              <a:t>            "before": 181964.0,</a:t>
            </a:r>
          </a:p>
          <a:p>
            <a:r>
              <a:t>            "change_pct": 10.748829438790096,</a:t>
            </a:r>
          </a:p>
          <a:p>
            <a:r>
              <a:t>            "difference": 19559.0</a:t>
            </a:r>
          </a:p>
          <a:p>
            <a:r>
              <a:t>          },</a:t>
            </a:r>
          </a:p>
          <a:p>
            <a:r>
              <a:t>          "outside_daily": {</a:t>
            </a:r>
          </a:p>
          <a:p>
            <a:r>
              <a:t>            "after": 20152.3,</a:t>
            </a:r>
          </a:p>
          <a:p>
            <a:r>
              <a:t>            "before": 18196.4,</a:t>
            </a:r>
          </a:p>
          <a:p>
            <a:r>
              <a:t>            "change_pct": 10.748829438790075,</a:t>
            </a:r>
          </a:p>
          <a:p>
            <a:r>
              <a:t>            "difference": 1955.8999999999978</a:t>
            </a:r>
          </a:p>
          <a:p>
            <a:r>
              <a:t>          },</a:t>
            </a:r>
          </a:p>
          <a:p>
            <a:r>
              <a:t>          "total": {</a:t>
            </a:r>
          </a:p>
          <a:p>
            <a:r>
              <a:t>            "after": 554494.0,</a:t>
            </a:r>
          </a:p>
          <a:p>
            <a:r>
              <a:t>            "before": 504573.0,</a:t>
            </a:r>
          </a:p>
          <a:p>
            <a:r>
              <a:t>            "change_pct": 9.893712109050611,</a:t>
            </a:r>
          </a:p>
          <a:p>
            <a:r>
              <a:t>            "difference": 49921.0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"20260820175023_안동탈춤축제_연도별 방문자 추이.csv",</a:t>
            </a:r>
          </a:p>
          <a:p>
            <a:r>
              <a:t>          "provenance_status": "team_download_exact_query_url_unrecorded",</a:t>
            </a:r>
          </a:p>
          <a:p>
            <a:r>
              <a:t>          "provider": "한국관광 데이터랩",</a:t>
            </a:r>
          </a:p>
          <a:p>
            <a:r>
              <a:t>          "relative_path": "data/source_snapshots/festivals_20260820/43. 안동탈춤축제_2023-2025/20260820175023_안동탈춤축제_연도별 방문자 추이.csv",</a:t>
            </a:r>
          </a:p>
          <a:p>
            <a:r>
              <a:t>          "sha256": "28f418873eda5b37d320d3fef32c46bef172ca1cfea3861db2d5fc96a0b16f50",</a:t>
            </a:r>
          </a:p>
          <a:p>
            <a:r>
              <a:t>          "source_id": "festival-file:28f418873eda5b37d320",</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"0.515",</a:t>
            </a:r>
          </a:p>
          <a:p>
            <a:r>
              <a:t>            "축제명": "안동탈춤축제"</a:t>
            </a:r>
          </a:p>
          <a:p>
            <a:r>
              <a:t>          },</a:t>
            </a:r>
          </a:p>
          <a:p>
            <a:r>
              <a:t>          {</a:t>
            </a:r>
          </a:p>
          <a:p>
            <a:r>
              <a:t>            "개최년도": "2025",</a:t>
            </a:r>
          </a:p>
          <a:p>
            <a:r>
              <a:t>            "구분명": "현지인방문자 유입",</a:t>
            </a:r>
          </a:p>
          <a:p>
            <a:r>
              <a:t>            "그룹명": "축제기간",</a:t>
            </a:r>
          </a:p>
          <a:p>
            <a:r>
              <a:t>            "지표값": "0.859",</a:t>
            </a:r>
          </a:p>
          <a:p>
            <a:r>
              <a:t>            "축제명": "안동탈춤축제"</a:t>
            </a:r>
          </a:p>
          <a:p>
            <a:r>
              <a:t>          },</a:t>
            </a:r>
          </a:p>
          <a:p>
            <a:r>
              <a:t>          {</a:t>
            </a:r>
          </a:p>
          <a:p>
            <a:r>
              <a:t>            "개최년도": "2025",</a:t>
            </a:r>
          </a:p>
          <a:p>
            <a:r>
              <a:t>            "구분명": "내비게이션 검색량",</a:t>
            </a:r>
          </a:p>
          <a:p>
            <a:r>
              <a:t>            "그룹명": "축제기간",</a:t>
            </a:r>
          </a:p>
          <a:p>
            <a:r>
              <a:t>            "지표값": "0.434",</a:t>
            </a:r>
          </a:p>
          <a:p>
            <a:r>
              <a:t>            "축제명": "안동탈춤축제"</a:t>
            </a:r>
          </a:p>
          <a:p>
            <a:r>
              <a:t>          },</a:t>
            </a:r>
          </a:p>
          <a:p>
            <a:r>
              <a:t>          {</a:t>
            </a:r>
          </a:p>
          <a:p>
            <a:r>
              <a:t>            "개최년도": "2025",</a:t>
            </a:r>
          </a:p>
          <a:p>
            <a:r>
              <a:t>            "구분명": "관광소비",</a:t>
            </a:r>
          </a:p>
          <a:p>
            <a:r>
              <a:t>            "그룹명": "축제기간",</a:t>
            </a:r>
          </a:p>
          <a:p>
            <a:r>
              <a:t>            "지표값": "0.544",</a:t>
            </a:r>
          </a:p>
          <a:p>
            <a:r>
              <a:t>            "축제명": "안동탈춤축제"</a:t>
            </a:r>
          </a:p>
          <a:p>
            <a:r>
              <a:t>          },</a:t>
            </a:r>
          </a:p>
          <a:p>
            <a:r>
              <a:t>          {</a:t>
            </a:r>
          </a:p>
          <a:p>
            <a:r>
              <a:t>            "개최년도": "2025",</a:t>
            </a:r>
          </a:p>
          <a:p>
            <a:r>
              <a:t>            "구분명": "축제지 집중률",</a:t>
            </a:r>
          </a:p>
          <a:p>
            <a:r>
              <a:t>            "그룹명": "축제기간",</a:t>
            </a:r>
          </a:p>
          <a:p>
            <a:r>
              <a:t>            "지표값": "0.879",</a:t>
            </a:r>
          </a:p>
          <a:p>
            <a:r>
              <a:t>            "축제명": "안동탈춤축제"</a:t>
            </a:r>
          </a:p>
          <a:p>
            <a:r>
              <a:t>          },</a:t>
            </a:r>
          </a:p>
          <a:p>
            <a:r>
              <a:t>          {</a:t>
            </a:r>
          </a:p>
          <a:p>
            <a:r>
              <a:t>            "개최년도": "2025",</a:t>
            </a:r>
          </a:p>
          <a:p>
            <a:r>
              <a:t>            "구분명": "외부방문자 유입",</a:t>
            </a:r>
          </a:p>
          <a:p>
            <a:r>
              <a:t>            "그룹명": "비축제기간",</a:t>
            </a:r>
          </a:p>
          <a:p>
            <a:r>
              <a:t>            "지표값": "0.258",</a:t>
            </a:r>
          </a:p>
          <a:p>
            <a:r>
              <a:t>            "축제명": "안동탈춤축제"</a:t>
            </a:r>
          </a:p>
          <a:p>
            <a:r>
              <a:t>          },</a:t>
            </a:r>
          </a:p>
          <a:p>
            <a:r>
              <a:t>          {</a:t>
            </a:r>
          </a:p>
          <a:p>
            <a:r>
              <a:t>            "개최년도": "2025",</a:t>
            </a:r>
          </a:p>
          <a:p>
            <a:r>
              <a:t>            "구분명": "현지인방문자 유입",</a:t>
            </a:r>
          </a:p>
          <a:p>
            <a:r>
              <a:t>            "그룹명": "비축제기간",</a:t>
            </a:r>
          </a:p>
          <a:p>
            <a:r>
              <a:t>            "지표값": "0.618",</a:t>
            </a:r>
          </a:p>
          <a:p>
            <a:r>
              <a:t>            "축제명": "안동탈춤축제"</a:t>
            </a:r>
          </a:p>
          <a:p>
            <a:r>
              <a:t>          },</a:t>
            </a:r>
          </a:p>
          <a:p>
            <a:r>
              <a:t>          {</a:t>
            </a:r>
          </a:p>
          <a:p>
            <a:r>
              <a:t>            "개최년도": "2025",</a:t>
            </a:r>
          </a:p>
          <a:p>
            <a:r>
              <a:t>            "구분명": "내비게이션 검색량",</a:t>
            </a:r>
          </a:p>
          <a:p>
            <a:r>
              <a:t>            "그룹명": "비축제기간",</a:t>
            </a:r>
          </a:p>
          <a:p>
            <a:r>
              <a:t>            "지표값": "0.252",</a:t>
            </a:r>
          </a:p>
          <a:p>
            <a:r>
              <a:t>            "축제명": "안동탈춤축제"</a:t>
            </a:r>
          </a:p>
          <a:p>
            <a:r>
              <a:t>          },</a:t>
            </a:r>
          </a:p>
          <a:p>
            <a:r>
              <a:t>          {</a:t>
            </a:r>
          </a:p>
          <a:p>
            <a:r>
              <a:t>            "개최년도": "2025",</a:t>
            </a:r>
          </a:p>
          <a:p>
            <a:r>
              <a:t>            "구분명": "관광소비",</a:t>
            </a:r>
          </a:p>
          <a:p>
            <a:r>
              <a:t>            "그룹명": "비축제기간",</a:t>
            </a:r>
          </a:p>
          <a:p>
            <a:r>
              <a:t>            "지표값": "0.375",</a:t>
            </a:r>
          </a:p>
          <a:p>
            <a:r>
              <a:t>            "축제명": "안동탈춤축제"</a:t>
            </a:r>
          </a:p>
          <a:p>
            <a:r>
              <a:t>          },</a:t>
            </a:r>
          </a:p>
          <a:p>
            <a:r>
              <a:t>          {</a:t>
            </a:r>
          </a:p>
          <a:p>
            <a:r>
              <a:t>            "개최년도": "2025",</a:t>
            </a:r>
          </a:p>
          <a:p>
            <a:r>
              <a:t>            "구분명": "축제지 집중률",</a:t>
            </a:r>
          </a:p>
          <a:p>
            <a:r>
              <a:t>            "그룹명": "비축제기간",</a:t>
            </a:r>
          </a:p>
          <a:p>
            <a:r>
              <a:t>            "지표값": "0.65",</a:t>
            </a:r>
          </a:p>
          <a:p>
            <a:r>
              <a:t>            "축제명": "안동탈춤축제"</a:t>
            </a:r>
          </a:p>
          <a:p>
            <a:r>
              <a:t>          }</a:t>
            </a:r>
          </a:p>
          <a:p>
            <a:r>
              <a:t>        ],</a:t>
            </a:r>
          </a:p>
          <a:p>
            <a:r>
              <a:t>        "indicator_rule": "원본 지표값만 보존. 산식·단위 미확인으로 성장률/원화/정원/참여율 변환 금지.",</a:t>
            </a:r>
          </a:p>
          <a:p>
            <a:r>
              <a:t>        "audience": [</a:t>
            </a:r>
          </a:p>
          <a:p>
            <a:r>
              <a:t>          {</a:t>
            </a:r>
          </a:p>
          <a:p>
            <a:r>
              <a:t>            "남성비율": "4.4",</a:t>
            </a:r>
          </a:p>
          <a:p>
            <a:r>
              <a:t>            "여성비율": "5.0",</a:t>
            </a:r>
          </a:p>
          <a:p>
            <a:r>
              <a:t>            "연령대": "70세 이상",</a:t>
            </a:r>
          </a:p>
          <a:p>
            <a:r>
              <a:t>            "축제명": "안동탈춤축제"</a:t>
            </a:r>
          </a:p>
          <a:p>
            <a:r>
              <a:t>          },</a:t>
            </a:r>
          </a:p>
          <a:p>
            <a:r>
              <a:t>          {</a:t>
            </a:r>
          </a:p>
          <a:p>
            <a:r>
              <a:t>            "남성비율": "8.0",</a:t>
            </a:r>
          </a:p>
          <a:p>
            <a:r>
              <a:t>            "여성비율": "8.5",</a:t>
            </a:r>
          </a:p>
          <a:p>
            <a:r>
              <a:t>            "연령대": "60~69세",</a:t>
            </a:r>
          </a:p>
          <a:p>
            <a:r>
              <a:t>            "축제명": "안동탈춤축제"</a:t>
            </a:r>
          </a:p>
          <a:p>
            <a:r>
              <a:t>          },</a:t>
            </a:r>
          </a:p>
          <a:p>
            <a:r>
              <a:t>          {</a:t>
            </a:r>
          </a:p>
          <a:p>
            <a:r>
              <a:t>            "남성비율": "9.2",</a:t>
            </a:r>
          </a:p>
          <a:p>
            <a:r>
              <a:t>            "여성비율": "10.9",</a:t>
            </a:r>
          </a:p>
          <a:p>
            <a:r>
              <a:t>            "연령대": "50~59세",</a:t>
            </a:r>
          </a:p>
          <a:p>
            <a:r>
              <a:t>            "축제명": "안동탈춤축제"</a:t>
            </a:r>
          </a:p>
          <a:p>
            <a:r>
              <a:t>          },</a:t>
            </a:r>
          </a:p>
          <a:p>
            <a:r>
              <a:t>          {</a:t>
            </a:r>
          </a:p>
          <a:p>
            <a:r>
              <a:t>            "남성비율": "7.5",</a:t>
            </a:r>
          </a:p>
          <a:p>
            <a:r>
              <a:t>            "여성비율": "7.9",</a:t>
            </a:r>
          </a:p>
          <a:p>
            <a:r>
              <a:t>            "연령대": "40~49세",</a:t>
            </a:r>
          </a:p>
          <a:p>
            <a:r>
              <a:t>            "축제명": "안동탈춤축제"</a:t>
            </a:r>
          </a:p>
          <a:p>
            <a:r>
              <a:t>          },</a:t>
            </a:r>
          </a:p>
          <a:p>
            <a:r>
              <a:t>          {</a:t>
            </a:r>
          </a:p>
          <a:p>
            <a:r>
              <a:t>            "남성비율": "7.9",</a:t>
            </a:r>
          </a:p>
          <a:p>
            <a:r>
              <a:t>            "여성비율": "7.2",</a:t>
            </a:r>
          </a:p>
          <a:p>
            <a:r>
              <a:t>            "연령대": "30~39세",</a:t>
            </a:r>
          </a:p>
          <a:p>
            <a:r>
              <a:t>            "축제명": "안동탈춤축제"</a:t>
            </a:r>
          </a:p>
          <a:p>
            <a:r>
              <a:t>          },</a:t>
            </a:r>
          </a:p>
          <a:p>
            <a:r>
              <a:t>          {</a:t>
            </a:r>
          </a:p>
          <a:p>
            <a:r>
              <a:t>            "남성비율": "7.1",</a:t>
            </a:r>
          </a:p>
          <a:p>
            <a:r>
              <a:t>            "여성비율": "8.2",</a:t>
            </a:r>
          </a:p>
          <a:p>
            <a:r>
              <a:t>            "연령대": "20~29세",</a:t>
            </a:r>
          </a:p>
          <a:p>
            <a:r>
              <a:t>            "축제명": "안동탈춤축제"</a:t>
            </a:r>
          </a:p>
          <a:p>
            <a:r>
              <a:t>          },</a:t>
            </a:r>
          </a:p>
          <a:p>
            <a:r>
              <a:t>          {</a:t>
            </a:r>
          </a:p>
          <a:p>
            <a:r>
              <a:t>            "남성비율": "3.2",</a:t>
            </a:r>
          </a:p>
          <a:p>
            <a:r>
              <a:t>            "여성비율": "3.9",</a:t>
            </a:r>
          </a:p>
          <a:p>
            <a:r>
              <a:t>            "연령대": "10~19세",</a:t>
            </a:r>
          </a:p>
          <a:p>
            <a:r>
              <a:t>            "축제명": "안동탈춤축제"</a:t>
            </a:r>
          </a:p>
          <a:p>
            <a:r>
              <a:t>          },</a:t>
            </a:r>
          </a:p>
          <a:p>
            <a:r>
              <a:t>          {</a:t>
            </a:r>
          </a:p>
          <a:p>
            <a:r>
              <a:t>            "남성비율": "0.5",</a:t>
            </a:r>
          </a:p>
          <a:p>
            <a:r>
              <a:t>            "여성비율": "0.7",</a:t>
            </a:r>
          </a:p>
          <a:p>
            <a:r>
              <a:t>            "연령대": "0~9세",</a:t>
            </a:r>
          </a:p>
          <a:p>
            <a:r>
              <a:t>            "축제명": "안동탈춤축제"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"안동구시장",</a:t>
            </a:r>
          </a:p>
          <a:p>
            <a:r>
              <a:t>            "도로명주소": "경북 안동시 번영1길 47-0",</a:t>
            </a:r>
          </a:p>
          <a:p>
            <a:r>
              <a:t>            "카테고리": "시장"</a:t>
            </a:r>
          </a:p>
          <a:p>
            <a:r>
              <a:t>          },</a:t>
            </a:r>
          </a:p>
          <a:p>
            <a:r>
              <a:t>          {</a:t>
            </a:r>
          </a:p>
          <a:p>
            <a:r>
              <a:t>            "구분": "외지인",</a:t>
            </a:r>
          </a:p>
          <a:p>
            <a:r>
              <a:t>            "순위": "2",</a:t>
            </a:r>
          </a:p>
          <a:p>
            <a:r>
              <a:t>            "목적지명": "안동국제탈춤페스티벌",</a:t>
            </a:r>
          </a:p>
          <a:p>
            <a:r>
              <a:t>            "도로명주소": "경북 안동시 육사로 239-0",</a:t>
            </a:r>
          </a:p>
          <a:p>
            <a:r>
              <a:t>            "카테고리": "기타문화관광지"</a:t>
            </a:r>
          </a:p>
          <a:p>
            <a:r>
              <a:t>          },</a:t>
            </a:r>
          </a:p>
          <a:p>
            <a:r>
              <a:t>          {</a:t>
            </a:r>
          </a:p>
          <a:p>
            <a:r>
              <a:t>            "구분": "외지인",</a:t>
            </a:r>
          </a:p>
          <a:p>
            <a:r>
              <a:t>            "순위": "3",</a:t>
            </a:r>
          </a:p>
          <a:p>
            <a:r>
              <a:t>            "목적지명": "탈춤공원",</a:t>
            </a:r>
          </a:p>
          <a:p>
            <a:r>
              <a:t>            "도로명주소": "경북 안동시 육사로 239-0",</a:t>
            </a:r>
          </a:p>
          <a:p>
            <a:r>
              <a:t>            "카테고리": "도시공원"</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안동탈춤축제 방문자 추이",</a:t>
            </a:r>
          </a:p>
          <a:p>
            <a:r>
              <a:t>      "summary": "2024→2025년 전체 504,573→554,494명 (+9.89%). 개최 10→10일, 일평균 +9.89%, 외지인 +10.75%."</a:t>
            </a:r>
          </a:p>
          <a:p>
            <a:r>
              <a:t>    },</a:t>
            </a:r>
          </a:p>
          <a:p>
            <a:r>
              <a:t>    {</a:t>
            </a:r>
          </a:p>
          <a:p>
            <a:r>
              <a:t>      "source_id": "case:festival:1ff9d11d3ee0ee",</a:t>
            </a:r>
          </a:p>
          <a:p>
            <a:r>
              <a:t>      "document_type": "case_study",</a:t>
            </a:r>
          </a:p>
          <a:p>
            <a:r>
              <a:t>      "evidence_kind": "festival_statistics",</a:t>
            </a:r>
          </a:p>
          <a:p>
            <a:r>
              <a:t>      "retrieval_method": "datalab_festival_table",</a:t>
            </a:r>
          </a:p>
          <a:p>
            <a:r>
              <a:t>      "region_code": "46900",</a:t>
            </a:r>
          </a:p>
          <a:p>
            <a:r>
              <a:t>      "region_name": "전라남도 진도군",</a:t>
            </a:r>
          </a:p>
          <a:p>
            <a:r>
              <a:t>      "case_region": "전라남도 진도군",</a:t>
            </a:r>
          </a:p>
          <a:p>
            <a:r>
              <a:t>      "intervention": "진도신비의바닷길축제",</a:t>
            </a:r>
          </a:p>
          <a:p>
            <a:r>
              <a:t>      "problem_addressed": "타지역 축제 방문 실적 참고 · 자연·야외",</a:t>
            </a:r>
          </a:p>
          <a:p>
            <a:r>
              <a:t>      "target_group": "축제 관측구역 방문자(현지인·외지인·외국인 구분)",</a:t>
            </a:r>
          </a:p>
          <a:p>
            <a:r>
              <a:t>      "operating_model": "진도신비의바닷길축제를 2025년 4일 개최한 문화관광축제 운영 사례. 세부 프로그램·예약·혜택은 이 CSV에 기록되어 있지 않으며 새로운 운영안은 제안으로 구분한다.",</a:t>
            </a:r>
          </a:p>
          <a:p>
            <a:r>
              <a:t>      "duration": "2025년 4일",</a:t>
            </a:r>
          </a:p>
          <a:p>
            <a:r>
              <a:t>      "public_budget": "CSV에 사업비 없음",</a:t>
            </a:r>
          </a:p>
          <a:p>
            <a:r>
              <a:t>      "observed_result": "2024→2025년 전체 28,171→43,973명 (+56.09%). 개최 3→4일, 일평균 +17.07%, 외지인 +89.98%.",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진도신비의바닷길축제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"20260820182448_진도신비의바닷길축제_연도별 방문자 추이.csv",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진도신비의바닷길축제_2023-2025/20260820182448_진도신비의바닷길축제_연도별 방문자 추이.csv",</a:t>
            </a:r>
          </a:p>
          <a:p>
            <a:r>
              <a:t>          "sha256": "3cf7484d808e807aeffda7504a3d316839b9220f0f7a72550f5387af3ee3f8d9",</a:t>
            </a:r>
          </a:p>
          <a:p>
            <a:r>
              <a:t>          "source_id": "festival-file:3cf7484d808e807aeffd",</a:t>
            </a:r>
          </a:p>
          <a:p>
            <a:r>
              <a:t>          "source_url": "https://datalab.visitkorea.or.kr/"</a:t>
            </a:r>
          </a:p>
          <a:p>
            <a:r>
              <a:t>        },</a:t>
            </a:r>
          </a:p>
          <a:p>
            <a:r>
              <a:t>        {</a:t>
            </a:r>
          </a:p>
          <a:p>
            <a:r>
              <a:t>          "downloaded_at": "2026-08-20",</a:t>
            </a:r>
          </a:p>
          <a:p>
            <a:r>
              <a:t>          "file_name": "20260820182448_진도신비의바닷길축제_성_연령별 내국인 방문자.csv",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진도신비의바닷길축제_2023-2025/20260820182448_진도신비의바닷길축제_성_연령별 내국인 방문자.csv",</a:t>
            </a:r>
          </a:p>
          <a:p>
            <a:r>
              <a:t>          "sha256": "cb3424e725c84352d81fdb987f6d3ade162f54f63a9590ac8730dddcfcc48ed7",</a:t>
            </a:r>
          </a:p>
          <a:p>
            <a:r>
              <a:t>          "source_id": "festival-file:cb3424e725c84352d81f",</a:t>
            </a:r>
          </a:p>
          <a:p>
            <a:r>
              <a:t>          "source_url": "https://datalab.visitkorea.or.kr/"</a:t>
            </a:r>
          </a:p>
          <a:p>
            <a:r>
              <a:t>        },</a:t>
            </a:r>
          </a:p>
          <a:p>
            <a:r>
              <a:t>        {</a:t>
            </a:r>
          </a:p>
          <a:p>
            <a:r>
              <a:t>          "downloaded_at": "2026-08-20",</a:t>
            </a:r>
          </a:p>
          <a:p>
            <a:r>
              <a:t>          "file_name": "20260820182448_진도신비의바닷길축제_목적지 검색순위.csv",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진도신비의바닷길축제_2023-2025/20260820182448_진도신비의바닷길축제_목적지 검색순위.csv",</a:t>
            </a:r>
          </a:p>
          <a:p>
            <a:r>
              <a:t>          "sha256": "b8aa76a62ac8159da3b9234363c8c0026f70875997af88b4e750f2f6154c65ae",</a:t>
            </a:r>
          </a:p>
          <a:p>
            <a:r>
              <a:t>          "source_id": "festival-file:b8aa76a62ac8159da3b9",</a:t>
            </a:r>
          </a:p>
          <a:p>
            <a:r>
              <a:t>          "source_url": "https://datalab.visitkorea.or.kr/"</a:t>
            </a:r>
          </a:p>
          <a:p>
            <a:r>
              <a:t>        },</a:t>
            </a:r>
          </a:p>
          <a:p>
            <a:r>
              <a:t>        {</a:t>
            </a:r>
          </a:p>
          <a:p>
            <a:r>
              <a:t>          "downloaded_at": "2026-08-20",</a:t>
            </a:r>
          </a:p>
          <a:p>
            <a:r>
              <a:t>          "file_name": "20260820182448_진도신비의바닷길축제_문화관광축제 주요 지표.csv",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진도신비의바닷길축제_2023-2025/20260820182448_진도신비의바닷길축제_문화관광축제 주요 지표.csv",</a:t>
            </a:r>
          </a:p>
          <a:p>
            <a:r>
              <a:t>          "sha256": "c9332a0e0d15d1550b1b545b8b739cc6a919a13ca701800d87203b06b2fecd46",</a:t>
            </a:r>
          </a:p>
          <a:p>
            <a:r>
              <a:t>          "source_id": "festival-file:c9332a0e0d15d1550b1b",</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"자연·야외",</a:t>
            </a:r>
          </a:p>
          <a:p>
            <a:r>
              <a:t>        "priority_signal": "visit",</a:t>
            </a:r>
          </a:p>
          <a:p>
            <a:r>
              <a:t>        "rule": "함수 기반 조사 우선순위. 사업효과·인구/환경 유사도 점수가 아니며 소비·체류 개선은 조사 가설이다."</a:t>
            </a:r>
          </a:p>
          <a:p>
            <a:r>
              <a:t>      },</a:t>
            </a:r>
          </a:p>
          <a:p>
            <a:r>
              <a:t>      "festival_statistics": {</a:t>
            </a:r>
          </a:p>
          <a:p>
            <a:r>
              <a:t>        "name": "진도신비의바닷길축제",</a:t>
            </a:r>
          </a:p>
          <a:p>
            <a:r>
              <a:t>        "annual": [</a:t>
            </a:r>
          </a:p>
          <a:p>
            <a:r>
              <a:t>          {</a:t>
            </a:r>
          </a:p>
          <a:p>
            <a:r>
              <a:t>            "daily": 11185.333333333334,</a:t>
            </a:r>
          </a:p>
          <a:p>
            <a:r>
              <a:t>            "days": 3,</a:t>
            </a:r>
          </a:p>
          <a:p>
            <a:r>
              <a:t>            "foreign": 278.0,</a:t>
            </a:r>
          </a:p>
          <a:p>
            <a:r>
              <a:t>            "local": 12120.0,</a:t>
            </a:r>
          </a:p>
          <a:p>
            <a:r>
              <a:t>            "outside": 21158.0,</a:t>
            </a:r>
          </a:p>
          <a:p>
            <a:r>
              <a:t>            "outside_daily": 7052.666666666667,</a:t>
            </a:r>
          </a:p>
          <a:p>
            <a:r>
              <a:t>            "outside_share_pct": 63.05280724758613,</a:t>
            </a:r>
          </a:p>
          <a:p>
            <a:r>
              <a:t>            "total": 33556.0,</a:t>
            </a:r>
          </a:p>
          <a:p>
            <a:r>
              <a:t>            "year": 2023</a:t>
            </a:r>
          </a:p>
          <a:p>
            <a:r>
              <a:t>          },</a:t>
            </a:r>
          </a:p>
          <a:p>
            <a:r>
              <a:t>          {</a:t>
            </a:r>
          </a:p>
          <a:p>
            <a:r>
              <a:t>            "daily": 9390.333333333334,</a:t>
            </a:r>
          </a:p>
          <a:p>
            <a:r>
              <a:t>            "days": 3,</a:t>
            </a:r>
          </a:p>
          <a:p>
            <a:r>
              <a:t>            "foreign": 223.0,</a:t>
            </a:r>
          </a:p>
          <a:p>
            <a:r>
              <a:t>            "local": 13068.0,</a:t>
            </a:r>
          </a:p>
          <a:p>
            <a:r>
              <a:t>            "outside": 14880.0,</a:t>
            </a:r>
          </a:p>
          <a:p>
            <a:r>
              <a:t>            "outside_daily": 4960.0,</a:t>
            </a:r>
          </a:p>
          <a:p>
            <a:r>
              <a:t>            "outside_share_pct": 52.82027617052998,</a:t>
            </a:r>
          </a:p>
          <a:p>
            <a:r>
              <a:t>            "total": 28171.0,</a:t>
            </a:r>
          </a:p>
          <a:p>
            <a:r>
              <a:t>            "year": 2024</a:t>
            </a:r>
          </a:p>
          <a:p>
            <a:r>
              <a:t>          },</a:t>
            </a:r>
          </a:p>
          <a:p>
            <a:r>
              <a:t>          {</a:t>
            </a:r>
          </a:p>
          <a:p>
            <a:r>
              <a:t>            "daily": 10993.25,</a:t>
            </a:r>
          </a:p>
          <a:p>
            <a:r>
              <a:t>            "days": 4,</a:t>
            </a:r>
          </a:p>
          <a:p>
            <a:r>
              <a:t>            "foreign": 359.0,</a:t>
            </a:r>
          </a:p>
          <a:p>
            <a:r>
              <a:t>            "local": 15345.0,</a:t>
            </a:r>
          </a:p>
          <a:p>
            <a:r>
              <a:t>            "outside": 28269.0,</a:t>
            </a:r>
          </a:p>
          <a:p>
            <a:r>
              <a:t>            "outside_daily": 7067.25,</a:t>
            </a:r>
          </a:p>
          <a:p>
            <a:r>
              <a:t>            "outside_share_pct": 64.28717622177244,</a:t>
            </a:r>
          </a:p>
          <a:p>
            <a:r>
              <a:t>            "total": 43973.0,</a:t>
            </a:r>
          </a:p>
          <a:p>
            <a:r>
              <a:t>            "year": 2025</a:t>
            </a:r>
          </a:p>
          <a:p>
            <a:r>
              <a:t>          }</a:t>
            </a:r>
          </a:p>
          <a:p>
            <a:r>
              <a:t>        ],</a:t>
            </a:r>
          </a:p>
          <a:p>
            <a:r>
              <a:t>        "comparison": {</a:t>
            </a:r>
          </a:p>
          <a:p>
            <a:r>
              <a:t>          "after_days": 4,</a:t>
            </a:r>
          </a:p>
          <a:p>
            <a:r>
              <a:t>          "after_year": 2025,</a:t>
            </a:r>
          </a:p>
          <a:p>
            <a:r>
              <a:t>          "before_days": 3,</a:t>
            </a:r>
          </a:p>
          <a:p>
            <a:r>
              <a:t>          "before_year": 2024,</a:t>
            </a:r>
          </a:p>
          <a:p>
            <a:r>
              <a:t>          "daily": {</a:t>
            </a:r>
          </a:p>
          <a:p>
            <a:r>
              <a:t>            "after": 10993.25,</a:t>
            </a:r>
          </a:p>
          <a:p>
            <a:r>
              <a:t>            "before": 9390.333333333334,</a:t>
            </a:r>
          </a:p>
          <a:p>
            <a:r>
              <a:t>            "change_pct": 17.069859074935213,</a:t>
            </a:r>
          </a:p>
          <a:p>
            <a:r>
              <a:t>            "difference": 1602.916666666666</a:t>
            </a:r>
          </a:p>
          <a:p>
            <a:r>
              <a:t>          },</a:t>
            </a:r>
          </a:p>
          <a:p>
            <a:r>
              <a:t>          "outside": {</a:t>
            </a:r>
          </a:p>
          <a:p>
            <a:r>
              <a:t>            "after": 28269.0,</a:t>
            </a:r>
          </a:p>
          <a:p>
            <a:r>
              <a:t>            "before": 14880.0,</a:t>
            </a:r>
          </a:p>
          <a:p>
            <a:r>
              <a:t>            "change_pct": 89.97983870967742,</a:t>
            </a:r>
          </a:p>
          <a:p>
            <a:r>
              <a:t>            "difference": 13389.0</a:t>
            </a:r>
          </a:p>
          <a:p>
            <a:r>
              <a:t>          },</a:t>
            </a:r>
          </a:p>
          <a:p>
            <a:r>
              <a:t>          "outside_daily": {</a:t>
            </a:r>
          </a:p>
          <a:p>
            <a:r>
              <a:t>            "after": 7067.25,</a:t>
            </a:r>
          </a:p>
          <a:p>
            <a:r>
              <a:t>            "before": 4960.0,</a:t>
            </a:r>
          </a:p>
          <a:p>
            <a:r>
              <a:t>            "change_pct": 42.484879032258064,</a:t>
            </a:r>
          </a:p>
          <a:p>
            <a:r>
              <a:t>            "difference": 2107.25</a:t>
            </a:r>
          </a:p>
          <a:p>
            <a:r>
              <a:t>          },</a:t>
            </a:r>
          </a:p>
          <a:p>
            <a:r>
              <a:t>          "total": {</a:t>
            </a:r>
          </a:p>
          <a:p>
            <a:r>
              <a:t>            "after": 43973.0,</a:t>
            </a:r>
          </a:p>
          <a:p>
            <a:r>
              <a:t>            "before": 28171.0,</a:t>
            </a:r>
          </a:p>
          <a:p>
            <a:r>
              <a:t>            "change_pct": 56.093145433246946,</a:t>
            </a:r>
          </a:p>
          <a:p>
            <a:r>
              <a:t>            "difference": 15802.0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"20260820182448_진도신비의바닷길축제_연도별 방문자 추이.csv",</a:t>
            </a:r>
          </a:p>
          <a:p>
            <a:r>
              <a:t>          "provenance_status": "team_download_exact_query_url_unrecorded",</a:t>
            </a:r>
          </a:p>
          <a:p>
            <a:r>
              <a:t>          "provider": "한국관광 데이터랩",</a:t>
            </a:r>
          </a:p>
          <a:p>
            <a:r>
              <a:t>          "relative_path": "data/source_snapshots/festivals_20260820/69. 진도신비의바닷길축제_2023-2025/20260820182448_진도신비의바닷길축제_연도별 방문자 추이.csv",</a:t>
            </a:r>
          </a:p>
          <a:p>
            <a:r>
              <a:t>          "sha256": "3cf7484d808e807aeffda7504a3d316839b9220f0f7a72550f5387af3ee3f8d9",</a:t>
            </a:r>
          </a:p>
          <a:p>
            <a:r>
              <a:t>          "source_id": "festival-file:3cf7484d808e807aeffd",</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"0.568",</a:t>
            </a:r>
          </a:p>
          <a:p>
            <a:r>
              <a:t>            "축제명": "진도신비의바닷길축제"</a:t>
            </a:r>
          </a:p>
          <a:p>
            <a:r>
              <a:t>          },</a:t>
            </a:r>
          </a:p>
          <a:p>
            <a:r>
              <a:t>          {</a:t>
            </a:r>
          </a:p>
          <a:p>
            <a:r>
              <a:t>            "개최년도": "2025",</a:t>
            </a:r>
          </a:p>
          <a:p>
            <a:r>
              <a:t>            "구분명": "현지인방문자 유입",</a:t>
            </a:r>
          </a:p>
          <a:p>
            <a:r>
              <a:t>            "그룹명": "축제기간",</a:t>
            </a:r>
          </a:p>
          <a:p>
            <a:r>
              <a:t>            "지표값": "0.858",</a:t>
            </a:r>
          </a:p>
          <a:p>
            <a:r>
              <a:t>            "축제명": "진도신비의바닷길축제"</a:t>
            </a:r>
          </a:p>
          <a:p>
            <a:r>
              <a:t>          },</a:t>
            </a:r>
          </a:p>
          <a:p>
            <a:r>
              <a:t>          {</a:t>
            </a:r>
          </a:p>
          <a:p>
            <a:r>
              <a:t>            "개최년도": "2025",</a:t>
            </a:r>
          </a:p>
          <a:p>
            <a:r>
              <a:t>            "구분명": "내비게이션 검색량",</a:t>
            </a:r>
          </a:p>
          <a:p>
            <a:r>
              <a:t>            "그룹명": "축제기간",</a:t>
            </a:r>
          </a:p>
          <a:p>
            <a:r>
              <a:t>            "지표값": "0.513",</a:t>
            </a:r>
          </a:p>
          <a:p>
            <a:r>
              <a:t>            "축제명": "진도신비의바닷길축제"</a:t>
            </a:r>
          </a:p>
          <a:p>
            <a:r>
              <a:t>          },</a:t>
            </a:r>
          </a:p>
          <a:p>
            <a:r>
              <a:t>          {</a:t>
            </a:r>
          </a:p>
          <a:p>
            <a:r>
              <a:t>            "개최년도": "2025",</a:t>
            </a:r>
          </a:p>
          <a:p>
            <a:r>
              <a:t>            "구분명": "관광소비",</a:t>
            </a:r>
          </a:p>
          <a:p>
            <a:r>
              <a:t>            "그룹명": "축제기간",</a:t>
            </a:r>
          </a:p>
          <a:p>
            <a:r>
              <a:t>            "지표값": "0.283",</a:t>
            </a:r>
          </a:p>
          <a:p>
            <a:r>
              <a:t>            "축제명": "진도신비의바닷길축제"</a:t>
            </a:r>
          </a:p>
          <a:p>
            <a:r>
              <a:t>          },</a:t>
            </a:r>
          </a:p>
          <a:p>
            <a:r>
              <a:t>          {</a:t>
            </a:r>
          </a:p>
          <a:p>
            <a:r>
              <a:t>            "개최년도": "2025",</a:t>
            </a:r>
          </a:p>
          <a:p>
            <a:r>
              <a:t>            "구분명": "축제지 집중률",</a:t>
            </a:r>
          </a:p>
          <a:p>
            <a:r>
              <a:t>            "그룹명": "축제기간",</a:t>
            </a:r>
          </a:p>
          <a:p>
            <a:r>
              <a:t>            "지표값": "0.791",</a:t>
            </a:r>
          </a:p>
          <a:p>
            <a:r>
              <a:t>            "축제명": "진도신비의바닷길축제"</a:t>
            </a:r>
          </a:p>
          <a:p>
            <a:r>
              <a:t>          },</a:t>
            </a:r>
          </a:p>
          <a:p>
            <a:r>
              <a:t>          {</a:t>
            </a:r>
          </a:p>
          <a:p>
            <a:r>
              <a:t>            "개최년도": "2025",</a:t>
            </a:r>
          </a:p>
          <a:p>
            <a:r>
              <a:t>            "구분명": "외부방문자 유입",</a:t>
            </a:r>
          </a:p>
          <a:p>
            <a:r>
              <a:t>            "그룹명": "비축제기간",</a:t>
            </a:r>
          </a:p>
          <a:p>
            <a:r>
              <a:t>            "지표값": "0.137",</a:t>
            </a:r>
          </a:p>
          <a:p>
            <a:r>
              <a:t>            "축제명": "진도신비의바닷길축제"</a:t>
            </a:r>
          </a:p>
          <a:p>
            <a:r>
              <a:t>          },</a:t>
            </a:r>
          </a:p>
          <a:p>
            <a:r>
              <a:t>          {</a:t>
            </a:r>
          </a:p>
          <a:p>
            <a:r>
              <a:t>            "개최년도": "2025",</a:t>
            </a:r>
          </a:p>
          <a:p>
            <a:r>
              <a:t>            "구분명": "현지인방문자 유입",</a:t>
            </a:r>
          </a:p>
          <a:p>
            <a:r>
              <a:t>            "그룹명": "비축제기간",</a:t>
            </a:r>
          </a:p>
          <a:p>
            <a:r>
              <a:t>            "지표값": "0.472",</a:t>
            </a:r>
          </a:p>
          <a:p>
            <a:r>
              <a:t>            "축제명": "진도신비의바닷길축제"</a:t>
            </a:r>
          </a:p>
          <a:p>
            <a:r>
              <a:t>          },</a:t>
            </a:r>
          </a:p>
          <a:p>
            <a:r>
              <a:t>          {</a:t>
            </a:r>
          </a:p>
          <a:p>
            <a:r>
              <a:t>            "개최년도": "2025",</a:t>
            </a:r>
          </a:p>
          <a:p>
            <a:r>
              <a:t>            "구분명": "내비게이션 검색량",</a:t>
            </a:r>
          </a:p>
          <a:p>
            <a:r>
              <a:t>            "그룹명": "비축제기간",</a:t>
            </a:r>
          </a:p>
          <a:p>
            <a:r>
              <a:t>            "지표값": "0.06",</a:t>
            </a:r>
          </a:p>
          <a:p>
            <a:r>
              <a:t>            "축제명": "진도신비의바닷길축제"</a:t>
            </a:r>
          </a:p>
          <a:p>
            <a:r>
              <a:t>          },</a:t>
            </a:r>
          </a:p>
          <a:p>
            <a:r>
              <a:t>          {</a:t>
            </a:r>
          </a:p>
          <a:p>
            <a:r>
              <a:t>            "개최년도": "2025",</a:t>
            </a:r>
          </a:p>
          <a:p>
            <a:r>
              <a:t>            "구분명": "관광소비",</a:t>
            </a:r>
          </a:p>
          <a:p>
            <a:r>
              <a:t>            "그룹명": "비축제기간",</a:t>
            </a:r>
          </a:p>
          <a:p>
            <a:r>
              <a:t>            "지표값": "0.212",</a:t>
            </a:r>
          </a:p>
          <a:p>
            <a:r>
              <a:t>            "축제명": "진도신비의바닷길축제"</a:t>
            </a:r>
          </a:p>
          <a:p>
            <a:r>
              <a:t>          },</a:t>
            </a:r>
          </a:p>
          <a:p>
            <a:r>
              <a:t>          {</a:t>
            </a:r>
          </a:p>
          <a:p>
            <a:r>
              <a:t>            "개최년도": "2025",</a:t>
            </a:r>
          </a:p>
          <a:p>
            <a:r>
              <a:t>            "구분명": "축제지 집중률",</a:t>
            </a:r>
          </a:p>
          <a:p>
            <a:r>
              <a:t>            "그룹명": "비축제기간",</a:t>
            </a:r>
          </a:p>
          <a:p>
            <a:r>
              <a:t>            "지표값": "0.269",</a:t>
            </a:r>
          </a:p>
          <a:p>
            <a:r>
              <a:t>            "축제명": "진도신비의바닷길축제"</a:t>
            </a:r>
          </a:p>
          <a:p>
            <a:r>
              <a:t>          }</a:t>
            </a:r>
          </a:p>
          <a:p>
            <a:r>
              <a:t>        ],</a:t>
            </a:r>
          </a:p>
          <a:p>
            <a:r>
              <a:t>        "indicator_rule": "원본 지표값만 보존. 산식·단위 미확인으로 성장률/원화/정원/참여율 변환 금지.",</a:t>
            </a:r>
          </a:p>
          <a:p>
            <a:r>
              <a:t>        "audience": [</a:t>
            </a:r>
          </a:p>
          <a:p>
            <a:r>
              <a:t>          {</a:t>
            </a:r>
          </a:p>
          <a:p>
            <a:r>
              <a:t>            "남성비율": "7.4",</a:t>
            </a:r>
          </a:p>
          <a:p>
            <a:r>
              <a:t>            "여성비율": "6.8",</a:t>
            </a:r>
          </a:p>
          <a:p>
            <a:r>
              <a:t>            "연령대": "70세 이상",</a:t>
            </a:r>
          </a:p>
          <a:p>
            <a:r>
              <a:t>            "축제명": "진도신비의바닷길축제"</a:t>
            </a:r>
          </a:p>
          <a:p>
            <a:r>
              <a:t>          },</a:t>
            </a:r>
          </a:p>
          <a:p>
            <a:r>
              <a:t>          {</a:t>
            </a:r>
          </a:p>
          <a:p>
            <a:r>
              <a:t>            "남성비율": "13.8",</a:t>
            </a:r>
          </a:p>
          <a:p>
            <a:r>
              <a:t>            "여성비율": "14.3",</a:t>
            </a:r>
          </a:p>
          <a:p>
            <a:r>
              <a:t>            "연령대": "60~69세",</a:t>
            </a:r>
          </a:p>
          <a:p>
            <a:r>
              <a:t>            "축제명": "진도신비의바닷길축제"</a:t>
            </a:r>
          </a:p>
          <a:p>
            <a:r>
              <a:t>          },</a:t>
            </a:r>
          </a:p>
          <a:p>
            <a:r>
              <a:t>          {</a:t>
            </a:r>
          </a:p>
          <a:p>
            <a:r>
              <a:t>            "남성비율": "10.7",</a:t>
            </a:r>
          </a:p>
          <a:p>
            <a:r>
              <a:t>            "여성비율": "11.5",</a:t>
            </a:r>
          </a:p>
          <a:p>
            <a:r>
              <a:t>            "연령대": "50~59세",</a:t>
            </a:r>
          </a:p>
          <a:p>
            <a:r>
              <a:t>            "축제명": "진도신비의바닷길축제"</a:t>
            </a:r>
          </a:p>
          <a:p>
            <a:r>
              <a:t>          },</a:t>
            </a:r>
          </a:p>
          <a:p>
            <a:r>
              <a:t>          {</a:t>
            </a:r>
          </a:p>
          <a:p>
            <a:r>
              <a:t>            "남성비율": "7.7",</a:t>
            </a:r>
          </a:p>
          <a:p>
            <a:r>
              <a:t>            "여성비율": "4.9",</a:t>
            </a:r>
          </a:p>
          <a:p>
            <a:r>
              <a:t>            "연령대": "40~49세",</a:t>
            </a:r>
          </a:p>
          <a:p>
            <a:r>
              <a:t>            "축제명": "진도신비의바닷길축제"</a:t>
            </a:r>
          </a:p>
          <a:p>
            <a:r>
              <a:t>          },</a:t>
            </a:r>
          </a:p>
          <a:p>
            <a:r>
              <a:t>          {</a:t>
            </a:r>
          </a:p>
          <a:p>
            <a:r>
              <a:t>            "남성비율": "6.8",</a:t>
            </a:r>
          </a:p>
          <a:p>
            <a:r>
              <a:t>            "여성비율": "4.2",</a:t>
            </a:r>
          </a:p>
          <a:p>
            <a:r>
              <a:t>            "연령대": "30~39세",</a:t>
            </a:r>
          </a:p>
          <a:p>
            <a:r>
              <a:t>            "축제명": "진도신비의바닷길축제"</a:t>
            </a:r>
          </a:p>
          <a:p>
            <a:r>
              <a:t>          },</a:t>
            </a:r>
          </a:p>
          <a:p>
            <a:r>
              <a:t>          {</a:t>
            </a:r>
          </a:p>
          <a:p>
            <a:r>
              <a:t>            "남성비율": "5.3",</a:t>
            </a:r>
          </a:p>
          <a:p>
            <a:r>
              <a:t>            "여성비율": "3.0",</a:t>
            </a:r>
          </a:p>
          <a:p>
            <a:r>
              <a:t>            "연령대": "20~29세",</a:t>
            </a:r>
          </a:p>
          <a:p>
            <a:r>
              <a:t>            "축제명": "진도신비의바닷길축제"</a:t>
            </a:r>
          </a:p>
          <a:p>
            <a:r>
              <a:t>          },</a:t>
            </a:r>
          </a:p>
          <a:p>
            <a:r>
              <a:t>          {</a:t>
            </a:r>
          </a:p>
          <a:p>
            <a:r>
              <a:t>            "남성비율": "1.3",</a:t>
            </a:r>
          </a:p>
          <a:p>
            <a:r>
              <a:t>            "여성비율": "1.3",</a:t>
            </a:r>
          </a:p>
          <a:p>
            <a:r>
              <a:t>            "연령대": "10~19세",</a:t>
            </a:r>
          </a:p>
          <a:p>
            <a:r>
              <a:t>            "축제명": "진도신비의바닷길축제"</a:t>
            </a:r>
          </a:p>
          <a:p>
            <a:r>
              <a:t>          },</a:t>
            </a:r>
          </a:p>
          <a:p>
            <a:r>
              <a:t>          {</a:t>
            </a:r>
          </a:p>
          <a:p>
            <a:r>
              <a:t>            "남성비율": "0.5",</a:t>
            </a:r>
          </a:p>
          <a:p>
            <a:r>
              <a:t>            "여성비율": "0.4",</a:t>
            </a:r>
          </a:p>
          <a:p>
            <a:r>
              <a:t>            "연령대": "0~9세",</a:t>
            </a:r>
          </a:p>
          <a:p>
            <a:r>
              <a:t>            "축제명": "진도신비의바닷길축제"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"진도신비의바닷길축제",</a:t>
            </a:r>
          </a:p>
          <a:p>
            <a:r>
              <a:t>            "도로명주소": "전남 진도군 신비의바닷길 74-0",</a:t>
            </a:r>
          </a:p>
          <a:p>
            <a:r>
              <a:t>            "카테고리": "기타문화관광지"</a:t>
            </a:r>
          </a:p>
          <a:p>
            <a:r>
              <a:t>          },</a:t>
            </a:r>
          </a:p>
          <a:p>
            <a:r>
              <a:t>          {</a:t>
            </a:r>
          </a:p>
          <a:p>
            <a:r>
              <a:t>            "구분": "외지인",</a:t>
            </a:r>
          </a:p>
          <a:p>
            <a:r>
              <a:t>            "순위": "2",</a:t>
            </a:r>
          </a:p>
          <a:p>
            <a:r>
              <a:t>            "목적지명": "진도신비의바닷길",</a:t>
            </a:r>
          </a:p>
          <a:p>
            <a:r>
              <a:t>            "도로명주소": "전남 진도군",</a:t>
            </a:r>
          </a:p>
          <a:p>
            <a:r>
              <a:t>            "카테고리": "테마공원"</a:t>
            </a:r>
          </a:p>
          <a:p>
            <a:r>
              <a:t>          },</a:t>
            </a:r>
          </a:p>
          <a:p>
            <a:r>
              <a:t>          {</a:t>
            </a:r>
          </a:p>
          <a:p>
            <a:r>
              <a:t>            "구분": "외지인",</a:t>
            </a:r>
          </a:p>
          <a:p>
            <a:r>
              <a:t>            "순위": "3",</a:t>
            </a:r>
          </a:p>
          <a:p>
            <a:r>
              <a:t>            "목적지명": "가계해변",</a:t>
            </a:r>
          </a:p>
          <a:p>
            <a:r>
              <a:t>            "도로명주소": "전남 진도군 신비의바닷길 0-0",</a:t>
            </a:r>
          </a:p>
          <a:p>
            <a:r>
              <a:t>            "카테고리": "자연경관(하천/해양)"</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진도신비의바닷길축제 방문자 추이",</a:t>
            </a:r>
          </a:p>
          <a:p>
            <a:r>
              <a:t>      "summary": "2024→2025년 전체 28,171→43,973명 (+56.09%). 개최 3→4일, 일평균 +17.07%, 외지인 +89.98%."</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0.02323573257890193,</a:t>
            </a:r>
          </a:p>
          <a:p>
            <a:r>
              <a:t>    "spending_target_pct": 0.04851529703080466,</a:t>
            </a:r>
          </a:p>
          <a:p>
            <a:r>
              <a:t>    "target_origin": "operating_capacity"</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"case:festival:01474ef75569b1",</a:t>
            </a:r>
          </a:p>
          <a:p>
            <a:r>
              <a:t>    "document_type": "case_study",</a:t>
            </a:r>
          </a:p>
          <a:p>
            <a:r>
              <a:t>    "evidence_kind": "festival_statistics",</a:t>
            </a:r>
          </a:p>
          <a:p>
            <a:r>
              <a:t>    "retrieval_method": "datalab_festival_table",</a:t>
            </a:r>
          </a:p>
          <a:p>
            <a:r>
              <a:t>    "region_code": "47280",</a:t>
            </a:r>
          </a:p>
          <a:p>
            <a:r>
              <a:t>    "region_name": "경상북도 문경시",</a:t>
            </a:r>
          </a:p>
          <a:p>
            <a:r>
              <a:t>    "case_region": "경상북도 문경시",</a:t>
            </a:r>
          </a:p>
          <a:p>
            <a:r>
              <a:t>    "intervention": "문경찻사발축제",</a:t>
            </a:r>
          </a:p>
          <a:p>
            <a:r>
              <a:t>    "problem_addressed": "타지역 축제 방문 실적 참고 · 역사·공예",</a:t>
            </a:r>
          </a:p>
          <a:p>
            <a:r>
              <a:t>    "target_group": "축제 관측구역 방문자(현지인·외지인·외국인 구분)",</a:t>
            </a:r>
          </a:p>
          <a:p>
            <a:r>
              <a:t>    "operating_model": "문경찻사발축제를 2025년 9일 개최한 문화관광축제 운영 사례. 세부 프로그램·예약·혜택은 이 CSV에 기록되어 있지 않으며 새로운 운영안은 제안으로 구분한다.",</a:t>
            </a:r>
          </a:p>
          <a:p>
            <a:r>
              <a:t>    "duration": "2025년 9일",</a:t>
            </a:r>
          </a:p>
          <a:p>
            <a:r>
              <a:t>    "public_budget": "CSV에 사업비 없음",</a:t>
            </a:r>
          </a:p>
          <a:p>
            <a:r>
              <a:t>    "observed_result": "2024→2025년 전체 245,750→256,570명 (+4.40%). 개최 10→9일, 일평균 +16.00%, 외지인 +9.28%.",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문경찻사발축제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a:t>
            </a:r>
          </a:p>
          <a:p>
            <a:r>
              <a:t>        "downloaded_at": "2026-08-20",</a:t>
            </a:r>
          </a:p>
          <a:p>
            <a:r>
              <a:t>        "file_name": "20260820160334_문경찻사발축제_성_연령별 내국인 방문자.csv",</a:t>
            </a:r>
          </a:p>
          <a:p>
            <a:r>
              <a:t>        "provenance_status": "team_download_exact_query_url_unrecorded",</a:t>
            </a:r>
          </a:p>
          <a:p>
            <a:r>
              <a:t>        "provider": "한국관광 데이터랩",</a:t>
            </a:r>
          </a:p>
          <a:p>
            <a:r>
              <a:t>        "relative_path": "data/source_snapshots/festivals_20260820/25. 문경찻사발축제_2023-2025/20260820160334_문경찻사발축제_성_연령별 내국인 방문자.csv",</a:t>
            </a:r>
          </a:p>
          <a:p>
            <a:r>
              <a:t>        "sha256": "44238aecdfa68974febce93cd262e119492da76910929b96da438d8b6ee7a9b3",</a:t>
            </a:r>
          </a:p>
          <a:p>
            <a:r>
              <a:t>        "source_id": "festival-file:44238aecdfa68974febc",</a:t>
            </a:r>
          </a:p>
          <a:p>
            <a:r>
              <a:t>        "source_url": "https://datalab.visitkorea.or.kr/"</a:t>
            </a:r>
          </a:p>
          <a:p>
            <a:r>
              <a:t>      },</a:t>
            </a:r>
          </a:p>
          <a:p>
            <a:r>
              <a:t>      {</a:t>
            </a:r>
          </a:p>
          <a:p>
            <a:r>
              <a:t>        "downloaded_at": "2026-08-20",</a:t>
            </a:r>
          </a:p>
          <a:p>
            <a:r>
              <a:t>        "file_name": "20260820160334_문경찻사발축제_목적지 검색순위.csv",</a:t>
            </a:r>
          </a:p>
          <a:p>
            <a:r>
              <a:t>        "provenance_status": "team_download_exact_query_url_unrecorded",</a:t>
            </a:r>
          </a:p>
          <a:p>
            <a:r>
              <a:t>        "provider": "한국관광 데이터랩",</a:t>
            </a:r>
          </a:p>
          <a:p>
            <a:r>
              <a:t>        "relative_path": "data/source_snapshots/festivals_20260820/25. 문경찻사발축제_2023-2025/20260820160334_문경찻사발축제_목적지 검색순위.csv",</a:t>
            </a:r>
          </a:p>
          <a:p>
            <a:r>
              <a:t>        "sha256": "343671c431cfa7e76ba333ca2ea221803e111e0db5e9a51c6d387b0ba5d7eeaf",</a:t>
            </a:r>
          </a:p>
          <a:p>
            <a:r>
              <a:t>        "source_id": "festival-file:343671c431cfa7e76ba3",</a:t>
            </a:r>
          </a:p>
          <a:p>
            <a:r>
              <a:t>        "source_url": "https://datalab.visitkorea.or.kr/"</a:t>
            </a:r>
          </a:p>
          <a:p>
            <a:r>
              <a:t>      },</a:t>
            </a:r>
          </a:p>
          <a:p>
            <a:r>
              <a:t>      {</a:t>
            </a:r>
          </a:p>
          <a:p>
            <a:r>
              <a:t>        "downloaded_at": "2026-08-20",</a:t>
            </a:r>
          </a:p>
          <a:p>
            <a:r>
              <a:t>        "file_name": "20260820160334_문경찻사발축제_문화관광축제 주요 지표.csv",</a:t>
            </a:r>
          </a:p>
          <a:p>
            <a:r>
              <a:t>        "provenance_status": "team_download_exact_query_url_unrecorded",</a:t>
            </a:r>
          </a:p>
          <a:p>
            <a:r>
              <a:t>        "provider": "한국관광 데이터랩",</a:t>
            </a:r>
          </a:p>
          <a:p>
            <a:r>
              <a:t>        "relative_path": "data/source_snapshots/festivals_20260820/25. 문경찻사발축제_2023-2025/20260820160334_문경찻사발축제_문화관광축제 주요 지표.csv",</a:t>
            </a:r>
          </a:p>
          <a:p>
            <a:r>
              <a:t>        "sha256": "eadf4622620ddb1575df5f358ec588aeed8718c09e0998a19494cf0f3cfe0f16",</a:t>
            </a:r>
          </a:p>
          <a:p>
            <a:r>
              <a:t>        "source_id": "festival-file:eadf4622620ddb1575df",</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"festival_statistics": {</a:t>
            </a:r>
          </a:p>
          <a:p>
            <a:r>
              <a:t>      "name": "문경찻사발축제",</a:t>
            </a:r>
          </a:p>
          <a:p>
            <a:r>
              <a:t>      "annual": [</a:t>
            </a:r>
          </a:p>
          <a:p>
            <a:r>
              <a:t>        {</a:t>
            </a:r>
          </a:p>
          <a:p>
            <a:r>
              <a:t>          "daily": 23055.333333333332,</a:t>
            </a:r>
          </a:p>
          <a:p>
            <a:r>
              <a:t>          "days": 9,</a:t>
            </a:r>
          </a:p>
          <a:p>
            <a:r>
              <a:t>          "foreign": 1241.0,</a:t>
            </a:r>
          </a:p>
          <a:p>
            <a:r>
              <a:t>          "local": 59726.0,</a:t>
            </a:r>
          </a:p>
          <a:p>
            <a:r>
              <a:t>          "outside": 146531.0,</a:t>
            </a:r>
          </a:p>
          <a:p>
            <a:r>
              <a:t>          "outside_daily": 16281.222222222223,</a:t>
            </a:r>
          </a:p>
          <a:p>
            <a:r>
              <a:t>          "outside_share_pct": 70.61803005330172,</a:t>
            </a:r>
          </a:p>
          <a:p>
            <a:r>
              <a:t>          "total": 207498.0,</a:t>
            </a:r>
          </a:p>
          <a:p>
            <a:r>
              <a:t>          "year": 2023</a:t>
            </a:r>
          </a:p>
          <a:p>
            <a:r>
              <a:t>        },</a:t>
            </a:r>
          </a:p>
          <a:p>
            <a:r>
              <a:t>        {</a:t>
            </a:r>
          </a:p>
          <a:p>
            <a:r>
              <a:t>          "daily": 24575.0,</a:t>
            </a:r>
          </a:p>
          <a:p>
            <a:r>
              <a:t>          "days": 10,</a:t>
            </a:r>
          </a:p>
          <a:p>
            <a:r>
              <a:t>          "foreign": 1170.0,</a:t>
            </a:r>
          </a:p>
          <a:p>
            <a:r>
              <a:t>          "local": 64582.0,</a:t>
            </a:r>
          </a:p>
          <a:p>
            <a:r>
              <a:t>          "outside": 179998.0,</a:t>
            </a:r>
          </a:p>
          <a:p>
            <a:r>
              <a:t>          "outside_daily": 17999.8,</a:t>
            </a:r>
          </a:p>
          <a:p>
            <a:r>
              <a:t>          "outside_share_pct": 73.2443540183113,</a:t>
            </a:r>
          </a:p>
          <a:p>
            <a:r>
              <a:t>          "total": 245750.0,</a:t>
            </a:r>
          </a:p>
          <a:p>
            <a:r>
              <a:t>          "year": 2024</a:t>
            </a:r>
          </a:p>
          <a:p>
            <a:r>
              <a:t>        },</a:t>
            </a:r>
          </a:p>
          <a:p>
            <a:r>
              <a:t>        {</a:t>
            </a:r>
          </a:p>
          <a:p>
            <a:r>
              <a:t>          "daily": 28507.777777777777,</a:t>
            </a:r>
          </a:p>
          <a:p>
            <a:r>
              <a:t>          "days": 9,</a:t>
            </a:r>
          </a:p>
          <a:p>
            <a:r>
              <a:t>          "foreign": 1166.0,</a:t>
            </a:r>
          </a:p>
          <a:p>
            <a:r>
              <a:t>          "local": 58704.0,</a:t>
            </a:r>
          </a:p>
          <a:p>
            <a:r>
              <a:t>          "outside": 196700.0,</a:t>
            </a:r>
          </a:p>
          <a:p>
            <a:r>
              <a:t>          "outside_daily": 21855.555555555555,</a:t>
            </a:r>
          </a:p>
          <a:p>
            <a:r>
              <a:t>          "outside_share_pct": 76.66523755700199,</a:t>
            </a:r>
          </a:p>
          <a:p>
            <a:r>
              <a:t>          "total": 256570.0,</a:t>
            </a:r>
          </a:p>
          <a:p>
            <a:r>
              <a:t>          "year": 2025</a:t>
            </a:r>
          </a:p>
          <a:p>
            <a:r>
              <a:t>        }</a:t>
            </a:r>
          </a:p>
          <a:p>
            <a:r>
              <a:t>      ],</a:t>
            </a:r>
          </a:p>
          <a:p>
            <a:r>
              <a:t>      "comparison": {</a:t>
            </a:r>
          </a:p>
          <a:p>
            <a:r>
              <a:t>        "after_days": 9,</a:t>
            </a:r>
          </a:p>
          <a:p>
            <a:r>
              <a:t>        "after_year": 2025,</a:t>
            </a:r>
          </a:p>
          <a:p>
            <a:r>
              <a:t>        "before_days": 10,</a:t>
            </a:r>
          </a:p>
          <a:p>
            <a:r>
              <a:t>        "before_year": 2024,</a:t>
            </a:r>
          </a:p>
          <a:p>
            <a:r>
              <a:t>        "daily": {</a:t>
            </a:r>
          </a:p>
          <a:p>
            <a:r>
              <a:t>          "after": 28507.777777777777,</a:t>
            </a:r>
          </a:p>
          <a:p>
            <a:r>
              <a:t>          "before": 24575.0,</a:t>
            </a:r>
          </a:p>
          <a:p>
            <a:r>
              <a:t>          "change_pct": 16.00316491466034,</a:t>
            </a:r>
          </a:p>
          <a:p>
            <a:r>
              <a:t>          "difference": 3932.7777777777774</a:t>
            </a:r>
          </a:p>
          <a:p>
            <a:r>
              <a:t>        },</a:t>
            </a:r>
          </a:p>
          <a:p>
            <a:r>
              <a:t>        "outside": {</a:t>
            </a:r>
          </a:p>
          <a:p>
            <a:r>
              <a:t>          "after": 196700.0,</a:t>
            </a:r>
          </a:p>
          <a:p>
            <a:r>
              <a:t>          "before": 179998.0,</a:t>
            </a:r>
          </a:p>
          <a:p>
            <a:r>
              <a:t>          "change_pct": 9.278991988799866,</a:t>
            </a:r>
          </a:p>
          <a:p>
            <a:r>
              <a:t>          "difference": 16702.0</a:t>
            </a:r>
          </a:p>
          <a:p>
            <a:r>
              <a:t>        },</a:t>
            </a:r>
          </a:p>
          <a:p>
            <a:r>
              <a:t>        "outside_daily": {</a:t>
            </a:r>
          </a:p>
          <a:p>
            <a:r>
              <a:t>          "after": 21855.555555555555,</a:t>
            </a:r>
          </a:p>
          <a:p>
            <a:r>
              <a:t>          "before": 17999.8,</a:t>
            </a:r>
          </a:p>
          <a:p>
            <a:r>
              <a:t>          "change_pct": 21.421102209777644,</a:t>
            </a:r>
          </a:p>
          <a:p>
            <a:r>
              <a:t>          "difference": 3855.7555555555555</a:t>
            </a:r>
          </a:p>
          <a:p>
            <a:r>
              <a:t>        },</a:t>
            </a:r>
          </a:p>
          <a:p>
            <a:r>
              <a:t>        "total": {</a:t>
            </a:r>
          </a:p>
          <a:p>
            <a:r>
              <a:t>          "after": 256570.0,</a:t>
            </a:r>
          </a:p>
          <a:p>
            <a:r>
              <a:t>          "before": 245750.0,</a:t>
            </a:r>
          </a:p>
          <a:p>
            <a:r>
              <a:t>          "change_pct": 4.402848423194294,</a:t>
            </a:r>
          </a:p>
          <a:p>
            <a:r>
              <a:t>          "difference": 10820.0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"0.414",</a:t>
            </a:r>
          </a:p>
          <a:p>
            <a:r>
              <a:t>          "축제명": "문경찻사발축제"</a:t>
            </a:r>
          </a:p>
          <a:p>
            <a:r>
              <a:t>        },</a:t>
            </a:r>
          </a:p>
          <a:p>
            <a:r>
              <a:t>        {</a:t>
            </a:r>
          </a:p>
          <a:p>
            <a:r>
              <a:t>          "개최년도": "2025",</a:t>
            </a:r>
          </a:p>
          <a:p>
            <a:r>
              <a:t>          "구분명": "현지인방문자 유입",</a:t>
            </a:r>
          </a:p>
          <a:p>
            <a:r>
              <a:t>          "그룹명": "축제기간",</a:t>
            </a:r>
          </a:p>
          <a:p>
            <a:r>
              <a:t>          "지표값": "0.86",</a:t>
            </a:r>
          </a:p>
          <a:p>
            <a:r>
              <a:t>          "축제명": "문경찻사발축제"</a:t>
            </a:r>
          </a:p>
          <a:p>
            <a:r>
              <a:t>        },</a:t>
            </a:r>
          </a:p>
          <a:p>
            <a:r>
              <a:t>        {</a:t>
            </a:r>
          </a:p>
          <a:p>
            <a:r>
              <a:t>          "개최년도": "2025",</a:t>
            </a:r>
          </a:p>
          <a:p>
            <a:r>
              <a:t>          "구분명": "내비게이션 검색량",</a:t>
            </a:r>
          </a:p>
          <a:p>
            <a:r>
              <a:t>          "그룹명": "축제기간",</a:t>
            </a:r>
          </a:p>
          <a:p>
            <a:r>
              <a:t>          "지표값": "0.273",</a:t>
            </a:r>
          </a:p>
          <a:p>
            <a:r>
              <a:t>          "축제명": "문경찻사발축제"</a:t>
            </a:r>
          </a:p>
          <a:p>
            <a:r>
              <a:t>        },</a:t>
            </a:r>
          </a:p>
          <a:p>
            <a:r>
              <a:t>        {</a:t>
            </a:r>
          </a:p>
          <a:p>
            <a:r>
              <a:t>          "개최년도": "2025",</a:t>
            </a:r>
          </a:p>
          <a:p>
            <a:r>
              <a:t>          "구분명": "관광소비",</a:t>
            </a:r>
          </a:p>
          <a:p>
            <a:r>
              <a:t>          "그룹명": "축제기간",</a:t>
            </a:r>
          </a:p>
          <a:p>
            <a:r>
              <a:t>          "지표값": "0.536",</a:t>
            </a:r>
          </a:p>
          <a:p>
            <a:r>
              <a:t>          "축제명": "문경찻사발축제"</a:t>
            </a:r>
          </a:p>
          <a:p>
            <a:r>
              <a:t>        },</a:t>
            </a:r>
          </a:p>
          <a:p>
            <a:r>
              <a:t>        {</a:t>
            </a:r>
          </a:p>
          <a:p>
            <a:r>
              <a:t>          "개최년도": "2025",</a:t>
            </a:r>
          </a:p>
          <a:p>
            <a:r>
              <a:t>          "구분명": "축제지 집중률",</a:t>
            </a:r>
          </a:p>
          <a:p>
            <a:r>
              <a:t>          "그룹명": "축제기간",</a:t>
            </a:r>
          </a:p>
          <a:p>
            <a:r>
              <a:t>          "지표값": "0.716",</a:t>
            </a:r>
          </a:p>
          <a:p>
            <a:r>
              <a:t>          "축제명": "문경찻사발축제"</a:t>
            </a:r>
          </a:p>
          <a:p>
            <a:r>
              <a:t>        },</a:t>
            </a:r>
          </a:p>
          <a:p>
            <a:r>
              <a:t>        {</a:t>
            </a:r>
          </a:p>
          <a:p>
            <a:r>
              <a:t>          "개최년도": "2025",</a:t>
            </a:r>
          </a:p>
          <a:p>
            <a:r>
              <a:t>          "구분명": "외부방문자 유입",</a:t>
            </a:r>
          </a:p>
          <a:p>
            <a:r>
              <a:t>          "그룹명": "비축제기간",</a:t>
            </a:r>
          </a:p>
          <a:p>
            <a:r>
              <a:t>          "지표값": "0.217",</a:t>
            </a:r>
          </a:p>
          <a:p>
            <a:r>
              <a:t>          "축제명": "문경찻사발축제"</a:t>
            </a:r>
          </a:p>
          <a:p>
            <a:r>
              <a:t>        },</a:t>
            </a:r>
          </a:p>
          <a:p>
            <a:r>
              <a:t>        {</a:t>
            </a:r>
          </a:p>
          <a:p>
            <a:r>
              <a:t>          "개최년도": "2025",</a:t>
            </a:r>
          </a:p>
          <a:p>
            <a:r>
              <a:t>          "구분명": "현지인방문자 유입",</a:t>
            </a:r>
          </a:p>
          <a:p>
            <a:r>
              <a:t>          "그룹명": "비축제기간",</a:t>
            </a:r>
          </a:p>
          <a:p>
            <a:r>
              <a:t>          "지표값": "0.725",</a:t>
            </a:r>
          </a:p>
          <a:p>
            <a:r>
              <a:t>          "축제명": "문경찻사발축제"</a:t>
            </a:r>
          </a:p>
          <a:p>
            <a:r>
              <a:t>        },</a:t>
            </a:r>
          </a:p>
          <a:p>
            <a:r>
              <a:t>        {</a:t>
            </a:r>
          </a:p>
          <a:p>
            <a:r>
              <a:t>          "개최년도": "2025",</a:t>
            </a:r>
          </a:p>
          <a:p>
            <a:r>
              <a:t>          "구분명": "내비게이션 검색량",</a:t>
            </a:r>
          </a:p>
          <a:p>
            <a:r>
              <a:t>          "그룹명": "비축제기간",</a:t>
            </a:r>
          </a:p>
          <a:p>
            <a:r>
              <a:t>          "지표값": "0.148",</a:t>
            </a:r>
          </a:p>
          <a:p>
            <a:r>
              <a:t>          "축제명": "문경찻사발축제"</a:t>
            </a:r>
          </a:p>
          <a:p>
            <a:r>
              <a:t>        },</a:t>
            </a:r>
          </a:p>
          <a:p>
            <a:r>
              <a:t>        {</a:t>
            </a:r>
          </a:p>
          <a:p>
            <a:r>
              <a:t>          "개최년도": "2025",</a:t>
            </a:r>
          </a:p>
          <a:p>
            <a:r>
              <a:t>          "구분명": "관광소비",</a:t>
            </a:r>
          </a:p>
          <a:p>
            <a:r>
              <a:t>          "그룹명": "비축제기간",</a:t>
            </a:r>
          </a:p>
          <a:p>
            <a:r>
              <a:t>          "지표값": "0.381",</a:t>
            </a:r>
          </a:p>
          <a:p>
            <a:r>
              <a:t>          "축제명": "문경찻사발축제"</a:t>
            </a:r>
          </a:p>
          <a:p>
            <a:r>
              <a:t>        },</a:t>
            </a:r>
          </a:p>
          <a:p>
            <a:r>
              <a:t>        {</a:t>
            </a:r>
          </a:p>
          <a:p>
            <a:r>
              <a:t>          "개최년도": "2025",</a:t>
            </a:r>
          </a:p>
          <a:p>
            <a:r>
              <a:t>          "구분명": "축제지 집중률",</a:t>
            </a:r>
          </a:p>
          <a:p>
            <a:r>
              <a:t>          "그룹명": "비축제기간",</a:t>
            </a:r>
          </a:p>
          <a:p>
            <a:r>
              <a:t>          "지표값": "0.607",</a:t>
            </a:r>
          </a:p>
          <a:p>
            <a:r>
              <a:t>          "축제명": "문경찻사발축제"</a:t>
            </a:r>
          </a:p>
          <a:p>
            <a:r>
              <a:t>        }</a:t>
            </a:r>
          </a:p>
          <a:p>
            <a:r>
              <a:t>      ],</a:t>
            </a:r>
          </a:p>
          <a:p>
            <a:r>
              <a:t>      "indicator_rule": "원본 지표값만 보존. 산식·단위 미확인으로 성장률/원화/정원/참여율 변환 금지.",</a:t>
            </a:r>
          </a:p>
          <a:p>
            <a:r>
              <a:t>      "audience": [</a:t>
            </a:r>
          </a:p>
          <a:p>
            <a:r>
              <a:t>        {</a:t>
            </a:r>
          </a:p>
          <a:p>
            <a:r>
              <a:t>          "남성비율": "4.0",</a:t>
            </a:r>
          </a:p>
          <a:p>
            <a:r>
              <a:t>          "여성비율": "3.8",</a:t>
            </a:r>
          </a:p>
          <a:p>
            <a:r>
              <a:t>          "연령대": "70세 이상",</a:t>
            </a:r>
          </a:p>
          <a:p>
            <a:r>
              <a:t>          "축제명": "문경찻사발축제"</a:t>
            </a:r>
          </a:p>
          <a:p>
            <a:r>
              <a:t>        },</a:t>
            </a:r>
          </a:p>
          <a:p>
            <a:r>
              <a:t>        {</a:t>
            </a:r>
          </a:p>
          <a:p>
            <a:r>
              <a:t>          "남성비율": "12.3",</a:t>
            </a:r>
          </a:p>
          <a:p>
            <a:r>
              <a:t>          "여성비율": "10.0",</a:t>
            </a:r>
          </a:p>
          <a:p>
            <a:r>
              <a:t>          "연령대": "60~69세",</a:t>
            </a:r>
          </a:p>
          <a:p>
            <a:r>
              <a:t>          "축제명": "문경찻사발축제"</a:t>
            </a:r>
          </a:p>
          <a:p>
            <a:r>
              <a:t>        },</a:t>
            </a:r>
          </a:p>
          <a:p>
            <a:r>
              <a:t>        {</a:t>
            </a:r>
          </a:p>
          <a:p>
            <a:r>
              <a:t>          "남성비율": "13.0",</a:t>
            </a:r>
          </a:p>
          <a:p>
            <a:r>
              <a:t>          "여성비율": "11.7",</a:t>
            </a:r>
          </a:p>
          <a:p>
            <a:r>
              <a:t>          "연령대": "50~59세",</a:t>
            </a:r>
          </a:p>
          <a:p>
            <a:r>
              <a:t>          "축제명": "문경찻사발축제"</a:t>
            </a:r>
          </a:p>
          <a:p>
            <a:r>
              <a:t>        },</a:t>
            </a:r>
          </a:p>
          <a:p>
            <a:r>
              <a:t>        {</a:t>
            </a:r>
          </a:p>
          <a:p>
            <a:r>
              <a:t>          "남성비율": "9.3",</a:t>
            </a:r>
          </a:p>
          <a:p>
            <a:r>
              <a:t>          "여성비율": "7.6",</a:t>
            </a:r>
          </a:p>
          <a:p>
            <a:r>
              <a:t>          "연령대": "40~49세",</a:t>
            </a:r>
          </a:p>
          <a:p>
            <a:r>
              <a:t>          "축제명": "문경찻사발축제"</a:t>
            </a:r>
          </a:p>
          <a:p>
            <a:r>
              <a:t>        },</a:t>
            </a:r>
          </a:p>
          <a:p>
            <a:r>
              <a:t>        {</a:t>
            </a:r>
          </a:p>
          <a:p>
            <a:r>
              <a:t>          "남성비율": "7.2",</a:t>
            </a:r>
          </a:p>
          <a:p>
            <a:r>
              <a:t>          "여성비율": "6.1",</a:t>
            </a:r>
          </a:p>
          <a:p>
            <a:r>
              <a:t>          "연령대": "30~39세",</a:t>
            </a:r>
          </a:p>
          <a:p>
            <a:r>
              <a:t>          "축제명": "문경찻사발축제"</a:t>
            </a:r>
          </a:p>
          <a:p>
            <a:r>
              <a:t>        },</a:t>
            </a:r>
          </a:p>
          <a:p>
            <a:r>
              <a:t>        {</a:t>
            </a:r>
          </a:p>
          <a:p>
            <a:r>
              <a:t>          "남성비율": "4.6",</a:t>
            </a:r>
          </a:p>
          <a:p>
            <a:r>
              <a:t>          "여성비율": "4.1",</a:t>
            </a:r>
          </a:p>
          <a:p>
            <a:r>
              <a:t>          "연령대": "20~29세",</a:t>
            </a:r>
          </a:p>
          <a:p>
            <a:r>
              <a:t>          "축제명": "문경찻사발축제"</a:t>
            </a:r>
          </a:p>
          <a:p>
            <a:r>
              <a:t>        },</a:t>
            </a:r>
          </a:p>
          <a:p>
            <a:r>
              <a:t>        {</a:t>
            </a:r>
          </a:p>
          <a:p>
            <a:r>
              <a:t>          "남성비율": "2.5",</a:t>
            </a:r>
          </a:p>
          <a:p>
            <a:r>
              <a:t>          "여성비율": "2.5",</a:t>
            </a:r>
          </a:p>
          <a:p>
            <a:r>
              <a:t>          "연령대": "10~19세",</a:t>
            </a:r>
          </a:p>
          <a:p>
            <a:r>
              <a:t>          "축제명": "문경찻사발축제"</a:t>
            </a:r>
          </a:p>
          <a:p>
            <a:r>
              <a:t>        },</a:t>
            </a:r>
          </a:p>
          <a:p>
            <a:r>
              <a:t>        {</a:t>
            </a:r>
          </a:p>
          <a:p>
            <a:r>
              <a:t>          "남성비율": "0.6",</a:t>
            </a:r>
          </a:p>
          <a:p>
            <a:r>
              <a:t>          "여성비율": "0.6",</a:t>
            </a:r>
          </a:p>
          <a:p>
            <a:r>
              <a:t>          "연령대": "0~9세",</a:t>
            </a:r>
          </a:p>
          <a:p>
            <a:r>
              <a:t>          "축제명": "문경찻사발축제"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문경찻사발축제 방문자 추이",</a:t>
            </a:r>
          </a:p>
          <a:p>
            <a:r>
              <a:t>    "summary": "2024→2025년 전체 245,750→256,570명 (+4.40%). 개최 10→9일, 일평균 +16.00%, 외지인 +9.28%."</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10,581,785명 (추가 1,620명, +0.02%)\n관광소비액: 기준 444,918,852,321원 → 목표 445,062,576,830원 (추가 143,724,509원, +0.03%)\n월별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4건 → 설계 후보 1개 → 선정 사업의 운영 근거와 추가 참고 사례 1건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"지역 체험 상품: 6개 × 월 8일 × 3개월 × 하루 2회 × 회당 25명 = 7,200명분. 편성 한도 7,200명분에 이용률 75%를 적용해 5,400명 참여, 추가 방문 비중 30%로 1,620명 유치를 제안합니다. 기간 합계 ML 전망 대비 방문 +0.02%, 소비 +0.03%의 계획 시나리오입니다. 참여 목표 75%는 공통 최소 운영 목표입니다. 사례 참여율을 인용한 값이 아닙니다.\n6개 × 월 8일 × 3개월 × 하루 2회 × 회당 25명 = 7,200명분 → 편성 참여 한도 7,200건. 모든 단가는 기획 가정.\n참여량·단가·운영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10581785.0,</a:t>
            </a:r>
          </a:p>
          <a:p>
            <a:r>
              <a:t>        "additional": 1620.0,</a:t>
            </a:r>
          </a:p>
          <a:p>
            <a:r>
              <a:t>        "pct": 0.01531167047017501</a:t>
            </a:r>
          </a:p>
          <a:p>
            <a:r>
              <a:t>      },</a:t>
            </a:r>
          </a:p>
          <a:p>
            <a:r>
              <a:t>      {</a:t>
            </a:r>
          </a:p>
          <a:p>
            <a:r>
              <a:t>        "key": "spending",</a:t>
            </a:r>
          </a:p>
          <a:p>
            <a:r>
              <a:t>        "label": "관광소비액",</a:t>
            </a:r>
          </a:p>
          <a:p>
            <a:r>
              <a:t>        "unit": "원",</a:t>
            </a:r>
          </a:p>
          <a:p>
            <a:r>
              <a:t>        "baseline": 444918852321.0,</a:t>
            </a:r>
          </a:p>
          <a:p>
            <a:r>
              <a:t>        "target": 445062576830.0,</a:t>
            </a:r>
          </a:p>
          <a:p>
            <a:r>
              <a:t>        "additional": 143724509.0,</a:t>
            </a:r>
          </a:p>
          <a:p>
            <a:r>
              <a:t>        "pct": 0.03230353316121537</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4,</a:t>
            </a:r>
          </a:p>
          <a:p>
            <a:r>
              <a:t>    "case_region_count": 4,</a:t>
            </a:r>
          </a:p>
          <a:p>
            <a:r>
              <a:t>    "candidate_count": 1,</a:t>
            </a:r>
          </a:p>
          <a:p>
            <a:r>
              <a:t>    "displayed_count": 1,</a:t>
            </a:r>
          </a:p>
          <a:p>
            <a:r>
              <a:t>    "primary": {</a:t>
            </a:r>
          </a:p>
          <a:p>
            <a:r>
              <a:t>      "source_id": "case:festival:01474ef75569b1",</a:t>
            </a:r>
          </a:p>
          <a:p>
            <a:r>
              <a:t>      "document_type": "case_study",</a:t>
            </a:r>
          </a:p>
          <a:p>
            <a:r>
              <a:t>      "evidence_kind": "festival_statistics",</a:t>
            </a:r>
          </a:p>
          <a:p>
            <a:r>
              <a:t>      "retrieval_method": "datalab_festival_table",</a:t>
            </a:r>
          </a:p>
          <a:p>
            <a:r>
              <a:t>      "region_code": "47280",</a:t>
            </a:r>
          </a:p>
          <a:p>
            <a:r>
              <a:t>      "region_name": "경상북도 문경시",</a:t>
            </a:r>
          </a:p>
          <a:p>
            <a:r>
              <a:t>      "case_region": "경상북도 문경시",</a:t>
            </a:r>
          </a:p>
          <a:p>
            <a:r>
              <a:t>      "intervention": "문경찻사발축제",</a:t>
            </a:r>
          </a:p>
          <a:p>
            <a:r>
              <a:t>      "problem_addressed": "타지역 축제 방문 실적 참고 · 역사·공예",</a:t>
            </a:r>
          </a:p>
          <a:p>
            <a:r>
              <a:t>      "target_group": "축제 관측구역 방문자(현지인·외지인·외국인 구분)",</a:t>
            </a:r>
          </a:p>
          <a:p>
            <a:r>
              <a:t>      "operating_model": "문경찻사발축제를 2025년 9일 개최한 문화관광축제 운영 사례. 세부 프로그램·예약·혜택은 이 CSV에 기록되어 있지 않으며 새로운 운영안은 제안으로 구분한다.",</a:t>
            </a:r>
          </a:p>
          <a:p>
            <a:r>
              <a:t>      "duration": "2025년 9일",</a:t>
            </a:r>
          </a:p>
          <a:p>
            <a:r>
              <a:t>      "public_budget": "CSV에 사업비 없음",</a:t>
            </a:r>
          </a:p>
          <a:p>
            <a:r>
              <a:t>      "observed_result": "2024→2025년 전체 245,750→256,570명 (+4.40%). 개최 10→9일, 일평균 +16.00%, 외지인 +9.28%.",</a:t>
            </a:r>
          </a:p>
          <a:p>
            <a:r>
              <a:t>      "measurement_period": "2023~2025년 각 축제 개최기간",</a:t>
            </a:r>
          </a:p>
          <a:p>
            <a:r>
              <a:t>      "evidence_strength": "medium",</a:t>
            </a:r>
          </a:p>
          <a:p>
            <a:r>
              <a:t>      "quantitative_result_approved": true,</a:t>
            </a:r>
          </a:p>
          <a:p>
            <a:r>
              <a:t>      "operating_statistics": [],</a:t>
            </a:r>
          </a:p>
          <a:p>
            <a:r>
              <a:t>      "transfer_conditions": [</a:t>
            </a:r>
          </a:p>
          <a:p>
            <a:r>
              <a:t>        "지역 지표와 자원에 맞춰 행사 콘텐츠·운영일·참여처를 새로 설계한다.",</a:t>
            </a:r>
          </a:p>
          <a:p>
            <a:r>
              <a:t>        "개최 일수는 사례 실적이며 우리 지역의 월 운영일·회차·정원으로 복사하지 않는다."</a:t>
            </a:r>
          </a:p>
          <a:p>
            <a:r>
              <a:t>      ],</a:t>
            </a:r>
          </a:p>
          <a:p>
            <a:r>
              <a:t>      "risks": [</a:t>
            </a:r>
          </a:p>
          <a:p>
            <a:r>
              <a:t>        "행사 전후 방문 차이는 사업 단독 효과·도시 순증 방문이 아니다.",</a:t>
            </a:r>
          </a:p>
          <a:p>
            <a:r>
              <a:t>        "관광소비 지표값은 원화·성장률로 변환하지 않는다. 정원·참여율·실측 객단가 자료는 없다."</a:t>
            </a:r>
          </a:p>
          <a:p>
            <a:r>
              <a:t>      ],</a:t>
            </a:r>
          </a:p>
          <a:p>
            <a:r>
              <a:t>      "source_title": "한국관광 데이터랩 · 문경찻사발축제 방문자 추이",</a:t>
            </a:r>
          </a:p>
          <a:p>
            <a:r>
              <a:t>      "source_url": "https://datalab.visitkorea.or.kr/",</a:t>
            </a:r>
          </a:p>
          <a:p>
            <a:r>
              <a:t>      "published_or_updated_at": "2026-08-20",</a:t>
            </a:r>
          </a:p>
          <a:p>
            <a:r>
              <a:t>      "dataset_hash": "ad20e3daf70fd44fd481d672398c07bb9c96fce77acb450784065a568735e2e2",</a:t>
            </a:r>
          </a:p>
          <a:p>
            <a:r>
              <a:t>      "source_files": [</a:t>
            </a:r>
          </a:p>
          <a:p>
            <a:r>
              <a:t>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a:t>
            </a:r>
          </a:p>
          <a:p>
            <a:r>
              <a:t>          "downloaded_at": "2026-08-20",</a:t>
            </a:r>
          </a:p>
          <a:p>
            <a:r>
              <a:t>          "file_name": "20260820160334_문경찻사발축제_성_연령별 내국인 방문자.csv",</a:t>
            </a:r>
          </a:p>
          <a:p>
            <a:r>
              <a:t>          "provenance_status": "team_download_exact_query_url_unrecorded",</a:t>
            </a:r>
          </a:p>
          <a:p>
            <a:r>
              <a:t>          "provider": "한국관광 데이터랩",</a:t>
            </a:r>
          </a:p>
          <a:p>
            <a:r>
              <a:t>          "relative_path": "data/source_snapshots/festivals_20260820/25. 문경찻사발축제_2023-2025/20260820160334_문경찻사발축제_성_연령별 내국인 방문자.csv",</a:t>
            </a:r>
          </a:p>
          <a:p>
            <a:r>
              <a:t>          "sha256": "44238aecdfa68974febce93cd262e119492da76910929b96da438d8b6ee7a9b3",</a:t>
            </a:r>
          </a:p>
          <a:p>
            <a:r>
              <a:t>          "source_id": "festival-file:44238aecdfa68974febc",</a:t>
            </a:r>
          </a:p>
          <a:p>
            <a:r>
              <a:t>          "source_url": "https://datalab.visitkorea.or.kr/"</a:t>
            </a:r>
          </a:p>
          <a:p>
            <a:r>
              <a:t>        },</a:t>
            </a:r>
          </a:p>
          <a:p>
            <a:r>
              <a:t>        {</a:t>
            </a:r>
          </a:p>
          <a:p>
            <a:r>
              <a:t>          "downloaded_at": "2026-08-20",</a:t>
            </a:r>
          </a:p>
          <a:p>
            <a:r>
              <a:t>          "file_name": "20260820160334_문경찻사발축제_목적지 검색순위.csv",</a:t>
            </a:r>
          </a:p>
          <a:p>
            <a:r>
              <a:t>          "provenance_status": "team_download_exact_query_url_unrecorded",</a:t>
            </a:r>
          </a:p>
          <a:p>
            <a:r>
              <a:t>          "provider": "한국관광 데이터랩",</a:t>
            </a:r>
          </a:p>
          <a:p>
            <a:r>
              <a:t>          "relative_path": "data/source_snapshots/festivals_20260820/25. 문경찻사발축제_2023-2025/20260820160334_문경찻사발축제_목적지 검색순위.csv",</a:t>
            </a:r>
          </a:p>
          <a:p>
            <a:r>
              <a:t>          "sha256": "343671c431cfa7e76ba333ca2ea221803e111e0db5e9a51c6d387b0ba5d7eeaf",</a:t>
            </a:r>
          </a:p>
          <a:p>
            <a:r>
              <a:t>          "source_id": "festival-file:343671c431cfa7e76ba3",</a:t>
            </a:r>
          </a:p>
          <a:p>
            <a:r>
              <a:t>          "source_url": "https://datalab.visitkorea.or.kr/"</a:t>
            </a:r>
          </a:p>
          <a:p>
            <a:r>
              <a:t>        },</a:t>
            </a:r>
          </a:p>
          <a:p>
            <a:r>
              <a:t>        {</a:t>
            </a:r>
          </a:p>
          <a:p>
            <a:r>
              <a:t>          "downloaded_at": "2026-08-20",</a:t>
            </a:r>
          </a:p>
          <a:p>
            <a:r>
              <a:t>          "file_name": "20260820160334_문경찻사발축제_문화관광축제 주요 지표.csv",</a:t>
            </a:r>
          </a:p>
          <a:p>
            <a:r>
              <a:t>          "provenance_status": "team_download_exact_query_url_unrecorded",</a:t>
            </a:r>
          </a:p>
          <a:p>
            <a:r>
              <a:t>          "provider": "한국관광 데이터랩",</a:t>
            </a:r>
          </a:p>
          <a:p>
            <a:r>
              <a:t>          "relative_path": "data/source_snapshots/festivals_20260820/25. 문경찻사발축제_2023-2025/20260820160334_문경찻사발축제_문화관광축제 주요 지표.csv",</a:t>
            </a:r>
          </a:p>
          <a:p>
            <a:r>
              <a:t>          "sha256": "eadf4622620ddb1575df5f358ec588aeed8718c09e0998a19494cf0f3cfe0f16",</a:t>
            </a:r>
          </a:p>
          <a:p>
            <a:r>
              <a:t>          "source_id": "festival-file:eadf4622620ddb1575df",</a:t>
            </a:r>
          </a:p>
          <a:p>
            <a:r>
              <a:t>          "source_url": "https://datalab.visitkorea.or.kr/"</a:t>
            </a:r>
          </a:p>
          <a:p>
            <a:r>
              <a:t>        }</a:t>
            </a:r>
          </a:p>
          <a:p>
            <a:r>
              <a:t>      ],</a:t>
            </a:r>
          </a:p>
          <a:p>
            <a:r>
              <a:t>      "retrieval_basis": {</a:t>
            </a:r>
          </a:p>
          <a:p>
            <a:r>
              <a:t>        "kind": "external_benchmark",</a:t>
            </a:r>
          </a:p>
          <a:p>
            <a:r>
              <a:t>        "score": 31,</a:t>
            </a:r>
          </a:p>
          <a:p>
            <a:r>
              <a:t>        "components": {</a:t>
            </a:r>
          </a:p>
          <a:p>
            <a:r>
              <a:t>          "방문 전망 조사: 외지인·일평균 동반 증가": 15,</a:t>
            </a:r>
          </a:p>
          <a:p>
            <a:r>
              <a:t>          "최근 개최연도": 6,</a:t>
            </a:r>
          </a:p>
          <a:p>
            <a:r>
              <a:t>          "방문 실적 비교 가능": 10</a:t>
            </a:r>
          </a:p>
          <a:p>
            <a:r>
              <a:t>        },</a:t>
            </a:r>
          </a:p>
          <a:p>
            <a:r>
              <a:t>        "theme": "역사·공예",</a:t>
            </a:r>
          </a:p>
          <a:p>
            <a:r>
              <a:t>        "priority_signal": "visit",</a:t>
            </a:r>
          </a:p>
          <a:p>
            <a:r>
              <a:t>        "rule": "함수 기반 조사 우선순위. 사업효과·인구/환경 유사도 점수가 아니며 소비·체류 개선은 조사 가설이다."</a:t>
            </a:r>
          </a:p>
          <a:p>
            <a:r>
              <a:t>      },</a:t>
            </a:r>
          </a:p>
          <a:p>
            <a:r>
              <a:t>      "festival_statistics": {</a:t>
            </a:r>
          </a:p>
          <a:p>
            <a:r>
              <a:t>        "name": "문경찻사발축제",</a:t>
            </a:r>
          </a:p>
          <a:p>
            <a:r>
              <a:t>        "annual": [</a:t>
            </a:r>
          </a:p>
          <a:p>
            <a:r>
              <a:t>          {</a:t>
            </a:r>
          </a:p>
          <a:p>
            <a:r>
              <a:t>            "daily": 23055.333333333332,</a:t>
            </a:r>
          </a:p>
          <a:p>
            <a:r>
              <a:t>            "days": 9,</a:t>
            </a:r>
          </a:p>
          <a:p>
            <a:r>
              <a:t>            "foreign": 1241.0,</a:t>
            </a:r>
          </a:p>
          <a:p>
            <a:r>
              <a:t>            "local": 59726.0,</a:t>
            </a:r>
          </a:p>
          <a:p>
            <a:r>
              <a:t>            "outside": 146531.0,</a:t>
            </a:r>
          </a:p>
          <a:p>
            <a:r>
              <a:t>            "outside_daily": 16281.222222222223,</a:t>
            </a:r>
          </a:p>
          <a:p>
            <a:r>
              <a:t>            "outside_share_pct": 70.61803005330172,</a:t>
            </a:r>
          </a:p>
          <a:p>
            <a:r>
              <a:t>            "total": 207498.0,</a:t>
            </a:r>
          </a:p>
          <a:p>
            <a:r>
              <a:t>            "year": 2023</a:t>
            </a:r>
          </a:p>
          <a:p>
            <a:r>
              <a:t>          },</a:t>
            </a:r>
          </a:p>
          <a:p>
            <a:r>
              <a:t>          {</a:t>
            </a:r>
          </a:p>
          <a:p>
            <a:r>
              <a:t>            "daily": 24575.0,</a:t>
            </a:r>
          </a:p>
          <a:p>
            <a:r>
              <a:t>            "days": 10,</a:t>
            </a:r>
          </a:p>
          <a:p>
            <a:r>
              <a:t>            "foreign": 1170.0,</a:t>
            </a:r>
          </a:p>
          <a:p>
            <a:r>
              <a:t>            "local": 64582.0,</a:t>
            </a:r>
          </a:p>
          <a:p>
            <a:r>
              <a:t>            "outside": 179998.0,</a:t>
            </a:r>
          </a:p>
          <a:p>
            <a:r>
              <a:t>            "outside_daily": 17999.8,</a:t>
            </a:r>
          </a:p>
          <a:p>
            <a:r>
              <a:t>            "outside_share_pct": 73.2443540183113,</a:t>
            </a:r>
          </a:p>
          <a:p>
            <a:r>
              <a:t>            "total": 245750.0,</a:t>
            </a:r>
          </a:p>
          <a:p>
            <a:r>
              <a:t>            "year": 2024</a:t>
            </a:r>
          </a:p>
          <a:p>
            <a:r>
              <a:t>          },</a:t>
            </a:r>
          </a:p>
          <a:p>
            <a:r>
              <a:t>          {</a:t>
            </a:r>
          </a:p>
          <a:p>
            <a:r>
              <a:t>            "daily": 28507.777777777777,</a:t>
            </a:r>
          </a:p>
          <a:p>
            <a:r>
              <a:t>            "days": 9,</a:t>
            </a:r>
          </a:p>
          <a:p>
            <a:r>
              <a:t>            "foreign": 1166.0,</a:t>
            </a:r>
          </a:p>
          <a:p>
            <a:r>
              <a:t>            "local": 58704.0,</a:t>
            </a:r>
          </a:p>
          <a:p>
            <a:r>
              <a:t>            "outside": 196700.0,</a:t>
            </a:r>
          </a:p>
          <a:p>
            <a:r>
              <a:t>            "outside_daily": 21855.555555555555,</a:t>
            </a:r>
          </a:p>
          <a:p>
            <a:r>
              <a:t>            "outside_share_pct": 76.66523755700199,</a:t>
            </a:r>
          </a:p>
          <a:p>
            <a:r>
              <a:t>            "total": 256570.0,</a:t>
            </a:r>
          </a:p>
          <a:p>
            <a:r>
              <a:t>            "year": 2025</a:t>
            </a:r>
          </a:p>
          <a:p>
            <a:r>
              <a:t>          }</a:t>
            </a:r>
          </a:p>
          <a:p>
            <a:r>
              <a:t>        ],</a:t>
            </a:r>
          </a:p>
          <a:p>
            <a:r>
              <a:t>        "comparison": {</a:t>
            </a:r>
          </a:p>
          <a:p>
            <a:r>
              <a:t>          "after_days": 9,</a:t>
            </a:r>
          </a:p>
          <a:p>
            <a:r>
              <a:t>          "after_year": 2025,</a:t>
            </a:r>
          </a:p>
          <a:p>
            <a:r>
              <a:t>          "before_days": 10,</a:t>
            </a:r>
          </a:p>
          <a:p>
            <a:r>
              <a:t>          "before_year": 2024,</a:t>
            </a:r>
          </a:p>
          <a:p>
            <a:r>
              <a:t>          "daily": {</a:t>
            </a:r>
          </a:p>
          <a:p>
            <a:r>
              <a:t>            "after": 28507.777777777777,</a:t>
            </a:r>
          </a:p>
          <a:p>
            <a:r>
              <a:t>            "before": 24575.0,</a:t>
            </a:r>
          </a:p>
          <a:p>
            <a:r>
              <a:t>            "change_pct": 16.00316491466034,</a:t>
            </a:r>
          </a:p>
          <a:p>
            <a:r>
              <a:t>            "difference": 3932.7777777777774</a:t>
            </a:r>
          </a:p>
          <a:p>
            <a:r>
              <a:t>          },</a:t>
            </a:r>
          </a:p>
          <a:p>
            <a:r>
              <a:t>          "outside": {</a:t>
            </a:r>
          </a:p>
          <a:p>
            <a:r>
              <a:t>            "after": 196700.0,</a:t>
            </a:r>
          </a:p>
          <a:p>
            <a:r>
              <a:t>            "before": 179998.0,</a:t>
            </a:r>
          </a:p>
          <a:p>
            <a:r>
              <a:t>            "change_pct": 9.278991988799866,</a:t>
            </a:r>
          </a:p>
          <a:p>
            <a:r>
              <a:t>            "difference": 16702.0</a:t>
            </a:r>
          </a:p>
          <a:p>
            <a:r>
              <a:t>          },</a:t>
            </a:r>
          </a:p>
          <a:p>
            <a:r>
              <a:t>          "outside_daily": {</a:t>
            </a:r>
          </a:p>
          <a:p>
            <a:r>
              <a:t>            "after": 21855.555555555555,</a:t>
            </a:r>
          </a:p>
          <a:p>
            <a:r>
              <a:t>            "before": 17999.8,</a:t>
            </a:r>
          </a:p>
          <a:p>
            <a:r>
              <a:t>            "change_pct": 21.421102209777644,</a:t>
            </a:r>
          </a:p>
          <a:p>
            <a:r>
              <a:t>            "difference": 3855.7555555555555</a:t>
            </a:r>
          </a:p>
          <a:p>
            <a:r>
              <a:t>          },</a:t>
            </a:r>
          </a:p>
          <a:p>
            <a:r>
              <a:t>          "total": {</a:t>
            </a:r>
          </a:p>
          <a:p>
            <a:r>
              <a:t>            "after": 256570.0,</a:t>
            </a:r>
          </a:p>
          <a:p>
            <a:r>
              <a:t>            "before": 245750.0,</a:t>
            </a:r>
          </a:p>
          <a:p>
            <a:r>
              <a:t>            "change_pct": 4.402848423194294,</a:t>
            </a:r>
          </a:p>
          <a:p>
            <a:r>
              <a:t>            "difference": 10820.0</a:t>
            </a:r>
          </a:p>
          <a:p>
            <a:r>
              <a:t>          }</a:t>
            </a:r>
          </a:p>
          <a:p>
            <a:r>
              <a:t>        },</a:t>
            </a:r>
          </a:p>
          <a:p>
            <a:r>
              <a:t>        "scope": "축제 관측구역 방문 지표. 도시 전체·순증 관광객·입장권 실구매자 수가 아님.",</a:t>
            </a:r>
          </a:p>
          <a:p>
            <a:r>
              <a:t>        "region_basis": "목적지 검색 CSV의 시도+시군구 최빈 주소; 행사장 행정경계 확정은 아님",</a:t>
            </a:r>
          </a:p>
          <a:p>
            <a:r>
              <a:t>        "source_file": {</a:t>
            </a:r>
          </a:p>
          <a:p>
            <a:r>
              <a:t>          "downloaded_at": "2026-08-20",</a:t>
            </a:r>
          </a:p>
          <a:p>
            <a:r>
              <a:t>          "file_name": "20260820160334_문경찻사발축제_연도별 방문자 추이.csv",</a:t>
            </a:r>
          </a:p>
          <a:p>
            <a:r>
              <a:t>          "provenance_status": "team_download_exact_query_url_unrecorded",</a:t>
            </a:r>
          </a:p>
          <a:p>
            <a:r>
              <a:t>          "provider": "한국관광 데이터랩",</a:t>
            </a:r>
          </a:p>
          <a:p>
            <a:r>
              <a:t>          "relative_path": "data/source_snapshots/festivals_20260820/25. 문경찻사발축제_2023-2025/20260820160334_문경찻사발축제_연도별 방문자 추이.csv",</a:t>
            </a:r>
          </a:p>
          <a:p>
            <a:r>
              <a:t>          "sha256": "dfcb5b619f820d7ce4451f5e89294681bc37f49f8200ba859754d423602e51a1",</a:t>
            </a:r>
          </a:p>
          <a:p>
            <a:r>
              <a:t>          "source_id": "festival-file:dfcb5b619f820d7ce445",</a:t>
            </a:r>
          </a:p>
          <a:p>
            <a:r>
              <a:t>          "source_url": "https://datalab.visitkorea.or.kr/"</a:t>
            </a:r>
          </a:p>
          <a:p>
            <a:r>
              <a:t>        },</a:t>
            </a:r>
          </a:p>
          <a:p>
            <a:r>
              <a:t>        "indicator_values": [</a:t>
            </a:r>
          </a:p>
          <a:p>
            <a:r>
              <a:t>          {</a:t>
            </a:r>
          </a:p>
          <a:p>
            <a:r>
              <a:t>            "개최년도": "2025",</a:t>
            </a:r>
          </a:p>
          <a:p>
            <a:r>
              <a:t>            "구분명": "외부방문자 유입",</a:t>
            </a:r>
          </a:p>
          <a:p>
            <a:r>
              <a:t>            "그룹명": "축제기간",</a:t>
            </a:r>
          </a:p>
          <a:p>
            <a:r>
              <a:t>            "지표값": "0.414",</a:t>
            </a:r>
          </a:p>
          <a:p>
            <a:r>
              <a:t>            "축제명": "문경찻사발축제"</a:t>
            </a:r>
          </a:p>
          <a:p>
            <a:r>
              <a:t>          },</a:t>
            </a:r>
          </a:p>
          <a:p>
            <a:r>
              <a:t>          {</a:t>
            </a:r>
          </a:p>
          <a:p>
            <a:r>
              <a:t>            "개최년도": "2025",</a:t>
            </a:r>
          </a:p>
          <a:p>
            <a:r>
              <a:t>            "구분명": "현지인방문자 유입",</a:t>
            </a:r>
          </a:p>
          <a:p>
            <a:r>
              <a:t>            "그룹명": "축제기간",</a:t>
            </a:r>
          </a:p>
          <a:p>
            <a:r>
              <a:t>            "지표값": "0.86",</a:t>
            </a:r>
          </a:p>
          <a:p>
            <a:r>
              <a:t>            "축제명": "문경찻사발축제"</a:t>
            </a:r>
          </a:p>
          <a:p>
            <a:r>
              <a:t>          },</a:t>
            </a:r>
          </a:p>
          <a:p>
            <a:r>
              <a:t>          {</a:t>
            </a:r>
          </a:p>
          <a:p>
            <a:r>
              <a:t>            "개최년도": "2025",</a:t>
            </a:r>
          </a:p>
          <a:p>
            <a:r>
              <a:t>            "구분명": "내비게이션 검색량",</a:t>
            </a:r>
          </a:p>
          <a:p>
            <a:r>
              <a:t>            "그룹명": "축제기간",</a:t>
            </a:r>
          </a:p>
          <a:p>
            <a:r>
              <a:t>            "지표값": "0.273",</a:t>
            </a:r>
          </a:p>
          <a:p>
            <a:r>
              <a:t>            "축제명": "문경찻사발축제"</a:t>
            </a:r>
          </a:p>
          <a:p>
            <a:r>
              <a:t>          },</a:t>
            </a:r>
          </a:p>
          <a:p>
            <a:r>
              <a:t>          {</a:t>
            </a:r>
          </a:p>
          <a:p>
            <a:r>
              <a:t>            "개최년도": "2025",</a:t>
            </a:r>
          </a:p>
          <a:p>
            <a:r>
              <a:t>            "구분명": "관광소비",</a:t>
            </a:r>
          </a:p>
          <a:p>
            <a:r>
              <a:t>            "그룹명": "축제기간",</a:t>
            </a:r>
          </a:p>
          <a:p>
            <a:r>
              <a:t>            "지표값": "0.536",</a:t>
            </a:r>
          </a:p>
          <a:p>
            <a:r>
              <a:t>            "축제명": "문경찻사발축제"</a:t>
            </a:r>
          </a:p>
          <a:p>
            <a:r>
              <a:t>          },</a:t>
            </a:r>
          </a:p>
          <a:p>
            <a:r>
              <a:t>          {</a:t>
            </a:r>
          </a:p>
          <a:p>
            <a:r>
              <a:t>            "개최년도": "2025",</a:t>
            </a:r>
          </a:p>
          <a:p>
            <a:r>
              <a:t>            "구분명": "축제지 집중률",</a:t>
            </a:r>
          </a:p>
          <a:p>
            <a:r>
              <a:t>            "그룹명": "축제기간",</a:t>
            </a:r>
          </a:p>
          <a:p>
            <a:r>
              <a:t>            "지표값": "0.716",</a:t>
            </a:r>
          </a:p>
          <a:p>
            <a:r>
              <a:t>            "축제명": "문경찻사발축제"</a:t>
            </a:r>
          </a:p>
          <a:p>
            <a:r>
              <a:t>          },</a:t>
            </a:r>
          </a:p>
          <a:p>
            <a:r>
              <a:t>          {</a:t>
            </a:r>
          </a:p>
          <a:p>
            <a:r>
              <a:t>            "개최년도": "2025",</a:t>
            </a:r>
          </a:p>
          <a:p>
            <a:r>
              <a:t>            "구분명": "외부방문자 유입",</a:t>
            </a:r>
          </a:p>
          <a:p>
            <a:r>
              <a:t>            "그룹명": "비축제기간",</a:t>
            </a:r>
          </a:p>
          <a:p>
            <a:r>
              <a:t>            "지표값": "0.217",</a:t>
            </a:r>
          </a:p>
          <a:p>
            <a:r>
              <a:t>            "축제명": "문경찻사발축제"</a:t>
            </a:r>
          </a:p>
          <a:p>
            <a:r>
              <a:t>          },</a:t>
            </a:r>
          </a:p>
          <a:p>
            <a:r>
              <a:t>          {</a:t>
            </a:r>
          </a:p>
          <a:p>
            <a:r>
              <a:t>            "개최년도": "2025",</a:t>
            </a:r>
          </a:p>
          <a:p>
            <a:r>
              <a:t>            "구분명": "현지인방문자 유입",</a:t>
            </a:r>
          </a:p>
          <a:p>
            <a:r>
              <a:t>            "그룹명": "비축제기간",</a:t>
            </a:r>
          </a:p>
          <a:p>
            <a:r>
              <a:t>            "지표값": "0.725",</a:t>
            </a:r>
          </a:p>
          <a:p>
            <a:r>
              <a:t>            "축제명": "문경찻사발축제"</a:t>
            </a:r>
          </a:p>
          <a:p>
            <a:r>
              <a:t>          },</a:t>
            </a:r>
          </a:p>
          <a:p>
            <a:r>
              <a:t>          {</a:t>
            </a:r>
          </a:p>
          <a:p>
            <a:r>
              <a:t>            "개최년도": "2025",</a:t>
            </a:r>
          </a:p>
          <a:p>
            <a:r>
              <a:t>            "구분명": "내비게이션 검색량",</a:t>
            </a:r>
          </a:p>
          <a:p>
            <a:r>
              <a:t>            "그룹명": "비축제기간",</a:t>
            </a:r>
          </a:p>
          <a:p>
            <a:r>
              <a:t>            "지표값": "0.148",</a:t>
            </a:r>
          </a:p>
          <a:p>
            <a:r>
              <a:t>            "축제명": "문경찻사발축제"</a:t>
            </a:r>
          </a:p>
          <a:p>
            <a:r>
              <a:t>          },</a:t>
            </a:r>
          </a:p>
          <a:p>
            <a:r>
              <a:t>          {</a:t>
            </a:r>
          </a:p>
          <a:p>
            <a:r>
              <a:t>            "개최년도": "2025",</a:t>
            </a:r>
          </a:p>
          <a:p>
            <a:r>
              <a:t>            "구분명": "관광소비",</a:t>
            </a:r>
          </a:p>
          <a:p>
            <a:r>
              <a:t>            "그룹명": "비축제기간",</a:t>
            </a:r>
          </a:p>
          <a:p>
            <a:r>
              <a:t>            "지표값": "0.381",</a:t>
            </a:r>
          </a:p>
          <a:p>
            <a:r>
              <a:t>            "축제명": "문경찻사발축제"</a:t>
            </a:r>
          </a:p>
          <a:p>
            <a:r>
              <a:t>          },</a:t>
            </a:r>
          </a:p>
          <a:p>
            <a:r>
              <a:t>          {</a:t>
            </a:r>
          </a:p>
          <a:p>
            <a:r>
              <a:t>            "개최년도": "2025",</a:t>
            </a:r>
          </a:p>
          <a:p>
            <a:r>
              <a:t>            "구분명": "축제지 집중률",</a:t>
            </a:r>
          </a:p>
          <a:p>
            <a:r>
              <a:t>            "그룹명": "비축제기간",</a:t>
            </a:r>
          </a:p>
          <a:p>
            <a:r>
              <a:t>            "지표값": "0.607",</a:t>
            </a:r>
          </a:p>
          <a:p>
            <a:r>
              <a:t>            "축제명": "문경찻사발축제"</a:t>
            </a:r>
          </a:p>
          <a:p>
            <a:r>
              <a:t>          }</a:t>
            </a:r>
          </a:p>
          <a:p>
            <a:r>
              <a:t>        ],</a:t>
            </a:r>
          </a:p>
          <a:p>
            <a:r>
              <a:t>        "indicator_rule": "원본 지표값만 보존. 산식·단위 미확인으로 성장률/원화/정원/참여율 변환 금지.",</a:t>
            </a:r>
          </a:p>
          <a:p>
            <a:r>
              <a:t>        "audience": [</a:t>
            </a:r>
          </a:p>
          <a:p>
            <a:r>
              <a:t>          {</a:t>
            </a:r>
          </a:p>
          <a:p>
            <a:r>
              <a:t>            "남성비율": "4.0",</a:t>
            </a:r>
          </a:p>
          <a:p>
            <a:r>
              <a:t>            "여성비율": "3.8",</a:t>
            </a:r>
          </a:p>
          <a:p>
            <a:r>
              <a:t>            "연령대": "70세 이상",</a:t>
            </a:r>
          </a:p>
          <a:p>
            <a:r>
              <a:t>            "축제명": "문경찻사발축제"</a:t>
            </a:r>
          </a:p>
          <a:p>
            <a:r>
              <a:t>          },</a:t>
            </a:r>
          </a:p>
          <a:p>
            <a:r>
              <a:t>          {</a:t>
            </a:r>
          </a:p>
          <a:p>
            <a:r>
              <a:t>            "남성비율": "12.3",</a:t>
            </a:r>
          </a:p>
          <a:p>
            <a:r>
              <a:t>            "여성비율": "10.0",</a:t>
            </a:r>
          </a:p>
          <a:p>
            <a:r>
              <a:t>            "연령대": "60~69세",</a:t>
            </a:r>
          </a:p>
          <a:p>
            <a:r>
              <a:t>            "축제명": "문경찻사발축제"</a:t>
            </a:r>
          </a:p>
          <a:p>
            <a:r>
              <a:t>          },</a:t>
            </a:r>
          </a:p>
          <a:p>
            <a:r>
              <a:t>          {</a:t>
            </a:r>
          </a:p>
          <a:p>
            <a:r>
              <a:t>            "남성비율": "13.0",</a:t>
            </a:r>
          </a:p>
          <a:p>
            <a:r>
              <a:t>            "여성비율": "11.7",</a:t>
            </a:r>
          </a:p>
          <a:p>
            <a:r>
              <a:t>            "연령대": "50~59세",</a:t>
            </a:r>
          </a:p>
          <a:p>
            <a:r>
              <a:t>            "축제명": "문경찻사발축제"</a:t>
            </a:r>
          </a:p>
          <a:p>
            <a:r>
              <a:t>          },</a:t>
            </a:r>
          </a:p>
          <a:p>
            <a:r>
              <a:t>          {</a:t>
            </a:r>
          </a:p>
          <a:p>
            <a:r>
              <a:t>            "남성비율": "9.3",</a:t>
            </a:r>
          </a:p>
          <a:p>
            <a:r>
              <a:t>            "여성비율": "7.6",</a:t>
            </a:r>
          </a:p>
          <a:p>
            <a:r>
              <a:t>            "연령대": "40~49세",</a:t>
            </a:r>
          </a:p>
          <a:p>
            <a:r>
              <a:t>            "축제명": "문경찻사발축제"</a:t>
            </a:r>
          </a:p>
          <a:p>
            <a:r>
              <a:t>          },</a:t>
            </a:r>
          </a:p>
          <a:p>
            <a:r>
              <a:t>          {</a:t>
            </a:r>
          </a:p>
          <a:p>
            <a:r>
              <a:t>            "남성비율": "7.2",</a:t>
            </a:r>
          </a:p>
          <a:p>
            <a:r>
              <a:t>            "여성비율": "6.1",</a:t>
            </a:r>
          </a:p>
          <a:p>
            <a:r>
              <a:t>            "연령대": "30~39세",</a:t>
            </a:r>
          </a:p>
          <a:p>
            <a:r>
              <a:t>            "축제명": "문경찻사발축제"</a:t>
            </a:r>
          </a:p>
          <a:p>
            <a:r>
              <a:t>          },</a:t>
            </a:r>
          </a:p>
          <a:p>
            <a:r>
              <a:t>          {</a:t>
            </a:r>
          </a:p>
          <a:p>
            <a:r>
              <a:t>            "남성비율": "4.6",</a:t>
            </a:r>
          </a:p>
          <a:p>
            <a:r>
              <a:t>            "여성비율": "4.1",</a:t>
            </a:r>
          </a:p>
          <a:p>
            <a:r>
              <a:t>            "연령대": "20~29세",</a:t>
            </a:r>
          </a:p>
          <a:p>
            <a:r>
              <a:t>            "축제명": "문경찻사발축제"</a:t>
            </a:r>
          </a:p>
          <a:p>
            <a:r>
              <a:t>          },</a:t>
            </a:r>
          </a:p>
          <a:p>
            <a:r>
              <a:t>          {</a:t>
            </a:r>
          </a:p>
          <a:p>
            <a:r>
              <a:t>            "남성비율": "2.5",</a:t>
            </a:r>
          </a:p>
          <a:p>
            <a:r>
              <a:t>            "여성비율": "2.5",</a:t>
            </a:r>
          </a:p>
          <a:p>
            <a:r>
              <a:t>            "연령대": "10~19세",</a:t>
            </a:r>
          </a:p>
          <a:p>
            <a:r>
              <a:t>            "축제명": "문경찻사발축제"</a:t>
            </a:r>
          </a:p>
          <a:p>
            <a:r>
              <a:t>          },</a:t>
            </a:r>
          </a:p>
          <a:p>
            <a:r>
              <a:t>          {</a:t>
            </a:r>
          </a:p>
          <a:p>
            <a:r>
              <a:t>            "남성비율": "0.6",</a:t>
            </a:r>
          </a:p>
          <a:p>
            <a:r>
              <a:t>            "여성비율": "0.6",</a:t>
            </a:r>
          </a:p>
          <a:p>
            <a:r>
              <a:t>            "연령대": "0~9세",</a:t>
            </a:r>
          </a:p>
          <a:p>
            <a:r>
              <a:t>            "축제명": "문경찻사발축제"</a:t>
            </a:r>
          </a:p>
          <a:p>
            <a:r>
              <a:t>          }</a:t>
            </a:r>
          </a:p>
          <a:p>
            <a:r>
              <a:t>        ],</a:t>
            </a:r>
          </a:p>
          <a:p>
            <a:r>
              <a:t>        "audience_period": "다운로드 CSV에 연도 열 없음; 최신 개최연도와 자동 결합하지 않음",</a:t>
            </a:r>
          </a:p>
          <a:p>
            <a:r>
              <a:t>        "destination_examples": [</a:t>
            </a:r>
          </a:p>
          <a:p>
            <a:r>
              <a:t>          {</a:t>
            </a:r>
          </a:p>
          <a:p>
            <a:r>
              <a:t>            "구분": "외지인",</a:t>
            </a:r>
          </a:p>
          <a:p>
            <a:r>
              <a:t>            "순위": "1",</a:t>
            </a:r>
          </a:p>
          <a:p>
            <a:r>
              <a:t>            "목적지명": "문경새재",</a:t>
            </a:r>
          </a:p>
          <a:p>
            <a:r>
              <a:t>            "도로명주소": "경북 문경시 새재로 932-0",</a:t>
            </a:r>
          </a:p>
          <a:p>
            <a:r>
              <a:t>            "카테고리": "역사유적지"</a:t>
            </a:r>
          </a:p>
          <a:p>
            <a:r>
              <a:t>          },</a:t>
            </a:r>
          </a:p>
          <a:p>
            <a:r>
              <a:t>          {</a:t>
            </a:r>
          </a:p>
          <a:p>
            <a:r>
              <a:t>            "구분": "외지인",</a:t>
            </a:r>
          </a:p>
          <a:p>
            <a:r>
              <a:t>            "순위": "2",</a:t>
            </a:r>
          </a:p>
          <a:p>
            <a:r>
              <a:t>            "목적지명": "문경종합온천",</a:t>
            </a:r>
          </a:p>
          <a:p>
            <a:r>
              <a:t>            "도로명주소": "경북 문경시 온천2길 24-0",</a:t>
            </a:r>
          </a:p>
          <a:p>
            <a:r>
              <a:t>            "카테고리": "웰니스관광"</a:t>
            </a:r>
          </a:p>
          <a:p>
            <a:r>
              <a:t>          },</a:t>
            </a:r>
          </a:p>
          <a:p>
            <a:r>
              <a:t>          {</a:t>
            </a:r>
          </a:p>
          <a:p>
            <a:r>
              <a:t>            "구분": "외지인",</a:t>
            </a:r>
          </a:p>
          <a:p>
            <a:r>
              <a:t>            "순위": "3",</a:t>
            </a:r>
          </a:p>
          <a:p>
            <a:r>
              <a:t>            "목적지명": "문경찻사발축제",</a:t>
            </a:r>
          </a:p>
          <a:p>
            <a:r>
              <a:t>            "도로명주소": "경북 문경시 새재로 933-0",</a:t>
            </a:r>
          </a:p>
          <a:p>
            <a:r>
              <a:t>            "카테고리": "기타문화관광지"</a:t>
            </a:r>
          </a:p>
          <a:p>
            <a:r>
              <a:t>          }</a:t>
            </a:r>
          </a:p>
          <a:p>
            <a:r>
              <a:t>        ],</a:t>
            </a:r>
          </a:p>
          <a:p>
            <a:r>
              <a:t>        "destination_period": "다운로드 CSV에 연도 열 없음; 주변 검색 후보이며 제휴·실제 방문 증거 아님"</a:t>
            </a:r>
          </a:p>
          <a:p>
            <a:r>
              <a:t>      },</a:t>
            </a:r>
          </a:p>
          <a:p>
            <a:r>
              <a:t>      "source_type": "benchmark_case",</a:t>
            </a:r>
          </a:p>
          <a:p>
            <a:r>
              <a:t>      "title": "한국관광 데이터랩 · 문경찻사발축제 방문자 추이",</a:t>
            </a:r>
          </a:p>
          <a:p>
            <a:r>
              <a:t>      "summary": "2024→2025년 전체 245,750→256,570명 (+4.40%). 개최 10→9일, 일평균 +16.00%, 외지인 +9.28%."</a:t>
            </a:r>
          </a:p>
          <a:p>
            <a:r>
              <a:t>    },</a:t>
            </a:r>
          </a:p>
          <a:p>
            <a:r>
              <a:t>    "selection_reason": "공식 문서의 experience_product 운영 방식과 기획안의 실행 방식이 일치하는 사례 1건을 함수로 연결했습니다. 지리·인구가 유사하다는 판정이나 사업 성과 예측은 아닙니다.",</a:t>
            </a:r>
          </a:p>
          <a:p>
            <a:r>
              <a:t>    "target_explanation": "지역 체험 상품: 6개 × 월 8일 × 3개월 × 하루 2회 × 회당 25명 = 7,200명분. 편성 한도 7,200명분에 이용률 75%를 적용해 5,400명 참여, 추가 방문 비중 30%로 1,620명 유치를 제안합니다. 기간 합계 ML 전망 대비 방문 +0.02%, 소비 +0.03%의 계획 시나리오입니다. 참여 목표 75%는 공통 최소 운영 목표입니다. 사례 참여율을 인용한 값이 아닙니다.",</a:t>
            </a:r>
          </a:p>
          <a:p>
            <a:r>
              <a:t>    "estimate": {</a:t>
            </a:r>
          </a:p>
          <a:p>
            <a:r>
              <a:t>      "version": "operating-capacity-v2-participation-floor",</a:t>
            </a:r>
          </a:p>
          <a:p>
            <a:r>
              <a:t>      "status": "planning_assumption_not_quote",</a:t>
            </a:r>
          </a:p>
          <a:p>
            <a:r>
              <a:t>      "scale_basis": "6개 × 월 8일 × 3개월 × 하루 2회 × 회당 25명 = 7,200명분 → 편성 참여 한도 7,200건. 모든 단가는 기획 가정.",</a:t>
            </a:r>
          </a:p>
          <a:p>
            <a:r>
              <a:t>      "months": 3,</a:t>
            </a:r>
          </a:p>
          <a:p>
            <a:r>
              <a:t>      "refund": false,</a:t>
            </a:r>
          </a:p>
          <a:p>
            <a:r>
              <a:t>      "quantity": 7200,</a:t>
            </a:r>
          </a:p>
          <a:p>
            <a:r>
              <a:t>      "unit_krw": 15000,</a:t>
            </a:r>
          </a:p>
          <a:p>
            <a:r>
              <a:t>      "redemption_target_pct": 75.0,</a:t>
            </a:r>
          </a:p>
          <a:p>
            <a:r>
              <a:t>      "redemption_count": 5400,</a:t>
            </a:r>
          </a:p>
          <a:p>
            <a:r>
              <a:t>      "qualifying_spend_krw": null,</a:t>
            </a:r>
          </a:p>
          <a:p>
            <a:r>
              <a:t>      "subtotal_krw": 145600000,</a:t>
            </a:r>
          </a:p>
          <a:p>
            <a:r>
              <a:t>      "reserve_krw": 14560000,</a:t>
            </a:r>
          </a:p>
          <a:p>
            <a:r>
              <a:t>      "total_krw": 160160000,</a:t>
            </a:r>
          </a:p>
          <a:p>
            <a:r>
              <a:t>      "within_hard_budget": true,</a:t>
            </a:r>
          </a:p>
          <a:p>
            <a:r>
              <a:t>      "items": [</a:t>
            </a:r>
          </a:p>
          <a:p>
            <a:r>
              <a:t>        {</a:t>
            </a:r>
          </a:p>
          <a:p>
            <a:r>
              <a:t>          "name": "프로그램 운영·참여 지원",</a:t>
            </a:r>
          </a:p>
          <a:p>
            <a:r>
              <a:t>          "basis": "편성 참여 한도 7,200건 × 가정 단가 15,000원",</a:t>
            </a:r>
          </a:p>
          <a:p>
            <a:r>
              <a:t>          "amount": 108000000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145,600,000원 × 10%",</a:t>
            </a:r>
          </a:p>
          <a:p>
            <a:r>
              <a:t>          "amount": 14560000</a:t>
            </a:r>
          </a:p>
          <a:p>
            <a:r>
              <a:t>        }</a:t>
            </a:r>
          </a:p>
          <a:p>
            <a:r>
              <a:t>      ],</a:t>
            </a:r>
          </a:p>
          <a:p>
            <a:r>
              <a:t>      "sources": [],</a:t>
            </a:r>
          </a:p>
          <a:p>
            <a:r>
              <a:t>      "assumptions": [</a:t>
            </a:r>
          </a:p>
          <a:p>
            <a:r>
              <a:t>        "기획용 예상 견적이며 실제 액수와 다를 수 있습니다."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"operating-capacity-v2-participation-floor",</a:t>
            </a:r>
          </a:p>
          <a:p>
            <a:r>
              <a:t>  "status": "proposed",</a:t>
            </a:r>
          </a:p>
          <a:p>
            <a:r>
              <a:t>  "minimum_operating_budget_krw": 41360000,</a:t>
            </a:r>
          </a:p>
          <a:p>
            <a:r>
              <a:t>  "family": "experience_product",</a:t>
            </a:r>
          </a:p>
          <a:p>
            <a:r>
              <a:t>  "program_label": "지역 체험 상품",</a:t>
            </a:r>
          </a:p>
          <a:p>
            <a:r>
              <a:t>  "site_label": "체험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25,</a:t>
            </a:r>
          </a:p>
          <a:p>
            <a:r>
              <a:t>  "capacity": 7200,</a:t>
            </a:r>
          </a:p>
          <a:p>
            <a:r>
              <a:t>  "funded_capacity": 7200,</a:t>
            </a:r>
          </a:p>
          <a:p>
            <a:r>
              <a:t>  "scale_rule": "운영 거점 = ceil(√(월평균 ML 방문 전망 ÷ 100,000)), 최소 1·최대 12개",</a:t>
            </a:r>
          </a:p>
          <a:p>
            <a:r>
              <a:t>  "capacity_formula": "6개 × 월 8일 × 3개월 × 하루 2회 × 회당 25명 = 7,200명분",</a:t>
            </a:r>
          </a:p>
          <a:p>
            <a:r>
              <a:t>  "scale_kind": "planning_rule_not_population_model",</a:t>
            </a:r>
          </a:p>
          <a:p>
            <a:r>
              <a:t>  "spending_per_visit_proxy_krw": 42052.16575743384,</a:t>
            </a:r>
          </a:p>
          <a:p>
            <a:r>
              <a:t>  "existing_participant_extra_spend_krw": 20000,</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5400,</a:t>
            </a:r>
          </a:p>
          <a:p>
            <a:r>
              <a:t>      "additional_visitors": 810,</a:t>
            </a:r>
          </a:p>
          <a:p>
            <a:r>
              <a:t>      "additional_spending_krw": 125862254,</a:t>
            </a:r>
          </a:p>
          <a:p>
            <a:r>
              <a:t>      "visitor_growth_pct": 0.007655835235083763,</a:t>
            </a:r>
          </a:p>
          <a:p>
            <a:r>
              <a:t>      "spending_growth_pct": 0.028288811171614036,</a:t>
            </a:r>
          </a:p>
          <a:p>
            <a:r>
              <a:t>      "visitor_target_pct": 0.011617866289450964,</a:t>
            </a:r>
          </a:p>
          <a:p>
            <a:r>
              <a:t>      "spending_target_pct": 0.042485757511104685</a:t>
            </a:r>
          </a:p>
          <a:p>
            <a:r>
              <a:t>    },</a:t>
            </a:r>
          </a:p>
          <a:p>
            <a:r>
              <a:t>    {</a:t>
            </a:r>
          </a:p>
          <a:p>
            <a:r>
              <a:t>      "label": "기준",</a:t>
            </a:r>
          </a:p>
          <a:p>
            <a:r>
              <a:t>      "utilization_pct": 75.0,</a:t>
            </a:r>
          </a:p>
          <a:p>
            <a:r>
              <a:t>      "additional_visitor_share_pct": 30.0,</a:t>
            </a:r>
          </a:p>
          <a:p>
            <a:r>
              <a:t>      "participants": 5400,</a:t>
            </a:r>
          </a:p>
          <a:p>
            <a:r>
              <a:t>      "additional_visitors": 1620,</a:t>
            </a:r>
          </a:p>
          <a:p>
            <a:r>
              <a:t>      "additional_spending_krw": 143724509,</a:t>
            </a:r>
          </a:p>
          <a:p>
            <a:r>
              <a:t>      "visitor_growth_pct": 0.015311670470167526,</a:t>
            </a:r>
          </a:p>
          <a:p>
            <a:r>
              <a:t>      "spending_growth_pct": 0.032303533161212435,</a:t>
            </a:r>
          </a:p>
          <a:p>
            <a:r>
              <a:t>      "visitor_target_pct": 0.02323573257890193,</a:t>
            </a:r>
          </a:p>
          <a:p>
            <a:r>
              <a:t>      "spending_target_pct": 0.04851529703080466</a:t>
            </a:r>
          </a:p>
          <a:p>
            <a:r>
              <a:t>    },</a:t>
            </a:r>
          </a:p>
          <a:p>
            <a:r>
              <a:t>    {</a:t>
            </a:r>
          </a:p>
          <a:p>
            <a:r>
              <a:t>      "label": "확대",</a:t>
            </a:r>
          </a:p>
          <a:p>
            <a:r>
              <a:t>      "utilization_pct": 90.0,</a:t>
            </a:r>
          </a:p>
          <a:p>
            <a:r>
              <a:t>      "additional_visitor_share_pct": 44.99999999999999,</a:t>
            </a:r>
          </a:p>
          <a:p>
            <a:r>
              <a:t>      "participants": 6480,</a:t>
            </a:r>
          </a:p>
          <a:p>
            <a:r>
              <a:t>      "additional_visitors": 2915,</a:t>
            </a:r>
          </a:p>
          <a:p>
            <a:r>
              <a:t>      "additional_spending_krw": 193882063,</a:t>
            </a:r>
          </a:p>
          <a:p>
            <a:r>
              <a:t>      "visitor_growth_pct": 0.02755155519786317,</a:t>
            </a:r>
          </a:p>
          <a:p>
            <a:r>
              <a:t>      "spending_growth_pct": 0.04357694936696411,</a:t>
            </a:r>
          </a:p>
          <a:p>
            <a:r>
              <a:t>      "visitor_target_pct": 0.04180997559722168,</a:t>
            </a:r>
          </a:p>
          <a:p>
            <a:r>
              <a:t>      "spending_target_pct": 0.06544635943331129</a:t>
            </a:r>
          </a:p>
          <a:p>
            <a:r>
              <a:t>    }</a:t>
            </a:r>
          </a:p>
          <a:p>
            <a:r>
              <a:t>  ],</a:t>
            </a:r>
          </a:p>
          <a:p>
            <a:r>
              <a:t>  "central": {</a:t>
            </a:r>
          </a:p>
          <a:p>
            <a:r>
              <a:t>    "label": "기준",</a:t>
            </a:r>
          </a:p>
          <a:p>
            <a:r>
              <a:t>    "utilization_pct": 75.0,</a:t>
            </a:r>
          </a:p>
          <a:p>
            <a:r>
              <a:t>    "additional_visitor_share_pct": 30.0,</a:t>
            </a:r>
          </a:p>
          <a:p>
            <a:r>
              <a:t>    "participants": 5400,</a:t>
            </a:r>
          </a:p>
          <a:p>
            <a:r>
              <a:t>    "additional_visitors": 1620,</a:t>
            </a:r>
          </a:p>
          <a:p>
            <a:r>
              <a:t>    "additional_spending_krw": 143724509,</a:t>
            </a:r>
          </a:p>
          <a:p>
            <a:r>
              <a:t>    "visitor_growth_pct": 0.015311670470167526,</a:t>
            </a:r>
          </a:p>
          <a:p>
            <a:r>
              <a:t>    "spending_growth_pct": 0.032303533161212435,</a:t>
            </a:r>
          </a:p>
          <a:p>
            <a:r>
              <a:t>    "visitor_target_pct": 0.02323573257890193,</a:t>
            </a:r>
          </a:p>
          <a:p>
            <a:r>
              <a:t>    "spending_target_pct": 0.04851529703080466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"case:festival:01474ef75569b1",</a:t>
            </a:r>
          </a:p>
          <a:p>
            <a:r>
              <a:t>      "title": "한국관광 데이터랩 · 문경찻사발축제 방문자 추이",</a:t>
            </a:r>
          </a:p>
          <a:p>
            <a:r>
              <a:t>      "source_url": "https://datalab.visitkorea.or.kr/",</a:t>
            </a:r>
          </a:p>
          <a:p>
            <a:r>
              <a:t>      "operating_model": "문경찻사발축제를 2025년 9일 개최한 문화관광축제 운영 사례. 세부 프로그램·예약·혜택은 이 CSV에 기록되어 있지 않으며 새로운 운영안은 제안으로 구분한다.",</a:t>
            </a:r>
          </a:p>
          <a:p>
            <a:r>
              <a:t>      "observed_result": "2024→2025년 전체 245,750→256,570명 (+4.40%). 개최 10→9일, 일평균 +16.00%, 외지인 +9.28%."</a:t>
            </a:r>
          </a:p>
          <a:p>
            <a:r>
              <a:t>    }</a:t>
            </a:r>
          </a:p>
          <a:p>
            <a:r>
              <a:t>  ],</a:t>
            </a:r>
          </a:p>
          <a:p>
            <a:r>
              <a:t>  "explanation": "지역 체험 상품: 6개 × 월 8일 × 3개월 × 하루 2회 × 회당 25명 = 7,200명분. 편성 한도 7,200명분에 이용률 75%를 적용해 5,400명 참여, 추가 방문 비중 30%로 1,620명 유치를 제안합니다. 기간 합계 ML 전망 대비 방문 +0.02%, 소비 +0.03%의 계획 시나리오입니다. 참여 목표 75%는 공통 최소 운영 목표입니다. 사례 참여율을 인용한 값이 아닙니다.",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"estimate": {</a:t>
            </a:r>
          </a:p>
          <a:p>
            <a:r>
              <a:t>    "version": "operating-capacity-v2-participation-floor",</a:t>
            </a:r>
          </a:p>
          <a:p>
            <a:r>
              <a:t>    "status": "planning_assumption_not_quote",</a:t>
            </a:r>
          </a:p>
          <a:p>
            <a:r>
              <a:t>    "scale_basis": "6개 × 월 8일 × 3개월 × 하루 2회 × 회당 25명 = 7,200명분 → 편성 참여 한도 7,200건. 모든 단가는 기획 가정.",</a:t>
            </a:r>
          </a:p>
          <a:p>
            <a:r>
              <a:t>    "months": 3,</a:t>
            </a:r>
          </a:p>
          <a:p>
            <a:r>
              <a:t>    "refund": false,</a:t>
            </a:r>
          </a:p>
          <a:p>
            <a:r>
              <a:t>    "quantity": 7200,</a:t>
            </a:r>
          </a:p>
          <a:p>
            <a:r>
              <a:t>    "unit_krw": 15000,</a:t>
            </a:r>
          </a:p>
          <a:p>
            <a:r>
              <a:t>    "redemption_target_pct": 75.0,</a:t>
            </a:r>
          </a:p>
          <a:p>
            <a:r>
              <a:t>    "redemption_count": 5400,</a:t>
            </a:r>
          </a:p>
          <a:p>
            <a:r>
              <a:t>    "qualifying_spend_krw": null,</a:t>
            </a:r>
          </a:p>
          <a:p>
            <a:r>
              <a:t>    "subtotal_krw": 145600000,</a:t>
            </a:r>
          </a:p>
          <a:p>
            <a:r>
              <a:t>    "reserve_krw": 14560000,</a:t>
            </a:r>
          </a:p>
          <a:p>
            <a:r>
              <a:t>    "total_krw": 160160000,</a:t>
            </a:r>
          </a:p>
          <a:p>
            <a:r>
              <a:t>    "within_hard_budget": true,</a:t>
            </a:r>
          </a:p>
          <a:p>
            <a:r>
              <a:t>    "items": [</a:t>
            </a:r>
          </a:p>
          <a:p>
            <a:r>
              <a:t>      {</a:t>
            </a:r>
          </a:p>
          <a:p>
            <a:r>
              <a:t>        "name": "프로그램 운영·참여 지원",</a:t>
            </a:r>
          </a:p>
          <a:p>
            <a:r>
              <a:t>        "basis": "편성 참여 한도 7,200건 × 가정 단가 15,000원",</a:t>
            </a:r>
          </a:p>
          <a:p>
            <a:r>
              <a:t>        "amount": 108000000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145,600,000원 × 10%",</a:t>
            </a:r>
          </a:p>
          <a:p>
            <a:r>
              <a:t>        "amount": 14560000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"version": "operating-capacity-v2-participation-floor",</a:t>
            </a:r>
          </a:p>
          <a:p>
            <a:r>
              <a:t>  "status": "proposed",</a:t>
            </a:r>
          </a:p>
          <a:p>
            <a:r>
              <a:t>  "minimum_operating_budget_krw": 41360000,</a:t>
            </a:r>
          </a:p>
          <a:p>
            <a:r>
              <a:t>  "family": "experience_product",</a:t>
            </a:r>
          </a:p>
          <a:p>
            <a:r>
              <a:t>  "program_label": "지역 체험 상품",</a:t>
            </a:r>
          </a:p>
          <a:p>
            <a:r>
              <a:t>  "site_label": "체험 거점",</a:t>
            </a:r>
          </a:p>
          <a:p>
            <a:r>
              <a:t>  "months": 3,</a:t>
            </a:r>
          </a:p>
          <a:p>
            <a:r>
              <a:t>  "forecast_period": "202610~202612",</a:t>
            </a:r>
          </a:p>
          <a:p>
            <a:r>
              <a:t>  "baseline_visitors": 10580165.0,</a:t>
            </a:r>
          </a:p>
          <a:p>
            <a:r>
              <a:t>  "baseline_spending_krw": 444918852321.0,</a:t>
            </a:r>
          </a:p>
          <a:p>
            <a:r>
              <a:t>  "mean_monthly_visitors": 3526721.6666666665,</a:t>
            </a:r>
          </a:p>
          <a:p>
            <a:r>
              <a:t>  "sites": 6,</a:t>
            </a:r>
          </a:p>
          <a:p>
            <a:r>
              <a:t>  "days_per_month": 8,</a:t>
            </a:r>
          </a:p>
          <a:p>
            <a:r>
              <a:t>  "sessions_per_day": 2,</a:t>
            </a:r>
          </a:p>
          <a:p>
            <a:r>
              <a:t>  "capacity_per_session": 25,</a:t>
            </a:r>
          </a:p>
          <a:p>
            <a:r>
              <a:t>  "capacity": 7200,</a:t>
            </a:r>
          </a:p>
          <a:p>
            <a:r>
              <a:t>  "funded_capacity": 7200,</a:t>
            </a:r>
          </a:p>
          <a:p>
            <a:r>
              <a:t>  "scale_rule": "운영 거점 = ceil(√(월평균 ML 방문 전망 ÷ 100,000)), 최소 1·최대 12개",</a:t>
            </a:r>
          </a:p>
          <a:p>
            <a:r>
              <a:t>  "capacity_formula": "6개 × 월 8일 × 3개월 × 하루 2회 × 회당 25명 = 7,200명분",</a:t>
            </a:r>
          </a:p>
          <a:p>
            <a:r>
              <a:t>  "scale_kind": "planning_rule_not_population_model",</a:t>
            </a:r>
          </a:p>
          <a:p>
            <a:r>
              <a:t>  "spending_per_visit_proxy_krw": 42052.16575743384,</a:t>
            </a:r>
          </a:p>
          <a:p>
            <a:r>
              <a:t>  "existing_participant_extra_spend_krw": 20000,</a:t>
            </a:r>
          </a:p>
          <a:p>
            <a:r>
              <a:t>  "spending_formula": "추가 방문 × (ML 소비 합계 ÷ ML 방문 합계) + 기존 방문 참여 × 추가 구매 가정액",</a:t>
            </a:r>
          </a:p>
          <a:p>
            <a:r>
              <a:t>  "rate_basis": [</a:t>
            </a:r>
          </a:p>
          <a:p>
            <a:r>
              <a:t>    {</a:t>
            </a:r>
          </a:p>
          <a:p>
            <a:r>
              <a:t>      "kind": "planning_policy",</a:t>
            </a:r>
          </a:p>
          <a:p>
            <a:r>
              <a:t>      "metric": "utilization_rate",</a:t>
            </a:r>
          </a:p>
          <a:p>
            <a:r>
              <a:t>      "value": 75.0,</a:t>
            </a:r>
          </a:p>
          <a:p>
            <a:r>
              <a:t>      "target_value": 75.0,</a:t>
            </a:r>
          </a:p>
          <a:p>
            <a:r>
              <a:t>      "unit": "percent",</a:t>
            </a:r>
          </a:p>
          <a:p>
            <a:r>
              <a:t>      "floor_applied": true,</a:t>
            </a:r>
          </a:p>
          <a:p>
            <a:r>
              <a:t>      "reason": "참여 목표 75%는 공통 최소 운영 목표입니다. 사례 참여율을 인용한 값이 아닙니다."</a:t>
            </a:r>
          </a:p>
          <a:p>
            <a:r>
              <a:t>    },</a:t>
            </a:r>
          </a:p>
          <a:p>
            <a:r>
              <a:t>    {</a:t>
            </a:r>
          </a:p>
          <a:p>
            <a:r>
              <a:t>      "kind": "planning_assumption",</a:t>
            </a:r>
          </a:p>
          <a:p>
            <a:r>
              <a:t>      "metric": "additional_visitor_share",</a:t>
            </a:r>
          </a:p>
          <a:p>
            <a:r>
              <a:t>      "value": 30.0,</a:t>
            </a:r>
          </a:p>
          <a:p>
            <a:r>
              <a:t>      "unit": "percent",</a:t>
            </a:r>
          </a:p>
          <a:p>
            <a:r>
              <a:t>      "reason": "사업 규모를 검토하기 위한 공통 계획 가정"</a:t>
            </a:r>
          </a:p>
          <a:p>
            <a:r>
              <a:t>    }</a:t>
            </a:r>
          </a:p>
          <a:p>
            <a:r>
              <a:t>  ],</a:t>
            </a:r>
          </a:p>
          <a:p>
            <a:r>
              <a:t>  "scenarios": [</a:t>
            </a:r>
          </a:p>
          <a:p>
            <a:r>
              <a:t>    {</a:t>
            </a:r>
          </a:p>
          <a:p>
            <a:r>
              <a:t>      "label": "보수",</a:t>
            </a:r>
          </a:p>
          <a:p>
            <a:r>
              <a:t>      "utilization_pct": 75.0,</a:t>
            </a:r>
          </a:p>
          <a:p>
            <a:r>
              <a:t>      "additional_visitor_share_pct": 15.0,</a:t>
            </a:r>
          </a:p>
          <a:p>
            <a:r>
              <a:t>      "participants": 5400,</a:t>
            </a:r>
          </a:p>
          <a:p>
            <a:r>
              <a:t>      "additional_visitors": 810,</a:t>
            </a:r>
          </a:p>
          <a:p>
            <a:r>
              <a:t>      "additional_spending_krw": 125862254,</a:t>
            </a:r>
          </a:p>
          <a:p>
            <a:r>
              <a:t>      "visitor_growth_pct": 0.007655835235083763,</a:t>
            </a:r>
          </a:p>
          <a:p>
            <a:r>
              <a:t>      "spending_growth_pct": 0.028288811171614036,</a:t>
            </a:r>
          </a:p>
          <a:p>
            <a:r>
              <a:t>      "visitor_target_pct": 0.011617866289450964,</a:t>
            </a:r>
          </a:p>
          <a:p>
            <a:r>
              <a:t>      "spending_target_pct": 0.042485757511104685</a:t>
            </a:r>
          </a:p>
          <a:p>
            <a:r>
              <a:t>    },</a:t>
            </a:r>
          </a:p>
          <a:p>
            <a:r>
              <a:t>    {</a:t>
            </a:r>
          </a:p>
          <a:p>
            <a:r>
              <a:t>      "label": "기준",</a:t>
            </a:r>
          </a:p>
          <a:p>
            <a:r>
              <a:t>      "utilization_pct": 75.0,</a:t>
            </a:r>
          </a:p>
          <a:p>
            <a:r>
              <a:t>      "additional_visitor_share_pct": 30.0,</a:t>
            </a:r>
          </a:p>
          <a:p>
            <a:r>
              <a:t>      "participants": 5400,</a:t>
            </a:r>
          </a:p>
          <a:p>
            <a:r>
              <a:t>      "additional_visitors": 1620,</a:t>
            </a:r>
          </a:p>
          <a:p>
            <a:r>
              <a:t>      "additional_spending_krw": 143724509,</a:t>
            </a:r>
          </a:p>
          <a:p>
            <a:r>
              <a:t>      "visitor_growth_pct": 0.015311670470167526,</a:t>
            </a:r>
          </a:p>
          <a:p>
            <a:r>
              <a:t>      "spending_growth_pct": 0.032303533161212435,</a:t>
            </a:r>
          </a:p>
          <a:p>
            <a:r>
              <a:t>      "visitor_target_pct": 0.02323573257890193,</a:t>
            </a:r>
          </a:p>
          <a:p>
            <a:r>
              <a:t>      "spending_target_pct": 0.04851529703080466</a:t>
            </a:r>
          </a:p>
          <a:p>
            <a:r>
              <a:t>    },</a:t>
            </a:r>
          </a:p>
          <a:p>
            <a:r>
              <a:t>    {</a:t>
            </a:r>
          </a:p>
          <a:p>
            <a:r>
              <a:t>      "label": "확대",</a:t>
            </a:r>
          </a:p>
          <a:p>
            <a:r>
              <a:t>      "utilization_pct": 90.0,</a:t>
            </a:r>
          </a:p>
          <a:p>
            <a:r>
              <a:t>      "additional_visitor_share_pct": 44.99999999999999,</a:t>
            </a:r>
          </a:p>
          <a:p>
            <a:r>
              <a:t>      "participants": 6480,</a:t>
            </a:r>
          </a:p>
          <a:p>
            <a:r>
              <a:t>      "additional_visitors": 2915,</a:t>
            </a:r>
          </a:p>
          <a:p>
            <a:r>
              <a:t>      "additional_spending_krw": 193882063,</a:t>
            </a:r>
          </a:p>
          <a:p>
            <a:r>
              <a:t>      "visitor_growth_pct": 0.02755155519786317,</a:t>
            </a:r>
          </a:p>
          <a:p>
            <a:r>
              <a:t>      "spending_growth_pct": 0.04357694936696411,</a:t>
            </a:r>
          </a:p>
          <a:p>
            <a:r>
              <a:t>      "visitor_target_pct": 0.04180997559722168,</a:t>
            </a:r>
          </a:p>
          <a:p>
            <a:r>
              <a:t>      "spending_target_pct": 0.06544635943331129</a:t>
            </a:r>
          </a:p>
          <a:p>
            <a:r>
              <a:t>    }</a:t>
            </a:r>
          </a:p>
          <a:p>
            <a:r>
              <a:t>  ],</a:t>
            </a:r>
          </a:p>
          <a:p>
            <a:r>
              <a:t>  "central": {</a:t>
            </a:r>
          </a:p>
          <a:p>
            <a:r>
              <a:t>    "label": "기준",</a:t>
            </a:r>
          </a:p>
          <a:p>
            <a:r>
              <a:t>    "utilization_pct": 75.0,</a:t>
            </a:r>
          </a:p>
          <a:p>
            <a:r>
              <a:t>    "additional_visitor_share_pct": 30.0,</a:t>
            </a:r>
          </a:p>
          <a:p>
            <a:r>
              <a:t>    "participants": 5400,</a:t>
            </a:r>
          </a:p>
          <a:p>
            <a:r>
              <a:t>    "additional_visitors": 1620,</a:t>
            </a:r>
          </a:p>
          <a:p>
            <a:r>
              <a:t>    "additional_spending_krw": 143724509,</a:t>
            </a:r>
          </a:p>
          <a:p>
            <a:r>
              <a:t>    "visitor_growth_pct": 0.015311670470167526,</a:t>
            </a:r>
          </a:p>
          <a:p>
            <a:r>
              <a:t>    "spending_growth_pct": 0.032303533161212435,</a:t>
            </a:r>
          </a:p>
          <a:p>
            <a:r>
              <a:t>    "visitor_target_pct": 0.02323573257890193,</a:t>
            </a:r>
          </a:p>
          <a:p>
            <a:r>
              <a:t>    "spending_target_pct": 0.04851529703080466</a:t>
            </a:r>
          </a:p>
          <a:p>
            <a:r>
              <a:t>  },</a:t>
            </a:r>
          </a:p>
          <a:p>
            <a:r>
              <a:t>  "participation_basis": "참여 목표 75%는 공통 최소 운영 목표입니다. 사례 참여율을 인용한 값이 아닙니다.",</a:t>
            </a:r>
          </a:p>
          <a:p>
            <a:r>
              <a:t>  "minimum_participation_pct": 75.0,</a:t>
            </a:r>
          </a:p>
          <a:p>
            <a:r>
              <a:t>  "case_sources": [</a:t>
            </a:r>
          </a:p>
          <a:p>
            <a:r>
              <a:t>    {</a:t>
            </a:r>
          </a:p>
          <a:p>
            <a:r>
              <a:t>      "source_id": "case:festival:01474ef75569b1",</a:t>
            </a:r>
          </a:p>
          <a:p>
            <a:r>
              <a:t>      "title": "한국관광 데이터랩 · 문경찻사발축제 방문자 추이",</a:t>
            </a:r>
          </a:p>
          <a:p>
            <a:r>
              <a:t>      "source_url": "https://datalab.visitkorea.or.kr/",</a:t>
            </a:r>
          </a:p>
          <a:p>
            <a:r>
              <a:t>      "operating_model": "문경찻사발축제를 2025년 9일 개최한 문화관광축제 운영 사례. 세부 프로그램·예약·혜택은 이 CSV에 기록되어 있지 않으며 새로운 운영안은 제안으로 구분한다.",</a:t>
            </a:r>
          </a:p>
          <a:p>
            <a:r>
              <a:t>      "observed_result": "2024→2025년 전체 245,750→256,570명 (+4.40%). 개최 10→9일, 일평균 +16.00%, 외지인 +9.28%."</a:t>
            </a:r>
          </a:p>
          <a:p>
            <a:r>
              <a:t>    }</a:t>
            </a:r>
          </a:p>
          <a:p>
            <a:r>
              <a:t>  ],</a:t>
            </a:r>
          </a:p>
          <a:p>
            <a:r>
              <a:t>  "explanation": "지역 체험 상품: 6개 × 월 8일 × 3개월 × 하루 2회 × 회당 25명 = 7,200명분. 편성 한도 7,200명분에 이용률 75%를 적용해 5,400명 참여, 추가 방문 비중 30%로 1,620명 유치를 제안합니다. 기간 합계 ML 전망 대비 방문 +0.02%, 소비 +0.03%의 계획 시나리오입니다. 참여 목표 75%는 공통 최소 운영 목표입니다. 사례 참여율을 인용한 값이 아닙니다.",</a:t>
            </a:r>
          </a:p>
          <a:p>
            <a:r>
              <a:t>  "disclosure": "보수·기준·확대는 이용률과 추가 방문 비중을 ±15%p 바꾼 계획 범위이며 통계적 오차범위가 아닙니다. 참여 목표는 75~100% 안에서 적용합니다. 거점 수는 운영 제안이며 소비/방문 비율은 실측 객단가가 아닙니다.",</a:t>
            </a:r>
          </a:p>
          <a:p>
            <a:r>
              <a:t>  "budget_cap_krw": null,</a:t>
            </a:r>
          </a:p>
          <a:p>
            <a:r>
              <a:t>  "capacity_reduced": false,</a:t>
            </a:r>
          </a:p>
          <a:p>
            <a:r>
              <a:t>  "estimate": {</a:t>
            </a:r>
          </a:p>
          <a:p>
            <a:r>
              <a:t>    "version": "operating-capacity-v2-participation-floor",</a:t>
            </a:r>
          </a:p>
          <a:p>
            <a:r>
              <a:t>    "status": "planning_assumption_not_quote",</a:t>
            </a:r>
          </a:p>
          <a:p>
            <a:r>
              <a:t>    "scale_basis": "6개 × 월 8일 × 3개월 × 하루 2회 × 회당 25명 = 7,200명분 → 편성 참여 한도 7,200건. 모든 단가는 기획 가정.",</a:t>
            </a:r>
          </a:p>
          <a:p>
            <a:r>
              <a:t>    "months": 3,</a:t>
            </a:r>
          </a:p>
          <a:p>
            <a:r>
              <a:t>    "refund": false,</a:t>
            </a:r>
          </a:p>
          <a:p>
            <a:r>
              <a:t>    "quantity": 7200,</a:t>
            </a:r>
          </a:p>
          <a:p>
            <a:r>
              <a:t>    "unit_krw": 15000,</a:t>
            </a:r>
          </a:p>
          <a:p>
            <a:r>
              <a:t>    "redemption_target_pct": 75.0,</a:t>
            </a:r>
          </a:p>
          <a:p>
            <a:r>
              <a:t>    "redemption_count": 5400,</a:t>
            </a:r>
          </a:p>
          <a:p>
            <a:r>
              <a:t>    "qualifying_spend_krw": null,</a:t>
            </a:r>
          </a:p>
          <a:p>
            <a:r>
              <a:t>    "subtotal_krw": 145600000,</a:t>
            </a:r>
          </a:p>
          <a:p>
            <a:r>
              <a:t>    "reserve_krw": 14560000,</a:t>
            </a:r>
          </a:p>
          <a:p>
            <a:r>
              <a:t>    "total_krw": 160160000,</a:t>
            </a:r>
          </a:p>
          <a:p>
            <a:r>
              <a:t>    "within_hard_budget": true,</a:t>
            </a:r>
          </a:p>
          <a:p>
            <a:r>
              <a:t>    "items": [</a:t>
            </a:r>
          </a:p>
          <a:p>
            <a:r>
              <a:t>      {</a:t>
            </a:r>
          </a:p>
          <a:p>
            <a:r>
              <a:t>        "name": "프로그램 운영·참여 지원",</a:t>
            </a:r>
          </a:p>
          <a:p>
            <a:r>
              <a:t>        "basis": "편성 참여 한도 7,200건 × 가정 단가 15,000원",</a:t>
            </a:r>
          </a:p>
          <a:p>
            <a:r>
              <a:t>        "amount": 108000000</a:t>
            </a:r>
          </a:p>
          <a:p>
            <a:r>
              <a:t>      },</a:t>
            </a:r>
          </a:p>
          <a:p>
            <a:r>
              <a:t>      {</a:t>
            </a:r>
          </a:p>
          <a:p>
            <a:r>
              <a:t>        "name": "현장 운영·정산",</a:t>
            </a:r>
          </a:p>
          <a:p>
            <a:r>
              <a:t>        "basis": "6개 거점 × 월 8일 × 3개월 × 150,000원",</a:t>
            </a:r>
          </a:p>
          <a:p>
            <a:r>
              <a:t>        "amount": 21600000</a:t>
            </a:r>
          </a:p>
          <a:p>
            <a:r>
              <a:t>      },</a:t>
            </a:r>
          </a:p>
          <a:p>
            <a:r>
              <a:t>      {</a:t>
            </a:r>
          </a:p>
          <a:p>
            <a:r>
              <a:t>        "name": "신청·운영 시스템",</a:t>
            </a:r>
          </a:p>
          <a:p>
            <a:r>
              <a:t>        "basis": "기존 수단 설정 1식 × 가정 단가 8,000,000원",</a:t>
            </a:r>
          </a:p>
          <a:p>
            <a:r>
              <a:t>        "amount": 8000000</a:t>
            </a:r>
          </a:p>
          <a:p>
            <a:r>
              <a:t>      },</a:t>
            </a:r>
          </a:p>
          <a:p>
            <a:r>
              <a:t>      {</a:t>
            </a:r>
          </a:p>
          <a:p>
            <a:r>
              <a:t>        "name": "홍보·참여처 안내",</a:t>
            </a:r>
          </a:p>
          <a:p>
            <a:r>
              <a:t>        "basis": "안내 콘텐츠 1식 × 가정 단가 5,000,000원",</a:t>
            </a:r>
          </a:p>
          <a:p>
            <a:r>
              <a:t>        "amount": 5000000</a:t>
            </a:r>
          </a:p>
          <a:p>
            <a:r>
              <a:t>      },</a:t>
            </a:r>
          </a:p>
          <a:p>
            <a:r>
              <a:t>      {</a:t>
            </a:r>
          </a:p>
          <a:p>
            <a:r>
              <a:t>        "name": "성과 집계·검토",</a:t>
            </a:r>
          </a:p>
          <a:p>
            <a:r>
              <a:t>        "basis": "실적 정리 1식 × 가정 단가 3,000,000원",</a:t>
            </a:r>
          </a:p>
          <a:p>
            <a:r>
              <a:t>        "amount": 3000000</a:t>
            </a:r>
          </a:p>
          <a:p>
            <a:r>
              <a:t>      },</a:t>
            </a:r>
          </a:p>
          <a:p>
            <a:r>
              <a:t>      {</a:t>
            </a:r>
          </a:p>
          <a:p>
            <a:r>
              <a:t>        "name": "예비비",</a:t>
            </a:r>
          </a:p>
          <a:p>
            <a:r>
              <a:t>        "basis": "직접비 145,600,000원 × 10%",</a:t>
            </a:r>
          </a:p>
          <a:p>
            <a:r>
              <a:t>        "amount": 14560000</a:t>
            </a:r>
          </a:p>
          <a:p>
            <a:r>
              <a:t>      }</a:t>
            </a:r>
          </a:p>
          <a:p>
            <a:r>
              <a:t>    ],</a:t>
            </a:r>
          </a:p>
          <a:p>
            <a:r>
              <a:t>    "sources": [],</a:t>
            </a:r>
          </a:p>
          <a:p>
            <a:r>
              <a:t>    "assumptions": [</a:t>
            </a:r>
          </a:p>
          <a:p>
            <a:r>
              <a:t>      "기획용 예상 견적이며 실제 액수와 다를 수 있습니다."</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4.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isum.incheon.go.kr/theme/themeContent.do?key=2407020018" TargetMode="External"/><Relationship Id="rId6" Type="http://schemas.openxmlformats.org/officeDocument/2006/relationships/hyperlink" Target="https://datalab.visitkorea.or.k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isum.incheon.go.kr/theme/themeContent.do?key=2407020018" TargetMode="External"/></Relationships>
</file>

<file path=ppt/slides/_rels/slide6.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0.xml"/><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14.xml"/></Relationships>
</file>

<file path=ppt/slides/_rels/slide9.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notesSlide" Target="../notesSlides/notesSlide15.xml"/><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20.png"/><Relationship Id="rId14" Type="http://schemas.openxmlformats.org/officeDocument/2006/relationships/image" Target="../media/image21.png"/><Relationship Id="rId15" Type="http://schemas.openxmlformats.org/officeDocument/2006/relationships/image" Target="../media/image22.png"/><Relationship Id="rId16" Type="http://schemas.openxmlformats.org/officeDocument/2006/relationships/image" Target="../media/image23.png"/><Relationship Id="rId17" Type="http://schemas.openxmlformats.org/officeDocument/2006/relationships/image" Target="../media/image24.png"/><Relationship Id="rId18" Type="http://schemas.openxmlformats.org/officeDocument/2006/relationships/image" Target="../media/image25.png"/><Relationship Id="rId19" Type="http://schemas.openxmlformats.org/officeDocument/2006/relationships/image" Target="../media/image26.png"/><Relationship Id="rId20" Type="http://schemas.openxmlformats.org/officeDocument/2006/relationships/image" Target="../media/image27.png"/><Relationship Id="rId21" Type="http://schemas.openxmlformats.org/officeDocument/2006/relationships/image" Target="../media/image28.png"/><Relationship Id="rId22" Type="http://schemas.openxmlformats.org/officeDocument/2006/relationships/image" Target="../media/image29.png"/><Relationship Id="rId23" Type="http://schemas.openxmlformats.org/officeDocument/2006/relationships/image" Target="../media/image30.png"/><Relationship Id="rId24" Type="http://schemas.openxmlformats.org/officeDocument/2006/relationships/image" Target="../media/image31.png"/><Relationship Id="rId25" Type="http://schemas.openxmlformats.org/officeDocument/2006/relationships/image" Target="../media/image32.png"/><Relationship Id="rId26" Type="http://schemas.openxmlformats.org/officeDocument/2006/relationships/image" Target="../media/image33.png"/></Relationships>
</file>

<file path=ppt/slides/_rels/slide13.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apis.data.go.kr/B551011/KorService2" TargetMode="External"/><Relationship Id="rId5"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5.jpg"/><Relationship Id="rId4" Type="http://schemas.openxmlformats.org/officeDocument/2006/relationships/hyperlink" Target="https://apis.data.go.kr/B551011/KorService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hyperlink" Target="https://datalab.visitkorea.or.kr/" TargetMode="Externa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17.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203B4B"/>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t="7835" b="7835"/>
          <a:stretch>
            <a:fillRect/>
          </a:stretch>
        </p:blipFill>
        <p:spPr>
          <a:xfrm>
            <a:off x="0" y="0"/>
            <a:ext cx="15240000" cy="8572500"/>
          </a:xfrm>
          <a:prstGeom prst="rect">
            <a:avLst/>
          </a:prstGeom>
        </p:spPr>
      </p:pic>
      <p:sp xmlns:a="http://schemas.openxmlformats.org/drawingml/2006/main">
        <p:nvSpPr>
          <p:cNvPr id="14" name="cover-photo-blend"/>
          <p:cNvSpPr/>
          <p:nvPr/>
        </p:nvSpPr>
        <p:spPr>
          <a:xfrm>
            <a:off x="0" y="0"/>
            <a:ext cx="15240000" cy="8572500"/>
          </a:xfrm>
          <a:prstGeom prst="rect">
            <a:avLst/>
          </a:prstGeom>
          <a:gradFill rotWithShape="1">
            <a:gsLst>
              <a:gs pos="0">
                <a:srgbClr val="203B4B">
                  <a:alpha val="100000"/>
                </a:srgbClr>
              </a:gs>
              <a:gs pos="40000">
                <a:srgbClr val="203B4B">
                  <a:alpha val="98000"/>
                </a:srgbClr>
              </a:gs>
              <a:gs pos="64000">
                <a:srgbClr val="203B4B">
                  <a:alpha val="75000"/>
                </a:srgbClr>
              </a:gs>
              <a:gs pos="82000">
                <a:srgbClr val="203B4B">
                  <a:alpha val="24000"/>
                </a:srgbClr>
              </a:gs>
              <a:gs pos="100000">
                <a:srgbClr val="203B4B">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ver-top-rule"/>
          <p:cNvSpPr/>
          <p:nvPr/>
        </p:nvSpPr>
        <p:spPr>
          <a:xfrm>
            <a:off x="762000" y="7810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출력 점검용 문화 체험 축제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2026.09.16</a:t>
            </a:r>
          </a:p>
        </p:txBody>
      </p:sp>
      <p:sp xmlns:a="http://schemas.openxmlformats.org/drawingml/2006/main">
        <p:nvSpPr>
          <p:cNvPr id="10" name="cover-province-ribbon"/>
          <p:cNvSpPr/>
          <p:nvPr/>
        </p:nvSpPr>
        <p:spPr>
          <a:xfrm>
            <a:off x="0" y="1866900"/>
            <a:ext cx="8953500" cy="685800"/>
          </a:xfrm>
          <a:prstGeom prst="rect">
            <a:avLst/>
          </a:prstGeom>
          <a:gradFill rotWithShape="1">
            <a:gsLst>
              <a:gs pos="0">
                <a:srgbClr val="DBE8EC">
                  <a:alpha val="13000"/>
                </a:srgbClr>
              </a:gs>
              <a:gs pos="60000">
                <a:srgbClr val="DBE8EC">
                  <a:alpha val="8000"/>
                </a:srgbClr>
              </a:gs>
              <a:gs pos="100000">
                <a:srgbClr val="DBE8EC">
                  <a:alpha val="0"/>
                </a:srgbClr>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FFFF"/>
                </a:solidFill>
                <a:latin typeface="Noto Sans KR"/>
              </a:rPr>
              <a:t>제주특별자치도</a:t>
            </a:r>
          </a:p>
        </p:txBody>
      </p:sp>
      <p:sp xmlns:a="http://schemas.openxmlformats.org/drawingml/2006/main">
        <p:nvSpPr>
          <p:cNvPr id="11" name="cover-title-rule"/>
          <p:cNvSpPr/>
          <p:nvPr/>
        </p:nvSpPr>
        <p:spPr>
          <a:xfrm>
            <a:off x="762000" y="4286250"/>
            <a:ext cx="1619250" cy="38100"/>
          </a:xfrm>
          <a:prstGeom prst="rect">
            <a:avLst/>
          </a:prstGeom>
          <a:solidFill>
            <a:srgbClr val="A9D7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47" t="0" r="347" b="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참고 이미지 · 실제 장소 사진 아님</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03 / 17</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경상북도 문경시 · 문경찻사발축제</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문경찻사발축제를 2025년 9일 개최한</a:t>
            </a:r>
          </a:p>
          <a:p>
            <a:pPr eaLnBrk="0">
              <a:lnSpc>
                <a:spcPts val="1875"/>
              </a:lnSpc>
              <a:spcBef>
                <a:spcPts val="0"/>
              </a:spcBef>
              <a:spcAft>
                <a:spcPts val="0"/>
              </a:spcAft>
            </a:pPr>
            <a:r>
              <a:rPr sz="1500" b="0">
                <a:solidFill>
                  <a:srgbClr val="62666C"/>
                </a:solidFill>
                <a:latin typeface="Century Gothic"/>
                <a:ea typeface="맑은 고딕"/>
              </a:rPr>
              <a:t>문화관광축제 운영 사례. 세부</a:t>
            </a:r>
          </a:p>
          <a:p>
            <a:pPr eaLnBrk="0">
              <a:lnSpc>
                <a:spcPts val="1875"/>
              </a:lnSpc>
              <a:spcBef>
                <a:spcPts val="0"/>
              </a:spcBef>
              <a:spcAft>
                <a:spcPts val="0"/>
              </a:spcAft>
            </a:pPr>
            <a:r>
              <a:rPr sz="1500" b="0">
                <a:solidFill>
                  <a:srgbClr val="62666C"/>
                </a:solidFill>
                <a:latin typeface="Century Gothic"/>
                <a:ea typeface="맑은 고딕"/>
              </a:rPr>
              <a:t>프로그램·예약·혜택은 이 CSV에 기록되어</a:t>
            </a:r>
          </a:p>
          <a:p>
            <a:pPr eaLnBrk="0">
              <a:lnSpc>
                <a:spcPts val="1875"/>
              </a:lnSpc>
              <a:spcBef>
                <a:spcPts val="0"/>
              </a:spcBef>
              <a:spcAft>
                <a:spcPts val="0"/>
              </a:spcAft>
            </a:pPr>
            <a:r>
              <a:rPr sz="1500" b="0">
                <a:solidFill>
                  <a:srgbClr val="62666C"/>
                </a:solidFill>
                <a:latin typeface="Century Gothic"/>
                <a:ea typeface="맑은 고딕"/>
              </a:rPr>
              <a:t>있지 않으며 새로운 운영안은</a:t>
            </a:r>
          </a:p>
          <a:p>
            <a:pPr eaLnBrk="0">
              <a:lnSpc>
                <a:spcPts val="1875"/>
              </a:lnSpc>
              <a:spcBef>
                <a:spcPts val="0"/>
              </a:spcBef>
              <a:spcAft>
                <a:spcPts val="0"/>
              </a:spcAft>
            </a:pPr>
            <a:r>
              <a:rPr sz="1500" b="0">
                <a:solidFill>
                  <a:srgbClr val="62666C"/>
                </a:solidFill>
                <a:latin typeface="Century Gothic"/>
                <a:ea typeface="맑은 고딕"/>
              </a:rPr>
              <a:t>제안으로 구분한다.</a:t>
            </a:r>
          </a:p>
        </p:txBody>
      </p:sp>
      <p:pic xmlns:a="http://schemas.openxmlformats.org/drawingml/2006/main" xmlns:r="http://schemas.openxmlformats.org/officeDocument/2006/relationships">
        <p:nvPicPr>
          <p:cNvPr id="12" name="case-photo-0" descr="incheon_official.jpg"/>
          <p:cNvPicPr>
            <a:picLocks noChangeAspect="1"/>
          </p:cNvPicPr>
          <p:nvPr/>
        </p:nvPicPr>
        <p:blipFill>
          <a:blip r:embed="rId4"/>
          <a:stretch>
            <a:fillRect/>
          </a:stretch>
        </p:blipFill>
        <p:spPr>
          <a:xfrm>
            <a:off x="1598640" y="5457825"/>
            <a:ext cx="3051119"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관광 참고 이미지 · 인천 섬 · 로컬체험 여행 소개 사진</a:t>
            </a:r>
          </a:p>
          <a:p>
            <a:pPr eaLnBrk="0">
              <a:lnSpc>
                <a:spcPts val="1406"/>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인천광역시 섬포털</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6"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17"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04 / 17</a:t>
            </a:r>
          </a:p>
        </p:txBody>
      </p:sp>
    </p:spTree>
    <p:extLst>
      <p:ext uri="{BB962C8B-B14F-4D97-AF65-F5344CB8AC3E}">
        <p14:creationId xmlns:p14="http://schemas.microsoft.com/office/powerpoint/2010/main" val="930694367"/>
      </p:ext>
    </p:extLst>
  </p:cSld>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경상북도 문경시 · 문경찻사발축제</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관광데이터랩 축제 관측구역의 개최기간 방문 실적</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incheon_official.jpg"/>
          <p:cNvPicPr>
            <a:picLocks noChangeAspect="1"/>
          </p:cNvPicPr>
          <p:nvPr/>
        </p:nvPicPr>
        <p:blipFill>
          <a:blip r:embed="rId3"/>
          <a:stretch>
            <a:fillRect/>
          </a:stretch>
        </p:blipFill>
        <p:spPr>
          <a:xfrm>
            <a:off x="1009650" y="3146640"/>
            <a:ext cx="5581650" cy="3136468"/>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축제 관측구역 전체 방문자</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10일</a:t>
            </a:r>
          </a:p>
        </p:txBody>
      </p:sp>
      <p:sp>
        <p:nvSpPr>
          <p:cNvPr id="11" name="result-bar-0"/>
          <p:cNvSpPr/>
          <p:nvPr/>
        </p:nvSpPr>
        <p:spPr>
          <a:xfrm>
            <a:off x="7172325" y="3886200"/>
            <a:ext cx="4379191"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24.6만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2025년 · 9일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25.7만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1.1만 명 | +4.40%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(25.657만 − 24.575만) ÷ 24.575만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외지인 179,998명 / 외지인 196,700명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문경찻사발축제 · 10일→9일 개최</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일평균 방문 +16.00%. 행사 방문 실적이며 도시 전체 순증·사업 단독 효과가 아닙니다.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05 / 17</a:t>
            </a:r>
          </a:p>
        </p:txBody>
      </p:sp>
      <p:sp>
        <p:nvSpPr>
          <p:cNvPr id="26" name="result-photo-source-bg"/>
          <p:cNvSpPr/>
          <p:nvPr/>
        </p:nvSpPr>
        <p:spPr>
          <a:xfrm>
            <a:off x="1123950" y="5597308"/>
            <a:ext cx="535305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238250" y="5635408"/>
            <a:ext cx="51244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관광 참고 이미지 · 인천 섬 · 로컬체험 여행 소개 사진</a:t>
            </a:r>
          </a:p>
          <a:p>
            <a:pPr eaLnBrk="0" algn="ctr">
              <a:lnSpc>
                <a:spcPts val="1593"/>
              </a:lnSpc>
              <a:spcBef>
                <a:spcPts val="0"/>
              </a:spcBef>
              <a:spcAft>
                <a:spcPts val="0"/>
              </a:spcAft>
            </a:pPr>
            <a:r>
              <a:rPr sz="1275" b="0">
                <a:solidFill>
                  <a:srgbClr val="FFFFFF"/>
                </a:solidFill>
                <a:latin typeface="Noto Sans KR"/>
              </a:rPr>
              <a:t>출처: 인천광역시 섬포털</a:t>
            </a:r>
          </a:p>
        </p:txBody>
      </p:sp>
    </p:spTree>
  </p:cSld>
  <p:clrMapOvr>
    <a:masterClrMapping/>
  </p:clrMapOvr>
</p:sld>
</file>

<file path=ppt/slides/slide6.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문화 체험 축제를 지역 자원과 연계하는</a:t>
            </a:r>
          </a:p>
          <a:p>
            <a:pPr eaLnBrk="0">
              <a:lnSpc>
                <a:spcPts val="2156"/>
              </a:lnSpc>
              <a:spcBef>
                <a:spcPts val="0"/>
              </a:spcBef>
              <a:spcAft>
                <a:spcPts val="0"/>
              </a:spcAft>
            </a:pPr>
            <a:r>
              <a:rPr sz="1725" b="0">
                <a:solidFill>
                  <a:srgbClr val="202124"/>
                </a:solidFill>
                <a:latin typeface="Noto Sans KR"/>
              </a:rPr>
              <a:t>출력 점검용 예시</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1,058만 명</a:t>
            </a:r>
          </a:p>
          <a:p>
            <a:pPr eaLnBrk="0">
              <a:lnSpc>
                <a:spcPts val="2156"/>
              </a:lnSpc>
              <a:spcBef>
                <a:spcPts val="0"/>
              </a:spcBef>
              <a:spcAft>
                <a:spcPts val="0"/>
              </a:spcAft>
            </a:pPr>
            <a:r>
              <a:rPr sz="1725" b="0">
                <a:solidFill>
                  <a:srgbClr val="202124"/>
                </a:solidFill>
                <a:latin typeface="Noto Sans KR"/>
              </a:rPr>
              <a:t>관광소비액 4,451억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06 / 17</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 목표: ML 전망 대비 방문자 +1,620명, 관광소비액 약 +1억 4,372만 원</a:t>
            </a:r>
          </a:p>
        </p:txBody>
      </p:sp>
    </p:spTree>
    <p:extLst>
      <p:ext uri="{BB962C8B-B14F-4D97-AF65-F5344CB8AC3E}">
        <p14:creationId xmlns:p14="http://schemas.microsoft.com/office/powerpoint/2010/main" val="380383987"/>
      </p:ext>
    </p:extLst>
  </p:cSld>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619500"/>
            <a:ext cx="6648450" cy="131445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제주특별자치도 제주시의 3개월 운영안</a:t>
            </a:r>
          </a:p>
          <a:p>
            <a:pPr eaLnBrk="0">
              <a:lnSpc>
                <a:spcPts val="2437"/>
              </a:lnSpc>
              <a:spcBef>
                <a:spcPts val="0"/>
              </a:spcBef>
              <a:spcAft>
                <a:spcPts val="0"/>
              </a:spcAft>
            </a:pPr>
            <a:r>
              <a:rPr sz="1950" b="0">
                <a:solidFill>
                  <a:srgbClr val="62666C"/>
                </a:solidFill>
                <a:latin typeface="Noto Sans KR"/>
              </a:rPr>
              <a:t>사업기간 2026.10 ~ 2026.12</a:t>
            </a:r>
          </a:p>
          <a:p>
            <a:pPr eaLnBrk="0">
              <a:lnSpc>
                <a:spcPts val="2437"/>
              </a:lnSpc>
              <a:spcBef>
                <a:spcPts val="0"/>
              </a:spcBef>
              <a:spcAft>
                <a:spcPts val="0"/>
              </a:spcAft>
            </a:pPr>
            <a:r>
              <a:rPr sz="1950" b="0">
                <a:solidFill>
                  <a:srgbClr val="62666C"/>
                </a:solidFill>
                <a:latin typeface="Noto Sans KR"/>
              </a:rPr>
              <a:t>편성 정원 7,200명분 × 이용률 75%</a:t>
            </a:r>
          </a:p>
          <a:p>
            <a:pPr eaLnBrk="0">
              <a:lnSpc>
                <a:spcPts val="2437"/>
              </a:lnSpc>
              <a:spcBef>
                <a:spcPts val="0"/>
              </a:spcBef>
              <a:spcAft>
                <a:spcPts val="0"/>
              </a:spcAft>
            </a:pPr>
            <a:r>
              <a:rPr sz="1950" b="0">
                <a:solidFill>
                  <a:srgbClr val="62666C"/>
                </a:solidFill>
                <a:latin typeface="Noto Sans KR"/>
              </a:rPr>
              <a:t>예상 참여 5,400명 중 추가 방문 30% 가정</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추가 방문 목표 1,620명</a:t>
            </a:r>
          </a:p>
        </p:txBody>
      </p:sp>
      <p:sp>
        <p:nvSpPr>
          <p:cNvPr id="10" name="kpi-step-explanation"/>
          <p:cNvSpPr txBox="1"/>
          <p:nvPr/>
        </p:nvSpPr>
        <p:spPr>
          <a:xfrm>
            <a:off x="1200150" y="6448425"/>
            <a:ext cx="6391275" cy="9810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운영 정원 = 6개 거점 × 월 8일 × 3개월</a:t>
            </a:r>
          </a:p>
          <a:p>
            <a:pPr eaLnBrk="0">
              <a:lnSpc>
                <a:spcPts val="2062"/>
              </a:lnSpc>
              <a:spcBef>
                <a:spcPts val="0"/>
              </a:spcBef>
              <a:spcAft>
                <a:spcPts val="0"/>
              </a:spcAft>
            </a:pPr>
            <a:r>
              <a:rPr sz="1650" b="0">
                <a:solidFill>
                  <a:srgbClr val="62666C"/>
                </a:solidFill>
                <a:latin typeface="Noto Sans KR"/>
              </a:rPr>
              <a:t>× 하루 2회 × 회당 25명 = 7,200명분</a:t>
            </a:r>
          </a:p>
          <a:p>
            <a:pPr eaLnBrk="0">
              <a:lnSpc>
                <a:spcPts val="2062"/>
              </a:lnSpc>
              <a:spcBef>
                <a:spcPts val="0"/>
              </a:spcBef>
              <a:spcAft>
                <a:spcPts val="0"/>
              </a:spcAft>
            </a:pPr>
            <a:r>
              <a:rPr sz="1650" b="0">
                <a:solidFill>
                  <a:srgbClr val="62666C"/>
                </a:solidFill>
                <a:latin typeface="Noto Sans KR"/>
              </a:rPr>
              <a:t>운영량은 기획 가정이며 참여 비율의 근거는 다음 장에 표시합니다.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1,620명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+0.02%</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1.44억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+0.03%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07 / 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경상북도 문경시 · 문경찻사발축제</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문경찻사발축제를 2025년 9일 개최한 문화관광축제 운영</a:t>
                      </a:r>
                    </a:p>
                    <a:p>
                      <a:pPr eaLnBrk="0">
                        <a:lnSpc>
                          <a:spcPct val="112000"/>
                        </a:lnSpc>
                        <a:spcBef>
                          <a:spcPts val="0"/>
                        </a:spcBef>
                        <a:spcAft>
                          <a:spcPts val="0"/>
                        </a:spcAft>
                      </a:pPr>
                      <a:r>
                        <a:rPr sz="1575" b="0">
                          <a:solidFill>
                            <a:srgbClr val="202124"/>
                          </a:solidFill>
                          <a:latin typeface="Noto Sans KR"/>
                        </a:rPr>
                        <a:t>사례. 세부 프로그램·예약·혜택은 이 CSV에 기록되어 있지</a:t>
                      </a:r>
                    </a:p>
                    <a:p>
                      <a:pPr eaLnBrk="0">
                        <a:lnSpc>
                          <a:spcPct val="112000"/>
                        </a:lnSpc>
                        <a:spcBef>
                          <a:spcPts val="0"/>
                        </a:spcBef>
                        <a:spcAft>
                          <a:spcPts val="0"/>
                        </a:spcAft>
                      </a:pPr>
                      <a:r>
                        <a:rPr sz="1575" b="0">
                          <a:solidFill>
                            <a:srgbClr val="202124"/>
                          </a:solidFill>
                          <a:latin typeface="Noto Sans KR"/>
                        </a:rPr>
                        <a:t>않으며 새로운 운영안은 제안으로 구분한다.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입력 예산 총액 안에서 참여량과 운영 인력을 배분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90487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문화 체험 축제를 지역 자원과 연계하는 출력 점검용 예시</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한국관광 데이터랩 · 문경찻사발축제 방문자 추이</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10 / 17</a:t>
            </a:r>
          </a:p>
        </p:txBody>
      </p:sp>
    </p:spTree>
  </p:cSld>
  <p:clrMapOvr>
    <a:masterClrMapping/>
  </p:clrMapOvr>
</p:sld>
</file>

<file path=ppt/slides/slide9.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11 / 17</a:t>
            </a:r>
          </a:p>
        </p:txBody>
      </p:sp>
    </p:spTree>
    <p:extLst>
      <p:ext uri="{BB962C8B-B14F-4D97-AF65-F5344CB8AC3E}">
        <p14:creationId xmlns:p14="http://schemas.microsoft.com/office/powerpoint/2010/main" val="380383987"/>
      </p:ext>
    </p:extLst>
  </p:cSld>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3,615,342명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280명 · 0.01%</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3,594,867명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557명 · 0.02%</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3,371,576명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783명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10,581,785명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1,620명 · 0.02%</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1,620명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1,504.91억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2,433만 원 · 0.02%</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1,451.32억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4,693만 원 · 0.03%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1,494.39억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7,247만 원 · 0.05%</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4,450.63억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1.44억 원 · 0.03%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1.44억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목표 = 해당 월 ML 전망 × (1 + 최종월 목표율 × 경과 월 수 ÷ 전체 월 수). 방문·소비 목표율은 각각 적용합니다.</a:t>
            </a:r>
          </a:p>
          <a:p>
            <a:pPr eaLnBrk="0">
              <a:lnSpc>
                <a:spcPts val="1687"/>
              </a:lnSpc>
              <a:spcBef>
                <a:spcPts val="0"/>
              </a:spcBef>
              <a:spcAft>
                <a:spcPts val="0"/>
              </a:spcAft>
            </a:pPr>
            <a:r>
              <a:rPr sz="1350" b="0">
                <a:solidFill>
                  <a:srgbClr val="62666C"/>
                </a:solidFill>
                <a:latin typeface="Noto Sans KR"/>
              </a:rPr>
              <a:t>합계 증가율 = (목표 합계 ÷ ML 합계 − 1) × 100. 방문 합계는 월 간 중복을 포함하며, 보장된 사업 효과가 아닙니다.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12 / 17</a:t>
            </a:r>
          </a:p>
        </p:txBody>
      </p:sp>
    </p:spTree>
    <p:extLst>
      <p:ext uri="{BB962C8B-B14F-4D97-AF65-F5344CB8AC3E}">
        <p14:creationId xmlns:p14="http://schemas.microsoft.com/office/powerpoint/2010/main" val="553742078"/>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16,016만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프로그램 운영·참여 지원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108,000,000원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편성 참여 한도 7,200건 × 가정 단가 15,000원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21,600,000원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6개 거점 × 월 8일 × 3개월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신청·운영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수단 설정 1식 × 가정 단가 8,000,000원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안내 콘텐츠 1식 × 가정 단가 5,000,000원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실적 정리 1식 × 가정 단가 3,000,000원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14,560,000원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145,600,000원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6개 × 월 8일 × 3개월 × 하루 2회 × 회당 25명 = 7,200명분 → 편성 참여 한도 7,200건. 모든 단가는 기획 가정.</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13 / 17</a:t>
            </a:r>
          </a:p>
        </p:txBody>
      </p:sp>
    </p:spTree>
    <p:extLst>
      <p:ext uri="{BB962C8B-B14F-4D97-AF65-F5344CB8AC3E}">
        <p14:creationId xmlns:p14="http://schemas.microsoft.com/office/powerpoint/2010/main" val="1823133345"/>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14 / 17</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15 / 17</a:t>
            </a:r>
          </a:p>
        </p:txBody>
      </p:sp>
    </p:spTree>
    <p:extLst>
      <p:ext uri="{BB962C8B-B14F-4D97-AF65-F5344CB8AC3E}">
        <p14:creationId xmlns:p14="http://schemas.microsoft.com/office/powerpoint/2010/main" val="930694367"/>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D51 한국관광 데이터랩 · 탐라문화제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D52 한국관광 데이터랩 · 문경찻사발축제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D53 한국관광 데이터랩 · 안동탈춤축제 방문자</a:t>
            </a:r>
          </a:p>
          <a:p>
            <a:pPr eaLnBrk="0">
              <a:lnSpc>
                <a:spcPts val="1265"/>
              </a:lnSpc>
              <a:spcBef>
                <a:spcPts val="0"/>
              </a:spcBef>
              <a:spcAft>
                <a:spcPts val="0"/>
              </a:spcAft>
            </a:pPr>
            <a:r>
              <a:rPr sz="1012" b="0" u="none">
                <a:solidFill>
                  <a:srgbClr val="62666C"/>
                </a:solidFill>
                <a:latin typeface="Noto Sans KR"/>
                <a:hlinkClick r:id="rId2"/>
              </a:rPr>
              <a:t>추이 datalab.visitkorea.or.kr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공식 사례·문서 D54 한국관광 데이터랩 · 진도신비의바닷길축제</a:t>
            </a:r>
          </a:p>
          <a:p>
            <a:pPr eaLnBrk="0">
              <a:lnSpc>
                <a:spcPts val="1265"/>
              </a:lnSpc>
              <a:spcBef>
                <a:spcPts val="0"/>
              </a:spcBef>
              <a:spcAft>
                <a:spcPts val="0"/>
              </a:spcAft>
            </a:pPr>
            <a:r>
              <a:rPr sz="1012" b="0" u="none">
                <a:solidFill>
                  <a:srgbClr val="62666C"/>
                </a:solidFill>
                <a:latin typeface="Noto Sans KR"/>
                <a:hlinkClick r:id="rId2"/>
              </a:rPr>
              <a:t>방문자 추이 datalab.visitkorea.or.kr</a:t>
            </a:r>
          </a:p>
        </p:txBody>
      </p:sp>
      <p:sp>
        <p:nvSpPr>
          <p:cNvPr id="18" name="reference-13"/>
          <p:cNvSpPr txBox="1"/>
          <p:nvPr/>
        </p:nvSpPr>
        <p:spPr>
          <a:xfrm>
            <a:off x="5486400" y="29098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D30 가는곶 세화</a:t>
            </a:r>
          </a:p>
        </p:txBody>
      </p:sp>
      <p:sp>
        <p:nvSpPr>
          <p:cNvPr id="19" name="reference-14"/>
          <p:cNvSpPr txBox="1"/>
          <p:nvPr/>
        </p:nvSpPr>
        <p:spPr>
          <a:xfrm>
            <a:off x="5486400" y="32146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D31 가마오름</a:t>
            </a:r>
          </a:p>
        </p:txBody>
      </p:sp>
      <p:sp>
        <p:nvSpPr>
          <p:cNvPr id="20" name="reference-15"/>
          <p:cNvSpPr txBox="1"/>
          <p:nvPr/>
        </p:nvSpPr>
        <p:spPr>
          <a:xfrm>
            <a:off x="5486400" y="35194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D32 가새기오름</a:t>
            </a:r>
          </a:p>
        </p:txBody>
      </p:sp>
      <p:sp>
        <p:nvSpPr>
          <p:cNvPr id="21" name="reference-16"/>
          <p:cNvSpPr txBox="1"/>
          <p:nvPr/>
        </p:nvSpPr>
        <p:spPr>
          <a:xfrm>
            <a:off x="5486400" y="38242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D33 가시어멍김밥</a:t>
            </a:r>
          </a:p>
        </p:txBody>
      </p:sp>
      <p:sp>
        <p:nvSpPr>
          <p:cNvPr id="22" name="reference-17"/>
          <p:cNvSpPr txBox="1"/>
          <p:nvPr/>
        </p:nvSpPr>
        <p:spPr>
          <a:xfrm>
            <a:off x="5486400" y="41290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D34 갈치공장</a:t>
            </a:r>
          </a:p>
        </p:txBody>
      </p:sp>
      <p:sp>
        <p:nvSpPr>
          <p:cNvPr id="23" name="reference-18"/>
          <p:cNvSpPr txBox="1"/>
          <p:nvPr/>
        </p:nvSpPr>
        <p:spPr>
          <a:xfrm>
            <a:off x="5486400" y="44338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D35 개오리오름</a:t>
            </a:r>
          </a:p>
        </p:txBody>
      </p:sp>
      <p:sp>
        <p:nvSpPr>
          <p:cNvPr id="24" name="reference-19"/>
          <p:cNvSpPr txBox="1"/>
          <p:nvPr/>
        </p:nvSpPr>
        <p:spPr>
          <a:xfrm>
            <a:off x="5486400" y="47386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D36 거슨새미오름</a:t>
            </a:r>
          </a:p>
        </p:txBody>
      </p:sp>
      <p:sp>
        <p:nvSpPr>
          <p:cNvPr id="25" name="reference-20"/>
          <p:cNvSpPr txBox="1"/>
          <p:nvPr/>
        </p:nvSpPr>
        <p:spPr>
          <a:xfrm>
            <a:off x="5486400" y="50434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D37 경성수산</a:t>
            </a:r>
          </a:p>
        </p:txBody>
      </p:sp>
      <p:sp>
        <p:nvSpPr>
          <p:cNvPr id="26" name="reference-21"/>
          <p:cNvSpPr txBox="1"/>
          <p:nvPr/>
        </p:nvSpPr>
        <p:spPr>
          <a:xfrm>
            <a:off x="5486400" y="53482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D38 고내포구</a:t>
            </a:r>
          </a:p>
        </p:txBody>
      </p:sp>
      <p:sp>
        <p:nvSpPr>
          <p:cNvPr id="27" name="reference-22"/>
          <p:cNvSpPr txBox="1"/>
          <p:nvPr/>
        </p:nvSpPr>
        <p:spPr>
          <a:xfrm>
            <a:off x="5486400" y="56530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D39 고사리커피</a:t>
            </a:r>
          </a:p>
        </p:txBody>
      </p:sp>
      <p:sp>
        <p:nvSpPr>
          <p:cNvPr id="28" name="reference-23"/>
          <p:cNvSpPr txBox="1"/>
          <p:nvPr/>
        </p:nvSpPr>
        <p:spPr>
          <a:xfrm>
            <a:off x="5486400" y="59578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D40 고스트타운</a:t>
            </a:r>
          </a:p>
        </p:txBody>
      </p:sp>
      <p:sp>
        <p:nvSpPr>
          <p:cNvPr id="29" name="reference-24"/>
          <p:cNvSpPr txBox="1"/>
          <p:nvPr/>
        </p:nvSpPr>
        <p:spPr>
          <a:xfrm>
            <a:off x="5486400" y="62626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D41 고이정</a:t>
            </a:r>
          </a:p>
        </p:txBody>
      </p:sp>
      <p:sp>
        <p:nvSpPr>
          <p:cNvPr id="30" name="reference-25"/>
          <p:cNvSpPr txBox="1"/>
          <p:nvPr/>
        </p:nvSpPr>
        <p:spPr>
          <a:xfrm>
            <a:off x="5486400" y="65674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D42 고토커피바</a:t>
            </a:r>
          </a:p>
        </p:txBody>
      </p:sp>
      <p:sp>
        <p:nvSpPr>
          <p:cNvPr id="31" name="reference-26"/>
          <p:cNvSpPr txBox="1"/>
          <p:nvPr/>
        </p:nvSpPr>
        <p:spPr>
          <a:xfrm>
            <a:off x="5486400" y="68722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D43 골목식당</a:t>
            </a:r>
          </a:p>
        </p:txBody>
      </p:sp>
      <p:sp>
        <p:nvSpPr>
          <p:cNvPr id="32" name="reference-27"/>
          <p:cNvSpPr txBox="1"/>
          <p:nvPr/>
        </p:nvSpPr>
        <p:spPr>
          <a:xfrm>
            <a:off x="5486400" y="71770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D44 골목카페옥수</a:t>
            </a:r>
          </a:p>
        </p:txBody>
      </p:sp>
      <p:sp>
        <p:nvSpPr>
          <p:cNvPr id="33" name="reference-28"/>
          <p:cNvSpPr txBox="1"/>
          <p:nvPr/>
        </p:nvSpPr>
        <p:spPr>
          <a:xfrm>
            <a:off x="5486400" y="74818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D45 골체오름캠핑</a:t>
            </a:r>
          </a:p>
        </p:txBody>
      </p:sp>
      <p:sp>
        <p:nvSpPr>
          <p:cNvPr id="34" name="reference-29"/>
          <p:cNvSpPr txBox="1"/>
          <p:nvPr/>
        </p:nvSpPr>
        <p:spPr>
          <a:xfrm>
            <a:off x="5486400" y="7786688"/>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D46 곰막식당/곰막</a:t>
            </a:r>
          </a:p>
        </p:txBody>
      </p:sp>
      <p:sp>
        <p:nvSpPr>
          <p:cNvPr id="35" name="reference-30"/>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D47 곽지해수욕장</a:t>
            </a:r>
          </a:p>
        </p:txBody>
      </p:sp>
      <p:sp>
        <p:nvSpPr>
          <p:cNvPr id="36" name="reference-31"/>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D48 괴오름</a:t>
            </a:r>
          </a:p>
        </p:txBody>
      </p:sp>
      <p:sp>
        <p:nvSpPr>
          <p:cNvPr id="37" name="reference-32"/>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4"/>
              </a:rPr>
              <a:t>관광자원·사진 D49 교래 삼다수마을</a:t>
            </a:r>
          </a:p>
        </p:txBody>
      </p:sp>
      <p:sp>
        <p:nvSpPr>
          <p:cNvPr id="39"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0" name="editorial-page"/>
          <p:cNvSpPr txBox="1"/>
          <p:nvPr/>
        </p:nvSpPr>
        <p:spPr>
          <a:xfrm>
            <a:off x="13268325" y="428625"/>
            <a:ext cx="962025" cy="266700"/>
          </a:xfrm>
          <a:prstGeom prst="rect">
            <a:avLst/>
          </a:prstGeom>
          <a:noFill/>
        </p:spPr>
        <p:txBody>
          <a:bodyPr wrap="none" lIns="57150" rIns="57150" tIns="38100" bIns="38100" anchor="t">
            <a:noAutofit/>
          </a:bodyPr>
          <a:lstStyle/>
          <a:p>
            <a:pPr algn="r"/>
            <a:r>
              <a:rPr sz="1125">
                <a:solidFill>
                  <a:srgbClr val="62666C"/>
                </a:solidFill>
                <a:latin typeface="Noto Sans KR"/>
              </a:rPr>
              <a:t>16 / 17</a:t>
            </a:r>
          </a:p>
        </p:txBody>
      </p:sp>
    </p:spTree>
  </p:cSld>
  <p:clrMapOvr>
    <a:masterClrMapping/>
  </p:clrMapOvr>
</p:sld>
</file>

<file path=ppt/slides/slide15.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출력 점검용 문화 체험 축제</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2.3 운영 규모와 산출 근거</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운영량을 먼저 제안하고, 참여와 추가 방문을 차례로 계산합니다</a:t>
            </a:r>
          </a:p>
        </p:txBody>
      </p:sp>
      <p:sp>
        <p:nvSpPr>
          <p:cNvPr id="5" name="capacity-stage-0"/>
          <p:cNvSpPr/>
          <p:nvPr/>
        </p:nvSpPr>
        <p:spPr>
          <a:xfrm>
            <a:off x="100965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apacity-icon-0" descr="database-blue.png"/>
          <p:cNvPicPr>
            <a:picLocks noChangeAspect="1"/>
          </p:cNvPicPr>
          <p:nvPr/>
        </p:nvPicPr>
        <p:blipFill>
          <a:blip r:embed="rId2"/>
          <a:stretch>
            <a:fillRect/>
          </a:stretch>
        </p:blipFill>
        <p:spPr>
          <a:xfrm>
            <a:off x="1219200" y="2809875"/>
            <a:ext cx="438150" cy="438150"/>
          </a:xfrm>
          <a:prstGeom prst="rect">
            <a:avLst/>
          </a:prstGeom>
        </p:spPr>
      </p:pic>
      <p:sp>
        <p:nvSpPr>
          <p:cNvPr id="7" name="capacity-label-0"/>
          <p:cNvSpPr txBox="1"/>
          <p:nvPr/>
        </p:nvSpPr>
        <p:spPr>
          <a:xfrm>
            <a:off x="178117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지역 관광 규모</a:t>
            </a:r>
          </a:p>
        </p:txBody>
      </p:sp>
      <p:sp>
        <p:nvSpPr>
          <p:cNvPr id="8" name="capacity-value-0"/>
          <p:cNvSpPr txBox="1"/>
          <p:nvPr/>
        </p:nvSpPr>
        <p:spPr>
          <a:xfrm>
            <a:off x="120015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월평균 352.7만 명</a:t>
            </a:r>
          </a:p>
        </p:txBody>
      </p:sp>
      <p:sp>
        <p:nvSpPr>
          <p:cNvPr id="9" name="capacity-detail-0"/>
          <p:cNvSpPr txBox="1"/>
          <p:nvPr/>
        </p:nvSpPr>
        <p:spPr>
          <a:xfrm>
            <a:off x="120015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저장 ML 방문 전망</a:t>
            </a:r>
          </a:p>
        </p:txBody>
      </p:sp>
      <p:cxnSp>
        <p:nvCxnSpPr>
          <p:cNvPr id="10" name="capacity-arrow-0-0"/>
          <p:cNvCxnSpPr/>
          <p:nvPr/>
        </p:nvCxnSpPr>
        <p:spPr>
          <a:xfrm>
            <a:off x="414337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1" name="capacity-stage-1"/>
          <p:cNvSpPr/>
          <p:nvPr/>
        </p:nvSpPr>
        <p:spPr>
          <a:xfrm>
            <a:off x="439102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capacity-icon-1" descr="map-pinned-blue.png"/>
          <p:cNvPicPr>
            <a:picLocks noChangeAspect="1"/>
          </p:cNvPicPr>
          <p:nvPr/>
        </p:nvPicPr>
        <p:blipFill>
          <a:blip r:embed="rId3"/>
          <a:stretch>
            <a:fillRect/>
          </a:stretch>
        </p:blipFill>
        <p:spPr>
          <a:xfrm>
            <a:off x="4600575" y="2809875"/>
            <a:ext cx="438150" cy="438150"/>
          </a:xfrm>
          <a:prstGeom prst="rect">
            <a:avLst/>
          </a:prstGeom>
        </p:spPr>
      </p:pic>
      <p:sp>
        <p:nvSpPr>
          <p:cNvPr id="13" name="capacity-label-1"/>
          <p:cNvSpPr txBox="1"/>
          <p:nvPr/>
        </p:nvSpPr>
        <p:spPr>
          <a:xfrm>
            <a:off x="516255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제안 운영 규모</a:t>
            </a:r>
          </a:p>
        </p:txBody>
      </p:sp>
      <p:sp>
        <p:nvSpPr>
          <p:cNvPr id="14" name="capacity-value-1"/>
          <p:cNvSpPr txBox="1"/>
          <p:nvPr/>
        </p:nvSpPr>
        <p:spPr>
          <a:xfrm>
            <a:off x="458152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F50045"/>
                </a:solidFill>
                <a:latin typeface="Noto Sans KR"/>
              </a:rPr>
              <a:t>6개 체험 거점</a:t>
            </a:r>
          </a:p>
        </p:txBody>
      </p:sp>
      <p:sp>
        <p:nvSpPr>
          <p:cNvPr id="15" name="capacity-detail-1"/>
          <p:cNvSpPr txBox="1"/>
          <p:nvPr/>
        </p:nvSpPr>
        <p:spPr>
          <a:xfrm>
            <a:off x="458152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월 8일 · 하루 2회</a:t>
            </a:r>
          </a:p>
        </p:txBody>
      </p:sp>
      <p:cxnSp>
        <p:nvCxnSpPr>
          <p:cNvPr id="16" name="capacity-arrow-1-0"/>
          <p:cNvCxnSpPr/>
          <p:nvPr/>
        </p:nvCxnSpPr>
        <p:spPr>
          <a:xfrm>
            <a:off x="7524750"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7" name="capacity-stage-2"/>
          <p:cNvSpPr/>
          <p:nvPr/>
        </p:nvSpPr>
        <p:spPr>
          <a:xfrm>
            <a:off x="7772400"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capacity-icon-2" descr="users-blue.png"/>
          <p:cNvPicPr>
            <a:picLocks noChangeAspect="1"/>
          </p:cNvPicPr>
          <p:nvPr/>
        </p:nvPicPr>
        <p:blipFill>
          <a:blip r:embed="rId4"/>
          <a:stretch>
            <a:fillRect/>
          </a:stretch>
        </p:blipFill>
        <p:spPr>
          <a:xfrm>
            <a:off x="7981950" y="2809875"/>
            <a:ext cx="438150" cy="438150"/>
          </a:xfrm>
          <a:prstGeom prst="rect">
            <a:avLst/>
          </a:prstGeom>
        </p:spPr>
      </p:pic>
      <p:sp>
        <p:nvSpPr>
          <p:cNvPr id="19" name="capacity-label-2"/>
          <p:cNvSpPr txBox="1"/>
          <p:nvPr/>
        </p:nvSpPr>
        <p:spPr>
          <a:xfrm>
            <a:off x="8543925"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참여 목표</a:t>
            </a:r>
          </a:p>
        </p:txBody>
      </p:sp>
      <p:sp>
        <p:nvSpPr>
          <p:cNvPr id="20" name="capacity-value-2"/>
          <p:cNvSpPr txBox="1"/>
          <p:nvPr/>
        </p:nvSpPr>
        <p:spPr>
          <a:xfrm>
            <a:off x="7962900"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187C70"/>
                </a:solidFill>
                <a:latin typeface="Noto Sans KR"/>
              </a:rPr>
              <a:t>5,400명</a:t>
            </a:r>
          </a:p>
        </p:txBody>
      </p:sp>
      <p:sp>
        <p:nvSpPr>
          <p:cNvPr id="21" name="capacity-detail-2"/>
          <p:cNvSpPr txBox="1"/>
          <p:nvPr/>
        </p:nvSpPr>
        <p:spPr>
          <a:xfrm>
            <a:off x="7962900"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편성 한도 7,200 × 이용률 75%</a:t>
            </a:r>
          </a:p>
        </p:txBody>
      </p:sp>
      <p:cxnSp>
        <p:nvCxnSpPr>
          <p:cNvPr id="22" name="capacity-arrow-2-0"/>
          <p:cNvCxnSpPr/>
          <p:nvPr/>
        </p:nvCxnSpPr>
        <p:spPr>
          <a:xfrm>
            <a:off x="10906125" y="3743325"/>
            <a:ext cx="2190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23" name="capacity-stage-3"/>
          <p:cNvSpPr/>
          <p:nvPr/>
        </p:nvSpPr>
        <p:spPr>
          <a:xfrm>
            <a:off x="11153775" y="2638425"/>
            <a:ext cx="3095625" cy="2352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capacity-icon-3" descr="target-blue.png"/>
          <p:cNvPicPr>
            <a:picLocks noChangeAspect="1"/>
          </p:cNvPicPr>
          <p:nvPr/>
        </p:nvPicPr>
        <p:blipFill>
          <a:blip r:embed="rId5"/>
          <a:stretch>
            <a:fillRect/>
          </a:stretch>
        </p:blipFill>
        <p:spPr>
          <a:xfrm>
            <a:off x="11363325" y="2809875"/>
            <a:ext cx="438150" cy="438150"/>
          </a:xfrm>
          <a:prstGeom prst="rect">
            <a:avLst/>
          </a:prstGeom>
        </p:spPr>
      </p:pic>
      <p:sp>
        <p:nvSpPr>
          <p:cNvPr id="25" name="capacity-label-3"/>
          <p:cNvSpPr txBox="1"/>
          <p:nvPr/>
        </p:nvSpPr>
        <p:spPr>
          <a:xfrm>
            <a:off x="11925300" y="2905125"/>
            <a:ext cx="2171700" cy="371475"/>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추가 방문 목표</a:t>
            </a:r>
          </a:p>
        </p:txBody>
      </p:sp>
      <p:sp>
        <p:nvSpPr>
          <p:cNvPr id="26" name="capacity-value-3"/>
          <p:cNvSpPr txBox="1"/>
          <p:nvPr/>
        </p:nvSpPr>
        <p:spPr>
          <a:xfrm>
            <a:off x="11344275" y="3514725"/>
            <a:ext cx="2752725" cy="59055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27649B"/>
                </a:solidFill>
                <a:latin typeface="Noto Sans KR"/>
              </a:rPr>
              <a:t>1,620명</a:t>
            </a:r>
          </a:p>
        </p:txBody>
      </p:sp>
      <p:sp>
        <p:nvSpPr>
          <p:cNvPr id="27" name="capacity-detail-3"/>
          <p:cNvSpPr txBox="1"/>
          <p:nvPr/>
        </p:nvSpPr>
        <p:spPr>
          <a:xfrm>
            <a:off x="11344275" y="4248150"/>
            <a:ext cx="2752725" cy="5810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참여 목표 × 추가 방문</a:t>
            </a:r>
          </a:p>
          <a:p>
            <a:pPr eaLnBrk="0">
              <a:lnSpc>
                <a:spcPts val="1875"/>
              </a:lnSpc>
              <a:spcBef>
                <a:spcPts val="0"/>
              </a:spcBef>
              <a:spcAft>
                <a:spcPts val="0"/>
              </a:spcAft>
            </a:pPr>
            <a:r>
              <a:rPr sz="1500" b="0">
                <a:solidFill>
                  <a:srgbClr val="62666C"/>
                </a:solidFill>
                <a:latin typeface="Noto Sans KR"/>
              </a:rPr>
              <a:t>비중 30%</a:t>
            </a:r>
          </a:p>
        </p:txBody>
      </p:sp>
      <p:sp>
        <p:nvSpPr>
          <p:cNvPr id="28" name="capacity-formula-panel"/>
          <p:cNvSpPr/>
          <p:nvPr/>
        </p:nvSpPr>
        <p:spPr>
          <a:xfrm>
            <a:off x="1009650" y="5238750"/>
            <a:ext cx="13220700" cy="121920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apacity-formula-label"/>
          <p:cNvSpPr txBox="1"/>
          <p:nvPr/>
        </p:nvSpPr>
        <p:spPr>
          <a:xfrm>
            <a:off x="1209675" y="5410200"/>
            <a:ext cx="23812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87C70"/>
                </a:solidFill>
                <a:latin typeface="Noto Sans KR"/>
              </a:rPr>
              <a:t>운영량 계산</a:t>
            </a:r>
          </a:p>
        </p:txBody>
      </p:sp>
      <p:sp>
        <p:nvSpPr>
          <p:cNvPr id="30" name="capacity-formula"/>
          <p:cNvSpPr txBox="1"/>
          <p:nvPr/>
        </p:nvSpPr>
        <p:spPr>
          <a:xfrm>
            <a:off x="3667125" y="5400675"/>
            <a:ext cx="10287000" cy="4572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6개 × 월 8일 × 3개월 × 하루 2회 × 회당 25명 = 7,200명분</a:t>
            </a:r>
          </a:p>
        </p:txBody>
      </p:sp>
      <p:sp>
        <p:nvSpPr>
          <p:cNvPr id="31" name="capacity-limit"/>
          <p:cNvSpPr txBox="1"/>
          <p:nvPr/>
        </p:nvSpPr>
        <p:spPr>
          <a:xfrm>
            <a:off x="3667125" y="5905500"/>
            <a:ext cx="10287000" cy="3619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편성 참여 한도 7,200명분 · 예상 견적 1.60억 원</a:t>
            </a:r>
          </a:p>
        </p:txBody>
      </p:sp>
      <p:sp>
        <p:nvSpPr>
          <p:cNvPr id="32" name="capacity-case"/>
          <p:cNvSpPr txBox="1"/>
          <p:nvPr/>
        </p:nvSpPr>
        <p:spPr>
          <a:xfrm>
            <a:off x="1009650" y="6667500"/>
            <a:ext cx="2190750" cy="3429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사례와의 차이</a:t>
            </a:r>
          </a:p>
        </p:txBody>
      </p:sp>
      <p:sp>
        <p:nvSpPr>
          <p:cNvPr id="33" name="capacity-case-name">
            <a:hlinkClick r:id="rId6"/>
          </p:cNvPr>
          <p:cNvSpPr txBox="1"/>
          <p:nvPr/>
        </p:nvSpPr>
        <p:spPr>
          <a:xfrm>
            <a:off x="3333750" y="6667500"/>
            <a:ext cx="10896600" cy="5905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경상북도 문경시 · 문경찻사발축제: 축제 관측구역 전체 방문자 245,750 → 256,570명, 차이 +10,820명.</a:t>
            </a:r>
          </a:p>
          <a:p>
            <a:pPr eaLnBrk="0">
              <a:lnSpc>
                <a:spcPts val="1968"/>
              </a:lnSpc>
              <a:spcBef>
                <a:spcPts val="0"/>
              </a:spcBef>
              <a:spcAft>
                <a:spcPts val="0"/>
              </a:spcAft>
            </a:pPr>
            <a:r>
              <a:rPr sz="1575" b="0">
                <a:solidFill>
                  <a:srgbClr val="202124"/>
                </a:solidFill>
                <a:latin typeface="Noto Sans KR"/>
              </a:rPr>
              <a:t>우리 지역 운영 정원과 집계 기준이 다릅니다.</a:t>
            </a:r>
          </a:p>
        </p:txBody>
      </p:sp>
      <p:sp>
        <p:nvSpPr>
          <p:cNvPr id="34" name="capacity-scale-rule"/>
          <p:cNvSpPr txBox="1"/>
          <p:nvPr/>
        </p:nvSpPr>
        <p:spPr>
          <a:xfrm>
            <a:off x="1009650" y="7305675"/>
            <a:ext cx="13220700" cy="5715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제주특별자치도 제주시: 월평균 ML 방문 352.7만 명을 규모 입력으로 사용.</a:t>
            </a:r>
          </a:p>
          <a:p>
            <a:pPr eaLnBrk="0">
              <a:lnSpc>
                <a:spcPts val="1875"/>
              </a:lnSpc>
              <a:spcBef>
                <a:spcPts val="0"/>
              </a:spcBef>
              <a:spcAft>
                <a:spcPts val="0"/>
              </a:spcAft>
            </a:pPr>
            <a:r>
              <a:rPr sz="1500" b="0">
                <a:solidFill>
                  <a:srgbClr val="62666C"/>
                </a:solidFill>
                <a:latin typeface="Noto Sans KR"/>
              </a:rPr>
              <a:t>거점은 √(월평균 방문 ÷ 10만)을 올려 1~12개로 제안한 뒤 예산을 반영합니다. 인구 보정·학습 모델의 결과는 아닙니다.</a:t>
            </a:r>
          </a:p>
        </p:txBody>
      </p:sp>
      <p:sp>
        <p:nvSpPr>
          <p:cNvPr id="35" name="capacity-disclosure"/>
          <p:cNvSpPr txBox="1"/>
          <p:nvPr/>
        </p:nvSpPr>
        <p:spPr>
          <a:xfrm>
            <a:off x="1009650" y="7924800"/>
            <a:ext cx="13220700" cy="5429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참여 목표 75%는 공통 최소 운영 목표입니다. 사례 참여율을 인용한 값이 아닙니다.</a:t>
            </a:r>
          </a:p>
        </p:txBody>
      </p:sp>
      <p:sp>
        <p:nvSpPr>
          <p:cNvPr id="3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3" name="title"/>
          <p:cNvSpPr txBox="1"/>
          <p:nvPr/>
        </p:nvSpPr>
        <p:spPr>
          <a:xfrm>
            <a:off x="1009650" y="819150"/>
            <a:ext cx="13220700" cy="733425"/>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2.4 기대 변화의 시나리오</a:t>
            </a:r>
          </a:p>
        </p:txBody>
      </p:sp>
      <p:sp>
        <p:nvSpPr>
          <p:cNvPr id="4" name="operating-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같은 운영량에서 이용률과 추가 방문 비중을 달리한 계획 범위</a:t>
            </a:r>
          </a:p>
        </p:txBody>
      </p:sp>
      <p:sp>
        <p:nvSpPr>
          <p:cNvPr id="5" name="scenario-panel-0"/>
          <p:cNvSpPr/>
          <p:nvPr/>
        </p:nvSpPr>
        <p:spPr>
          <a:xfrm>
            <a:off x="100965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cenario-label-0"/>
          <p:cNvSpPr txBox="1"/>
          <p:nvPr/>
        </p:nvSpPr>
        <p:spPr>
          <a:xfrm>
            <a:off x="123825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7649B"/>
                </a:solidFill>
                <a:latin typeface="Noto Sans KR"/>
              </a:rPr>
              <a:t>추가 방문 목표 · 명</a:t>
            </a:r>
          </a:p>
        </p:txBody>
      </p:sp>
      <p:graphicFrame>
        <p:nvGraphicFramePr>
          <p:cNvPr id="7" name="operating-scenario-chart-0"/>
          <p:cNvGraphicFramePr>
            <a:graphicFrameLocks noGrp="1"/>
          </p:cNvGraphicFramePr>
          <p:nvPr/>
        </p:nvGraphicFramePr>
        <p:xfrm>
          <a:off x="1104900" y="3343275"/>
          <a:ext cx="6210300" cy="2857500"/>
        </p:xfrm>
        <a:graphic>
          <a:graphicData uri="http://schemas.openxmlformats.org/drawingml/2006/chart">
            <c:chart xmlns:c="http://schemas.openxmlformats.org/drawingml/2006/chart" r:id="rId2"/>
          </a:graphicData>
        </a:graphic>
      </p:graphicFrame>
      <p:sp>
        <p:nvSpPr>
          <p:cNvPr id="8" name="scenario-growth-0"/>
          <p:cNvSpPr txBox="1"/>
          <p:nvPr/>
        </p:nvSpPr>
        <p:spPr>
          <a:xfrm>
            <a:off x="123825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27649B"/>
                </a:solidFill>
                <a:latin typeface="Noto Sans KR"/>
              </a:rPr>
              <a:t>기준 시나리오 · 기간 합계 ML 전망 대비 +0.02%</a:t>
            </a:r>
          </a:p>
        </p:txBody>
      </p:sp>
      <p:sp>
        <p:nvSpPr>
          <p:cNvPr id="9" name="scenario-panel-1"/>
          <p:cNvSpPr/>
          <p:nvPr/>
        </p:nvSpPr>
        <p:spPr>
          <a:xfrm>
            <a:off x="7810500" y="2571750"/>
            <a:ext cx="6419850" cy="41338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cenario-label-1"/>
          <p:cNvSpPr txBox="1"/>
          <p:nvPr/>
        </p:nvSpPr>
        <p:spPr>
          <a:xfrm>
            <a:off x="8039100" y="2752725"/>
            <a:ext cx="5962650" cy="44767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187C70"/>
                </a:solidFill>
                <a:latin typeface="Noto Sans KR"/>
              </a:rPr>
              <a:t>추가 소비 목표 · 만 원</a:t>
            </a:r>
          </a:p>
        </p:txBody>
      </p:sp>
      <p:graphicFrame>
        <p:nvGraphicFramePr>
          <p:cNvPr id="11" name="operating-scenario-chart-1"/>
          <p:cNvGraphicFramePr>
            <a:graphicFrameLocks noGrp="1"/>
          </p:cNvGraphicFramePr>
          <p:nvPr/>
        </p:nvGraphicFramePr>
        <p:xfrm>
          <a:off x="7905750" y="3343275"/>
          <a:ext cx="6210300" cy="2857500"/>
        </p:xfrm>
        <a:graphic>
          <a:graphicData uri="http://schemas.openxmlformats.org/drawingml/2006/chart">
            <c:chart xmlns:c="http://schemas.openxmlformats.org/drawingml/2006/chart" r:id="rId3"/>
          </a:graphicData>
        </a:graphic>
      </p:graphicFrame>
      <p:sp>
        <p:nvSpPr>
          <p:cNvPr id="12" name="scenario-growth-1"/>
          <p:cNvSpPr txBox="1"/>
          <p:nvPr/>
        </p:nvSpPr>
        <p:spPr>
          <a:xfrm>
            <a:off x="8039100" y="6219825"/>
            <a:ext cx="5962650" cy="3810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187C70"/>
                </a:solidFill>
                <a:latin typeface="Noto Sans KR"/>
              </a:rPr>
              <a:t>기준 시나리오 · 기간 합계 ML 전망 대비 +0.03%</a:t>
            </a:r>
          </a:p>
        </p:txBody>
      </p:sp>
      <p:sp>
        <p:nvSpPr>
          <p:cNvPr id="13" name="scenario-rates"/>
          <p:cNvSpPr txBox="1"/>
          <p:nvPr/>
        </p:nvSpPr>
        <p:spPr>
          <a:xfrm>
            <a:off x="1009650" y="6953250"/>
            <a:ext cx="13220700" cy="4286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이용률·추가 방문 비중 보수 75%·15% / 기준 75%·30% / 확대 90%·45%</a:t>
            </a:r>
          </a:p>
        </p:txBody>
      </p:sp>
      <p:sp>
        <p:nvSpPr>
          <p:cNvPr id="14" name="scenario-consumption-formula"/>
          <p:cNvSpPr txBox="1"/>
          <p:nvPr/>
        </p:nvSpPr>
        <p:spPr>
          <a:xfrm>
            <a:off x="1009650" y="7429500"/>
            <a:ext cx="13220700" cy="4572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소비 = 추가 방문 × 42,052원(ML 소비/방문 비율) + 기존 방문 참여 × 20,000원(추가 구매 가정)</a:t>
            </a:r>
          </a:p>
        </p:txBody>
      </p:sp>
      <p:sp>
        <p:nvSpPr>
          <p:cNvPr id="15" name="scenario-disclaimer"/>
          <p:cNvSpPr txBox="1"/>
          <p:nvPr/>
        </p:nvSpPr>
        <p:spPr>
          <a:xfrm>
            <a:off x="1009650" y="8048625"/>
            <a:ext cx="13220700" cy="4000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계획 가정을 바꾼 범위이며 통계적 신뢰구간이 아닙니다. 소비/방문 비율은 실측 객단가가 아니며 사업 효과는 사후 확인합니다.</a:t>
            </a:r>
          </a:p>
        </p:txBody>
      </p:sp>
      <p:sp>
        <p:nvSpPr>
          <p:cNvPr id="16"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17</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