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61" r:id="Rbf371966fa964fc8"/>
    <p:sldId xmlns:ns0="http://schemas.openxmlformats.org/officeDocument/2006/relationships" id="270" ns0:id="rId17"/>
    <p:sldId xmlns:r="http://schemas.openxmlformats.org/officeDocument/2006/relationships" id="259" r:id="R5b6702ccd7664af1"/>
    <p:sldId xmlns:ns0="http://schemas.openxmlformats.org/officeDocument/2006/relationships" id="272" ns0:id="rId18"/>
    <p:sldId xmlns:ns0="http://schemas.openxmlformats.org/officeDocument/2006/relationships" id="274" ns0:id="rId22"/>
    <p:sldId xmlns:ns0="http://schemas.openxmlformats.org/officeDocument/2006/relationships" id="275" ns0:id="rId23"/>
    <p:sldId xmlns:ns0="http://schemas.openxmlformats.org/officeDocument/2006/relationships" id="271" ns0:id="rId20"/>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ns0="http://schemas.openxmlformats.org/officeDocument/2006/relationships" id="273" ns0:id="rId21"/>
    <p:sldId xmlns:r="http://schemas.openxmlformats.org/officeDocument/2006/relationships" id="266" r:id="R029df0519ade4c8b"/>
    <p:sldId xmlns:ns0="http://schemas.openxmlformats.org/officeDocument/2006/relationships" id="268" ns0: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3.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5.xml"/><Relationship Id="R4c9d0e3030fa4c5f" Type="http://schemas.openxmlformats.org/officeDocument/2006/relationships/slide" Target="slides/slide9.xml"/><Relationship Id="R5b6702ccd7664af1" Type="http://schemas.openxmlformats.org/officeDocument/2006/relationships/slide" Target="slides/slide6.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1.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10.xml"/><Relationship Id="Rbf371966fa964fc8" Type="http://schemas.openxmlformats.org/officeDocument/2006/relationships/slide" Target="slides/slide4.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5.xml"/><Relationship Id="rId18" Type="http://schemas.openxmlformats.org/officeDocument/2006/relationships/slide" Target="slides/slide7.xml"/><Relationship Id="rId19" Type="http://schemas.openxmlformats.org/officeDocument/2006/relationships/slide" Target="slides/slide14.xml"/><Relationship Id="rId20" Type="http://schemas.openxmlformats.org/officeDocument/2006/relationships/slide" Target="slides/slide8.xml"/><Relationship Id="rId21" Type="http://schemas.openxmlformats.org/officeDocument/2006/relationships/slide" Target="slides/slide12.xml"/><Relationship Id="rId22" Type="http://schemas.openxmlformats.org/officeDocument/2006/relationships/slide" Target="slides/slide16.xml"/><Relationship Id="rId23"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만&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361.5062</c:v>
                </c:pt>
                <c:pt idx="1">
                  <c:v>359.431</c:v>
                </c:pt>
                <c:pt idx="2">
                  <c:v>337.0793</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만&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361.54501911</c:v>
                </c:pt>
                <c:pt idx="1">
                  <c:v>359.50819255</c:v>
                </c:pt>
                <c:pt idx="2">
                  <c:v>337.18788834</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380.0"/>
          <c:min val="32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억&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1504.67072839</c:v>
                </c:pt>
                <c:pt idx="1">
                  <c:v>1450.85139974</c:v>
                </c:pt>
                <c:pt idx="2">
                  <c:v>1493.66639508</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억&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1504.93713412</c:v>
                </c:pt>
                <c:pt idx="1">
                  <c:v>1451.3651535</c:v>
                </c:pt>
                <c:pt idx="2">
                  <c:v>1494.45976723</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1600.0"/>
          <c:min val="13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-2.997033</c:v>
                </c:pt>
                <c:pt idx="1">
                  <c:v>-0.394767</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0.8391692400000001"/>
          <c:min val="-3.8362022400000004"/>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-0.344216</c:v>
                </c:pt>
                <c:pt idx="1">
                  <c:v>6.640909</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8.596744"/>
          <c:min val="-2.3000510000000003"/>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계획 시나리오</c:v>
                </c:pt>
              </c:strCache>
            </c:strRef>
          </c:tx>
          <c:dPt>
            <c:idx val="0"/>
            <c:spPr>
              <a:solidFill>
                <a:srgbClr val="B9C9D4"/>
              </a:solidFill>
              <a:ln>
                <a:noFill/>
              </a:ln>
            </c:spPr>
          </c:dPt>
          <c:dPt>
            <c:idx val="1"/>
            <c:spPr>
              <a:solidFill>
                <a:srgbClr val="27649B"/>
              </a:solidFill>
              <a:ln>
                <a:noFill/>
              </a:ln>
            </c:spPr>
          </c:dPt>
          <c:dPt>
            <c:idx val="2"/>
            <c:spPr>
              <a:solidFill>
                <a:srgbClr val="B9C9D4"/>
              </a:solidFill>
              <a:ln>
                <a:noFill/>
              </a:ln>
            </c:spPr>
          </c:dPt>
          <c:cat>
            <c:strRef>
              <c:f>Sheet1!$A$2:$A$4</c:f>
              <c:strCache>
                <c:ptCount val="3"/>
                <c:pt idx="0">
                  <c:v>보수</c:v>
                </c:pt>
                <c:pt idx="1">
                  <c:v>기준</c:v>
                </c:pt>
                <c:pt idx="2">
                  <c:v>확대</c:v>
                </c:pt>
              </c:strCache>
            </c:strRef>
          </c:cat>
          <c:val>
            <c:numRef>
              <c:f>Sheet1!$B$2:$B$4</c:f>
              <c:numCache>
                <c:formatCode>General</c:formatCode>
                <c:ptCount val="3"/>
                <c:pt idx="0">
                  <c:v>864.0</c:v>
                </c:pt>
                <c:pt idx="1">
                  <c:v>2246.0</c:v>
                </c:pt>
                <c:pt idx="2">
                  <c:v>4147.0</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계획 시나리오</c:v>
                </c:pt>
              </c:strCache>
            </c:strRef>
          </c:tx>
          <c:dPt>
            <c:idx val="0"/>
            <c:spPr>
              <a:solidFill>
                <a:srgbClr val="B9C9D4"/>
              </a:solidFill>
              <a:ln>
                <a:noFill/>
              </a:ln>
            </c:spPr>
          </c:dPt>
          <c:dPt>
            <c:idx val="1"/>
            <c:spPr>
              <a:solidFill>
                <a:srgbClr val="187C70"/>
              </a:solidFill>
              <a:ln>
                <a:noFill/>
              </a:ln>
            </c:spPr>
          </c:dPt>
          <c:dPt>
            <c:idx val="2"/>
            <c:spPr>
              <a:solidFill>
                <a:srgbClr val="B9C9D4"/>
              </a:solidFill>
              <a:ln>
                <a:noFill/>
              </a:ln>
            </c:spPr>
          </c:dPt>
          <c:cat>
            <c:strRef>
              <c:f>Sheet1!$A$2:$A$4</c:f>
              <c:strCache>
                <c:ptCount val="3"/>
                <c:pt idx="0">
                  <c:v>보수</c:v>
                </c:pt>
                <c:pt idx="1">
                  <c:v>기준</c:v>
                </c:pt>
                <c:pt idx="2">
                  <c:v>확대</c:v>
                </c:pt>
              </c:strCache>
            </c:strRef>
          </c:cat>
          <c:val>
            <c:numRef>
              <c:f>Sheet1!$B$2:$B$4</c:f>
              <c:numCache>
                <c:formatCode>General</c:formatCode>
                <c:ptCount val="3"/>
                <c:pt idx="0">
                  <c:v>9508.51</c:v>
                </c:pt>
                <c:pt idx="1">
                  <c:v>15735.32</c:v>
                </c:pt>
                <c:pt idx="2">
                  <c:v>23521.83</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6.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4.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9.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5.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표지 사진 출처: {"source_id": "tour-api:127870", "source_type": "open_api", "title": "곽지해수욕장", "source_url": "https://apis.data.go.kr/B551011/KorService2", "content_id": "127870", "content_type_id": "12", "address": "제주특별자치도 제주시 애월읍 곽지리 1565", "image_url": "http://tong.visitkorea.or.kr/cms/resource/30/3053130_image2_1.jpg",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"202610",</a:t>
            </a:r>
          </a:p>
          <a:p xmlns:a="http://schemas.openxmlformats.org/drawingml/2006/main">
            <a:r>
              <a:t>      "202611",</a:t>
            </a:r>
          </a:p>
          <a:p xmlns:a="http://schemas.openxmlformats.org/drawingml/2006/main">
            <a:r>
              <a:t>      "202612"</a:t>
            </a:r>
          </a:p>
          <a:p xmlns:a="http://schemas.openxmlformats.org/drawingml/2006/main">
            <a:r>
              <a:t>    ],</a:t>
            </a:r>
          </a:p>
          <a:p xmlns:a="http://schemas.openxmlformats.org/drawingml/2006/main">
            <a:r>
              <a:t>    "origin": "202606",</a:t>
            </a:r>
          </a:p>
          <a:p xmlns:a="http://schemas.openxmlformats.org/drawingml/2006/main">
            <a:r>
              <a:t>    "signature": "2a35a8f6f8ef70b97e33e89bf2f4acd874752220ed520b852868587f35b8232f",</a:t>
            </a:r>
          </a:p>
          <a:p xmlns:a="http://schemas.openxmlformats.org/drawingml/2006/main">
            <a:r>
              <a:t>    "region_code": "50110",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3615062,</a:t>
            </a:r>
          </a:p>
          <a:p xmlns:a="http://schemas.openxmlformats.org/drawingml/2006/main">
            <a:r>
              <a:t>          3594310,</a:t>
            </a:r>
          </a:p>
          <a:p xmlns:a="http://schemas.openxmlformats.org/drawingml/2006/main">
            <a:r>
              <a:t>          3370793</a:t>
            </a:r>
          </a:p>
          <a:p xmlns:a="http://schemas.openxmlformats.org/drawingml/2006/main">
            <a:r>
              <a:t>        ],</a:t>
            </a:r>
          </a:p>
          <a:p xmlns:a="http://schemas.openxmlformats.org/drawingml/2006/main">
            <a:r>
              <a:t>        "previous": [</a:t>
            </a:r>
          </a:p>
          <a:p xmlns:a="http://schemas.openxmlformats.org/drawingml/2006/main">
            <a:r>
              <a:t>          3904808.0,</a:t>
            </a:r>
          </a:p>
          <a:p xmlns:a="http://schemas.openxmlformats.org/drawingml/2006/main">
            <a:r>
              <a:t>          3591286.0,</a:t>
            </a:r>
          </a:p>
          <a:p xmlns:a="http://schemas.openxmlformats.org/drawingml/2006/main">
            <a:r>
              <a:t>          3410959.0</a:t>
            </a:r>
          </a:p>
          <a:p xmlns:a="http://schemas.openxmlformats.org/drawingml/2006/main">
            <a:r>
              <a:t>        ],</a:t>
            </a:r>
          </a:p>
          <a:p xmlns:a="http://schemas.openxmlformats.org/drawingml/2006/main">
            <a:r>
              <a:t>        "growth_pct": -2.9970332041111325,</a:t>
            </a:r>
          </a:p>
          <a:p xmlns:a="http://schemas.openxmlformats.org/drawingml/2006/main">
            <a:r>
              <a:t>        "national_mean_pct": -0.394766937691683,</a:t>
            </a:r>
          </a:p>
          <a:p xmlns:a="http://schemas.openxmlformats.org/drawingml/2006/main">
            <a:r>
              <a:t>        "gap_pp": -2.6022662664194494,</a:t>
            </a:r>
          </a:p>
          <a:p xmlns:a="http://schemas.openxmlformats.org/drawingml/2006/main">
            <a:r>
              <a:t>        "rank": 208,</a:t>
            </a:r>
          </a:p>
          <a:p xmlns:a="http://schemas.openxmlformats.org/drawingml/2006/main">
            <a:r>
              <a:t>        "target_growth_pct": -2.976441023986953,</a:t>
            </a:r>
          </a:p>
          <a:p xmlns:a="http://schemas.openxmlformats.org/drawingml/2006/main">
            <a:r>
              <a:t>        "target_rank": 208,</a:t>
            </a:r>
          </a:p>
          <a:p xmlns:a="http://schemas.openxmlformats.org/drawingml/2006/main">
            <a:r>
              <a:t>        "target": [</a:t>
            </a:r>
          </a:p>
          <a:p xmlns:a="http://schemas.openxmlformats.org/drawingml/2006/main">
            <a:r>
              <a:t>          3615450.191125088,</a:t>
            </a:r>
          </a:p>
          <a:p xmlns:a="http://schemas.openxmlformats.org/drawingml/2006/main">
            <a:r>
              <a:t>          3595081.9254844403,</a:t>
            </a:r>
          </a:p>
          <a:p xmlns:a="http://schemas.openxmlformats.org/drawingml/2006/main">
            <a:r>
              <a:t>          3371878.8833904723</a:t>
            </a:r>
          </a:p>
          <a:p xmlns:a="http://schemas.openxmlformats.org/drawingml/2006/main">
            <a:r>
              <a:t>        ],</a:t>
            </a:r>
          </a:p>
          <a:p xmlns:a="http://schemas.openxmlformats.org/drawingml/2006/main">
            <a:r>
              <a:t>        "additional": 2246.0</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150467072839,</a:t>
            </a:r>
          </a:p>
          <a:p xmlns:a="http://schemas.openxmlformats.org/drawingml/2006/main">
            <a:r>
              <a:t>          145085139974,</a:t>
            </a:r>
          </a:p>
          <a:p xmlns:a="http://schemas.openxmlformats.org/drawingml/2006/main">
            <a:r>
              <a:t>          149366639508</a:t>
            </a:r>
          </a:p>
          <a:p xmlns:a="http://schemas.openxmlformats.org/drawingml/2006/main">
            <a:r>
              <a:t>        ],</a:t>
            </a:r>
          </a:p>
          <a:p xmlns:a="http://schemas.openxmlformats.org/drawingml/2006/main">
            <a:r>
              <a:t>        "previous": [</a:t>
            </a:r>
          </a:p>
          <a:p xmlns:a="http://schemas.openxmlformats.org/drawingml/2006/main">
            <a:r>
              <a:t>          154337552000.0,</a:t>
            </a:r>
          </a:p>
          <a:p xmlns:a="http://schemas.openxmlformats.org/drawingml/2006/main">
            <a:r>
              <a:t>          143894918000.0,</a:t>
            </a:r>
          </a:p>
          <a:p xmlns:a="http://schemas.openxmlformats.org/drawingml/2006/main">
            <a:r>
              <a:t>          148223154000.0</a:t>
            </a:r>
          </a:p>
          <a:p xmlns:a="http://schemas.openxmlformats.org/drawingml/2006/main">
            <a:r>
              <a:t>        ],</a:t>
            </a:r>
          </a:p>
          <a:p xmlns:a="http://schemas.openxmlformats.org/drawingml/2006/main">
            <a:r>
              <a:t>        "growth_pct": -0.344215997377606,</a:t>
            </a:r>
          </a:p>
          <a:p xmlns:a="http://schemas.openxmlformats.org/drawingml/2006/main">
            <a:r>
              <a:t>        "national_mean_pct": 6.640909128955906,</a:t>
            </a:r>
          </a:p>
          <a:p xmlns:a="http://schemas.openxmlformats.org/drawingml/2006/main">
            <a:r>
              <a:t>        "gap_pp": -6.985125126333513,</a:t>
            </a:r>
          </a:p>
          <a:p xmlns:a="http://schemas.openxmlformats.org/drawingml/2006/main">
            <a:r>
              <a:t>        "rank": 228,</a:t>
            </a:r>
          </a:p>
          <a:p xmlns:a="http://schemas.openxmlformats.org/drawingml/2006/main">
            <a:r>
              <a:t>        "target_growth_pct": -0.3089710244080113,</a:t>
            </a:r>
          </a:p>
          <a:p xmlns:a="http://schemas.openxmlformats.org/drawingml/2006/main">
            <a:r>
              <a:t>        "target_rank": 228,</a:t>
            </a:r>
          </a:p>
          <a:p xmlns:a="http://schemas.openxmlformats.org/drawingml/2006/main">
            <a:r>
              <a:t>        "target": [</a:t>
            </a:r>
          </a:p>
          <a:p xmlns:a="http://schemas.openxmlformats.org/drawingml/2006/main">
            <a:r>
              <a:t>          150493713411.81418,</a:t>
            </a:r>
          </a:p>
          <a:p xmlns:a="http://schemas.openxmlformats.org/drawingml/2006/main">
            <a:r>
              <a:t>          145136515350.191,</a:t>
            </a:r>
          </a:p>
          <a:p xmlns:a="http://schemas.openxmlformats.org/drawingml/2006/main">
            <a:r>
              <a:t>          149445976722.9948</a:t>
            </a:r>
          </a:p>
          <a:p xmlns:a="http://schemas.openxmlformats.org/drawingml/2006/main">
            <a:r>
              <a:t>        ],</a:t>
            </a:r>
          </a:p>
          <a:p xmlns:a="http://schemas.openxmlformats.org/drawingml/2006/main">
            <a:r>
              <a:t>        "additional": 157353164.0</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-0.181730776849387,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0.22058697128235494,</a:t>
            </a:r>
          </a:p>
          <a:p xmlns:a="http://schemas.openxmlformats.org/drawingml/2006/main">
            <a:r>
              <a:t>        "spending_yoy_pct": 4.580217217936977</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-4.979614214123506,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-0.3378475483719168,</a:t>
            </a:r>
          </a:p>
          <a:p xmlns:a="http://schemas.openxmlformats.org/drawingml/2006/main">
            <a:r>
              <a:t>        "spending_yoy_pct": 17.74232531130686</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2.5969573020728554,</a:t>
            </a:r>
          </a:p>
          <a:p xmlns:a="http://schemas.openxmlformats.org/drawingml/2006/main">
            <a:r>
              <a:t>        "spending_yoy_pct": 5.2897098661769615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3.8434435752205065,</a:t>
            </a:r>
          </a:p>
          <a:p xmlns:a="http://schemas.openxmlformats.org/drawingml/2006/main">
            <a:r>
              <a:t>        "spending_yoy_pct": 15.750677281894143</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3.9319477713267714,</a:t>
            </a:r>
          </a:p>
          <a:p xmlns:a="http://schemas.openxmlformats.org/drawingml/2006/main">
            <a:r>
              <a:t>        "spending_yoy_pct": 4.008665139200995</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0.06390882102844664,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6.491412818941056,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-0.31553169799538594,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1.9885852169564178,</a:t>
            </a:r>
          </a:p>
          <a:p xmlns:a="http://schemas.openxmlformats.org/drawingml/2006/main">
            <a:r>
              <a:t>        "spending_yoy_pct": -3.9398837471920745</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2.6732126130347034,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-1.5414900930146969,</a:t>
            </a:r>
          </a:p>
          <a:p xmlns:a="http://schemas.openxmlformats.org/drawingml/2006/main">
            <a:r>
              <a:t>        "spending_yoy_pct": 9.742111155875799</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0.26100209122330575,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-0.42315356265129056,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0.2040172459361056,</a:t>
            </a:r>
          </a:p>
          <a:p xmlns:a="http://schemas.openxmlformats.org/drawingml/2006/main">
            <a:r>
              <a:t>        "spending_yoy_pct": 7.8308763097921785</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-2.5203770541048165,</a:t>
            </a:r>
          </a:p>
          <a:p xmlns:a="http://schemas.openxmlformats.org/drawingml/2006/main">
            <a:r>
              <a:t>        "spending_yoy_pct": 1.0661216099866477</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-5.084948743139006,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-0.004729088367683154,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-2.159738232477182,</a:t>
            </a:r>
          </a:p>
          <a:p xmlns:a="http://schemas.openxmlformats.org/drawingml/2006/main">
            <a:r>
              <a:t>        "spending_yoy_pct": 6.658745677758771</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3.416171684213065,</a:t>
            </a:r>
          </a:p>
          <a:p xmlns:a="http://schemas.openxmlformats.org/drawingml/2006/main">
            <a:r>
              <a:t>        "spending_yoy_pct": 2.78161019702714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-3.3407180053658725,</a:t>
            </a:r>
          </a:p>
          <a:p xmlns:a="http://schemas.openxmlformats.org/drawingml/2006/main">
            <a:r>
              <a:t>        "spending_yoy_pct": 7.659458813227693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0.1917648649844672,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-0.13711943373028168,</a:t>
            </a:r>
          </a:p>
          <a:p xmlns:a="http://schemas.openxmlformats.org/drawingml/2006/main">
            <a:r>
              <a:t>        "spending_yoy_pct": 4.933893018036728</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-1.9664957516168258,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-0.8330123914969678,</a:t>
            </a:r>
          </a:p>
          <a:p xmlns:a="http://schemas.openxmlformats.org/drawingml/2006/main">
            <a:r>
              <a:t>        "spending_yoy_pct": 37.640108864536415</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7.745107525681205,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2.6814404526349644,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-11.738262349313622,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0.7982735908174332,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3.9292214795380698,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1.016923718387308,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1.1475336925274693,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0.02309067516510499,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1.1752424903732184,</a:t>
            </a:r>
          </a:p>
          <a:p xmlns:a="http://schemas.openxmlformats.org/drawingml/2006/main">
            <a:r>
              <a:t>        "spending_yoy_pct": 5.784673016796771</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0.6512867290074942,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2.5103800143091215,</a:t>
            </a:r>
          </a:p>
          <a:p xmlns:a="http://schemas.openxmlformats.org/drawingml/2006/main">
            <a:r>
              <a:t>        "spending_yoy_pct": 9.520113178780786</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15.517585713868876</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-0.021831037261310637,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-1.8020937666352155,</a:t>
            </a:r>
          </a:p>
          <a:p xmlns:a="http://schemas.openxmlformats.org/drawingml/2006/main">
            <a:r>
              <a:t>        "spending_yoy_pct": 4.387608388035358</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2.161627087729401,</a:t>
            </a:r>
          </a:p>
          <a:p xmlns:a="http://schemas.openxmlformats.org/drawingml/2006/main">
            <a:r>
              <a:t>        "spending_yoy_pct": 0.7681955241102489</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1.4376074623922541,</a:t>
            </a:r>
          </a:p>
          <a:p xmlns:a="http://schemas.openxmlformats.org/drawingml/2006/main">
            <a:r>
              <a:t>        "spending_yoy_pct": -0.5252023407957496</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-1.9824476603583885</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-1.094635619559492,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-0.4157538524296678,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-0.03909969108389921,</a:t>
            </a:r>
          </a:p>
          <a:p xmlns:a="http://schemas.openxmlformats.org/drawingml/2006/main">
            <a:r>
              <a:t>        "spending_yoy_pct": 24.268928579775473</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-2.7650328166700766,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3.17645200245269,</a:t>
            </a:r>
          </a:p>
          <a:p xmlns:a="http://schemas.openxmlformats.org/drawingml/2006/main">
            <a:r>
              <a:t>        "spending_yoy_pct": 15.490271744531281</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2.126429602344748,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2.446276459112906,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2.5971124765787224,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4.5266599226026605,</a:t>
            </a:r>
          </a:p>
          <a:p xmlns:a="http://schemas.openxmlformats.org/drawingml/2006/main">
            <a:r>
              <a:t>        "spending_yoy_pct": 27.301280740216516</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-0.12423394404349475,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4.565492258559134,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1.0039353259585715,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1.1493001597324914,</a:t>
            </a:r>
          </a:p>
          <a:p xmlns:a="http://schemas.openxmlformats.org/drawingml/2006/main">
            <a:r>
              <a:t>        "spending_yoy_pct": 0.7152053675203662</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0.8549389592575896,</a:t>
            </a:r>
          </a:p>
          <a:p xmlns:a="http://schemas.openxmlformats.org/drawingml/2006/main">
            <a:r>
              <a:t>        "spending_yoy_pct": 54.515586744429825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0.6696990720158169,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-1.2265414627372073,</a:t>
            </a:r>
          </a:p>
          <a:p xmlns:a="http://schemas.openxmlformats.org/drawingml/2006/main">
            <a:r>
              <a:t>        "spending_yoy_pct": 2.819393017454064</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4.418720080278593,</a:t>
            </a:r>
          </a:p>
          <a:p xmlns:a="http://schemas.openxmlformats.org/drawingml/2006/main">
            <a:r>
              <a:t>        "spending_yoy_pct": 80.10191905439277</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8.438700210446726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2.3706895536131256,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-2.196919183444135,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-0.20943825484315282,</a:t>
            </a:r>
          </a:p>
          <a:p xmlns:a="http://schemas.openxmlformats.org/drawingml/2006/main">
            <a:r>
              <a:t>        "spending_yoy_pct": 90.16980699536094</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1.4931429611678482,</a:t>
            </a:r>
          </a:p>
          <a:p xmlns:a="http://schemas.openxmlformats.org/drawingml/2006/main">
            <a:r>
              <a:t>        "spending_yoy_pct": 164.41633132776067</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0.5725787983204667,</a:t>
            </a:r>
          </a:p>
          <a:p xmlns:a="http://schemas.openxmlformats.org/drawingml/2006/main">
            <a:r>
              <a:t>        "spending_yoy_pct": 2.9201707509641794</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1.9080906230178662,</a:t>
            </a:r>
          </a:p>
          <a:p xmlns:a="http://schemas.openxmlformats.org/drawingml/2006/main">
            <a:r>
              <a:t>        "spending_yoy_pct": 93.29406351350364</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8.779900218563274</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-0.1543004095628131,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-4.9845806071294625,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0.4443307513116945,</a:t>
            </a:r>
          </a:p>
          <a:p xmlns:a="http://schemas.openxmlformats.org/drawingml/2006/main">
            <a:r>
              <a:t>        "spending_yoy_pct": 11.522133499214316</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-0.5533626758409849,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-5.682902364697629,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-6.197087223670394,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1.532627270013709,</a:t>
            </a:r>
          </a:p>
          <a:p xmlns:a="http://schemas.openxmlformats.org/drawingml/2006/main">
            <a:r>
              <a:t>        "spending_yoy_pct": 11.550184318092782</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-0.19569437562877434,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-0.9188809536138209,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-0.013909531225120286,</a:t>
            </a:r>
          </a:p>
          <a:p xmlns:a="http://schemas.openxmlformats.org/drawingml/2006/main">
            <a:r>
              <a:t>        "spending_yoy_pct": 2.9088830140476807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-0.15207888510152534,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-1.3899560482204198,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-7.2910216851574505,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-5.515868609397323,</a:t>
            </a:r>
          </a:p>
          <a:p xmlns:a="http://schemas.openxmlformats.org/drawingml/2006/main">
            <a:r>
              <a:t>        "spending_yoy_pct": -1.7817730383349328</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2.1795297362594557,</a:t>
            </a:r>
          </a:p>
          <a:p xmlns:a="http://schemas.openxmlformats.org/drawingml/2006/main">
            <a:r>
              <a:t>        "spending_yoy_pct": 28.383514181768852</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-3.7906092926320967,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-0.12463356717037355,</a:t>
            </a:r>
          </a:p>
          <a:p xmlns:a="http://schemas.openxmlformats.org/drawingml/2006/main">
            <a:r>
              <a:t>        "spending_yoy_pct": 15.444220129143616</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-0.3368063498548568,</a:t>
            </a:r>
          </a:p>
          <a:p xmlns:a="http://schemas.openxmlformats.org/drawingml/2006/main">
            <a:r>
              <a:t>        "spending_yoy_pct": 13.970563515910307</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1.010200811824924,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5.772683047324012,</a:t>
            </a:r>
          </a:p>
          <a:p xmlns:a="http://schemas.openxmlformats.org/drawingml/2006/main">
            <a:r>
              <a:t>        "spending_yoy_pct": 16.64700605789211</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7.0968608639590425,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8.91384142916214,</a:t>
            </a:r>
          </a:p>
          <a:p xmlns:a="http://schemas.openxmlformats.org/drawingml/2006/main">
            <a:r>
              <a:t>        "spending_yoy_pct": 51.42963050638678</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-4.5613101360050035,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4.65529590507352,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0.31874615966416275,</a:t>
            </a:r>
          </a:p>
          <a:p xmlns:a="http://schemas.openxmlformats.org/drawingml/2006/main">
            <a:r>
              <a:t>        "spending_yoy_pct": 199.8299142834811</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-3.899263505165773,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-1.8883975251061003,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0.11812466942986433,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-4.449903676617362,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-4.529772428896173,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-3.967948727511972,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-0.2007651826217982,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-3.204974055201437,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21.98935102974735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-23.845377664211888</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77.2454788529685</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-2.975129590969039,</a:t>
            </a:r>
          </a:p>
          <a:p xmlns:a="http://schemas.openxmlformats.org/drawingml/2006/main">
            <a:r>
              <a:t>        "spending_yoy_pct": -1.629426609535689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13.71754848584239</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2.817683783685676,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2.4821537544526873,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-8.388009807135566,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1.1946114274143271,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-0.8521609077245751,</a:t>
            </a:r>
          </a:p>
          <a:p xmlns:a="http://schemas.openxmlformats.org/drawingml/2006/main">
            <a:r>
              <a:t>        "spending_yoy_pct": 11.610152246182537</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-0.7214500007304392,</a:t>
            </a:r>
          </a:p>
          <a:p xmlns:a="http://schemas.openxmlformats.org/drawingml/2006/main">
            <a:r>
              <a:t>        "spending_yoy_pct": 7.591638703469283</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-0.9553189898898751,</a:t>
            </a:r>
          </a:p>
          <a:p xmlns:a="http://schemas.openxmlformats.org/drawingml/2006/main">
            <a:r>
              <a:t>        "spending_yoy_pct": -1.8532051877563682</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4.555014466689378,</a:t>
            </a:r>
          </a:p>
          <a:p xmlns:a="http://schemas.openxmlformats.org/drawingml/2006/main">
            <a:r>
              <a:t>        "spending_yoy_pct": 12.98517569147155</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2.6888462104591726,</a:t>
            </a:r>
          </a:p>
          <a:p xmlns:a="http://schemas.openxmlformats.org/drawingml/2006/main">
            <a:r>
              <a:t>        "spending_yoy_pct": 1.7726236280316332</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-0.9873473880396388,</a:t>
            </a:r>
          </a:p>
          <a:p xmlns:a="http://schemas.openxmlformats.org/drawingml/2006/main">
            <a:r>
              <a:t>        "spending_yoy_pct": 4.430062438540672</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-5.749236240423238,</a:t>
            </a:r>
          </a:p>
          <a:p xmlns:a="http://schemas.openxmlformats.org/drawingml/2006/main">
            <a:r>
              <a:t>        "spending_yoy_pct": -3.869100627733313</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1.3969318106962447,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-0.22657328637972762,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1.5620618810417541,</a:t>
            </a:r>
          </a:p>
          <a:p xmlns:a="http://schemas.openxmlformats.org/drawingml/2006/main">
            <a:r>
              <a:t>        "spending_yoy_pct": 18.180566393295393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-2.906227538650663,</a:t>
            </a:r>
          </a:p>
          <a:p xmlns:a="http://schemas.openxmlformats.org/drawingml/2006/main">
            <a:r>
              <a:t>        "spending_yoy_pct": 4.35084627396245</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0.7014064474913484,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-3.2244991634435616,</a:t>
            </a:r>
          </a:p>
          <a:p xmlns:a="http://schemas.openxmlformats.org/drawingml/2006/main">
            <a:r>
              <a:t>        "spending_yoy_pct": 9.438557404688797</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0.652448528912597,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4.100821235547691,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0.403969457144826,</a:t>
            </a:r>
          </a:p>
          <a:p xmlns:a="http://schemas.openxmlformats.org/drawingml/2006/main">
            <a:r>
              <a:t>        "spending_yoy_pct": 8.655919147978096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-1.766149282488072,</a:t>
            </a:r>
          </a:p>
          <a:p xmlns:a="http://schemas.openxmlformats.org/drawingml/2006/main">
            <a:r>
              <a:t>        "spending_yoy_pct": 4.485906316657062</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0.9780077525350483,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4.733581858819513,</a:t>
            </a:r>
          </a:p>
          <a:p xmlns:a="http://schemas.openxmlformats.org/drawingml/2006/main">
            <a:r>
              <a:t>        "spending_yoy_pct": 11.04932382073196</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-0.9787440386389679,</a:t>
            </a:r>
          </a:p>
          <a:p xmlns:a="http://schemas.openxmlformats.org/drawingml/2006/main">
            <a:r>
              <a:t>        "spending_yoy_pct": 33.77418347740544</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4.408676083206853,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-3.5195344542938822,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3.68077924608996,</a:t>
            </a:r>
          </a:p>
          <a:p xmlns:a="http://schemas.openxmlformats.org/drawingml/2006/main">
            <a:r>
              <a:t>        "spending_yoy_pct": 24.203541185743948</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2.091306262979553,</a:t>
            </a:r>
          </a:p>
          <a:p xmlns:a="http://schemas.openxmlformats.org/drawingml/2006/main">
            <a:r>
              <a:t>        "spending_yoy_pct": 19.094327547078937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-0.5303591349263614,</a:t>
            </a:r>
          </a:p>
          <a:p xmlns:a="http://schemas.openxmlformats.org/drawingml/2006/main">
            <a:r>
              <a:t>        "spending_yoy_pct": 2.817126268224812</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-0.7135985449665094,</a:t>
            </a:r>
          </a:p>
          <a:p xmlns:a="http://schemas.openxmlformats.org/drawingml/2006/main">
            <a:r>
              <a:t>        "spending_yoy_pct": 12.440013216896407</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-0.826923040419314,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3.2552629691459556,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1.544310172085006,</a:t>
            </a:r>
          </a:p>
          <a:p xmlns:a="http://schemas.openxmlformats.org/drawingml/2006/main">
            <a:r>
              <a:t>        "spending_yoy_pct": 13.269352912248976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-0.5690410799997103,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2.036957530408534,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-1.8008178398181807,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-1.424513143058459,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-0.5564090965809787,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2.294602584905081,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-4.281167592593893,</a:t>
            </a:r>
          </a:p>
          <a:p xmlns:a="http://schemas.openxmlformats.org/drawingml/2006/main">
            <a:r>
              <a:t>        "spending_yoy_pct": 7.363366661362503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0.9016050829677491</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2.6030321555469804,</a:t>
            </a:r>
          </a:p>
          <a:p xmlns:a="http://schemas.openxmlformats.org/drawingml/2006/main">
            <a:r>
              <a:t>        "spending_yoy_pct": 62.52152140018454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-1.869977091489472,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-0.30452048491245165,</a:t>
            </a:r>
          </a:p>
          <a:p xmlns:a="http://schemas.openxmlformats.org/drawingml/2006/main">
            <a:r>
              <a:t>        "spending_yoy_pct": 9.128785699086993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4.253574353563128,</a:t>
            </a:r>
          </a:p>
          <a:p xmlns:a="http://schemas.openxmlformats.org/drawingml/2006/main">
            <a:r>
              <a:t>        "spending_yoy_pct": -0.39307051850207</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-2.147594135319486,</a:t>
            </a:r>
          </a:p>
          <a:p xmlns:a="http://schemas.openxmlformats.org/drawingml/2006/main">
            <a:r>
              <a:t>        "spending_yoy_pct": -3.236192328869203</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0.9935772294742629,</a:t>
            </a:r>
          </a:p>
          <a:p xmlns:a="http://schemas.openxmlformats.org/drawingml/2006/main">
            <a:r>
              <a:t>        "spending_yoy_pct": 10.485707821897062</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1.487521488159138,</a:t>
            </a:r>
          </a:p>
          <a:p xmlns:a="http://schemas.openxmlformats.org/drawingml/2006/main">
            <a:r>
              <a:t>        "spending_yoy_pct": 1.2888193298384865</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-1.40416628182366,</a:t>
            </a:r>
          </a:p>
          <a:p xmlns:a="http://schemas.openxmlformats.org/drawingml/2006/main">
            <a:r>
              <a:t>        "spending_yoy_pct": -2.588345108767043</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-2.5168617337829824,</a:t>
            </a:r>
          </a:p>
          <a:p xmlns:a="http://schemas.openxmlformats.org/drawingml/2006/main">
            <a:r>
              <a:t>        "spending_yoy_pct": -4.482092207211219</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-11.306522531093933,</a:t>
            </a:r>
          </a:p>
          <a:p xmlns:a="http://schemas.openxmlformats.org/drawingml/2006/main">
            <a:r>
              <a:t>        "spending_yoy_pct": -11.57250799849544</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5.339277215525051,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3.917907343849847,</a:t>
            </a:r>
          </a:p>
          <a:p xmlns:a="http://schemas.openxmlformats.org/drawingml/2006/main">
            <a:r>
              <a:t>        "spending_yoy_pct": 37.63030093728903</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-1.8552327862504048,</a:t>
            </a:r>
          </a:p>
          <a:p xmlns:a="http://schemas.openxmlformats.org/drawingml/2006/main">
            <a:r>
              <a:t>        "spending_yoy_pct": 17.91727578060309</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-2.5922628029858785,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-3.8050913694334665,</a:t>
            </a:r>
          </a:p>
          <a:p xmlns:a="http://schemas.openxmlformats.org/drawingml/2006/main">
            <a:r>
              <a:t>        "spending_yoy_pct": -2.829737192897619</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-4.470951871747653,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-4.022517360300859,</a:t>
            </a:r>
          </a:p>
          <a:p xmlns:a="http://schemas.openxmlformats.org/drawingml/2006/main">
            <a:r>
              <a:t>        "spending_yoy_pct": -1.9999763950737104</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-3.942188474476893,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-2.7943796052375403,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-3.3897637721457707,</a:t>
            </a:r>
          </a:p>
          <a:p xmlns:a="http://schemas.openxmlformats.org/drawingml/2006/main">
            <a:r>
              <a:t>        "spending_yoy_pct": 0.633656482224243</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-0.04349507838015132,</a:t>
            </a:r>
          </a:p>
          <a:p xmlns:a="http://schemas.openxmlformats.org/drawingml/2006/main">
            <a:r>
              <a:t>        "spending_yoy_pct": 27.22182967008513</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-5.909742520692795,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-7.053620032661945,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-6.648802559754008,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-4.343147418429072,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-3.47720564034385,</a:t>
            </a:r>
          </a:p>
          <a:p xmlns:a="http://schemas.openxmlformats.org/drawingml/2006/main">
            <a:r>
              <a:t>        "spending_yoy_pct": -19.459853142577387</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-7.594166067586816,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-0.4638258656956218,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-6.627616864286345,</a:t>
            </a:r>
          </a:p>
          <a:p xmlns:a="http://schemas.openxmlformats.org/drawingml/2006/main">
            <a:r>
              <a:t>        "spending_yoy_pct": 1.7686019122850727</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-0.6758954076027224,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4.597012440752213,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0.2262425995711581,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-9.68958471728848,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-2.186202233151302,</a:t>
            </a:r>
          </a:p>
          <a:p xmlns:a="http://schemas.openxmlformats.org/drawingml/2006/main">
            <a:r>
              <a:t>        "spending_yoy_pct": -1.7467930855516123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-6.611276395036647,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-16.028109986249916</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4.291963563452361,</a:t>
            </a:r>
          </a:p>
          <a:p xmlns:a="http://schemas.openxmlformats.org/drawingml/2006/main">
            <a:r>
              <a:t>        "spending_yoy_pct": 3.429187439863446</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-0.77126243208957,</a:t>
            </a:r>
          </a:p>
          <a:p xmlns:a="http://schemas.openxmlformats.org/drawingml/2006/main">
            <a:r>
              <a:t>        "spending_yoy_pct": -1.6686228105042833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-8.113949274469512,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-1.9404077647184215,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-2.9970332041111325,</a:t>
            </a:r>
          </a:p>
          <a:p xmlns:a="http://schemas.openxmlformats.org/drawingml/2006/main">
            <a:r>
              <a:t>        "spending_yoy_pct": -0.344215997377606</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-3.253411379185267,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0.9396432003732524,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0.2564369450511528,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-0.20290858416329716,</a:t>
            </a:r>
          </a:p>
          <a:p xmlns:a="http://schemas.openxmlformats.org/drawingml/2006/main">
            <a:r>
              <a:t>        "spending_yoy_pct": 107.12602440650927</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-4.419836099319118,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-1.5360538235401844,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0.24478534850893574,</a:t>
            </a:r>
          </a:p>
          <a:p xmlns:a="http://schemas.openxmlformats.org/drawingml/2006/main">
            <a:r>
              <a:t>        "spending_yoy_pct": -3.5472930631496813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-6.101401347839364,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1.6381359427136033,</a:t>
            </a:r>
          </a:p>
          <a:p xmlns:a="http://schemas.openxmlformats.org/drawingml/2006/main">
            <a:r>
              <a:t>        "spending_yoy_pct": 21.67555151294014</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-2.7921566891576433,</a:t>
            </a:r>
          </a:p>
          <a:p xmlns:a="http://schemas.openxmlformats.org/drawingml/2006/main">
            <a:r>
              <a:t>        "spending_yoy_pct": 3.2182000713773418</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1.9721057822461585,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0.2612705243280944,</a:t>
            </a:r>
          </a:p>
          <a:p xmlns:a="http://schemas.openxmlformats.org/drawingml/2006/main">
            <a:r>
              <a:t>        "spending_yoy_pct": 7.768108787176065</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-2.2014068292360522,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-1.926036252205876,</a:t>
            </a:r>
          </a:p>
          <a:p xmlns:a="http://schemas.openxmlformats.org/drawingml/2006/main">
            <a:r>
              <a:t>        "spending_yoy_pct": 17.440281108802136</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-7.112510215020695,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1.8046777943435899,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1.3354637153798476,</a:t>
            </a:r>
          </a:p>
          <a:p xmlns:a="http://schemas.openxmlformats.org/drawingml/2006/main">
            <a:r>
              <a:t>        "spending_yoy_pct": 4.336507996980998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3.43009996565109,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0.8598805391942577,</a:t>
            </a:r>
          </a:p>
          <a:p xmlns:a="http://schemas.openxmlformats.org/drawingml/2006/main">
            <a:r>
              <a:t>        "spending_yoy_pct": 6.441991433916305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0.21217211529411806,</a:t>
            </a:r>
          </a:p>
          <a:p xmlns:a="http://schemas.openxmlformats.org/drawingml/2006/main">
            <a:r>
              <a:t>        "spending_yoy_pct": -3.405545347488803</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2.511238291733453,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0.18077100821116687,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0.18973668636870222,</a:t>
            </a:r>
          </a:p>
          <a:p xmlns:a="http://schemas.openxmlformats.org/drawingml/2006/main">
            <a:r>
              <a:t>        "spending_yoy_pct": 18.335822536892167</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-1.9728604465589328,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"priority": 1,</a:t>
            </a:r>
          </a:p>
          <a:p xmlns:a="http://schemas.openxmlformats.org/drawingml/2006/main">
            <a:r>
              <a:t>    "timeframe": "2026-10 ~ 2026-12, 3개월",</a:t>
            </a:r>
          </a:p>
          <a:p xmlns:a="http://schemas.openxmlformats.org/drawingml/2006/main">
            <a:r>
              <a:t>    "title": "제주시 야간 문화유산 및 시설 개방 프로그램",</a:t>
            </a:r>
          </a:p>
          <a:p xmlns:a="http://schemas.openxmlformats.org/drawingml/2006/main">
            <a:r>
              <a:t>    "problem_to_solve": "방문자 수 감소 및 낮은 숙박 비율을 개선하기 위한 야간 관광 콘텐츠 부족",</a:t>
            </a:r>
          </a:p>
          <a:p xmlns:a="http://schemas.openxmlformats.org/drawingml/2006/main">
            <a:r>
              <a:t>    "comparison_analysis": "서울특별시 문화유산 집적지역의 야간 개방 사례(case:4bac3530eca721)를 참고하되, 제주시의 항공·렌터카 중심 이동 환경과 가을·겨울철 기상 변수를 고려하여 프로그램을 조정함",</a:t>
            </a:r>
          </a:p>
          <a:p xmlns:a="http://schemas.openxmlformats.org/drawingml/2006/main">
            <a:r>
              <a:t>    "solution": "제주시 내 박물관, 공연장, 문화유산 등 기존 시설을 활용하여 야간 개방 및 체험 프로그램을 확대 운영",</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"schedule": "2026-10",</a:t>
            </a:r>
          </a:p>
          <a:p xmlns:a="http://schemas.openxmlformats.org/drawingml/2006/main">
            <a:r>
              <a:t>        "task": "사업 담당자가 제주시 내 야간 개방 가능 시설(박물관, 문화유산 등)을 전수 조사하고 시설 관리 주체와 운영 협약을 체결함",</a:t>
            </a:r>
          </a:p>
          <a:p xmlns:a="http://schemas.openxmlformats.org/drawingml/2006/main">
            <a:r>
              <a:t>        "deliverable": "대상 시설 목록 및 운영 협약서(안)"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"schedule": "2026-10",</a:t>
            </a:r>
          </a:p>
          <a:p xmlns:a="http://schemas.openxmlformats.org/drawingml/2006/main">
            <a:r>
              <a:t>        "task": "기획팀이 야간 프로그램 콘텐츠를 기획하고, 운영팀이 현장 인력 배치 및 안전 관리 계획을 수립함",</a:t>
            </a:r>
          </a:p>
          <a:p xmlns:a="http://schemas.openxmlformats.org/drawingml/2006/main">
            <a:r>
              <a:t>        "deliverable": "프로그램 운영 매뉴얼 및 안전 관리 계획서"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"schedule": "2026-10",</a:t>
            </a:r>
          </a:p>
          <a:p xmlns:a="http://schemas.openxmlformats.org/drawingml/2006/main">
            <a:r>
              <a:t>        "task": "운영팀이 예약 시스템 구축을 확인하고, 지역 상권 담당자가 인근 식음·상점 연계 프로모션을 설계함",</a:t>
            </a:r>
          </a:p>
          <a:p xmlns:a="http://schemas.openxmlformats.org/drawingml/2006/main">
            <a:r>
              <a:t>        "deliverable": "예약 시스템 및 연계 상점 리스트"</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"schedule": "2026-11 ~ 2026-12",</a:t>
            </a:r>
          </a:p>
          <a:p xmlns:a="http://schemas.openxmlformats.org/drawingml/2006/main">
            <a:r>
              <a:t>        "task": "현장 운영팀이 야간 체험 프로그램을 시범 운영하며, 사업 담당자가 주간 운영 결과 및 현장 모니터링을 수행함",</a:t>
            </a:r>
          </a:p>
          <a:p xmlns:a="http://schemas.openxmlformats.org/drawingml/2006/main">
            <a:r>
              <a:t>        "deliverable": "주간 운영 결과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"schedule": "2026-12",</a:t>
            </a:r>
          </a:p>
          <a:p xmlns:a="http://schemas.openxmlformats.org/drawingml/2006/main">
            <a:r>
              <a:t>        "task": "데이터 분석 담당자가 이용 완료율 및 인근 상권 결제 데이터를 집계하여 성과를 검증함",</a:t>
            </a:r>
          </a:p>
          <a:p xmlns:a="http://schemas.openxmlformats.org/drawingml/2006/main">
            <a:r>
              <a:t>        "deliverable": "최종 사업 성과 분석 보고서"</a:t>
            </a:r>
          </a:p>
          <a:p xmlns:a="http://schemas.openxmlformats.org/drawingml/2006/main">
            <a:r>
              <a:t>      }</a:t>
            </a:r>
          </a:p>
          <a:p xmlns:a="http://schemas.openxmlformats.org/drawingml/2006/main">
            <a:r>
              <a:t>    ],</a:t>
            </a:r>
          </a:p>
          <a:p xmlns:a="http://schemas.openxmlformats.org/drawingml/2006/main">
            <a:r>
              <a:t>    "expected_effect": "계획 목표: 최종월 ML 전망 대비 방문 +0.03%, 소비 +0.05%. 운영 규모와 참여 가정으로 산정하며 실제 성과는 별도 집계합니다.",</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"kpi": "야간 프로그램 이용 완료율(분자: 야간 이용을 완료한 고유 참여 ID 수 / 분모: 승인한 고유 참여 ID 수), 기준기간: 해당 승인·발급 집단의 이용 유효기간, 측정 주기: 매주, 수집 방법: 신청·승인·취소·이용·결제 원장 집계, 비교 집단: 미운영 집단(분모 부재로 직접 비교 불가하므로 이용률 추이로 기술), 성공 기준: 착수 전 확정할 기준선 대비 달성 여부로 판단",</a:t>
            </a:r>
          </a:p>
          <a:p xmlns:a="http://schemas.openxmlformats.org/drawingml/2006/main">
            <a:r>
              <a:t>    "evidence": "case:4bac3530eca721, dataset:50110:1, dataset:50110:2, dataset:50110:4, dataset:50110:6",</a:t>
            </a:r>
          </a:p>
          <a:p xmlns:a="http://schemas.openxmlformats.org/drawingml/2006/main">
            <a:r>
              <a:t>    "visual_asset_source_ids": [</a:t>
            </a:r>
          </a:p>
          <a:p xmlns:a="http://schemas.openxmlformats.org/drawingml/2006/main">
            <a:r>
              <a:t>      "case:4bac3530eca721"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0.03221447862482329,</a:t>
            </a:r>
          </a:p>
          <a:p>
            <a:r>
              <a:t>    "spending_target_pct": 0.05311575279200933,</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"caption": "서울 중구 정동 · 정동야행 행사 사진",</a:t>
            </a:r>
          </a:p>
          <a:p xmlns:a="http://schemas.openxmlformats.org/drawingml/2006/main">
            <a:r>
              <a:t>      "credit": "서울문화포털 · 2024 정동야행",</a:t>
            </a:r>
          </a:p>
          <a:p xmlns:a="http://schemas.openxmlformats.org/drawingml/2006/main">
            <a:r>
              <a:t>      "page_url": "https://culture.seoul.go.kr/culture/culture/cultureEvent/view.do?cultcode=146365&amp;menuNo=200009",</a:t>
            </a:r>
          </a:p>
          <a:p xmlns:a="http://schemas.openxmlformats.org/drawingml/2006/main">
            <a:r>
              <a:t>      "image_url": "https://culture.seoul.go.kr/resources/culture/img/editor/culture/editor_20240530140505_47975.jpg",</a:t>
            </a:r>
          </a:p>
          <a:p xmlns:a="http://schemas.openxmlformats.org/drawingml/2006/main">
            <a:r>
              <a:t>      "match_kind": "documented_constituent_event",</a:t>
            </a:r>
          </a:p>
          <a:p xmlns:a="http://schemas.openxmlformats.org/drawingml/2006/main">
            <a:r>
              <a:t>      "retrieved_at": "2026-09-15"</a:t>
            </a:r>
          </a:p>
          <a:p xmlns:a="http://schemas.openxmlformats.org/drawingml/2006/main">
            <a:r>
              <a:t>    },</a:t>
            </a:r>
          </a:p>
          <a:p xmlns:a="http://schemas.openxmlformats.org/drawingml/2006/main">
            <a:r>
              <a:t>    {</a:t>
            </a:r>
          </a:p>
          <a:p xmlns:a="http://schemas.openxmlformats.org/drawingml/2006/main">
            <a:r>
              <a:t>      "filename": "gangjin_official.jpg",</a:t>
            </a:r>
          </a:p>
          <a:p xmlns:a="http://schemas.openxmlformats.org/drawingml/2006/main">
            <a:r>
              <a:t>      "caption":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"schedule": "2026-10", "task": "사업 담당자가 제주시 내 야간 개방 가능 시설(박물관, 문화유산 등)을 전수 조사하고 시설 관리 주체와 운영 협약을 체결함", "deliverable": "대상 시설 목록 및 운영 협약서(안)"}, {"step": 2, "schedule": "2026-10", "task": "기획팀이 야간 프로그램 콘텐츠를 기획하고, 운영팀이 현장 인력 배치 및 안전 관리 계획을 수립함", "deliverable": "프로그램 운영 매뉴얼 및 안전 관리 계획서"}, {"step": 3, "schedule": "2026-10", "task": "운영팀이 예약 시스템 구축을 확인하고, 지역 상권 담당자가 인근 식음·상점 연계 프로모션을 설계함", "deliverable": "예약 시스템 및 연계 상점 리스트"}, {"step": 4, "schedule": "2026-11 ~ 2026-12", "task": "현장 운영팀이 야간 체험 프로그램을 시범 운영하며, 사업 담당자가 주간 운영 결과 및 현장 모니터링을 수행함", "deliverable": "주간 운영 결과 보고서"}, {"step": 5, "schedule": "2026-12", "task": "데이터 분석 담당자가 이용 완료율 및 인근 상권 결제 데이터를 집계하여 성과를 검증함", "deliverable": "최종 사업 성과 분석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0.03221447862482329,</a:t>
            </a:r>
          </a:p>
          <a:p>
            <a:r>
              <a:t>    "spending_target_pct": 0.05311575279200933,</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"export_evidence": {</a:t>
            </a:r>
          </a:p>
          <a:p>
            <a:r>
              <a:t>    "title": "서울 중구 · 정동야행",</a:t>
            </a:r>
          </a:p>
          <a:p>
            <a:r>
              <a:t>    "scope": "선정한 서울 문화재야행 사업에 포함된 정동야행",</a:t>
            </a:r>
          </a:p>
          <a:p>
            <a:r>
              <a:t>    "action": "역사·문화시설을 밤에도 개방하고, 공연과 체험을 함께 운영",</a:t>
            </a:r>
          </a:p>
          <a:p>
            <a:r>
              <a:t>    "metric": "행사 방문객",</a:t>
            </a:r>
          </a:p>
          <a:p>
            <a:r>
              <a:t>    "before": 100000,</a:t>
            </a:r>
          </a:p>
          <a:p>
            <a:r>
              <a:t>    "after": 130000,</a:t>
            </a:r>
          </a:p>
          <a:p>
            <a:r>
              <a:t>    "before_label": "2023년 · 10월 13–14일",</a:t>
            </a:r>
          </a:p>
          <a:p>
            <a:r>
              <a:t>    "after_label": "2024년 · 5월 24–25일",</a:t>
            </a:r>
          </a:p>
          <a:p>
            <a:r>
              <a:t>    "before_note": "중구청 발표 · 약 10만 명",</a:t>
            </a:r>
          </a:p>
          <a:p>
            <a:r>
              <a:t>    "after_note": "중구청 발표 · 13만 명",</a:t>
            </a:r>
          </a:p>
          <a:p>
            <a:r>
              <a:t>    "interpretation": "두 해의 행사 방문객 비교입니다. 개최 계절이 달라 사업 단독 효과로 해석하지 않습니다.",</a:t>
            </a:r>
          </a:p>
          <a:p>
            <a:r>
              <a:t>    "references": [</a:t>
            </a:r>
          </a:p>
          <a:p>
            <a:r>
              <a:t>      [</a:t>
            </a:r>
          </a:p>
          <a:p>
            <a:r>
              <a:t>        "중구청 · 2023 정동야행 성공적 개최 (2023.10.15)",</a:t>
            </a:r>
          </a:p>
          <a:p>
            <a:r>
              <a:t>        "https://www.junggu.seoul.kr/content.do?cid=1235161279&amp;cmsid=14390&amp;mode=view"</a:t>
            </a:r>
          </a:p>
          <a:p>
            <a:r>
              <a:t>      ],</a:t>
            </a:r>
          </a:p>
          <a:p>
            <a:r>
              <a:t>      [</a:t>
            </a:r>
          </a:p>
          <a:p>
            <a:r>
              <a:t>        "중구청 · 2024 정동야행, 봄밤의 낭만 활짝 (2024.05.27)",</a:t>
            </a:r>
          </a:p>
          <a:p>
            <a:r>
              <a:t>        "https://www.junggu.seoul.kr/content.do?cid=1280957763&amp;cmsid=14390&amp;mode=view"</a:t>
            </a:r>
          </a:p>
          <a:p>
            <a:r>
              <a:t>      ],</a:t>
            </a:r>
          </a:p>
          <a:p>
            <a:r>
              <a:t>      [</a:t>
            </a:r>
          </a:p>
          <a:p>
            <a:r>
              <a:t>        "서울문화포털 · 2024 정동야행 행사 내용과 사진",</a:t>
            </a:r>
          </a:p>
          <a:p>
            <a:r>
              <a:t>        "https://culture.seoul.go.kr/culture/culture/cultureEvent/view.do?cultcode=146365&amp;menuNo=200009"</a:t>
            </a:r>
          </a:p>
          <a:p>
            <a:r>
              <a:t>      ]</a:t>
            </a:r>
          </a:p>
          <a:p>
            <a:r>
              <a:t>    ],</a:t>
            </a:r>
          </a:p>
          <a:p>
            <a:r>
              <a:t>    "photo": {</a:t>
            </a:r>
          </a:p>
          <a:p>
            <a:r>
              <a:t>      "path": "C:\\Users\\Admin\\mbca\\TP2-3\\ai_server\\assets\\proposal_cases\\jeongdong_2024.jpg",</a:t>
            </a:r>
          </a:p>
          <a:p>
            <a:r>
              <a:t>      "caption": "서울 중구 정동 · 정동야행 행사 사진",</a:t>
            </a:r>
          </a:p>
          <a:p>
            <a:r>
              <a:t>      "credit": "서울문화포털 · 2024 정동야행",</a:t>
            </a:r>
          </a:p>
          <a:p>
            <a:r>
              <a:t>      "page_url": "https://culture.seoul.go.kr/culture/culture/cultureEvent/view.do?cultcode=146365&amp;menuNo=200009",</a:t>
            </a:r>
          </a:p>
          <a:p>
            <a:r>
              <a:t>      "image_url": "https://culture.seoul.go.kr/resources/culture/img/editor/culture/editor_20240530140505_47975.jpg",</a:t>
            </a:r>
          </a:p>
          <a:p>
            <a:r>
              <a:t>      "match_kind": "documented_constituent_event",</a:t>
            </a:r>
          </a:p>
          <a:p>
            <a:r>
              <a:t>      "retrieved_at": "2026-09-15"</a:t>
            </a:r>
          </a:p>
          <a:p>
            <a:r>
              <a:t>    },</a:t>
            </a:r>
          </a:p>
          <a:p>
            <a:r>
              <a:t>    "parent_source": "https://culture.seoul.go.kr/culture/cmmn/file/fileDown.do?atchFileId=c4638ecc9ce84bba9e51ecc2e11293e2&amp;bbsId=&amp;fileSn=2&amp;menuNo=200050",</a:t>
            </a:r>
          </a:p>
          <a:p>
            <a:r>
              <a:t>    "parent_page": 83,</a:t>
            </a:r>
          </a:p>
          <a:p>
            <a:r>
              <a:t>    "verified_at": "2026-09-15"</a:t>
            </a:r>
          </a:p>
          <a:p>
            <a:r>
              <a:t>  },</a:t>
            </a:r>
          </a:p>
          <a:p>
            <a:r>
              <a:t>  "rule": "Facts refer only to the named event / period. Saved regional targets are unchanged."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운영 규모와 참여 가정에서 추가 방문·소비를 계산합니다. 지역 전체 사례 증가율이나 인구 비율을 신규 사업의 효과로 복사하지 않습니다. 운영량과 단가를 곱해 예상 견적을 산정합니다. 자동 제안과 사용자 수정 목표는 구분하며 계획 시나리오는 통계적 신뢰구간이 아닙니다.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10,582,411명 (추가 2,246명, +0.02%)\n관광소비액: 기준 444,918,852,321원 → 목표 445,076,205,485원 (추가 157,353,164원, +0.04%)\n월별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아닙니다.\n6개 × 월 8일 × 3개월 × 하루 2회 × 회당 40명 = 11,520명분 → 편성 참여 한도 11,520건.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10582411.0,</a:t>
            </a:r>
          </a:p>
          <a:p>
            <a:r>
              <a:t>        "additional": 2246.0,</a:t>
            </a:r>
          </a:p>
          <a:p>
            <a:r>
              <a:t>        "pct": 0.02122840239258128</a:t>
            </a:r>
          </a:p>
          <a:p>
            <a:r>
              <a:t>      },</a:t>
            </a:r>
          </a:p>
          <a:p>
            <a:r>
              <a:t>      {</a:t>
            </a:r>
          </a:p>
          <a:p>
            <a:r>
              <a:t>        "key": "spending",</a:t>
            </a:r>
          </a:p>
          <a:p>
            <a:r>
              <a:t>        "label": "관광소비액",</a:t>
            </a:r>
          </a:p>
          <a:p>
            <a:r>
              <a:t>        "unit": "원",</a:t>
            </a:r>
          </a:p>
          <a:p>
            <a:r>
              <a:t>        "baseline": 444918852321.0,</a:t>
            </a:r>
          </a:p>
          <a:p>
            <a:r>
              <a:t>        "target": 445076205485.0,</a:t>
            </a:r>
          </a:p>
          <a:p>
            <a:r>
              <a:t>        "additional": 157353164.0,</a:t>
            </a:r>
          </a:p>
          <a:p>
            <a:r>
              <a:t>        "pct": 0.035366710846074234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a:t>
            </a:r>
          </a:p>
          <a:p>
            <a:r>
              <a:t>    "estimate": {</a:t>
            </a:r>
          </a:p>
          <a:p>
            <a:r>
              <a:t>      "version": "operating-capacity-v1",</a:t>
            </a:r>
          </a:p>
          <a:p>
            <a:r>
              <a:t>      "status": "planning_assumption_not_quote",</a:t>
            </a:r>
          </a:p>
          <a:p>
            <a:r>
              <a:t>      "scale_basis": "6개 × 월 8일 × 3개월 × 하루 2회 × 회당 40명 = 11,520명분 → 편성 참여 한도 11,520건. 모든 단가는 기획 가정.",</a:t>
            </a:r>
          </a:p>
          <a:p>
            <a:r>
              <a:t>      "months": 3,</a:t>
            </a:r>
          </a:p>
          <a:p>
            <a:r>
              <a:t>      "refund": false,</a:t>
            </a:r>
          </a:p>
          <a:p>
            <a:r>
              <a:t>      "quantity": 11520,</a:t>
            </a:r>
          </a:p>
          <a:p>
            <a:r>
              <a:t>      "unit_krw": 10000,</a:t>
            </a:r>
          </a:p>
          <a:p>
            <a:r>
              <a:t>      "redemption_target_pct": 65.0,</a:t>
            </a:r>
          </a:p>
          <a:p>
            <a:r>
              <a:t>      "redemption_count": 7488,</a:t>
            </a:r>
          </a:p>
          <a:p>
            <a:r>
              <a:t>      "qualifying_spend_krw": null,</a:t>
            </a:r>
          </a:p>
          <a:p>
            <a:r>
              <a:t>      "subtotal_krw": 152800000,</a:t>
            </a:r>
          </a:p>
          <a:p>
            <a:r>
              <a:t>      "reserve_krw": 15280000,</a:t>
            </a:r>
          </a:p>
          <a:p>
            <a:r>
              <a:t>      "total_krw": 168080000,</a:t>
            </a:r>
          </a:p>
          <a:p>
            <a:r>
              <a:t>      "within_hard_budget": true,</a:t>
            </a:r>
          </a:p>
          <a:p>
            <a:r>
              <a:t>      "items": [</a:t>
            </a:r>
          </a:p>
          <a:p>
            <a:r>
              <a:t>        {</a:t>
            </a:r>
          </a:p>
          <a:p>
            <a:r>
              <a:t>          "name": "프로그램 운영·참여 지원",</a:t>
            </a:r>
          </a:p>
          <a:p>
            <a:r>
              <a:t>          "basis": "편성 참여 한도 11,520건 × 가정 단가 10,000원",</a:t>
            </a:r>
          </a:p>
          <a:p>
            <a:r>
              <a:t>          "amount": 115200000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152,800,000원 × 10%",</a:t>
            </a:r>
          </a:p>
          <a:p>
            <a:r>
              <a:t>          "amount": 15280000</a:t>
            </a:r>
          </a:p>
          <a:p>
            <a:r>
              <a:t>        }</a:t>
            </a:r>
          </a:p>
          <a:p>
            <a:r>
              <a:t>      ],</a:t>
            </a:r>
          </a:p>
          <a:p>
            <a:r>
              <a:t>      "sources": [],</a:t>
            </a:r>
          </a:p>
          <a:p>
            <a:r>
              <a:t>      "assumptions": [</a:t>
            </a:r>
          </a:p>
          <a:p>
            <a:r>
              <a:t>        "기획용 예상 견적이며 실제 액수와 다를 수 있습니다."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proposal_evidence.build_reference_estimate; idea_proposal.scale_estimate.</a:t>
            </a:r>
          </a:p>
          <a:p>
            <a:r>
              <a:t>{</a:t>
            </a:r>
          </a:p>
          <a:p>
            <a:r>
              <a:t>  "version": "operating-capacity-v1",</a:t>
            </a:r>
          </a:p>
          <a:p>
            <a:r>
              <a:t>  "status": "planning_assumption_not_quote",</a:t>
            </a:r>
          </a:p>
          <a:p>
            <a:r>
              <a:t>  "scale_basis": "6개 × 월 8일 × 3개월 × 하루 2회 × 회당 40명 = 11,520명분 → 편성 참여 한도 11,520건. 모든 단가는 기획 가정.",</a:t>
            </a:r>
          </a:p>
          <a:p>
            <a:r>
              <a:t>  "months": 3,</a:t>
            </a:r>
          </a:p>
          <a:p>
            <a:r>
              <a:t>  "refund": false,</a:t>
            </a:r>
          </a:p>
          <a:p>
            <a:r>
              <a:t>  "quantity": 11520,</a:t>
            </a:r>
          </a:p>
          <a:p>
            <a:r>
              <a:t>  "unit_krw": 10000,</a:t>
            </a:r>
          </a:p>
          <a:p>
            <a:r>
              <a:t>  "redemption_target_pct": 65.0,</a:t>
            </a:r>
          </a:p>
          <a:p>
            <a:r>
              <a:t>  "redemption_count": 7488,</a:t>
            </a:r>
          </a:p>
          <a:p>
            <a:r>
              <a:t>  "qualifying_spend_krw": null,</a:t>
            </a:r>
          </a:p>
          <a:p>
            <a:r>
              <a:t>  "subtotal_krw": 152800000,</a:t>
            </a:r>
          </a:p>
          <a:p>
            <a:r>
              <a:t>  "reserve_krw": 15280000,</a:t>
            </a:r>
          </a:p>
          <a:p>
            <a:r>
              <a:t>  "total_krw": 168080000,</a:t>
            </a:r>
          </a:p>
          <a:p>
            <a:r>
              <a:t>  "within_hard_budget": true,</a:t>
            </a:r>
          </a:p>
          <a:p>
            <a:r>
              <a:t>  "items": [</a:t>
            </a:r>
          </a:p>
          <a:p>
            <a:r>
              <a:t>    {</a:t>
            </a:r>
          </a:p>
          <a:p>
            <a:r>
              <a:t>      "name": "프로그램 운영·참여 지원",</a:t>
            </a:r>
          </a:p>
          <a:p>
            <a:r>
              <a:t>      "basis": "편성 참여 한도 11,520건 × 가정 단가 10,000원",</a:t>
            </a:r>
          </a:p>
          <a:p>
            <a:r>
              <a:t>      "amount": 115200000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152,800,000원 × 10%",</a:t>
            </a:r>
          </a:p>
          <a:p>
            <a:r>
              <a:t>      "amount": 15280000</a:t>
            </a:r>
          </a:p>
          <a:p>
            <a:r>
              <a:t>    }</a:t>
            </a:r>
          </a:p>
          <a:p>
            <a:r>
              <a:t>  ],</a:t>
            </a:r>
          </a:p>
          <a:p>
            <a:r>
              <a:t>  "sources": [],</a:t>
            </a:r>
          </a:p>
          <a:p>
            <a:r>
              <a:t>  "assumptions": [</a:t>
            </a:r>
          </a:p>
          <a:p>
            <a:r>
              <a:t>    "기획용 예상 견적이며 실제 액수와 다를 수 있습니다."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"source_id": "dataset:50110:1",</a:t>
            </a:r>
          </a:p>
          <a:p xmlns:a="http://schemas.openxmlformats.org/drawingml/2006/main">
            <a:r>
              <a:t>      "source_type": "dataset",</a:t>
            </a:r>
          </a:p>
          <a:p xmlns:a="http://schemas.openxmlformats.org/drawingml/2006/main">
            <a:r>
              <a:t>      "title": "한국관광 데이터랩 · 제주특별자치도 제주시 순 방문자 수 및 숙박 비율 (이동통신 기반 외지인)",</a:t>
            </a:r>
          </a:p>
          <a:p xmlns:a="http://schemas.openxmlformats.org/drawingml/2006/main">
            <a:r>
              <a:t>      "source_url": "https://datalab.visitkorea.or.kr/",</a:t>
            </a:r>
          </a:p>
          <a:p xmlns:a="http://schemas.openxmlformats.org/drawingml/2006/main">
            <a:r>
              <a:t>      "summary": "월간 순 방문자 수: 3,131,476명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"dataset:50110:2",</a:t>
            </a:r>
          </a:p>
          <a:p xmlns:a="http://schemas.openxmlformats.org/drawingml/2006/main">
            <a:r>
              <a:t>      "source_type": "dataset",</a:t>
            </a:r>
          </a:p>
          <a:p xmlns:a="http://schemas.openxmlformats.org/drawingml/2006/main">
            <a:r>
              <a:t>      "title": "한국관광 데이터랩 · 제주특별자치도 제주시 월간 순 방문자 수 (이동통신 기반 외지인)",</a:t>
            </a:r>
          </a:p>
          <a:p xmlns:a="http://schemas.openxmlformats.org/drawingml/2006/main">
            <a:r>
              <a:t>      "source_url": "https://datalab.visitkorea.or.kr/",</a:t>
            </a:r>
          </a:p>
          <a:p xmlns:a="http://schemas.openxmlformats.org/drawingml/2006/main">
            <a:r>
              <a:t>      "summary": "전년동월 외지인 방문자 증감률: -8.9%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"dataset:50110:3",</a:t>
            </a:r>
          </a:p>
          <a:p xmlns:a="http://schemas.openxmlformats.org/drawingml/2006/main">
            <a:r>
              <a:t>      "source_type": "dataset",</a:t>
            </a:r>
          </a:p>
          <a:p xmlns:a="http://schemas.openxmlformats.org/drawingml/2006/main">
            <a:r>
              <a:t>      "title": "한국관광 데이터랩 · 제주특별자치도 제주시 관광소비 추이_외지인",</a:t>
            </a:r>
          </a:p>
          <a:p xmlns:a="http://schemas.openxmlformats.org/drawingml/2006/main">
            <a:r>
              <a:t>      "source_url": "https://datalab.visitkorea.or.kr/",</a:t>
            </a:r>
          </a:p>
          <a:p xmlns:a="http://schemas.openxmlformats.org/drawingml/2006/main">
            <a:r>
              <a:t>      "summary": "월간 외지인 관광소비 총액: 129,503,828,000원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"dataset:50110:4",</a:t>
            </a:r>
          </a:p>
          <a:p xmlns:a="http://schemas.openxmlformats.org/drawingml/2006/main">
            <a:r>
              <a:t>      "source_type": "dataset",</a:t>
            </a:r>
          </a:p>
          <a:p xmlns:a="http://schemas.openxmlformats.org/drawingml/2006/main">
            <a:r>
              <a:t>      "title": "한국관광 데이터랩 · 제주특별자치도 제주시 숙박방문자 비율 추이 (이동통신 기반 외지인)",</a:t>
            </a:r>
          </a:p>
          <a:p xmlns:a="http://schemas.openxmlformats.org/drawingml/2006/main">
            <a:r>
              <a:t>      "source_url": "https://datalab.visitkorea.or.kr/",</a:t>
            </a:r>
          </a:p>
          <a:p xmlns:a="http://schemas.openxmlformats.org/drawingml/2006/main">
            <a:r>
              <a:t>      "summary": "외지인 숙박 방문 비율: 21.0%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"dataset:50110:5",</a:t>
            </a:r>
          </a:p>
          <a:p xmlns:a="http://schemas.openxmlformats.org/drawingml/2006/main">
            <a:r>
              <a:t>      "source_type": "dataset",</a:t>
            </a:r>
          </a:p>
          <a:p xmlns:a="http://schemas.openxmlformats.org/drawingml/2006/main">
            <a:r>
              <a:t>      "title": "한국관광 데이터랩 · 제주특별자치도 제주시 평균 숙박일 (이동통신 기반 외지인)",</a:t>
            </a:r>
          </a:p>
          <a:p xmlns:a="http://schemas.openxmlformats.org/drawingml/2006/main">
            <a:r>
              <a:t>      "source_url": "https://datalab.visitkorea.or.kr/",</a:t>
            </a:r>
          </a:p>
          <a:p xmlns:a="http://schemas.openxmlformats.org/drawingml/2006/main">
            <a:r>
              <a:t>      "summary": "외지인 평균 숙박일수: 3.13일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"dataset:50110:6",</a:t>
            </a:r>
          </a:p>
          <a:p xmlns:a="http://schemas.openxmlformats.org/drawingml/2006/main">
            <a:r>
              <a:t>      "source_type": "dataset",</a:t>
            </a:r>
          </a:p>
          <a:p xmlns:a="http://schemas.openxmlformats.org/drawingml/2006/main">
            <a:r>
              <a:t>      "title": "한국관광 데이터랩 · 제주특별자치도 제주시 내비게이션 목적지 유형별 검색량",</a:t>
            </a:r>
          </a:p>
          <a:p xmlns:a="http://schemas.openxmlformats.org/drawingml/2006/main">
            <a:r>
              <a:t>      "source_url": "https://datalab.visitkorea.or.kr/",</a:t>
            </a:r>
          </a:p>
          <a:p xmlns:a="http://schemas.openxmlformats.org/drawingml/2006/main">
            <a:r>
              <a:t>      "summary": "내비게이션 목적지 검색량: 580,380건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"dataset:50110:7",</a:t>
            </a:r>
          </a:p>
          <a:p xmlns:a="http://schemas.openxmlformats.org/drawingml/2006/main">
            <a:r>
              <a:t>      "source_type": "dataset",</a:t>
            </a:r>
          </a:p>
          <a:p xmlns:a="http://schemas.openxmlformats.org/drawingml/2006/main">
            <a:r>
              <a:t>      "title": "한국관광 데이터랩 · 제주특별자치도 제주시 SNS 언급량",</a:t>
            </a:r>
          </a:p>
          <a:p xmlns:a="http://schemas.openxmlformats.org/drawingml/2006/main">
            <a:r>
              <a:t>      "source_url": "https://datalab.visitkorea.or.kr/",</a:t>
            </a:r>
          </a:p>
          <a:p xmlns:a="http://schemas.openxmlformats.org/drawingml/2006/main">
            <a:r>
              <a:t>      "summary": "SNS 언급량: 138,652건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"datalab:3ec866bde028:27b141591f10",</a:t>
            </a:r>
          </a:p>
          <a:p xmlns:a="http://schemas.openxmlformats.org/drawingml/2006/main">
            <a:r>
              <a:t>      "source_type": "nationwide_dataset",</a:t>
            </a:r>
          </a:p>
          <a:p xmlns:a="http://schemas.openxmlformats.org/drawingml/2006/main">
            <a:r>
              <a:t>      "title": "한국관광 데이터랩 공식 다운로드 · 제주특별자치도_제주시/방문자/2026_01_06.zip",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"datalab:4833a91757b2:5c2efa032440",</a:t>
            </a:r>
          </a:p>
          <a:p xmlns:a="http://schemas.openxmlformats.org/drawingml/2006/main">
            <a:r>
              <a:t>      "source_type": "nationwide_dataset",</a:t>
            </a:r>
          </a:p>
          <a:p xmlns:a="http://schemas.openxmlformats.org/drawingml/2006/main">
            <a:r>
              <a:t>      "title": "한국관광 데이터랩 공식 다운로드 · 제주특별자치도_제주시/숙박_체류시간/2026_01_06.zip",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"datalab:5d9f73f9fe47:2904d99e7279",</a:t>
            </a:r>
          </a:p>
          <a:p xmlns:a="http://schemas.openxmlformats.org/drawingml/2006/main">
            <a:r>
              <a:t>      "source_type": "nationwide_dataset",</a:t>
            </a:r>
          </a:p>
          <a:p xmlns:a="http://schemas.openxmlformats.org/drawingml/2006/main">
            <a:r>
              <a:t>      "title": "한국관광 데이터랩 공식 다운로드 · 제주특별자치도_제주시/숙박_체류시간/2025_01_12.zip",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"datalab:95122c38b4fc:522e2d839300",</a:t>
            </a:r>
          </a:p>
          <a:p xmlns:a="http://schemas.openxmlformats.org/drawingml/2006/main">
            <a:r>
              <a:t>      "source_type": "nationwide_dataset",</a:t>
            </a:r>
          </a:p>
          <a:p xmlns:a="http://schemas.openxmlformats.org/drawingml/2006/main">
            <a:r>
              <a:t>      "title": "한국관광 데이터랩 공식 다운로드 · 제주특별자치도_제주시/관광소비/2026_01_06.zip",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"datalab:d73227708014:f4517115deb9",</a:t>
            </a:r>
          </a:p>
          <a:p xmlns:a="http://schemas.openxmlformats.org/drawingml/2006/main">
            <a:r>
              <a:t>      "source_type": "nationwide_dataset",</a:t>
            </a:r>
          </a:p>
          <a:p xmlns:a="http://schemas.openxmlformats.org/drawingml/2006/main">
            <a:r>
              <a:t>      "title": "한국관광 데이터랩 공식 다운로드 · 제주특별자치도_제주시/방문자/2025_01_12.zip",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"datalab:f07ad8a73d99:ed1b998de1b3",</a:t>
            </a:r>
          </a:p>
          <a:p xmlns:a="http://schemas.openxmlformats.org/drawingml/2006/main">
            <a:r>
              <a:t>      "source_type": "nationwide_dataset",</a:t>
            </a:r>
          </a:p>
          <a:p xmlns:a="http://schemas.openxmlformats.org/drawingml/2006/main">
            <a:r>
              <a:t>      "title": "한국관광 데이터랩 공식 다운로드 · 제주특별자치도_제주시/관광소비/2025_01_12.zip",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"team-bigdata:23ea68053684:6bfbcf8aabf6",</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"team-bigdata:98d4ae590d9a:3be52dd54323",</a:t>
            </a:r>
          </a:p>
          <a:p xmlns:a="http://schemas.openxmlformats.org/drawingml/2006/main">
            <a:r>
              <a:t>      "source_type": "nationwide_bigdata_dataset",</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"team-bigdata:367cd0294ec4:873930d645e5",</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"team-bigdata:553a0dad4bb4:5a31355dffe8",</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"team-bigdata:a53dbe1c21df:77a052de41d5",</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"team-bigdata:823a38d1d61c:5385261d02e5",</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"team-bigdata:2723bdb0d589:1666a34058ed",</a:t>
            </a:r>
          </a:p>
          <a:p xmlns:a="http://schemas.openxmlformats.org/drawingml/2006/main">
            <a:r>
              <a:t>      "source_type": "nationwide_bigdata_dataset",</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"team-bigdata:83177a234971:c02cb7972e0f",</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"team-bigdata:58ded7732251:589c76395cbc",</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"team-bigdata:e28c947cb52f:bb4cb344a6ba",</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"team-bigdata:8815bbb11a39:1a5988f5f8ec",</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"team-bigdata:19fd67fbb73d:afa4f0f54a2f",</a:t>
            </a:r>
          </a:p>
          <a:p xmlns:a="http://schemas.openxmlformats.org/drawingml/2006/main">
            <a:r>
              <a:t>      "source_type": "nationwide_bigdata_dataset",</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"regional-status:9ac27e83f27b:e998409010f6",</a:t>
            </a:r>
          </a:p>
          <a:p xmlns:a="http://schemas.openxmlformats.org/drawingml/2006/main">
            <a:r>
              <a:t>      "source_type": "regional_tourism_status",</a:t>
            </a:r>
          </a:p>
          <a:p xmlns:a="http://schemas.openxmlformats.org/drawingml/2006/main">
            <a:r>
              <a:t>      "title": "한국관광 데이터랩 지역별 관광 현황 · 제주특별자치도 제주시 · 유입유출",</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"regional-status:daecd5ff8069:00c8b971be40",</a:t>
            </a:r>
          </a:p>
          <a:p xmlns:a="http://schemas.openxmlformats.org/drawingml/2006/main">
            <a:r>
              <a:t>      "source_type": "regional_tourism_status",</a:t>
            </a:r>
          </a:p>
          <a:p xmlns:a="http://schemas.openxmlformats.org/drawingml/2006/main">
            <a:r>
              <a:t>      "title": "한국관광 데이터랩 지역별 관광 현황 · 제주특별자치도 제주시 · 인기관광지",</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"regional-status:dd0eaa9c763f:3aadcdcac2c5",</a:t>
            </a:r>
          </a:p>
          <a:p xmlns:a="http://schemas.openxmlformats.org/drawingml/2006/main">
            <a:r>
              <a:t>      "source_type": "regional_tourism_status",</a:t>
            </a:r>
          </a:p>
          <a:p xmlns:a="http://schemas.openxmlformats.org/drawingml/2006/main">
            <a:r>
              <a:t>      "title": "한국관광 데이터랩 지역별 관광 현황 · 제주특별자치도 제주시 · 지역집중률",</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"ml:50110:regional-demand-v3.1:202606",</a:t>
            </a:r>
          </a:p>
          <a:p xmlns:a="http://schemas.openxmlformats.org/drawingml/2006/main">
            <a:r>
              <a:t>      "source_type": "model_forecast",</a:t>
            </a:r>
          </a:p>
          <a:p xmlns:a="http://schemas.openxmlformats.org/drawingml/2006/main">
            <a:r>
              <a:t>      "title": "지역 관광수요 ML 전망 · 공식 관측값 아님",</a:t>
            </a:r>
          </a:p>
          <a:p xmlns:a="http://schemas.openxmlformats.org/drawingml/2006/main">
            <a:r>
              <a:t>      "source_url": "",</a:t>
            </a:r>
          </a:p>
          <a:p xmlns:a="http://schemas.openxmlformats.org/drawingml/2006/main">
            <a:r>
              <a:t>      "summary": "학습 202401~202606 · 모델 regional-demand-v3.1 · 자연 추세 예측",</a:t>
            </a:r>
          </a:p>
          <a:p xmlns:a="http://schemas.openxmlformats.org/drawingml/2006/main">
            <a:r>
              <a:t>      "model_version": "regional-demand-v3.1",</a:t>
            </a:r>
          </a:p>
          <a:p xmlns:a="http://schemas.openxmlformats.org/drawingml/2006/main">
            <a:r>
              <a:t>      "data_fingerprint": "8dcb136b0c95a2203f9b656937018f103a98363535f21f24b40b6f2ab16842e6"</a:t>
            </a:r>
          </a:p>
          <a:p xmlns:a="http://schemas.openxmlformats.org/drawingml/2006/main">
            <a:r>
              <a:t>    },</a:t>
            </a:r>
          </a:p>
          <a:p xmlns:a="http://schemas.openxmlformats.org/drawingml/2006/main">
            <a:r>
              <a:t>    {</a:t>
            </a:r>
          </a:p>
          <a:p xmlns:a="http://schemas.openxmlformats.org/drawingml/2006/main">
            <a:r>
              <a:t>      "source_id": "tour-api:2850913",</a:t>
            </a:r>
          </a:p>
          <a:p xmlns:a="http://schemas.openxmlformats.org/drawingml/2006/main">
            <a:r>
              <a:t>      "source_type": "open_api",</a:t>
            </a:r>
          </a:p>
          <a:p xmlns:a="http://schemas.openxmlformats.org/drawingml/2006/main">
            <a:r>
              <a:t>      "title": "가는곶 세화",</a:t>
            </a:r>
          </a:p>
          <a:p xmlns:a="http://schemas.openxmlformats.org/drawingml/2006/main">
            <a:r>
              <a:t>      "source_url": "https://apis.data.go.kr/B551011/KorService2",</a:t>
            </a:r>
          </a:p>
          <a:p xmlns:a="http://schemas.openxmlformats.org/drawingml/2006/main">
            <a:r>
              <a:t>      "content_id": "2850913",</a:t>
            </a:r>
          </a:p>
          <a:p xmlns:a="http://schemas.openxmlformats.org/drawingml/2006/main">
            <a:r>
              <a:t>      "content_type_id": "39",</a:t>
            </a:r>
          </a:p>
          <a:p xmlns:a="http://schemas.openxmlformats.org/drawingml/2006/main">
            <a:r>
              <a:t>      "address": "제주특별자치도 제주시 구좌읍 세화14길 3",</a:t>
            </a:r>
          </a:p>
          <a:p xmlns:a="http://schemas.openxmlformats.org/drawingml/2006/main">
            <a:r>
              <a:t>      "image_url": "http://tong.visitkorea.or.kr/cms/resource/05/2850905_image2_1.jpg",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"tour-api:1884521",</a:t>
            </a:r>
          </a:p>
          <a:p xmlns:a="http://schemas.openxmlformats.org/drawingml/2006/main">
            <a:r>
              <a:t>      "source_type": "open_api",</a:t>
            </a:r>
          </a:p>
          <a:p xmlns:a="http://schemas.openxmlformats.org/drawingml/2006/main">
            <a:r>
              <a:t>      "title": "가새기오름",</a:t>
            </a:r>
          </a:p>
          <a:p xmlns:a="http://schemas.openxmlformats.org/drawingml/2006/main">
            <a:r>
              <a:t>      "source_url": "https://apis.data.go.kr/B551011/KorService2",</a:t>
            </a:r>
          </a:p>
          <a:p xmlns:a="http://schemas.openxmlformats.org/drawingml/2006/main">
            <a:r>
              <a:t>      "content_id": "1884521",</a:t>
            </a:r>
          </a:p>
          <a:p xmlns:a="http://schemas.openxmlformats.org/drawingml/2006/main">
            <a:r>
              <a:t>      "content_type_id": "12",</a:t>
            </a:r>
          </a:p>
          <a:p xmlns:a="http://schemas.openxmlformats.org/drawingml/2006/main">
            <a:r>
              <a:t>      "address": "제주특별자치도 제주시 오라삼동",</a:t>
            </a:r>
          </a:p>
          <a:p xmlns:a="http://schemas.openxmlformats.org/drawingml/2006/main">
            <a:r>
              <a:t>      "image_url": "http://tong.visitkorea.or.kr/cms/resource/82/3477882_image2_1.jpg",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"tour-api:2837181",</a:t>
            </a:r>
          </a:p>
          <a:p xmlns:a="http://schemas.openxmlformats.org/drawingml/2006/main">
            <a:r>
              <a:t>      "source_type": "open_api",</a:t>
            </a:r>
          </a:p>
          <a:p xmlns:a="http://schemas.openxmlformats.org/drawingml/2006/main">
            <a:r>
              <a:t>      "title": "가시어멍김밥",</a:t>
            </a:r>
          </a:p>
          <a:p xmlns:a="http://schemas.openxmlformats.org/drawingml/2006/main">
            <a:r>
              <a:t>      "source_url": "https://apis.data.go.kr/B551011/KorService2",</a:t>
            </a:r>
          </a:p>
          <a:p xmlns:a="http://schemas.openxmlformats.org/drawingml/2006/main">
            <a:r>
              <a:t>      "content_id": "2837181",</a:t>
            </a:r>
          </a:p>
          <a:p xmlns:a="http://schemas.openxmlformats.org/drawingml/2006/main">
            <a:r>
              <a:t>      "content_type_id": "39",</a:t>
            </a:r>
          </a:p>
          <a:p xmlns:a="http://schemas.openxmlformats.org/drawingml/2006/main">
            <a:r>
              <a:t>      "address": "제주특별자치도 제주시 월랑로 36",</a:t>
            </a:r>
          </a:p>
          <a:p xmlns:a="http://schemas.openxmlformats.org/drawingml/2006/main">
            <a:r>
              <a:t>      "image_url": "http://tong.visitkorea.or.kr/cms/resource/75/2837175_image2_1.jpg",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"tour-api:2853435",</a:t>
            </a:r>
          </a:p>
          <a:p xmlns:a="http://schemas.openxmlformats.org/drawingml/2006/main">
            <a:r>
              <a:t>      "source_type": "open_api",</a:t>
            </a:r>
          </a:p>
          <a:p xmlns:a="http://schemas.openxmlformats.org/drawingml/2006/main">
            <a:r>
              <a:t>      "title": "갈치공장",</a:t>
            </a:r>
          </a:p>
          <a:p xmlns:a="http://schemas.openxmlformats.org/drawingml/2006/main">
            <a:r>
              <a:t>      "source_url": "https://apis.data.go.kr/B551011/KorService2",</a:t>
            </a:r>
          </a:p>
          <a:p xmlns:a="http://schemas.openxmlformats.org/drawingml/2006/main">
            <a:r>
              <a:t>      "content_id": "2853435",</a:t>
            </a:r>
          </a:p>
          <a:p xmlns:a="http://schemas.openxmlformats.org/drawingml/2006/main">
            <a:r>
              <a:t>      "content_type_id": "39",</a:t>
            </a:r>
          </a:p>
          <a:p xmlns:a="http://schemas.openxmlformats.org/drawingml/2006/main">
            <a:r>
              <a:t>      "address": "제주특별자치도 제주시 해맞이해안로 1296",</a:t>
            </a:r>
          </a:p>
          <a:p xmlns:a="http://schemas.openxmlformats.org/drawingml/2006/main">
            <a:r>
              <a:t>      "image_url": "http://tong.visitkorea.or.kr/cms/resource/24/2853424_image2_1.jpg",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"tour-api:1889809",</a:t>
            </a:r>
          </a:p>
          <a:p xmlns:a="http://schemas.openxmlformats.org/drawingml/2006/main">
            <a:r>
              <a:t>      "source_type": "open_api",</a:t>
            </a:r>
          </a:p>
          <a:p xmlns:a="http://schemas.openxmlformats.org/drawingml/2006/main">
            <a:r>
              <a:t>      "title": "개오리오름",</a:t>
            </a:r>
          </a:p>
          <a:p xmlns:a="http://schemas.openxmlformats.org/drawingml/2006/main">
            <a:r>
              <a:t>      "source_url": "https://apis.data.go.kr/B551011/KorService2",</a:t>
            </a:r>
          </a:p>
          <a:p xmlns:a="http://schemas.openxmlformats.org/drawingml/2006/main">
            <a:r>
              <a:t>      "content_id": "1889809",</a:t>
            </a:r>
          </a:p>
          <a:p xmlns:a="http://schemas.openxmlformats.org/drawingml/2006/main">
            <a:r>
              <a:t>      "content_type_id": "12",</a:t>
            </a:r>
          </a:p>
          <a:p xmlns:a="http://schemas.openxmlformats.org/drawingml/2006/main">
            <a:r>
              <a:t>      "address": "제주특별자치도 제주시 봉개동",</a:t>
            </a:r>
          </a:p>
          <a:p xmlns:a="http://schemas.openxmlformats.org/drawingml/2006/main">
            <a:r>
              <a:t>      "image_url": "http://tong.visitkorea.or.kr/cms/resource/47/3478047_image2_1.jpg",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"tour-api:1918646",</a:t>
            </a:r>
          </a:p>
          <a:p xmlns:a="http://schemas.openxmlformats.org/drawingml/2006/main">
            <a:r>
              <a:t>      "source_type": "open_api",</a:t>
            </a:r>
          </a:p>
          <a:p xmlns:a="http://schemas.openxmlformats.org/drawingml/2006/main">
            <a:r>
              <a:t>      "title": "거슨새미오름",</a:t>
            </a:r>
          </a:p>
          <a:p xmlns:a="http://schemas.openxmlformats.org/drawingml/2006/main">
            <a:r>
              <a:t>      "source_url": "https://apis.data.go.kr/B551011/KorService2",</a:t>
            </a:r>
          </a:p>
          <a:p xmlns:a="http://schemas.openxmlformats.org/drawingml/2006/main">
            <a:r>
              <a:t>      "content_id": "1918646",</a:t>
            </a:r>
          </a:p>
          <a:p xmlns:a="http://schemas.openxmlformats.org/drawingml/2006/main">
            <a:r>
              <a:t>      "content_type_id": "12",</a:t>
            </a:r>
          </a:p>
          <a:p xmlns:a="http://schemas.openxmlformats.org/drawingml/2006/main">
            <a:r>
              <a:t>      "address": "제주특별자치도 제주시 구좌읍 송당리",</a:t>
            </a:r>
          </a:p>
          <a:p xmlns:a="http://schemas.openxmlformats.org/drawingml/2006/main">
            <a:r>
              <a:t>      "image_url": "http://tong.visitkorea.or.kr/cms/resource/04/3477804_image2_1.jpg",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"tour-api:2870515",</a:t>
            </a:r>
          </a:p>
          <a:p xmlns:a="http://schemas.openxmlformats.org/drawingml/2006/main">
            <a:r>
              <a:t>      "source_type": "open_api",</a:t>
            </a:r>
          </a:p>
          <a:p xmlns:a="http://schemas.openxmlformats.org/drawingml/2006/main">
            <a:r>
              <a:t>      "title": "경성수산",</a:t>
            </a:r>
          </a:p>
          <a:p xmlns:a="http://schemas.openxmlformats.org/drawingml/2006/main">
            <a:r>
              <a:t>      "source_url": "https://apis.data.go.kr/B551011/KorService2",</a:t>
            </a:r>
          </a:p>
          <a:p xmlns:a="http://schemas.openxmlformats.org/drawingml/2006/main">
            <a:r>
              <a:t>      "content_id": "2870515",</a:t>
            </a:r>
          </a:p>
          <a:p xmlns:a="http://schemas.openxmlformats.org/drawingml/2006/main">
            <a:r>
              <a:t>      "content_type_id": "39",</a:t>
            </a:r>
          </a:p>
          <a:p xmlns:a="http://schemas.openxmlformats.org/drawingml/2006/main">
            <a:r>
              <a:t>      "address": "제주특별자치도 제주시 한림상로 111",</a:t>
            </a:r>
          </a:p>
          <a:p xmlns:a="http://schemas.openxmlformats.org/drawingml/2006/main">
            <a:r>
              <a:t>      "image_url": "http://tong.visitkorea.or.kr/cms/resource/09/2870509_image2_1.jpg",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"tour-api:2791433",</a:t>
            </a:r>
          </a:p>
          <a:p xmlns:a="http://schemas.openxmlformats.org/drawingml/2006/main">
            <a:r>
              <a:t>      "source_type": "open_api",</a:t>
            </a:r>
          </a:p>
          <a:p xmlns:a="http://schemas.openxmlformats.org/drawingml/2006/main">
            <a:r>
              <a:t>      "title": "고내포구",</a:t>
            </a:r>
          </a:p>
          <a:p xmlns:a="http://schemas.openxmlformats.org/drawingml/2006/main">
            <a:r>
              <a:t>      "source_url": "https://apis.data.go.kr/B551011/KorService2",</a:t>
            </a:r>
          </a:p>
          <a:p xmlns:a="http://schemas.openxmlformats.org/drawingml/2006/main">
            <a:r>
              <a:t>      "content_id": "2791433",</a:t>
            </a:r>
          </a:p>
          <a:p xmlns:a="http://schemas.openxmlformats.org/drawingml/2006/main">
            <a:r>
              <a:t>      "content_type_id": "12",</a:t>
            </a:r>
          </a:p>
          <a:p xmlns:a="http://schemas.openxmlformats.org/drawingml/2006/main">
            <a:r>
              <a:t>      "address": "제주특별자치도 제주시 애월읍 고내리 1111-4",</a:t>
            </a:r>
          </a:p>
          <a:p xmlns:a="http://schemas.openxmlformats.org/drawingml/2006/main">
            <a:r>
              <a:t>      "image_url": "http://tong.visitkorea.or.kr/cms/resource/19/3589219_image2_1.jpg",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"tour-api:2863927",</a:t>
            </a:r>
          </a:p>
          <a:p xmlns:a="http://schemas.openxmlformats.org/drawingml/2006/main">
            <a:r>
              <a:t>      "source_type": "open_api",</a:t>
            </a:r>
          </a:p>
          <a:p xmlns:a="http://schemas.openxmlformats.org/drawingml/2006/main">
            <a:r>
              <a:t>      "title": "고사리커피",</a:t>
            </a:r>
          </a:p>
          <a:p xmlns:a="http://schemas.openxmlformats.org/drawingml/2006/main">
            <a:r>
              <a:t>      "source_url": "https://apis.data.go.kr/B551011/KorService2",</a:t>
            </a:r>
          </a:p>
          <a:p xmlns:a="http://schemas.openxmlformats.org/drawingml/2006/main">
            <a:r>
              <a:t>      "content_id": "2863927",</a:t>
            </a:r>
          </a:p>
          <a:p xmlns:a="http://schemas.openxmlformats.org/drawingml/2006/main">
            <a:r>
              <a:t>      "content_type_id": "39",</a:t>
            </a:r>
          </a:p>
          <a:p xmlns:a="http://schemas.openxmlformats.org/drawingml/2006/main">
            <a:r>
              <a:t>      "address": "제주특별자치도 제주시 구좌읍 중산간동로 2064",</a:t>
            </a:r>
          </a:p>
          <a:p xmlns:a="http://schemas.openxmlformats.org/drawingml/2006/main">
            <a:r>
              <a:t>      "image_url": "http://tong.visitkorea.or.kr/cms/resource/18/2863918_image2_1.JPG",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"tour-api:2759120",</a:t>
            </a:r>
          </a:p>
          <a:p xmlns:a="http://schemas.openxmlformats.org/drawingml/2006/main">
            <a:r>
              <a:t>      "source_type": "open_api",</a:t>
            </a:r>
          </a:p>
          <a:p xmlns:a="http://schemas.openxmlformats.org/drawingml/2006/main">
            <a:r>
              <a:t>      "title": "고스트타운",</a:t>
            </a:r>
          </a:p>
          <a:p xmlns:a="http://schemas.openxmlformats.org/drawingml/2006/main">
            <a:r>
              <a:t>      "source_url": "https://apis.data.go.kr/B551011/KorService2",</a:t>
            </a:r>
          </a:p>
          <a:p xmlns:a="http://schemas.openxmlformats.org/drawingml/2006/main">
            <a:r>
              <a:t>      "content_id": "2759120",</a:t>
            </a:r>
          </a:p>
          <a:p xmlns:a="http://schemas.openxmlformats.org/drawingml/2006/main">
            <a:r>
              <a:t>      "content_type_id": "12",</a:t>
            </a:r>
          </a:p>
          <a:p xmlns:a="http://schemas.openxmlformats.org/drawingml/2006/main">
            <a:r>
              <a:t>      "address": "제주특별자치도 제주시 애월읍 부룡수길 35-14",</a:t>
            </a:r>
          </a:p>
          <a:p xmlns:a="http://schemas.openxmlformats.org/drawingml/2006/main">
            <a:r>
              <a:t>      "image_url": "http://tong.visitkorea.or.kr/cms/resource/81/3396881_image2_1.jpg",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"tour-api:2759061",</a:t>
            </a:r>
          </a:p>
          <a:p xmlns:a="http://schemas.openxmlformats.org/drawingml/2006/main">
            <a:r>
              <a:t>      "source_type": "open_api",</a:t>
            </a:r>
          </a:p>
          <a:p xmlns:a="http://schemas.openxmlformats.org/drawingml/2006/main">
            <a:r>
              <a:t>      "title": "고이정",</a:t>
            </a:r>
          </a:p>
          <a:p xmlns:a="http://schemas.openxmlformats.org/drawingml/2006/main">
            <a:r>
              <a:t>      "source_url": "https://apis.data.go.kr/B551011/KorService2",</a:t>
            </a:r>
          </a:p>
          <a:p xmlns:a="http://schemas.openxmlformats.org/drawingml/2006/main">
            <a:r>
              <a:t>      "content_id": "2759061",</a:t>
            </a:r>
          </a:p>
          <a:p xmlns:a="http://schemas.openxmlformats.org/drawingml/2006/main">
            <a:r>
              <a:t>      "content_type_id": "39",</a:t>
            </a:r>
          </a:p>
          <a:p xmlns:a="http://schemas.openxmlformats.org/drawingml/2006/main">
            <a:r>
              <a:t>      "address": "제주특별자치도 제주시 애월읍 애월로 6",</a:t>
            </a:r>
          </a:p>
          <a:p xmlns:a="http://schemas.openxmlformats.org/drawingml/2006/main">
            <a:r>
              <a:t>      "image_url": "http://tong.visitkorea.or.kr/cms/resource/08/2759208_image2_1.jpg",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"tour-api:2863913",</a:t>
            </a:r>
          </a:p>
          <a:p xmlns:a="http://schemas.openxmlformats.org/drawingml/2006/main">
            <a:r>
              <a:t>      "source_type": "open_api",</a:t>
            </a:r>
          </a:p>
          <a:p xmlns:a="http://schemas.openxmlformats.org/drawingml/2006/main">
            <a:r>
              <a:t>      "title": "고토커피바",</a:t>
            </a:r>
          </a:p>
          <a:p xmlns:a="http://schemas.openxmlformats.org/drawingml/2006/main">
            <a:r>
              <a:t>      "source_url": "https://apis.data.go.kr/B551011/KorService2",</a:t>
            </a:r>
          </a:p>
          <a:p xmlns:a="http://schemas.openxmlformats.org/drawingml/2006/main">
            <a:r>
              <a:t>      "content_id": "2863913",</a:t>
            </a:r>
          </a:p>
          <a:p xmlns:a="http://schemas.openxmlformats.org/drawingml/2006/main">
            <a:r>
              <a:t>      "content_type_id": "39",</a:t>
            </a:r>
          </a:p>
          <a:p xmlns:a="http://schemas.openxmlformats.org/drawingml/2006/main">
            <a:r>
              <a:t>      "address": "제주특별자치도 제주시 애월읍 구엄동3길 56",</a:t>
            </a:r>
          </a:p>
          <a:p xmlns:a="http://schemas.openxmlformats.org/drawingml/2006/main">
            <a:r>
              <a:t>      "image_url": "http://tong.visitkorea.or.kr/cms/resource/07/2863907_image2_1.jpg",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"tour-api:2857289",</a:t>
            </a:r>
          </a:p>
          <a:p xmlns:a="http://schemas.openxmlformats.org/drawingml/2006/main">
            <a:r>
              <a:t>      "source_type": "open_api",</a:t>
            </a:r>
          </a:p>
          <a:p xmlns:a="http://schemas.openxmlformats.org/drawingml/2006/main">
            <a:r>
              <a:t>      "title": "골목식당",</a:t>
            </a:r>
          </a:p>
          <a:p xmlns:a="http://schemas.openxmlformats.org/drawingml/2006/main">
            <a:r>
              <a:t>      "source_url": "https://apis.data.go.kr/B551011/KorService2",</a:t>
            </a:r>
          </a:p>
          <a:p xmlns:a="http://schemas.openxmlformats.org/drawingml/2006/main">
            <a:r>
              <a:t>      "content_id": "2857289",</a:t>
            </a:r>
          </a:p>
          <a:p xmlns:a="http://schemas.openxmlformats.org/drawingml/2006/main">
            <a:r>
              <a:t>      "content_type_id": "39",</a:t>
            </a:r>
          </a:p>
          <a:p xmlns:a="http://schemas.openxmlformats.org/drawingml/2006/main">
            <a:r>
              <a:t>      "address": "제주특별자치도 제주시 중앙로 63-9 (이도일동)",</a:t>
            </a:r>
          </a:p>
          <a:p xmlns:a="http://schemas.openxmlformats.org/drawingml/2006/main">
            <a:r>
              <a:t>      "image_url": "http://tong.visitkorea.or.kr/cms/resource/79/2857279_image2_1.JPG",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"tour-api:2852311",</a:t>
            </a:r>
          </a:p>
          <a:p xmlns:a="http://schemas.openxmlformats.org/drawingml/2006/main">
            <a:r>
              <a:t>      "source_type": "open_api",</a:t>
            </a:r>
          </a:p>
          <a:p xmlns:a="http://schemas.openxmlformats.org/drawingml/2006/main">
            <a:r>
              <a:t>      "title": "골목카페옥수",</a:t>
            </a:r>
          </a:p>
          <a:p xmlns:a="http://schemas.openxmlformats.org/drawingml/2006/main">
            <a:r>
              <a:t>      "source_url": "https://apis.data.go.kr/B551011/KorService2",</a:t>
            </a:r>
          </a:p>
          <a:p xmlns:a="http://schemas.openxmlformats.org/drawingml/2006/main">
            <a:r>
              <a:t>      "content_id": "2852311",</a:t>
            </a:r>
          </a:p>
          <a:p xmlns:a="http://schemas.openxmlformats.org/drawingml/2006/main">
            <a:r>
              <a:t>      "content_type_id": "39",</a:t>
            </a:r>
          </a:p>
          <a:p xmlns:a="http://schemas.openxmlformats.org/drawingml/2006/main">
            <a:r>
              <a:t>      "address": "제주특별자치도 제주시 소길1길 19",</a:t>
            </a:r>
          </a:p>
          <a:p xmlns:a="http://schemas.openxmlformats.org/drawingml/2006/main">
            <a:r>
              <a:t>      "image_url": "http://tong.visitkorea.or.kr/cms/resource/03/2852303_image2_1.jpg",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"tour-api:2739395",</a:t>
            </a:r>
          </a:p>
          <a:p xmlns:a="http://schemas.openxmlformats.org/drawingml/2006/main">
            <a:r>
              <a:t>      "source_type": "open_api",</a:t>
            </a:r>
          </a:p>
          <a:p xmlns:a="http://schemas.openxmlformats.org/drawingml/2006/main">
            <a:r>
              <a:t>      "title": "골체오름캠핑",</a:t>
            </a:r>
          </a:p>
          <a:p xmlns:a="http://schemas.openxmlformats.org/drawingml/2006/main">
            <a:r>
              <a:t>      "source_url": "https://apis.data.go.kr/B551011/KorService2",</a:t>
            </a:r>
          </a:p>
          <a:p xmlns:a="http://schemas.openxmlformats.org/drawingml/2006/main">
            <a:r>
              <a:t>      "content_id": "2739395",</a:t>
            </a:r>
          </a:p>
          <a:p xmlns:a="http://schemas.openxmlformats.org/drawingml/2006/main">
            <a:r>
              <a:t>      "content_type_id": "28",</a:t>
            </a:r>
          </a:p>
          <a:p xmlns:a="http://schemas.openxmlformats.org/drawingml/2006/main">
            <a:r>
              <a:t>      "address": "제주특별자치도 제주시 조천읍 번영로 1648-41",</a:t>
            </a:r>
          </a:p>
          <a:p xmlns:a="http://schemas.openxmlformats.org/drawingml/2006/main">
            <a:r>
              <a:t>      "image_url": "http://tong.visitkorea.or.kr/cms/resource/74/2739574_image2_1.jpg",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"tour-api:2759096",</a:t>
            </a:r>
          </a:p>
          <a:p xmlns:a="http://schemas.openxmlformats.org/drawingml/2006/main">
            <a:r>
              <a:t>      "source_type": "open_api",</a:t>
            </a:r>
          </a:p>
          <a:p xmlns:a="http://schemas.openxmlformats.org/drawingml/2006/main">
            <a:r>
              <a:t>      "title": "곰막식당/곰막",</a:t>
            </a:r>
          </a:p>
          <a:p xmlns:a="http://schemas.openxmlformats.org/drawingml/2006/main">
            <a:r>
              <a:t>      "source_url": "https://apis.data.go.kr/B551011/KorService2",</a:t>
            </a:r>
          </a:p>
          <a:p xmlns:a="http://schemas.openxmlformats.org/drawingml/2006/main">
            <a:r>
              <a:t>      "content_id": "2759096",</a:t>
            </a:r>
          </a:p>
          <a:p xmlns:a="http://schemas.openxmlformats.org/drawingml/2006/main">
            <a:r>
              <a:t>      "content_type_id": "39",</a:t>
            </a:r>
          </a:p>
          <a:p xmlns:a="http://schemas.openxmlformats.org/drawingml/2006/main">
            <a:r>
              <a:t>      "address": "제주특별자치도 제주시 구좌읍 구좌해안로 64",</a:t>
            </a:r>
          </a:p>
          <a:p xmlns:a="http://schemas.openxmlformats.org/drawingml/2006/main">
            <a:r>
              <a:t>      "image_url": "http://tong.visitkorea.or.kr/cms/resource/21/2759221_image2_1.jpg",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"tour-api:127870",</a:t>
            </a:r>
          </a:p>
          <a:p xmlns:a="http://schemas.openxmlformats.org/drawingml/2006/main">
            <a:r>
              <a:t>      "source_type": "open_api",</a:t>
            </a:r>
          </a:p>
          <a:p xmlns:a="http://schemas.openxmlformats.org/drawingml/2006/main">
            <a:r>
              <a:t>      "title": "곽지해수욕장",</a:t>
            </a:r>
          </a:p>
          <a:p xmlns:a="http://schemas.openxmlformats.org/drawingml/2006/main">
            <a:r>
              <a:t>      "source_url": "https://apis.data.go.kr/B551011/KorService2",</a:t>
            </a:r>
          </a:p>
          <a:p xmlns:a="http://schemas.openxmlformats.org/drawingml/2006/main">
            <a:r>
              <a:t>      "content_id": "127870",</a:t>
            </a:r>
          </a:p>
          <a:p xmlns:a="http://schemas.openxmlformats.org/drawingml/2006/main">
            <a:r>
              <a:t>      "content_type_id": "12",</a:t>
            </a:r>
          </a:p>
          <a:p xmlns:a="http://schemas.openxmlformats.org/drawingml/2006/main">
            <a:r>
              <a:t>      "address": "제주특별자치도 제주시 애월읍 곽지리 1565",</a:t>
            </a:r>
          </a:p>
          <a:p xmlns:a="http://schemas.openxmlformats.org/drawingml/2006/main">
            <a:r>
              <a:t>      "image_url": "http://tong.visitkorea.or.kr/cms/resource/30/3053130_image2_1.jpg",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"tour-api:1918950",</a:t>
            </a:r>
          </a:p>
          <a:p xmlns:a="http://schemas.openxmlformats.org/drawingml/2006/main">
            <a:r>
              <a:t>      "source_type": "open_api",</a:t>
            </a:r>
          </a:p>
          <a:p xmlns:a="http://schemas.openxmlformats.org/drawingml/2006/main">
            <a:r>
              <a:t>      "title": "괴오름",</a:t>
            </a:r>
          </a:p>
          <a:p xmlns:a="http://schemas.openxmlformats.org/drawingml/2006/main">
            <a:r>
              <a:t>      "source_url": "https://apis.data.go.kr/B551011/KorService2",</a:t>
            </a:r>
          </a:p>
          <a:p xmlns:a="http://schemas.openxmlformats.org/drawingml/2006/main">
            <a:r>
              <a:t>      "content_id": "1918950",</a:t>
            </a:r>
          </a:p>
          <a:p xmlns:a="http://schemas.openxmlformats.org/drawingml/2006/main">
            <a:r>
              <a:t>      "content_type_id": "12",</a:t>
            </a:r>
          </a:p>
          <a:p xmlns:a="http://schemas.openxmlformats.org/drawingml/2006/main">
            <a:r>
              <a:t>      "address": "제주특별자치도 제주시 애월읍 봉성리 산41",</a:t>
            </a:r>
          </a:p>
          <a:p xmlns:a="http://schemas.openxmlformats.org/drawingml/2006/main">
            <a:r>
              <a:t>      "image_url": "http://tong.visitkorea.or.kr/cms/resource/40/3585540_image2_1.jpg",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"tour-api:128443",</a:t>
            </a:r>
          </a:p>
          <a:p xmlns:a="http://schemas.openxmlformats.org/drawingml/2006/main">
            <a:r>
              <a:t>      "source_type": "open_api",</a:t>
            </a:r>
          </a:p>
          <a:p xmlns:a="http://schemas.openxmlformats.org/drawingml/2006/main">
            <a:r>
              <a:t>      "title": "교래 삼다수마을",</a:t>
            </a:r>
          </a:p>
          <a:p xmlns:a="http://schemas.openxmlformats.org/drawingml/2006/main">
            <a:r>
              <a:t>      "source_url": "https://apis.data.go.kr/B551011/KorService2",</a:t>
            </a:r>
          </a:p>
          <a:p xmlns:a="http://schemas.openxmlformats.org/drawingml/2006/main">
            <a:r>
              <a:t>      "content_id": "128443",</a:t>
            </a:r>
          </a:p>
          <a:p xmlns:a="http://schemas.openxmlformats.org/drawingml/2006/main">
            <a:r>
              <a:t>      "content_type_id": "12",</a:t>
            </a:r>
          </a:p>
          <a:p xmlns:a="http://schemas.openxmlformats.org/drawingml/2006/main">
            <a:r>
              <a:t>      "address": "제주특별자치도 제주시 조천읍 교래3길 98",</a:t>
            </a:r>
          </a:p>
          <a:p xmlns:a="http://schemas.openxmlformats.org/drawingml/2006/main">
            <a:r>
              <a:t>      "image_url": "http://tong.visitkorea.or.kr/cms/resource/18/3586318_image2_1.jpg",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"reference:kto:2026:local-airport",</a:t>
            </a:r>
          </a:p>
          <a:p xmlns:a="http://schemas.openxmlformats.org/drawingml/2006/main">
            <a:r>
              <a:t>      "source_type": "rag",</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"document_type": "policy",</a:t>
            </a:r>
          </a:p>
          <a:p xmlns:a="http://schemas.openxmlformats.org/drawingml/2006/main">
            <a:r>
              <a:t>      "region_code": "ALL",</a:t>
            </a:r>
          </a:p>
          <a:p xmlns:a="http://schemas.openxmlformats.org/drawingml/2006/main">
            <a:r>
              <a:t>      "region_name": "전국 공통",</a:t>
            </a:r>
          </a:p>
          <a:p xmlns:a="http://schemas.openxmlformats.org/drawingml/2006/main">
            <a:r>
              <a:t>      "case_region": "",</a:t>
            </a:r>
          </a:p>
          <a:p xmlns:a="http://schemas.openxmlformats.org/drawingml/2006/main">
            <a:r>
              <a:t>      "intervention": "",</a:t>
            </a:r>
          </a:p>
          <a:p xmlns:a="http://schemas.openxmlformats.org/drawingml/2006/main">
            <a:r>
              <a:t>      "evidence_strength": "medium",</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"retrieval_method": "local_curated_chunk",</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40쪽, PDF 41쪽, PDF 41쪽, PDF 43쪽, PDF 36쪽, PDF 43쪽, PDF 43쪽",</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"chunk_id": "reference:kto:2026:local-airport:page:044:chunk:01",</a:t>
            </a:r>
          </a:p>
          <a:p xmlns:a="http://schemas.openxmlformats.org/drawingml/2006/main">
            <a:r>
              <a:t>      "parent_source_id": "reference:kto:2026:local-airport",</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a:t>
            </a:r>
          </a:p>
          <a:p xmlns:a="http://schemas.openxmlformats.org/drawingml/2006/main">
            <a:r>
              <a:t>      "source_chunk_count": 8</a:t>
            </a:r>
          </a:p>
          <a:p xmlns:a="http://schemas.openxmlformats.org/drawingml/2006/main">
            <a:r>
              <a:t>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"case:kto_stay_discount_2022",</a:t>
            </a:r>
          </a:p>
          <a:p xmlns:a="http://schemas.openxmlformats.org/drawingml/2006/main">
            <a:r>
              <a:t>      "source_type": "benchmark_case",</a:t>
            </a:r>
          </a:p>
          <a:p xmlns:a="http://schemas.openxmlformats.org/drawingml/2006/main">
            <a:r>
              <a:t>      "title": "2022 대한민국 숙박대전 경제파급효과 공개자료",</a:t>
            </a:r>
          </a:p>
          <a:p xmlns:a="http://schemas.openxmlformats.org/drawingml/2006/main">
            <a:r>
              <a:t>      "source_url": "https://kto.visitkorea.or.kr/upload/flexer/upload/ktobiz/20220928/b623b5f9-3ec0-11ed-9832-ddf31964842e.hwp.files/Sections1.html",</a:t>
            </a:r>
          </a:p>
          <a:p xmlns:a="http://schemas.openxmlformats.org/drawingml/2006/main">
            <a:r>
              <a:t>      "published_or_updated_at": "2022-09-28",</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"case_region": "전국 숙박할인쿠폰 지원사업",</a:t>
            </a:r>
          </a:p>
          <a:p xmlns:a="http://schemas.openxmlformats.org/drawingml/2006/main">
            <a:r>
              <a:t>      "intervention": "온라인 예약 채널 숙박할인쿠폰",</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"case:night_festival_2025",</a:t>
            </a:r>
          </a:p>
          <a:p xmlns:a="http://schemas.openxmlformats.org/drawingml/2006/main">
            <a:r>
              <a:t>      "source_type": "benchmark_case",</a:t>
            </a:r>
          </a:p>
          <a:p xmlns:a="http://schemas.openxmlformats.org/drawingml/2006/main">
            <a:r>
              <a:t>      "title": "2025 대한민국 밤밤페스타 개최 도시 및 일정",</a:t>
            </a:r>
          </a:p>
          <a:p xmlns:a="http://schemas.openxmlformats.org/drawingml/2006/main">
            <a:r>
              <a:t>      "source_url": "https://korean.visitkorea.or.kr/detail/rem_detail.do?cotid=f9c636b2-dd7c-4f09-af3d-6af43b33d371",</a:t>
            </a:r>
          </a:p>
          <a:p xmlns:a="http://schemas.openxmlformats.org/drawingml/2006/main">
            <a:r>
              <a:t>      "published_or_updated_at": "2025",</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"case_region": "야간관광 특화도시 10곳",</a:t>
            </a:r>
          </a:p>
          <a:p xmlns:a="http://schemas.openxmlformats.org/drawingml/2006/main">
            <a:r>
              <a:t>      "intervention": "도시별 야간 콘텐츠를 순회형 축제로 묶는 운영",</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"case:night_tourism_cities_2024",</a:t>
            </a:r>
          </a:p>
          <a:p xmlns:a="http://schemas.openxmlformats.org/drawingml/2006/main">
            <a:r>
              <a:t>      "source_type": "benchmark_case",</a:t>
            </a:r>
          </a:p>
          <a:p xmlns:a="http://schemas.openxmlformats.org/drawingml/2006/main">
            <a:r>
              <a:t>      "title": "2024년도 정부업무평가 관광분야 성과자료",</a:t>
            </a:r>
          </a:p>
          <a:p xmlns:a="http://schemas.openxmlformats.org/drawingml/2006/main">
            <a:r>
              <a:t>      "source_url": "https://www.evaluation.go.kr/upload2/atch/eval/20250429095846463.pdf",</a:t>
            </a:r>
          </a:p>
          <a:p xmlns:a="http://schemas.openxmlformats.org/drawingml/2006/main">
            <a:r>
              <a:t>      "published_or_updated_at": "2025-04-29",</a:t>
            </a:r>
          </a:p>
          <a:p xmlns:a="http://schemas.openxmlformats.org/drawingml/2006/main">
            <a:r>
              <a:t>      "summary": "야간관광 특화도시 10곳 · 상설 야간 콘텐츠와 경관·교통·안전 운영 · 정부업무평가 자료는 특화도시 10곳 방문객이 2023년 같은 기간보다 3% 증가했다고 기록",</a:t>
            </a:r>
          </a:p>
          <a:p xmlns:a="http://schemas.openxmlformats.org/drawingml/2006/main">
            <a:r>
              <a:t>      "case_region": "야간관광 특화도시 10곳",</a:t>
            </a:r>
          </a:p>
          <a:p xmlns:a="http://schemas.openxmlformats.org/drawingml/2006/main">
            <a:r>
              <a:t>      "intervention": "상설 야간 콘텐츠와 경관·교통·안전 운영",</a:t>
            </a:r>
          </a:p>
          <a:p xmlns:a="http://schemas.openxmlformats.org/drawingml/2006/main">
            <a:r>
              <a:t>      "operating_model": "지역 스토리를 반영한 야간 프로그램을 상설·행사형으로 운영하고 야간 경관, 이동, 식음, 안전 여건을 함께 구성",</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"정부업무평가 자료는 특화도시 10곳 방문객이 2023년 같은 기간보다 3% 증가했다고 기록",</a:t>
            </a:r>
          </a:p>
          <a:p xmlns:a="http://schemas.openxmlformats.org/drawingml/2006/main">
            <a:r>
              <a:t>      "measurement_period": "2023년 동기 대비 2024년 사업 평가 기간",</a:t>
            </a:r>
          </a:p>
          <a:p xmlns:a="http://schemas.openxmlformats.org/drawingml/2006/main">
            <a:r>
              <a:t>      "transfer_conditions": [</a:t>
            </a:r>
          </a:p>
          <a:p xmlns:a="http://schemas.openxmlformats.org/drawingml/2006/main">
            <a:r>
              <a:t>        "야간에 실제 이용 가능한 식음·교통·안전 운영 필요",</a:t>
            </a:r>
          </a:p>
          <a:p xmlns:a="http://schemas.openxmlformats.org/drawingml/2006/main">
            <a:r>
              <a:t>        "일회성 행사보다 상설 운영일 확보",</a:t>
            </a:r>
          </a:p>
          <a:p xmlns:a="http://schemas.openxmlformats.org/drawingml/2006/main">
            <a:r>
              <a:t>        "숙박 또는 야간 결제 데이터로 성과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3615062.0,</a:t>
            </a:r>
          </a:p>
          <a:p xmlns:a="http://schemas.openxmlformats.org/drawingml/2006/main">
            <a:r>
              <a:t>        "spending_krw": 150467072839.0,</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3594310.0,</a:t>
            </a:r>
          </a:p>
          <a:p xmlns:a="http://schemas.openxmlformats.org/drawingml/2006/main">
            <a:r>
              <a:t>        "spending_krw": 145085139974.0,</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3370793.0,</a:t>
            </a:r>
          </a:p>
          <a:p xmlns:a="http://schemas.openxmlformats.org/drawingml/2006/main">
            <a:r>
              <a:t>        "spending_krw": 149366639508.0,</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3517935,</a:t>
            </a:r>
          </a:p>
          <a:p xmlns:a="http://schemas.openxmlformats.org/drawingml/2006/main">
            <a:r>
              <a:t>      "spending_krw": 140803668431,</a:t>
            </a:r>
          </a:p>
          <a:p xmlns:a="http://schemas.openxmlformats.org/drawingml/2006/main">
            <a:r>
              <a:t>      "previous_year_visitors": 3628591,</a:t>
            </a:r>
          </a:p>
          <a:p xmlns:a="http://schemas.openxmlformats.org/drawingml/2006/main">
            <a:r>
              <a:t>      "previous_year_spending_krw": 147121716000,</a:t>
            </a:r>
          </a:p>
          <a:p xmlns:a="http://schemas.openxmlformats.org/drawingml/2006/main">
            <a:r>
              <a:t>      "visitor_yoy_percent": -3.05,</a:t>
            </a:r>
          </a:p>
          <a:p xmlns:a="http://schemas.openxmlformats.org/drawingml/2006/main">
            <a:r>
              <a:t>      "spending_yoy_percent": -4.29,</a:t>
            </a:r>
          </a:p>
          <a:p xmlns:a="http://schemas.openxmlformats.org/drawingml/2006/main">
            <a:r>
              <a:t>      "lodging_nights": 3.2,</a:t>
            </a:r>
          </a:p>
          <a:p xmlns:a="http://schemas.openxmlformats.org/drawingml/2006/main">
            <a:r>
              <a:t>      "previous_year_lodging_nights": 3.2,</a:t>
            </a:r>
          </a:p>
          <a:p xmlns:a="http://schemas.openxmlformats.org/drawingml/2006/main">
            <a:r>
              <a:t>      "lodging_rate_pct": 21.7,</a:t>
            </a:r>
          </a:p>
          <a:p xmlns:a="http://schemas.openxmlformats.org/drawingml/2006/main">
            <a:r>
              <a:t>      "previous_year_lodging_rate_pct": 21.7,</a:t>
            </a:r>
          </a:p>
          <a:p xmlns:a="http://schemas.openxmlformats.org/drawingml/2006/main">
            <a:r>
              <a:t>      "stay_minutes": 2599.0,</a:t>
            </a:r>
          </a:p>
          <a:p xmlns:a="http://schemas.openxmlformats.org/drawingml/2006/main">
            <a:r>
              <a:t>      "previous_year_stay_minutes": 2599.0,</a:t>
            </a:r>
          </a:p>
          <a:p xmlns:a="http://schemas.openxmlformats.org/drawingml/2006/main">
            <a:r>
              <a:t>      "navigation_searches": 710719,</a:t>
            </a:r>
          </a:p>
          <a:p xmlns:a="http://schemas.openxmlformats.org/drawingml/2006/main">
            <a:r>
              <a:t>      "previous_year_navigation_searches": 710719,</a:t>
            </a:r>
          </a:p>
          <a:p xmlns:a="http://schemas.openxmlformats.org/drawingml/2006/main">
            <a:r>
              <a:t>      "lodging_searches": 99946,</a:t>
            </a:r>
          </a:p>
          <a:p xmlns:a="http://schemas.openxmlformats.org/drawingml/2006/main">
            <a:r>
              <a:t>      "previous_year_lodging_searches": 99946,</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3630250,</a:t>
            </a:r>
          </a:p>
          <a:p xmlns:a="http://schemas.openxmlformats.org/drawingml/2006/main">
            <a:r>
              <a:t>      "spending_krw": 147968744557,</a:t>
            </a:r>
          </a:p>
          <a:p xmlns:a="http://schemas.openxmlformats.org/drawingml/2006/main">
            <a:r>
              <a:t>      "previous_year_visitors": 3874804,</a:t>
            </a:r>
          </a:p>
          <a:p xmlns:a="http://schemas.openxmlformats.org/drawingml/2006/main">
            <a:r>
              <a:t>      "previous_year_spending_krw": 159605711000,</a:t>
            </a:r>
          </a:p>
          <a:p xmlns:a="http://schemas.openxmlformats.org/drawingml/2006/main">
            <a:r>
              <a:t>      "visitor_yoy_percent": -6.31,</a:t>
            </a:r>
          </a:p>
          <a:p xmlns:a="http://schemas.openxmlformats.org/drawingml/2006/main">
            <a:r>
              <a:t>      "spending_yoy_percent": -7.29,</a:t>
            </a:r>
          </a:p>
          <a:p xmlns:a="http://schemas.openxmlformats.org/drawingml/2006/main">
            <a:r>
              <a:t>      "lodging_nights": 3.15,</a:t>
            </a:r>
          </a:p>
          <a:p xmlns:a="http://schemas.openxmlformats.org/drawingml/2006/main">
            <a:r>
              <a:t>      "previous_year_lodging_nights": 3.15,</a:t>
            </a:r>
          </a:p>
          <a:p xmlns:a="http://schemas.openxmlformats.org/drawingml/2006/main">
            <a:r>
              <a:t>      "lodging_rate_pct": 22.1,</a:t>
            </a:r>
          </a:p>
          <a:p xmlns:a="http://schemas.openxmlformats.org/drawingml/2006/main">
            <a:r>
              <a:t>      "previous_year_lodging_rate_pct": 22.1,</a:t>
            </a:r>
          </a:p>
          <a:p xmlns:a="http://schemas.openxmlformats.org/drawingml/2006/main">
            <a:r>
              <a:t>      "stay_minutes": 2361.0,</a:t>
            </a:r>
          </a:p>
          <a:p xmlns:a="http://schemas.openxmlformats.org/drawingml/2006/main">
            <a:r>
              <a:t>      "previous_year_stay_minutes": 2361.0,</a:t>
            </a:r>
          </a:p>
          <a:p xmlns:a="http://schemas.openxmlformats.org/drawingml/2006/main">
            <a:r>
              <a:t>      "navigation_searches": 832625,</a:t>
            </a:r>
          </a:p>
          <a:p xmlns:a="http://schemas.openxmlformats.org/drawingml/2006/main">
            <a:r>
              <a:t>      "previous_year_navigation_searches": 832625,</a:t>
            </a:r>
          </a:p>
          <a:p xmlns:a="http://schemas.openxmlformats.org/drawingml/2006/main">
            <a:r>
              <a:t>      "lodging_searches": 114775,</a:t>
            </a:r>
          </a:p>
          <a:p xmlns:a="http://schemas.openxmlformats.org/drawingml/2006/main">
            <a:r>
              <a:t>      "previous_year_lodging_searches": 114775,</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3508574,</a:t>
            </a:r>
          </a:p>
          <a:p xmlns:a="http://schemas.openxmlformats.org/drawingml/2006/main">
            <a:r>
              <a:t>      "spending_krw": 128844309211,</a:t>
            </a:r>
          </a:p>
          <a:p xmlns:a="http://schemas.openxmlformats.org/drawingml/2006/main">
            <a:r>
              <a:t>      "previous_year_visitors": 3482583,</a:t>
            </a:r>
          </a:p>
          <a:p xmlns:a="http://schemas.openxmlformats.org/drawingml/2006/main">
            <a:r>
              <a:t>      "previous_year_spending_krw": 133843940000,</a:t>
            </a:r>
          </a:p>
          <a:p xmlns:a="http://schemas.openxmlformats.org/drawingml/2006/main">
            <a:r>
              <a:t>      "visitor_yoy_percent": 0.75,</a:t>
            </a:r>
          </a:p>
          <a:p xmlns:a="http://schemas.openxmlformats.org/drawingml/2006/main">
            <a:r>
              <a:t>      "spending_yoy_percent": -3.74,</a:t>
            </a:r>
          </a:p>
          <a:p xmlns:a="http://schemas.openxmlformats.org/drawingml/2006/main">
            <a:r>
              <a:t>      "lodging_nights": 3.04,</a:t>
            </a:r>
          </a:p>
          <a:p xmlns:a="http://schemas.openxmlformats.org/drawingml/2006/main">
            <a:r>
              <a:t>      "previous_year_lodging_nights": 3.04,</a:t>
            </a:r>
          </a:p>
          <a:p xmlns:a="http://schemas.openxmlformats.org/drawingml/2006/main">
            <a:r>
              <a:t>      "lodging_rate_pct": 21.3,</a:t>
            </a:r>
          </a:p>
          <a:p xmlns:a="http://schemas.openxmlformats.org/drawingml/2006/main">
            <a:r>
              <a:t>      "previous_year_lodging_rate_pct": 21.3,</a:t>
            </a:r>
          </a:p>
          <a:p xmlns:a="http://schemas.openxmlformats.org/drawingml/2006/main">
            <a:r>
              <a:t>      "stay_minutes": 2331.0,</a:t>
            </a:r>
          </a:p>
          <a:p xmlns:a="http://schemas.openxmlformats.org/drawingml/2006/main">
            <a:r>
              <a:t>      "previous_year_stay_minutes": 2331.0,</a:t>
            </a:r>
          </a:p>
          <a:p xmlns:a="http://schemas.openxmlformats.org/drawingml/2006/main">
            <a:r>
              <a:t>      "navigation_searches": 625924,</a:t>
            </a:r>
          </a:p>
          <a:p xmlns:a="http://schemas.openxmlformats.org/drawingml/2006/main">
            <a:r>
              <a:t>      "previous_year_navigation_searches": 625924,</a:t>
            </a:r>
          </a:p>
          <a:p xmlns:a="http://schemas.openxmlformats.org/drawingml/2006/main">
            <a:r>
              <a:t>      "lodging_searches": 83147,</a:t>
            </a:r>
          </a:p>
          <a:p xmlns:a="http://schemas.openxmlformats.org/drawingml/2006/main">
            <a:r>
              <a:t>      "previous_year_lodging_searches": 83147,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3615062,</a:t>
            </a:r>
          </a:p>
          <a:p xmlns:a="http://schemas.openxmlformats.org/drawingml/2006/main">
            <a:r>
              <a:t>      "spending_krw": 150467072839,</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a:t>
            </a:r>
          </a:p>
          <a:p xmlns:a="http://schemas.openxmlformats.org/drawingml/2006/main">
            <a:r>
              <a:t>      "spending_krw": 145085139974,</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a:t>
            </a:r>
          </a:p>
          <a:p xmlns:a="http://schemas.openxmlformats.org/drawingml/2006/main">
            <a:r>
              <a:t>      "spending_krw": 149366639508,</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"validation_period": "202512~202602",</a:t>
            </a:r>
          </a:p>
          <a:p xmlns:a="http://schemas.openxmlformats.org/drawingml/2006/main">
            <a:r>
              <a:t>    "test_period": "202603~202606",</a:t>
            </a:r>
          </a:p>
          <a:p xmlns:a="http://schemas.openxmlformats.org/drawingml/2006/main">
            <a:r>
              <a:t>    "selection_basis": "validation_mae_only",</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"forecast_horizon_months": 6,</a:t>
            </a:r>
          </a:p>
          <a:p xmlns:a="http://schemas.openxmlformats.org/drawingml/2006/main">
            <a:r>
              <a:t>    "longer_horizon_status": "exploratory_not_recursively_backtested",</a:t>
            </a:r>
          </a:p>
          <a:p xmlns:a="http://schemas.openxmlformats.org/drawingml/2006/main">
            <a:r>
              <a:t>    "metrics": {</a:t>
            </a:r>
          </a:p>
          <a:p xmlns:a="http://schemas.openxmlformats.org/drawingml/2006/main">
            <a:r>
              <a:t>      "visitors": {</a:t>
            </a:r>
          </a:p>
          <a:p xmlns:a="http://schemas.openxmlformats.org/drawingml/2006/main">
            <a:r>
              <a:t>        "selected_model": "RandomForestRegressor",</a:t>
            </a:r>
          </a:p>
          <a:p xmlns:a="http://schemas.openxmlformats.org/drawingml/2006/main">
            <a:r>
              <a:t>        "test_mae": 183762.22,</a:t>
            </a:r>
          </a:p>
          <a:p xmlns:a="http://schemas.openxmlformats.org/drawingml/2006/main">
            <a:r>
              <a:t>        "baseline_test_mae": 219359.25,</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"1"</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265459.0,</a:t>
            </a:r>
          </a:p>
          <a:p xmlns:a="http://schemas.openxmlformats.org/drawingml/2006/main">
            <a:r>
              <a:t>            "baseline": 141219.0,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136814.0,</a:t>
            </a:r>
          </a:p>
          <a:p xmlns:a="http://schemas.openxmlformats.org/drawingml/2006/main">
            <a:r>
              <a:t>            "baseline": 144459.5,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180437.5,</a:t>
            </a:r>
          </a:p>
          <a:p xmlns:a="http://schemas.openxmlformats.org/drawingml/2006/main">
            <a:r>
              <a:t>            "baseline": 297499.5,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"selected_model": "LinearRegression",</a:t>
            </a:r>
          </a:p>
          <a:p xmlns:a="http://schemas.openxmlformats.org/drawingml/2006/main">
            <a:r>
              <a:t>        "test_mae": 7866027889.97,</a:t>
            </a:r>
          </a:p>
          <a:p xmlns:a="http://schemas.openxmlformats.org/drawingml/2006/main">
            <a:r>
              <a:t>        "baseline_test_mae": 8640464250.0,</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5070058833.0,</a:t>
            </a:r>
          </a:p>
          <a:p xmlns:a="http://schemas.openxmlformats.org/drawingml/2006/main">
            <a:r>
              <a:t>            "baseline": 11633402000.0,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2754801694.5,</a:t>
            </a:r>
          </a:p>
          <a:p xmlns:a="http://schemas.openxmlformats.org/drawingml/2006/main">
            <a:r>
              <a:t>            "baseline": 5588447000.0,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11586732430.5,</a:t>
            </a:r>
          </a:p>
          <a:p xmlns:a="http://schemas.openxmlformats.org/drawingml/2006/main">
            <a:r>
              <a:t>            "baseline": 5647526500.0,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"lodging_nights": {</a:t>
            </a:r>
          </a:p>
          <a:p xmlns:a="http://schemas.openxmlformats.org/drawingml/2006/main">
            <a:r>
              <a:t>        "selected_model": "seasonal_naive_previous_year_same_month",</a:t>
            </a:r>
          </a:p>
          <a:p xmlns:a="http://schemas.openxmlformats.org/drawingml/2006/main">
            <a:r>
              <a:t>        "test_mae": 0.03,</a:t>
            </a:r>
          </a:p>
          <a:p xmlns:a="http://schemas.openxmlformats.org/drawingml/2006/main">
            <a:r>
              <a:t>        "baseline_test_mae": 0.03,</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0.04,</a:t>
            </a:r>
          </a:p>
          <a:p xmlns:a="http://schemas.openxmlformats.org/drawingml/2006/main">
            <a:r>
              <a:t>            "baseline": 0.04,</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"selected_model": "seasonal_naive_previous_year_same_month",</a:t>
            </a:r>
          </a:p>
          <a:p xmlns:a="http://schemas.openxmlformats.org/drawingml/2006/main">
            <a:r>
              <a:t>        "test_mae": 0.5,</a:t>
            </a:r>
          </a:p>
          <a:p xmlns:a="http://schemas.openxmlformats.org/drawingml/2006/main">
            <a:r>
              <a:t>        "baseline_test_mae": 0.5,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0.7,</a:t>
            </a:r>
          </a:p>
          <a:p xmlns:a="http://schemas.openxmlformats.org/drawingml/2006/main">
            <a:r>
              <a:t>            "baseline": 0.7,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0.55,</a:t>
            </a:r>
          </a:p>
          <a:p xmlns:a="http://schemas.openxmlformats.org/drawingml/2006/main">
            <a:r>
              <a:t>            "baseline": 0.55,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0.3,</a:t>
            </a:r>
          </a:p>
          <a:p xmlns:a="http://schemas.openxmlformats.org/drawingml/2006/main">
            <a:r>
              <a:t>            "baseline": 0.3,</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"selected_model": "seasonal_naive_previous_year_same_month",</a:t>
            </a:r>
          </a:p>
          <a:p xmlns:a="http://schemas.openxmlformats.org/drawingml/2006/main">
            <a:r>
              <a:t>        "test_mae": 138.75,</a:t>
            </a:r>
          </a:p>
          <a:p xmlns:a="http://schemas.openxmlformats.org/drawingml/2006/main">
            <a:r>
              <a:t>        "baseline_test_mae": 138.75,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41.0,</a:t>
            </a:r>
          </a:p>
          <a:p xmlns:a="http://schemas.openxmlformats.org/drawingml/2006/main">
            <a:r>
              <a:t>            "baseline": 41.0,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208.5,</a:t>
            </a:r>
          </a:p>
          <a:p xmlns:a="http://schemas.openxmlformats.org/drawingml/2006/main">
            <a:r>
              <a:t>            "baseline": 208.5,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236.5,</a:t>
            </a:r>
          </a:p>
          <a:p xmlns:a="http://schemas.openxmlformats.org/drawingml/2006/main">
            <a:r>
              <a:t>            "baseline": 236.5,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"selected_model": "seasonal_naive_previous_year_same_month",</a:t>
            </a:r>
          </a:p>
          <a:p xmlns:a="http://schemas.openxmlformats.org/drawingml/2006/main">
            <a:r>
              <a:t>        "test_mae": 29189.5,</a:t>
            </a:r>
          </a:p>
          <a:p xmlns:a="http://schemas.openxmlformats.org/drawingml/2006/main">
            <a:r>
              <a:t>        "baseline_test_mae": 29189.5,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11165.5,</a:t>
            </a:r>
          </a:p>
          <a:p xmlns:a="http://schemas.openxmlformats.org/drawingml/2006/main">
            <a:r>
              <a:t>            "baseline": 11165.5,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19541.0,</a:t>
            </a:r>
          </a:p>
          <a:p xmlns:a="http://schemas.openxmlformats.org/drawingml/2006/main">
            <a:r>
              <a:t>            "baseline": 19541.0,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47213.5,</a:t>
            </a:r>
          </a:p>
          <a:p xmlns:a="http://schemas.openxmlformats.org/drawingml/2006/main">
            <a:r>
              <a:t>            "baseline": 47213.5,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"lodging_searches": {</a:t>
            </a:r>
          </a:p>
          <a:p xmlns:a="http://schemas.openxmlformats.org/drawingml/2006/main">
            <a:r>
              <a:t>        "selected_model": "seasonal_naive_previous_year_same_month",</a:t>
            </a:r>
          </a:p>
          <a:p xmlns:a="http://schemas.openxmlformats.org/drawingml/2006/main">
            <a:r>
              <a:t>        "test_mae": 5915.25,</a:t>
            </a:r>
          </a:p>
          <a:p xmlns:a="http://schemas.openxmlformats.org/drawingml/2006/main">
            <a:r>
              <a:t>        "baseline_test_mae": 5915.25,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2259.5,</a:t>
            </a:r>
          </a:p>
          <a:p xmlns:a="http://schemas.openxmlformats.org/drawingml/2006/main">
            <a:r>
              <a:t>            "baseline": 2259.5,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5253.5,</a:t>
            </a:r>
          </a:p>
          <a:p xmlns:a="http://schemas.openxmlformats.org/drawingml/2006/main">
            <a:r>
              <a:t>            "baseline": 5253.5,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9571.0,</a:t>
            </a:r>
          </a:p>
          <a:p xmlns:a="http://schemas.openxmlformats.org/drawingml/2006/main">
            <a:r>
              <a:t>            "baseline": 9571.0,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0.03221447862482329,</a:t>
            </a:r>
          </a:p>
          <a:p xmlns:a="http://schemas.openxmlformats.org/drawingml/2006/main">
            <a:r>
              <a:t>    "spending_target_pct": 0.05311575279200933,</a:t>
            </a:r>
          </a:p>
          <a:p xmlns:a="http://schemas.openxmlformats.org/drawingml/2006/main">
            <a:r>
              <a:t>    "target_origin": "operating_capacity"</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a:p xmlns:a="http://schemas.openxmlformats.org/drawingml/2006/main">
            <a:r>
              <a:t>표지 사진 출처: {"source_id": "tour-api:2791433", "source_type": "open_api", "title": "고내포구", "source_url": "https://apis.data.go.kr/B551011/KorService2", "content_id": "2791433", "content_type_id": "12", "address": "제주특별자치도 제주시 애월읍 고내리 1111-4", "image_url": "http://tong.visitkorea.or.kr/cms/resource/19/3589219_image2_1.jpg",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0.03221447862482329,</a:t>
            </a:r>
          </a:p>
          <a:p>
            <a:r>
              <a:t>    "spending_target_pct": 0.05311575279200933,</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"observed_findings": [</a:t>
            </a:r>
          </a:p>
          <a:p>
            <a:r>
              <a:t>    {</a:t>
            </a:r>
          </a:p>
          <a:p>
            <a:r>
              <a:t>      "metric": "월간 순 방문자 수",</a:t>
            </a:r>
          </a:p>
          <a:p>
            <a:r>
              <a:t>      "value": "3,131,476명",</a:t>
            </a:r>
          </a:p>
          <a:p>
            <a:r>
              <a:t>      "interpretation": "2026년 6월 기준, 전년 동월 대비 -8.9% 감소하며 방문객 감소 추세가 관측됨",</a:t>
            </a:r>
          </a:p>
          <a:p>
            <a:r>
              <a:t>      "source": "dataset:50110:1"</a:t>
            </a:r>
          </a:p>
          <a:p>
            <a:r>
              <a:t>    },</a:t>
            </a:r>
          </a:p>
          <a:p>
            <a:r>
              <a:t>    {</a:t>
            </a:r>
          </a:p>
          <a:p>
            <a:r>
              <a:t>      "metric": "내비게이션 목적지 검색량",</a:t>
            </a:r>
          </a:p>
          <a:p>
            <a:r>
              <a:t>      "value": "580,380건",</a:t>
            </a:r>
          </a:p>
          <a:p>
            <a:r>
              <a:t>      "interpretation": "제주시 내 관광 목적지에 대한 높은 관심이 확인되어 야간 프로그램 운영을 위한 잠재 수요로 판단됨",</a:t>
            </a:r>
          </a:p>
          <a:p>
            <a:r>
              <a:t>      "source": "dataset:50110:6"</a:t>
            </a:r>
          </a:p>
          <a:p>
            <a:r>
              <a:t>    },</a:t>
            </a:r>
          </a:p>
          <a:p>
            <a:r>
              <a:t>    {</a:t>
            </a:r>
          </a:p>
          <a:p>
            <a:r>
              <a:t>      "metric": "외지인 숙박 방문 비율",</a:t>
            </a:r>
          </a:p>
          <a:p>
            <a:r>
              <a:t>      "value": "21.0%",</a:t>
            </a:r>
          </a:p>
          <a:p>
            <a:r>
              <a:t>      "interpretation": "전체 방문객 중 숙박객 비중이 낮아 야간 체류 프로그램이 숙박 전환의 핵심 기제가 될 수 있음",</a:t>
            </a:r>
          </a:p>
          <a:p>
            <a:r>
              <a:t>      "source": "dataset:50110:4"</a:t>
            </a:r>
          </a:p>
          <a:p>
            <a:r>
              <a:t>    }</a:t>
            </a:r>
          </a:p>
          <a:p>
            <a:r>
              <a:t>  ],</a:t>
            </a:r>
          </a:p>
          <a:p>
            <a:r>
              <a:t>  "interpretation": "7개 예측값으로 학습한 추천 모델 없음. 관측 지표는 지역 설계 입력이고 공식 운영 문서가 사례 연결 기준."</a:t>
            </a:r>
          </a:p>
          <a:p>
            <a:r>
              <a:t>}</a:t>
            </a:r>
          </a:p>
          <a:p>
            <a:r>
              <a:t>적용 공간 참고 사진(사업 참여 확정 아님): [{"source_id": "tour-api:130461", "source_type": "open_api", "title": "국립제주박물관", "content_id": "130461", "content_type_id": "14", "address": "제주특별자치도 제주시 일주동로 17 (건입동)", "source_url": "https://apis.data.go.kr/B551011/KorService2", "image_url": "https://tong.visitkorea.or.kr/cms/resource/63/3562163_image2_1.jpg"}, {"source_id": "tour-api:128641", "source_type": "open_api", "title": "제주목 관아", "content_id": "128641", "content_type_id": "12", "address": "제주특별자치도 제주시 관덕로 25", "source_url": "https://apis.data.go.kr/B551011/KorService2", "image_url": "https://tong.visitkorea.or.kr/cms/resource/65/4074265_image2_1.jpg"}]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10,582,411명 (추가 2,246명, +0.02%)\n관광소비액: 기준 444,918,852,321원 → 목표 445,076,205,485원 (추가 157,353,164원, +0.04%)\n월별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아닙니다.\n6개 × 월 8일 × 3개월 × 하루 2회 × 회당 40명 = 11,520명분 → 편성 참여 한도 11,520건.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10582411.0,</a:t>
            </a:r>
          </a:p>
          <a:p>
            <a:r>
              <a:t>        "additional": 2246.0,</a:t>
            </a:r>
          </a:p>
          <a:p>
            <a:r>
              <a:t>        "pct": 0.02122840239258128</a:t>
            </a:r>
          </a:p>
          <a:p>
            <a:r>
              <a:t>      },</a:t>
            </a:r>
          </a:p>
          <a:p>
            <a:r>
              <a:t>      {</a:t>
            </a:r>
          </a:p>
          <a:p>
            <a:r>
              <a:t>        "key": "spending",</a:t>
            </a:r>
          </a:p>
          <a:p>
            <a:r>
              <a:t>        "label": "관광소비액",</a:t>
            </a:r>
          </a:p>
          <a:p>
            <a:r>
              <a:t>        "unit": "원",</a:t>
            </a:r>
          </a:p>
          <a:p>
            <a:r>
              <a:t>        "baseline": 444918852321.0,</a:t>
            </a:r>
          </a:p>
          <a:p>
            <a:r>
              <a:t>        "target": 445076205485.0,</a:t>
            </a:r>
          </a:p>
          <a:p>
            <a:r>
              <a:t>        "additional": 157353164.0,</a:t>
            </a:r>
          </a:p>
          <a:p>
            <a:r>
              <a:t>        "pct": 0.035366710846074234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a:t>
            </a:r>
          </a:p>
          <a:p>
            <a:r>
              <a:t>    "estimate": {</a:t>
            </a:r>
          </a:p>
          <a:p>
            <a:r>
              <a:t>      "version": "operating-capacity-v1",</a:t>
            </a:r>
          </a:p>
          <a:p>
            <a:r>
              <a:t>      "status": "planning_assumption_not_quote",</a:t>
            </a:r>
          </a:p>
          <a:p>
            <a:r>
              <a:t>      "scale_basis": "6개 × 월 8일 × 3개월 × 하루 2회 × 회당 40명 = 11,520명분 → 편성 참여 한도 11,520건. 모든 단가는 기획 가정.",</a:t>
            </a:r>
          </a:p>
          <a:p>
            <a:r>
              <a:t>      "months": 3,</a:t>
            </a:r>
          </a:p>
          <a:p>
            <a:r>
              <a:t>      "refund": false,</a:t>
            </a:r>
          </a:p>
          <a:p>
            <a:r>
              <a:t>      "quantity": 11520,</a:t>
            </a:r>
          </a:p>
          <a:p>
            <a:r>
              <a:t>      "unit_krw": 10000,</a:t>
            </a:r>
          </a:p>
          <a:p>
            <a:r>
              <a:t>      "redemption_target_pct": 65.0,</a:t>
            </a:r>
          </a:p>
          <a:p>
            <a:r>
              <a:t>      "redemption_count": 7488,</a:t>
            </a:r>
          </a:p>
          <a:p>
            <a:r>
              <a:t>      "qualifying_spend_krw": null,</a:t>
            </a:r>
          </a:p>
          <a:p>
            <a:r>
              <a:t>      "subtotal_krw": 152800000,</a:t>
            </a:r>
          </a:p>
          <a:p>
            <a:r>
              <a:t>      "reserve_krw": 15280000,</a:t>
            </a:r>
          </a:p>
          <a:p>
            <a:r>
              <a:t>      "total_krw": 168080000,</a:t>
            </a:r>
          </a:p>
          <a:p>
            <a:r>
              <a:t>      "within_hard_budget": true,</a:t>
            </a:r>
          </a:p>
          <a:p>
            <a:r>
              <a:t>      "items": [</a:t>
            </a:r>
          </a:p>
          <a:p>
            <a:r>
              <a:t>        {</a:t>
            </a:r>
          </a:p>
          <a:p>
            <a:r>
              <a:t>          "name": "프로그램 운영·참여 지원",</a:t>
            </a:r>
          </a:p>
          <a:p>
            <a:r>
              <a:t>          "basis": "편성 참여 한도 11,520건 × 가정 단가 10,000원",</a:t>
            </a:r>
          </a:p>
          <a:p>
            <a:r>
              <a:t>          "amount": 115200000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152,800,000원 × 10%",</a:t>
            </a:r>
          </a:p>
          <a:p>
            <a:r>
              <a:t>          "amount": 15280000</a:t>
            </a:r>
          </a:p>
          <a:p>
            <a:r>
              <a:t>        }</a:t>
            </a:r>
          </a:p>
          <a:p>
            <a:r>
              <a:t>      ],</a:t>
            </a:r>
          </a:p>
          <a:p>
            <a:r>
              <a:t>      "sources": [],</a:t>
            </a:r>
          </a:p>
          <a:p>
            <a:r>
              <a:t>      "assumptions": [</a:t>
            </a:r>
          </a:p>
          <a:p>
            <a:r>
              <a:t>        "기획용 예상 견적이며 실제 액수와 다를 수 있습니다."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"operating-capacity-v1",</a:t>
            </a:r>
          </a:p>
          <a:p>
            <a:r>
              <a:t>  "status": "proposed",</a:t>
            </a:r>
          </a:p>
          <a:p>
            <a:r>
              <a:t>  "minimum_operating_budget_krw": 41360000,</a:t>
            </a:r>
          </a:p>
          <a:p>
            <a:r>
              <a:t>  "family": "night_time_experience",</a:t>
            </a:r>
          </a:p>
          <a:p>
            <a:r>
              <a:t>  "program_label": "야간 문화·체험",</a:t>
            </a:r>
          </a:p>
          <a:p>
            <a:r>
              <a:t>  "site_label": "운영 거점",</a:t>
            </a:r>
          </a:p>
          <a:p>
            <a:r>
              <a:t>  "months": 3,</a:t>
            </a:r>
          </a:p>
          <a:p>
            <a:r>
              <a:t>  "forecast_period": "202610~202612",</a:t>
            </a:r>
          </a:p>
          <a:p>
            <a:r>
              <a:t>  "baseline_visitors": 10580165.0,</a:t>
            </a:r>
          </a:p>
          <a:p>
            <a:r>
              <a:t>  "baseline_spending_krw": 444918852321.0,</a:t>
            </a:r>
          </a:p>
          <a:p>
            <a:r>
              <a:t>  "mean_monthly_visitors": 3526721.6666666665,</a:t>
            </a:r>
          </a:p>
          <a:p>
            <a:r>
              <a:t>  "sites": 6,</a:t>
            </a:r>
          </a:p>
          <a:p>
            <a:r>
              <a:t>  "days_per_month": 8,</a:t>
            </a:r>
          </a:p>
          <a:p>
            <a:r>
              <a:t>  "sessions_per_day": 2,</a:t>
            </a:r>
          </a:p>
          <a:p>
            <a:r>
              <a:t>  "capacity_per_session": 40,</a:t>
            </a:r>
          </a:p>
          <a:p>
            <a:r>
              <a:t>  "capacity": 11520,</a:t>
            </a:r>
          </a:p>
          <a:p>
            <a:r>
              <a:t>  "funded_capacity": 11520,</a:t>
            </a:r>
          </a:p>
          <a:p>
            <a:r>
              <a:t>  "scale_rule": "운영 거점 = ceil(√(월평균 ML 방문 전망 ÷ 100,000)), 최소 1·최대 12개",</a:t>
            </a:r>
          </a:p>
          <a:p>
            <a:r>
              <a:t>  "capacity_formula": "6개 × 월 8일 × 3개월 × 하루 2회 × 회당 40명 = 11,520명분",</a:t>
            </a:r>
          </a:p>
          <a:p>
            <a:r>
              <a:t>  "scale_kind": "planning_rule_not_population_model",</a:t>
            </a:r>
          </a:p>
          <a:p>
            <a:r>
              <a:t>  "spending_per_visit_proxy_krw": 42052.16575743384,</a:t>
            </a:r>
          </a:p>
          <a:p>
            <a:r>
              <a:t>  "existing_participant_extra_spend_krw": 12000,</a:t>
            </a:r>
          </a:p>
          <a:p>
            <a:r>
              <a:t>  "spending_formula": "추가 방문 × (ML 소비 합계 ÷ ML 방문 합계) + 기존 방문 참여 × 추가 구매 가정액",</a:t>
            </a:r>
          </a:p>
          <a:p>
            <a:r>
              <a:t>  "rate_basis": [</a:t>
            </a:r>
          </a:p>
          <a:p>
            <a:r>
              <a:t>    {</a:t>
            </a:r>
          </a:p>
          <a:p>
            <a:r>
              <a:t>      "kind": "planning_assumption",</a:t>
            </a:r>
          </a:p>
          <a:p>
            <a:r>
              <a:t>      "metric": "utilization_rate",</a:t>
            </a:r>
          </a:p>
          <a:p>
            <a:r>
              <a:t>      "value": 65.0,</a:t>
            </a:r>
          </a:p>
          <a:p>
            <a:r>
              <a:t>      "unit": "percent",</a:t>
            </a:r>
          </a:p>
          <a:p>
            <a:r>
              <a:t>      "reason": "사업 규모를 검토하기 위한 공통 계획 가정"</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50.0,</a:t>
            </a:r>
          </a:p>
          <a:p>
            <a:r>
              <a:t>      "additional_visitor_share_pct": 15.0,</a:t>
            </a:r>
          </a:p>
          <a:p>
            <a:r>
              <a:t>      "participants": 5760,</a:t>
            </a:r>
          </a:p>
          <a:p>
            <a:r>
              <a:t>      "additional_visitors": 864,</a:t>
            </a:r>
          </a:p>
          <a:p>
            <a:r>
              <a:t>      "additional_spending_krw": 95085071,</a:t>
            </a:r>
          </a:p>
          <a:p>
            <a:r>
              <a:t>      "visitor_growth_pct": 0.008166224250756015,</a:t>
            </a:r>
          </a:p>
          <a:p>
            <a:r>
              <a:t>      "spending_growth_pct": 0.021371328839848314,</a:t>
            </a:r>
          </a:p>
          <a:p>
            <a:r>
              <a:t>      "visitor_target_pct": 0.012392390708747696,</a:t>
            </a:r>
          </a:p>
          <a:p>
            <a:r>
              <a:t>      "spending_target_pct": 0.03209668618704518</a:t>
            </a:r>
          </a:p>
          <a:p>
            <a:r>
              <a:t>    },</a:t>
            </a:r>
          </a:p>
          <a:p>
            <a:r>
              <a:t>    {</a:t>
            </a:r>
          </a:p>
          <a:p>
            <a:r>
              <a:t>      "label": "기준",</a:t>
            </a:r>
          </a:p>
          <a:p>
            <a:r>
              <a:t>      "utilization_pct": 65.0,</a:t>
            </a:r>
          </a:p>
          <a:p>
            <a:r>
              <a:t>      "additional_visitor_share_pct": 30.0,</a:t>
            </a:r>
          </a:p>
          <a:p>
            <a:r>
              <a:t>      "participants": 7488,</a:t>
            </a:r>
          </a:p>
          <a:p>
            <a:r>
              <a:t>      "additional_visitors": 2246,</a:t>
            </a:r>
          </a:p>
          <a:p>
            <a:r>
              <a:t>      "additional_spending_krw": 157353164,</a:t>
            </a:r>
          </a:p>
          <a:p>
            <a:r>
              <a:t>      "visitor_growth_pct": 0.021228402392590284,</a:t>
            </a:r>
          </a:p>
          <a:p>
            <a:r>
              <a:t>      "spending_growth_pct": 0.03536671084606522,</a:t>
            </a:r>
          </a:p>
          <a:p>
            <a:r>
              <a:t>      "visitor_target_pct": 0.03221447862482329,</a:t>
            </a:r>
          </a:p>
          <a:p>
            <a:r>
              <a:t>      "spending_target_pct": 0.05311575279200933</a:t>
            </a:r>
          </a:p>
          <a:p>
            <a:r>
              <a:t>    },</a:t>
            </a:r>
          </a:p>
          <a:p>
            <a:r>
              <a:t>    {</a:t>
            </a:r>
          </a:p>
          <a:p>
            <a:r>
              <a:t>      "label": "확대",</a:t>
            </a:r>
          </a:p>
          <a:p>
            <a:r>
              <a:t>      "utilization_pct": 80.0,</a:t>
            </a:r>
          </a:p>
          <a:p>
            <a:r>
              <a:t>      "additional_visitor_share_pct": 44.99999999999999,</a:t>
            </a:r>
          </a:p>
          <a:p>
            <a:r>
              <a:t>      "participants": 9216,</a:t>
            </a:r>
          </a:p>
          <a:p>
            <a:r>
              <a:t>      "additional_visitors": 4147,</a:t>
            </a:r>
          </a:p>
          <a:p>
            <a:r>
              <a:t>      "additional_spending_krw": 235218331,</a:t>
            </a:r>
          </a:p>
          <a:p>
            <a:r>
              <a:t>      "visitor_growth_pct": 0.03919598607394119,</a:t>
            </a:r>
          </a:p>
          <a:p>
            <a:r>
              <a:t>      "spending_growth_pct": 0.05286769256302377,</a:t>
            </a:r>
          </a:p>
          <a:p>
            <a:r>
              <a:t>      "visitor_target_pct": 0.05948060679302858,</a:t>
            </a:r>
          </a:p>
          <a:p>
            <a:r>
              <a:t>      "spending_target_pct": 0.07939972990657515</a:t>
            </a:r>
          </a:p>
          <a:p>
            <a:r>
              <a:t>    }</a:t>
            </a:r>
          </a:p>
          <a:p>
            <a:r>
              <a:t>  ],</a:t>
            </a:r>
          </a:p>
          <a:p>
            <a:r>
              <a:t>  "central": {</a:t>
            </a:r>
          </a:p>
          <a:p>
            <a:r>
              <a:t>    "label": "기준",</a:t>
            </a:r>
          </a:p>
          <a:p>
            <a:r>
              <a:t>    "utilization_pct": 65.0,</a:t>
            </a:r>
          </a:p>
          <a:p>
            <a:r>
              <a:t>    "additional_visitor_share_pct": 30.0,</a:t>
            </a:r>
          </a:p>
          <a:p>
            <a:r>
              <a:t>    "participants": 7488,</a:t>
            </a:r>
          </a:p>
          <a:p>
            <a:r>
              <a:t>    "additional_visitors": 2246,</a:t>
            </a:r>
          </a:p>
          <a:p>
            <a:r>
              <a:t>    "additional_spending_krw": 157353164,</a:t>
            </a:r>
          </a:p>
          <a:p>
            <a:r>
              <a:t>    "visitor_growth_pct": 0.021228402392590284,</a:t>
            </a:r>
          </a:p>
          <a:p>
            <a:r>
              <a:t>    "spending_growth_pct": 0.03536671084606522,</a:t>
            </a:r>
          </a:p>
          <a:p>
            <a:r>
              <a:t>    "visitor_target_pct": 0.03221447862482329,</a:t>
            </a:r>
          </a:p>
          <a:p>
            <a:r>
              <a:t>    "spending_target_pct": 0.05311575279200933</a:t>
            </a:r>
          </a:p>
          <a:p>
            <a:r>
              <a:t>  },</a:t>
            </a:r>
          </a:p>
          <a:p>
            <a:r>
              <a:t>  "case_sources": [</a:t>
            </a:r>
          </a:p>
          <a:p>
            <a:r>
              <a:t>    {</a:t>
            </a:r>
          </a:p>
          <a:p>
            <a:r>
              <a:t>      "source_id": "case:4bac3530eca721",</a:t>
            </a:r>
          </a:p>
          <a:p>
            <a:r>
              <a:t>      "title": "2024년 문화재야행 사업 예산 확정자료",</a:t>
            </a:r>
          </a:p>
          <a:p>
            <a:r>
              <a:t>      "source_url": "https://culture.seoul.go.kr/culture/cmmn/file/fileDown.do?atchFileId=c4638ecc9ce84bba9e51ecc2e11293e2&amp;bbsId=&amp;fileSn=2&amp;menuNo=200050",</a:t>
            </a:r>
          </a:p>
          <a:p>
            <a:r>
              <a:t>      "operating_model": "문화유산이 모인 거점을 중심으로 야간 개방, 해설, 공연과 체험프로그램을 구성하고 국비와 지방비를 결합해 운영했다.",</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a:t>
            </a:r>
          </a:p>
          <a:p>
            <a:r>
              <a:t>  ],</a:t>
            </a:r>
          </a:p>
          <a:p>
            <a:r>
              <a:t>  "explanation":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a:t>
            </a:r>
          </a:p>
          <a:p>
            <a:r>
              <a:t>  "disclosure": "보수·기준·확대는 이용률과 추가 방문 비중을 ±15%p 바꾼 계획 범위이며 통계적 오차범위가 아닙니다. 거점 수는 확보 시설 수가 아닙니다. 소비/방문 비율은 실측 객단가가 아닙니다. 기존 참여자의 추가 소비도 가정이며 대체 소비는 사후 점검합니다.",</a:t>
            </a:r>
          </a:p>
          <a:p>
            <a:r>
              <a:t>  "budget_cap_krw": null,</a:t>
            </a:r>
          </a:p>
          <a:p>
            <a:r>
              <a:t>  "capacity_reduced": false,</a:t>
            </a:r>
          </a:p>
          <a:p>
            <a:r>
              <a:t>  "estimate": {</a:t>
            </a:r>
          </a:p>
          <a:p>
            <a:r>
              <a:t>    "version": "operating-capacity-v1",</a:t>
            </a:r>
          </a:p>
          <a:p>
            <a:r>
              <a:t>    "status": "planning_assumption_not_quote",</a:t>
            </a:r>
          </a:p>
          <a:p>
            <a:r>
              <a:t>    "scale_basis": "6개 × 월 8일 × 3개월 × 하루 2회 × 회당 40명 = 11,520명분 → 편성 참여 한도 11,520건. 모든 단가는 기획 가정.",</a:t>
            </a:r>
          </a:p>
          <a:p>
            <a:r>
              <a:t>    "months": 3,</a:t>
            </a:r>
          </a:p>
          <a:p>
            <a:r>
              <a:t>    "refund": false,</a:t>
            </a:r>
          </a:p>
          <a:p>
            <a:r>
              <a:t>    "quantity": 11520,</a:t>
            </a:r>
          </a:p>
          <a:p>
            <a:r>
              <a:t>    "unit_krw": 10000,</a:t>
            </a:r>
          </a:p>
          <a:p>
            <a:r>
              <a:t>    "redemption_target_pct": 65.0,</a:t>
            </a:r>
          </a:p>
          <a:p>
            <a:r>
              <a:t>    "redemption_count": 7488,</a:t>
            </a:r>
          </a:p>
          <a:p>
            <a:r>
              <a:t>    "qualifying_spend_krw": null,</a:t>
            </a:r>
          </a:p>
          <a:p>
            <a:r>
              <a:t>    "subtotal_krw": 152800000,</a:t>
            </a:r>
          </a:p>
          <a:p>
            <a:r>
              <a:t>    "reserve_krw": 15280000,</a:t>
            </a:r>
          </a:p>
          <a:p>
            <a:r>
              <a:t>    "total_krw": 168080000,</a:t>
            </a:r>
          </a:p>
          <a:p>
            <a:r>
              <a:t>    "within_hard_budget": true,</a:t>
            </a:r>
          </a:p>
          <a:p>
            <a:r>
              <a:t>    "items": [</a:t>
            </a:r>
          </a:p>
          <a:p>
            <a:r>
              <a:t>      {</a:t>
            </a:r>
          </a:p>
          <a:p>
            <a:r>
              <a:t>        "name": "프로그램 운영·참여 지원",</a:t>
            </a:r>
          </a:p>
          <a:p>
            <a:r>
              <a:t>        "basis": "편성 참여 한도 11,520건 × 가정 단가 10,000원",</a:t>
            </a:r>
          </a:p>
          <a:p>
            <a:r>
              <a:t>        "amount": 115200000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152,800,000원 × 10%",</a:t>
            </a:r>
          </a:p>
          <a:p>
            <a:r>
              <a:t>        "amount": 15280000</a:t>
            </a:r>
          </a:p>
          <a:p>
            <a:r>
              <a:t>      }</a:t>
            </a:r>
          </a:p>
          <a:p>
            <a:r>
              <a:t>    ],</a:t>
            </a:r>
          </a:p>
          <a:p>
            <a:r>
              <a:t>    "sources": [],</a:t>
            </a:r>
          </a:p>
          <a:p>
            <a:r>
              <a:t>    "assumptions": [</a:t>
            </a:r>
          </a:p>
          <a:p>
            <a:r>
              <a:t>      "기획용 예상 견적이며 실제 액수와 다를 수 있습니다."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"operating-capacity-v1",</a:t>
            </a:r>
          </a:p>
          <a:p>
            <a:r>
              <a:t>  "status": "proposed",</a:t>
            </a:r>
          </a:p>
          <a:p>
            <a:r>
              <a:t>  "minimum_operating_budget_krw": 41360000,</a:t>
            </a:r>
          </a:p>
          <a:p>
            <a:r>
              <a:t>  "family": "night_time_experience",</a:t>
            </a:r>
          </a:p>
          <a:p>
            <a:r>
              <a:t>  "program_label": "야간 문화·체험",</a:t>
            </a:r>
          </a:p>
          <a:p>
            <a:r>
              <a:t>  "site_label": "운영 거점",</a:t>
            </a:r>
          </a:p>
          <a:p>
            <a:r>
              <a:t>  "months": 3,</a:t>
            </a:r>
          </a:p>
          <a:p>
            <a:r>
              <a:t>  "forecast_period": "202610~202612",</a:t>
            </a:r>
          </a:p>
          <a:p>
            <a:r>
              <a:t>  "baseline_visitors": 10580165.0,</a:t>
            </a:r>
          </a:p>
          <a:p>
            <a:r>
              <a:t>  "baseline_spending_krw": 444918852321.0,</a:t>
            </a:r>
          </a:p>
          <a:p>
            <a:r>
              <a:t>  "mean_monthly_visitors": 3526721.6666666665,</a:t>
            </a:r>
          </a:p>
          <a:p>
            <a:r>
              <a:t>  "sites": 6,</a:t>
            </a:r>
          </a:p>
          <a:p>
            <a:r>
              <a:t>  "days_per_month": 8,</a:t>
            </a:r>
          </a:p>
          <a:p>
            <a:r>
              <a:t>  "sessions_per_day": 2,</a:t>
            </a:r>
          </a:p>
          <a:p>
            <a:r>
              <a:t>  "capacity_per_session": 40,</a:t>
            </a:r>
          </a:p>
          <a:p>
            <a:r>
              <a:t>  "capacity": 11520,</a:t>
            </a:r>
          </a:p>
          <a:p>
            <a:r>
              <a:t>  "funded_capacity": 11520,</a:t>
            </a:r>
          </a:p>
          <a:p>
            <a:r>
              <a:t>  "scale_rule": "운영 거점 = ceil(√(월평균 ML 방문 전망 ÷ 100,000)), 최소 1·최대 12개",</a:t>
            </a:r>
          </a:p>
          <a:p>
            <a:r>
              <a:t>  "capacity_formula": "6개 × 월 8일 × 3개월 × 하루 2회 × 회당 40명 = 11,520명분",</a:t>
            </a:r>
          </a:p>
          <a:p>
            <a:r>
              <a:t>  "scale_kind": "planning_rule_not_population_model",</a:t>
            </a:r>
          </a:p>
          <a:p>
            <a:r>
              <a:t>  "spending_per_visit_proxy_krw": 42052.16575743384,</a:t>
            </a:r>
          </a:p>
          <a:p>
            <a:r>
              <a:t>  "existing_participant_extra_spend_krw": 12000,</a:t>
            </a:r>
          </a:p>
          <a:p>
            <a:r>
              <a:t>  "spending_formula": "추가 방문 × (ML 소비 합계 ÷ ML 방문 합계) + 기존 방문 참여 × 추가 구매 가정액",</a:t>
            </a:r>
          </a:p>
          <a:p>
            <a:r>
              <a:t>  "rate_basis": [</a:t>
            </a:r>
          </a:p>
          <a:p>
            <a:r>
              <a:t>    {</a:t>
            </a:r>
          </a:p>
          <a:p>
            <a:r>
              <a:t>      "kind": "planning_assumption",</a:t>
            </a:r>
          </a:p>
          <a:p>
            <a:r>
              <a:t>      "metric": "utilization_rate",</a:t>
            </a:r>
          </a:p>
          <a:p>
            <a:r>
              <a:t>      "value": 65.0,</a:t>
            </a:r>
          </a:p>
          <a:p>
            <a:r>
              <a:t>      "unit": "percent",</a:t>
            </a:r>
          </a:p>
          <a:p>
            <a:r>
              <a:t>      "reason": "사업 규모를 검토하기 위한 공통 계획 가정"</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50.0,</a:t>
            </a:r>
          </a:p>
          <a:p>
            <a:r>
              <a:t>      "additional_visitor_share_pct": 15.0,</a:t>
            </a:r>
          </a:p>
          <a:p>
            <a:r>
              <a:t>      "participants": 5760,</a:t>
            </a:r>
          </a:p>
          <a:p>
            <a:r>
              <a:t>      "additional_visitors": 864,</a:t>
            </a:r>
          </a:p>
          <a:p>
            <a:r>
              <a:t>      "additional_spending_krw": 95085071,</a:t>
            </a:r>
          </a:p>
          <a:p>
            <a:r>
              <a:t>      "visitor_growth_pct": 0.008166224250756015,</a:t>
            </a:r>
          </a:p>
          <a:p>
            <a:r>
              <a:t>      "spending_growth_pct": 0.021371328839848314,</a:t>
            </a:r>
          </a:p>
          <a:p>
            <a:r>
              <a:t>      "visitor_target_pct": 0.012392390708747696,</a:t>
            </a:r>
          </a:p>
          <a:p>
            <a:r>
              <a:t>      "spending_target_pct": 0.03209668618704518</a:t>
            </a:r>
          </a:p>
          <a:p>
            <a:r>
              <a:t>    },</a:t>
            </a:r>
          </a:p>
          <a:p>
            <a:r>
              <a:t>    {</a:t>
            </a:r>
          </a:p>
          <a:p>
            <a:r>
              <a:t>      "label": "기준",</a:t>
            </a:r>
          </a:p>
          <a:p>
            <a:r>
              <a:t>      "utilization_pct": 65.0,</a:t>
            </a:r>
          </a:p>
          <a:p>
            <a:r>
              <a:t>      "additional_visitor_share_pct": 30.0,</a:t>
            </a:r>
          </a:p>
          <a:p>
            <a:r>
              <a:t>      "participants": 7488,</a:t>
            </a:r>
          </a:p>
          <a:p>
            <a:r>
              <a:t>      "additional_visitors": 2246,</a:t>
            </a:r>
          </a:p>
          <a:p>
            <a:r>
              <a:t>      "additional_spending_krw": 157353164,</a:t>
            </a:r>
          </a:p>
          <a:p>
            <a:r>
              <a:t>      "visitor_growth_pct": 0.021228402392590284,</a:t>
            </a:r>
          </a:p>
          <a:p>
            <a:r>
              <a:t>      "spending_growth_pct": 0.03536671084606522,</a:t>
            </a:r>
          </a:p>
          <a:p>
            <a:r>
              <a:t>      "visitor_target_pct": 0.03221447862482329,</a:t>
            </a:r>
          </a:p>
          <a:p>
            <a:r>
              <a:t>      "spending_target_pct": 0.05311575279200933</a:t>
            </a:r>
          </a:p>
          <a:p>
            <a:r>
              <a:t>    },</a:t>
            </a:r>
          </a:p>
          <a:p>
            <a:r>
              <a:t>    {</a:t>
            </a:r>
          </a:p>
          <a:p>
            <a:r>
              <a:t>      "label": "확대",</a:t>
            </a:r>
          </a:p>
          <a:p>
            <a:r>
              <a:t>      "utilization_pct": 80.0,</a:t>
            </a:r>
          </a:p>
          <a:p>
            <a:r>
              <a:t>      "additional_visitor_share_pct": 44.99999999999999,</a:t>
            </a:r>
          </a:p>
          <a:p>
            <a:r>
              <a:t>      "participants": 9216,</a:t>
            </a:r>
          </a:p>
          <a:p>
            <a:r>
              <a:t>      "additional_visitors": 4147,</a:t>
            </a:r>
          </a:p>
          <a:p>
            <a:r>
              <a:t>      "additional_spending_krw": 235218331,</a:t>
            </a:r>
          </a:p>
          <a:p>
            <a:r>
              <a:t>      "visitor_growth_pct": 0.03919598607394119,</a:t>
            </a:r>
          </a:p>
          <a:p>
            <a:r>
              <a:t>      "spending_growth_pct": 0.05286769256302377,</a:t>
            </a:r>
          </a:p>
          <a:p>
            <a:r>
              <a:t>      "visitor_target_pct": 0.05948060679302858,</a:t>
            </a:r>
          </a:p>
          <a:p>
            <a:r>
              <a:t>      "spending_target_pct": 0.07939972990657515</a:t>
            </a:r>
          </a:p>
          <a:p>
            <a:r>
              <a:t>    }</a:t>
            </a:r>
          </a:p>
          <a:p>
            <a:r>
              <a:t>  ],</a:t>
            </a:r>
          </a:p>
          <a:p>
            <a:r>
              <a:t>  "central": {</a:t>
            </a:r>
          </a:p>
          <a:p>
            <a:r>
              <a:t>    "label": "기준",</a:t>
            </a:r>
          </a:p>
          <a:p>
            <a:r>
              <a:t>    "utilization_pct": 65.0,</a:t>
            </a:r>
          </a:p>
          <a:p>
            <a:r>
              <a:t>    "additional_visitor_share_pct": 30.0,</a:t>
            </a:r>
          </a:p>
          <a:p>
            <a:r>
              <a:t>    "participants": 7488,</a:t>
            </a:r>
          </a:p>
          <a:p>
            <a:r>
              <a:t>    "additional_visitors": 2246,</a:t>
            </a:r>
          </a:p>
          <a:p>
            <a:r>
              <a:t>    "additional_spending_krw": 157353164,</a:t>
            </a:r>
          </a:p>
          <a:p>
            <a:r>
              <a:t>    "visitor_growth_pct": 0.021228402392590284,</a:t>
            </a:r>
          </a:p>
          <a:p>
            <a:r>
              <a:t>    "spending_growth_pct": 0.03536671084606522,</a:t>
            </a:r>
          </a:p>
          <a:p>
            <a:r>
              <a:t>    "visitor_target_pct": 0.03221447862482329,</a:t>
            </a:r>
          </a:p>
          <a:p>
            <a:r>
              <a:t>    "spending_target_pct": 0.05311575279200933</a:t>
            </a:r>
          </a:p>
          <a:p>
            <a:r>
              <a:t>  },</a:t>
            </a:r>
          </a:p>
          <a:p>
            <a:r>
              <a:t>  "case_sources": [</a:t>
            </a:r>
          </a:p>
          <a:p>
            <a:r>
              <a:t>    {</a:t>
            </a:r>
          </a:p>
          <a:p>
            <a:r>
              <a:t>      "source_id": "case:4bac3530eca721",</a:t>
            </a:r>
          </a:p>
          <a:p>
            <a:r>
              <a:t>      "title": "2024년 문화재야행 사업 예산 확정자료",</a:t>
            </a:r>
          </a:p>
          <a:p>
            <a:r>
              <a:t>      "source_url": "https://culture.seoul.go.kr/culture/cmmn/file/fileDown.do?atchFileId=c4638ecc9ce84bba9e51ecc2e11293e2&amp;bbsId=&amp;fileSn=2&amp;menuNo=200050",</a:t>
            </a:r>
          </a:p>
          <a:p>
            <a:r>
              <a:t>      "operating_model": "문화유산이 모인 거점을 중심으로 야간 개방, 해설, 공연과 체험프로그램을 구성하고 국비와 지방비를 결합해 운영했다.",</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a:t>
            </a:r>
          </a:p>
          <a:p>
            <a:r>
              <a:t>  ],</a:t>
            </a:r>
          </a:p>
          <a:p>
            <a:r>
              <a:t>  "explanation":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a:t>
            </a:r>
          </a:p>
          <a:p>
            <a:r>
              <a:t>  "disclosure": "보수·기준·확대는 이용률과 추가 방문 비중을 ±15%p 바꾼 계획 범위이며 통계적 오차범위가 아닙니다. 거점 수는 확보 시설 수가 아닙니다. 소비/방문 비율은 실측 객단가가 아닙니다. 기존 참여자의 추가 소비도 가정이며 대체 소비는 사후 점검합니다.",</a:t>
            </a:r>
          </a:p>
          <a:p>
            <a:r>
              <a:t>  "budget_cap_krw": null,</a:t>
            </a:r>
          </a:p>
          <a:p>
            <a:r>
              <a:t>  "capacity_reduced": false,</a:t>
            </a:r>
          </a:p>
          <a:p>
            <a:r>
              <a:t>  "estimate": {</a:t>
            </a:r>
          </a:p>
          <a:p>
            <a:r>
              <a:t>    "version": "operating-capacity-v1",</a:t>
            </a:r>
          </a:p>
          <a:p>
            <a:r>
              <a:t>    "status": "planning_assumption_not_quote",</a:t>
            </a:r>
          </a:p>
          <a:p>
            <a:r>
              <a:t>    "scale_basis": "6개 × 월 8일 × 3개월 × 하루 2회 × 회당 40명 = 11,520명분 → 편성 참여 한도 11,520건. 모든 단가는 기획 가정.",</a:t>
            </a:r>
          </a:p>
          <a:p>
            <a:r>
              <a:t>    "months": 3,</a:t>
            </a:r>
          </a:p>
          <a:p>
            <a:r>
              <a:t>    "refund": false,</a:t>
            </a:r>
          </a:p>
          <a:p>
            <a:r>
              <a:t>    "quantity": 11520,</a:t>
            </a:r>
          </a:p>
          <a:p>
            <a:r>
              <a:t>    "unit_krw": 10000,</a:t>
            </a:r>
          </a:p>
          <a:p>
            <a:r>
              <a:t>    "redemption_target_pct": 65.0,</a:t>
            </a:r>
          </a:p>
          <a:p>
            <a:r>
              <a:t>    "redemption_count": 7488,</a:t>
            </a:r>
          </a:p>
          <a:p>
            <a:r>
              <a:t>    "qualifying_spend_krw": null,</a:t>
            </a:r>
          </a:p>
          <a:p>
            <a:r>
              <a:t>    "subtotal_krw": 152800000,</a:t>
            </a:r>
          </a:p>
          <a:p>
            <a:r>
              <a:t>    "reserve_krw": 15280000,</a:t>
            </a:r>
          </a:p>
          <a:p>
            <a:r>
              <a:t>    "total_krw": 168080000,</a:t>
            </a:r>
          </a:p>
          <a:p>
            <a:r>
              <a:t>    "within_hard_budget": true,</a:t>
            </a:r>
          </a:p>
          <a:p>
            <a:r>
              <a:t>    "items": [</a:t>
            </a:r>
          </a:p>
          <a:p>
            <a:r>
              <a:t>      {</a:t>
            </a:r>
          </a:p>
          <a:p>
            <a:r>
              <a:t>        "name": "프로그램 운영·참여 지원",</a:t>
            </a:r>
          </a:p>
          <a:p>
            <a:r>
              <a:t>        "basis": "편성 참여 한도 11,520건 × 가정 단가 10,000원",</a:t>
            </a:r>
          </a:p>
          <a:p>
            <a:r>
              <a:t>        "amount": 115200000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152,800,000원 × 10%",</a:t>
            </a:r>
          </a:p>
          <a:p>
            <a:r>
              <a:t>        "amount": 15280000</a:t>
            </a:r>
          </a:p>
          <a:p>
            <a:r>
              <a:t>      }</a:t>
            </a:r>
          </a:p>
          <a:p>
            <a:r>
              <a:t>    ],</a:t>
            </a:r>
          </a:p>
          <a:p>
            <a:r>
              <a:t>    "sources": [],</a:t>
            </a:r>
          </a:p>
          <a:p>
            <a:r>
              <a:t>    "assumptions": [</a:t>
            </a:r>
          </a:p>
          <a:p>
            <a:r>
              <a:t>      "기획용 예상 견적이며 실제 액수와 다를 수 있습니다."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 Id="rId3" Type="http://schemas.openxmlformats.org/officeDocument/2006/relationships/image" Target="../media/image38.jpg"/><Relationship Id="rId4" Type="http://schemas.openxmlformats.org/officeDocument/2006/relationships/hyperlink" Target="https://apis.data.go.kr/B551011/KorService2" TargetMode="Externa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chart" Target="../charts/chart3.xml"/><Relationship Id="rId5" Type="http://schemas.openxmlformats.org/officeDocument/2006/relationships/chart" Target="../charts/chart4.xml"/></Relationships>
</file>

<file path=ppt/slides/_rels/slide4.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culture.seoul.go.kr/culture/culture/cultureEvent/view.do?cultcode=146365&amp;menuNo=200009" TargetMode="External"/><Relationship Id="rId6" Type="http://schemas.openxmlformats.org/officeDocument/2006/relationships/hyperlink" Target="https://culture.seoul.go.kr/culture/cmmn/file/fileDown.do?atchFileId=c4638ecc9ce84bba9e51ecc2e11293e2&amp;bbsId=&amp;fileSn=2&amp;menuNo=200050" TargetMode="External"/><Relationship Id="rId7" Type="http://schemas.openxmlformats.org/officeDocument/2006/relationships/image" Target="../media/image2.jpg"/><Relationship Id="rId8" Type="http://schemas.openxmlformats.org/officeDocument/2006/relationships/hyperlink" Target="https://www.gangjintour.com/" TargetMode="External"/><Relationship Id="rId9" Type="http://schemas.openxmlformats.org/officeDocument/2006/relationships/hyperlink" Target="https://jnfarm.jeonnam.go.kr/board/FARM_BOARD_008/boardView.do?bdId=BD_00000000000011721&amp;menuCd=farm004002"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culture.seoul.go.kr/culture/culture/cultureEvent/view.do?cultcode=146365&amp;menuNo=200009" TargetMode="External"/></Relationships>
</file>

<file path=ppt/slides/_rels/slide6.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10.xml"/><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ulture.seoul.go.kr/culture/cmmn/file/fileDown.do?atchFileId=c4638ecc9ce84bba9e51ecc2e11293e2&amp;bbsId=&amp;fileSn=2&amp;menuNo=200050" TargetMode="External"/><Relationship Id="rId3" Type="http://schemas.openxmlformats.org/officeDocument/2006/relationships/notesSlide" Target="../notesSlides/notesSlide14.xml"/><Relationship Id="rId4" Type="http://schemas.openxmlformats.org/officeDocument/2006/relationships/image" Target="../media/image20.jpg"/><Relationship Id="rId5" Type="http://schemas.openxmlformats.org/officeDocument/2006/relationships/hyperlink" Target="https://apis.data.go.kr/B551011/KorService2" TargetMode="External"/><Relationship Id="rId6" Type="http://schemas.openxmlformats.org/officeDocument/2006/relationships/image" Target="../media/image21.jpg"/></Relationships>
</file>

<file path=ppt/slides/_rels/slide9.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notesSlide" Target="../notesSlides/notesSlide15.xml"/><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png"/><Relationship Id="rId17" Type="http://schemas.openxmlformats.org/officeDocument/2006/relationships/image" Target="../media/image28.png"/><Relationship Id="rId18" Type="http://schemas.openxmlformats.org/officeDocument/2006/relationships/image" Target="../media/image29.png"/><Relationship Id="rId19" Type="http://schemas.openxmlformats.org/officeDocument/2006/relationships/image" Target="../media/image30.png"/><Relationship Id="rId20" Type="http://schemas.openxmlformats.org/officeDocument/2006/relationships/image" Target="../media/image31.png"/><Relationship Id="rId21" Type="http://schemas.openxmlformats.org/officeDocument/2006/relationships/image" Target="../media/image32.png"/><Relationship Id="rId22" Type="http://schemas.openxmlformats.org/officeDocument/2006/relationships/image" Target="../media/image33.png"/><Relationship Id="rId23" Type="http://schemas.openxmlformats.org/officeDocument/2006/relationships/image" Target="../media/image34.png"/><Relationship Id="rId24" Type="http://schemas.openxmlformats.org/officeDocument/2006/relationships/image" Target="../media/image35.png"/><Relationship Id="rId25" Type="http://schemas.openxmlformats.org/officeDocument/2006/relationships/image" Target="../media/image36.png"/><Relationship Id="rId26" Type="http://schemas.openxmlformats.org/officeDocument/2006/relationships/image" Target="../media/image37.png"/></Relationships>
</file>

<file path=ppt/slides/_rels/slide13.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culture.seoul.go.kr/culture/cmmn/file/fileDown.do?atchFileId=c4638ecc9ce84bba9e51ecc2e11293e2&amp;bbsId=&amp;fileSn=2&amp;menuNo=200050" TargetMode="External"/><Relationship Id="rId5" Type="http://schemas.openxmlformats.org/officeDocument/2006/relationships/hyperlink" Target="https://jnfarm.jeonnam.go.kr/board/FARM_BOARD_008/boardView.do?bdId=BD_00000000000011721&amp;menuCd=farm004002" TargetMode="External"/><Relationship Id="rId6"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7" Type="http://schemas.openxmlformats.org/officeDocument/2006/relationships/hyperlink" Target="https://kto.visitkorea.or.kr/upload/flexer/upload/ktobiz/20220928/b623b5f9-3ec0-11ed-9832-ddf31964842e.hwp.files/Sections1.html" TargetMode="External"/><Relationship Id="rId8" Type="http://schemas.openxmlformats.org/officeDocument/2006/relationships/hyperlink" Target="https://korean.visitkorea.or.kr/detail/rem_detail.do?cotid=f9c636b2-dd7c-4f09-af3d-6af43b33d371" TargetMode="External"/><Relationship Id="rId9" Type="http://schemas.openxmlformats.org/officeDocument/2006/relationships/hyperlink" Target="https://www.evaluation.go.kr/upload2/atch/eval/20250429095846463.pdf" TargetMode="External"/><Relationship Id="rId10" Type="http://schemas.openxmlformats.org/officeDocument/2006/relationships/hyperlink" Target="https://apis.data.go.kr/B551011/KorService2" TargetMode="External"/><Relationship Id="rId11" Type="http://schemas.openxmlformats.org/officeDocument/2006/relationships/hyperlink" Target="https://www.junggu.seoul.kr/content.do?cid=1235161279&amp;cmsid=14390&amp;mode=view" TargetMode="External"/><Relationship Id="rId12" Type="http://schemas.openxmlformats.org/officeDocument/2006/relationships/hyperlink" Target="https://www.junggu.seoul.kr/content.do?cid=1280957763&amp;cmsid=14390&amp;mode=view" TargetMode="External"/><Relationship Id="rId13" Type="http://schemas.openxmlformats.org/officeDocument/2006/relationships/hyperlink" Target="https://culture.seoul.go.kr/culture/culture/cultureEvent/view.do?cultcode=146365&amp;menuNo=200009" TargetMode="External"/><Relationship Id="rId1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 Id="rId3" Type="http://schemas.openxmlformats.org/officeDocument/2006/relationships/image" Target="../media/image39.jpg"/><Relationship Id="rId4" Type="http://schemas.openxmlformats.org/officeDocument/2006/relationships/hyperlink" Target="https://apis.data.go.kr/B551011/KorService2"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hyperlink" Target="https://culture.seoul.go.kr/culture/cmmn/file/fileDown.do?atchFileId=c4638ecc9ce84bba9e51ecc2e11293e2&amp;bbsId=&amp;fileSn=2&amp;menuNo=200050" TargetMode="Externa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notesSlide" Target="../notesSlides/notesSlide17.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50045"/>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43" r="25543"/>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781050"/>
            <a:ext cx="161925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04850" y="2981325"/>
            <a:ext cx="7524750" cy="2047875"/>
          </a:xfrm>
          <a:prstGeom prst="rect">
            <a:avLst/>
          </a:prstGeom>
          <a:noFill/>
        </p:spPr>
        <p:txBody>
          <a:bodyPr wrap="none" lIns="57150" rIns="57150" tIns="38100" bIns="38100" anchor="t">
            <a:noAutofit/>
          </a:bodyPr>
          <a:lstStyle/>
          <a:p>
            <a:pPr eaLnBrk="0">
              <a:lnSpc>
                <a:spcPts val="4031"/>
              </a:lnSpc>
              <a:spcBef>
                <a:spcPts val="0"/>
              </a:spcBef>
              <a:spcAft>
                <a:spcPts val="0"/>
              </a:spcAft>
            </a:pPr>
            <a:r>
              <a:rPr sz="3225" b="1">
                <a:solidFill>
                  <a:srgbClr val="FFFFFF"/>
                </a:solidFill>
                <a:latin typeface="Noto Sans KR"/>
              </a:rPr>
              <a:t>제주시 야간 문화유산 및 시설 개방</a:t>
            </a:r>
          </a:p>
          <a:p>
            <a:pPr eaLnBrk="0">
              <a:lnSpc>
                <a:spcPts val="4031"/>
              </a:lnSpc>
              <a:spcBef>
                <a:spcPts val="0"/>
              </a:spcBef>
              <a:spcAft>
                <a:spcPts val="0"/>
              </a:spcAft>
            </a:pPr>
            <a:r>
              <a:rPr sz="3225" b="1">
                <a:solidFill>
                  <a:srgbClr val="FFFFFF"/>
                </a:solidFill>
                <a:latin typeface="Noto Sans KR"/>
              </a:rPr>
              <a:t>프로그램 실행 기획안</a:t>
            </a:r>
          </a:p>
        </p:txBody>
      </p:sp>
      <p:sp xmlns:a="http://schemas.openxmlformats.org/drawingml/2006/main">
        <p:nvSpPr>
          <p:cNvPr id="7" name="cover-date"/>
          <p:cNvSpPr txBox="1"/>
          <p:nvPr/>
        </p:nvSpPr>
        <p:spPr>
          <a:xfrm>
            <a:off x="762000" y="7038975"/>
            <a:ext cx="7524750" cy="4953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FFFFFF"/>
                </a:solidFill>
                <a:latin typeface="Noto Sans KR"/>
              </a:rPr>
              <a:t>사업기간 2026.10 ~ 2026.12</a:t>
            </a:r>
          </a:p>
        </p:txBody>
      </p:sp>
      <p:sp xmlns:a="http://schemas.openxmlformats.org/drawingml/2006/main">
        <p:nvSpPr>
          <p:cNvPr id="9" name="cover-issued-date"/>
          <p:cNvSpPr txBox="1"/>
          <p:nvPr/>
        </p:nvSpPr>
        <p:spPr>
          <a:xfrm>
            <a:off x="800100" y="1304925"/>
            <a:ext cx="7143750" cy="4381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2026.09.15</a:t>
            </a:r>
          </a:p>
        </p:txBody>
      </p:sp>
      <p:sp xmlns:a="http://schemas.openxmlformats.org/drawingml/2006/main">
        <p:nvSpPr>
          <p:cNvPr id="10" name="cover-province-ribbon"/>
          <p:cNvSpPr/>
          <p:nvPr/>
        </p:nvSpPr>
        <p:spPr>
          <a:xfrm>
            <a:off x="0" y="1866900"/>
            <a:ext cx="895350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over-ribbon-light"/>
          <p:cNvSpPr/>
          <p:nvPr/>
        </p:nvSpPr>
        <p:spPr>
          <a:xfrm>
            <a:off x="4619625" y="1866900"/>
            <a:ext cx="4333875" cy="685800"/>
          </a:xfrm>
          <a:custGeom>
            <a:avLst/>
            <a:gdLst/>
            <a:ahLst/>
            <a:cxnLst/>
            <a:rect l="l" t="t" r="r" b="b"/>
            <a:pathLst>
              <a:path w="4333875" h="685800">
                <a:moveTo>
                  <a:pt x="0" y="685800"/>
                </a:moveTo>
                <a:lnTo>
                  <a:pt x="1076325" y="0"/>
                </a:lnTo>
                <a:lnTo>
                  <a:pt x="4333875" y="0"/>
                </a:lnTo>
                <a:lnTo>
                  <a:pt x="4333875" y="685800"/>
                </a:lnTo>
                <a:close/>
              </a:path>
            </a:pathLst>
          </a:custGeom>
          <a:solidFill>
            <a:srgbClr val="FA9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over-ribbon-pink"/>
          <p:cNvSpPr/>
          <p:nvPr/>
        </p:nvSpPr>
        <p:spPr>
          <a:xfrm>
            <a:off x="5334000" y="1866900"/>
            <a:ext cx="3619500" cy="685800"/>
          </a:xfrm>
          <a:custGeom>
            <a:avLst/>
            <a:gdLst/>
            <a:ahLst/>
            <a:cxnLst/>
            <a:rect l="l" t="t" r="r" b="b"/>
            <a:pathLst>
              <a:path w="3619500" h="685800">
                <a:moveTo>
                  <a:pt x="0" y="685800"/>
                </a:moveTo>
                <a:lnTo>
                  <a:pt x="1028700" y="0"/>
                </a:lnTo>
                <a:lnTo>
                  <a:pt x="3619500" y="0"/>
                </a:lnTo>
                <a:lnTo>
                  <a:pt x="3619500" y="685800"/>
                </a:lnTo>
                <a:close/>
              </a:path>
            </a:pathLst>
          </a:custGeom>
          <a:solidFill>
            <a:srgbClr val="F67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org-title"/>
          <p:cNvSpPr txBox="1"/>
          <p:nvPr/>
        </p:nvSpPr>
        <p:spPr>
          <a:xfrm>
            <a:off x="609600" y="1914525"/>
            <a:ext cx="4857750" cy="57150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제주특별자치도</a:t>
            </a:r>
          </a:p>
        </p:txBody>
      </p:sp>
      <p:sp xmlns:a="http://schemas.openxmlformats.org/drawingml/2006/main">
        <p:nvSpPr>
          <p:cNvPr id="11" name="cover-title-rule"/>
          <p:cNvSpPr/>
          <p:nvPr/>
        </p:nvSpPr>
        <p:spPr>
          <a:xfrm>
            <a:off x="762000" y="4371975"/>
            <a:ext cx="161925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제주특별자치도 제주시 · 곽지해수욕장</a:t>
            </a: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contents-rail"/>
          <p:cNvSpPr/>
          <p:nvPr/>
        </p:nvSpPr>
        <p:spPr>
          <a:xfrm>
            <a:off x="0" y="0"/>
            <a:ext cx="15240000" cy="8572500"/>
          </a:xfrm>
          <a:prstGeom prst="rect">
            <a:avLst/>
          </a:prstGeom>
          <a:gradFill rotWithShape="1">
            <a:gsLst>
              <a:gs pos="0">
                <a:srgbClr val="E7E9ED"/>
              </a:gs>
              <a:gs pos="100000">
                <a:srgbClr val="FAFAFB"/>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ntents-en"/>
          <p:cNvSpPr txBox="1"/>
          <p:nvPr/>
        </p:nvSpPr>
        <p:spPr>
          <a:xfrm>
            <a:off x="1009650" y="971550"/>
            <a:ext cx="3333750" cy="3238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495565"/>
                </a:solidFill>
                <a:latin typeface="Noto Sans KR"/>
              </a:rPr>
              <a:t>CONTENTS</a:t>
            </a:r>
          </a:p>
        </p:txBody>
      </p:sp>
      <p:sp xmlns:a="http://schemas.openxmlformats.org/drawingml/2006/main">
        <p:nvSpPr>
          <p:cNvPr id="4" name="contents-ko"/>
          <p:cNvSpPr txBox="1"/>
          <p:nvPr/>
        </p:nvSpPr>
        <p:spPr>
          <a:xfrm>
            <a:off x="1009650" y="1409700"/>
            <a:ext cx="8572500" cy="71437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202124"/>
                </a:solidFill>
                <a:latin typeface="Noto Sans KR"/>
              </a:rPr>
              <a:t>목차</a:t>
            </a:r>
          </a:p>
        </p:txBody>
      </p:sp>
      <p:sp xmlns:a="http://schemas.openxmlformats.org/drawingml/2006/main">
        <p:nvSpPr>
          <p:cNvPr id="5" name="contents-short-rule"/>
          <p:cNvSpPr/>
          <p:nvPr/>
        </p:nvSpPr>
        <p:spPr>
          <a:xfrm>
            <a:off x="1066800" y="2324100"/>
            <a:ext cx="552450"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op-brand"/>
          <p:cNvSpPr txBox="1"/>
          <p:nvPr/>
        </p:nvSpPr>
        <p:spPr>
          <a:xfrm>
            <a:off x="1009650" y="7610475"/>
            <a:ext cx="11430000" cy="4000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495565"/>
                </a:solidFill>
                <a:latin typeface="Noto Sans KR"/>
              </a:rPr>
              <a:t>제주특별자치도 제주시 관광 전략기획안</a:t>
            </a:r>
          </a:p>
        </p:txBody>
      </p:sp>
      <p:sp xmlns:a="http://schemas.openxmlformats.org/drawingml/2006/main">
        <p:nvSpPr>
          <p:cNvPr id="7" name="toc-0-number"/>
          <p:cNvSpPr txBox="1"/>
          <p:nvPr/>
        </p:nvSpPr>
        <p:spPr>
          <a:xfrm>
            <a:off x="1009650"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0</a:t>
            </a:r>
          </a:p>
        </p:txBody>
      </p:sp>
      <p:sp xmlns:a="http://schemas.openxmlformats.org/drawingml/2006/main">
        <p:nvSpPr>
          <p:cNvPr id="8" name="toc-0-label"/>
          <p:cNvSpPr txBox="1"/>
          <p:nvPr/>
        </p:nvSpPr>
        <p:spPr>
          <a:xfrm>
            <a:off x="1657350"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개요</a:t>
            </a:r>
          </a:p>
        </p:txBody>
      </p:sp>
      <p:sp xmlns:a="http://schemas.openxmlformats.org/drawingml/2006/main">
        <p:nvSpPr>
          <p:cNvPr id="9" name="contents-rule-0"/>
          <p:cNvSpPr/>
          <p:nvPr/>
        </p:nvSpPr>
        <p:spPr>
          <a:xfrm>
            <a:off x="1066800"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oc-1-number"/>
          <p:cNvSpPr txBox="1"/>
          <p:nvPr/>
        </p:nvSpPr>
        <p:spPr>
          <a:xfrm>
            <a:off x="1009650"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1</a:t>
            </a:r>
          </a:p>
        </p:txBody>
      </p:sp>
      <p:sp xmlns:a="http://schemas.openxmlformats.org/drawingml/2006/main">
        <p:nvSpPr>
          <p:cNvPr id="11" name="toc-1-label"/>
          <p:cNvSpPr txBox="1"/>
          <p:nvPr/>
        </p:nvSpPr>
        <p:spPr>
          <a:xfrm>
            <a:off x="1657350"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지역별 사례와 실적</a:t>
            </a:r>
          </a:p>
        </p:txBody>
      </p:sp>
      <p:sp xmlns:a="http://schemas.openxmlformats.org/drawingml/2006/main">
        <p:nvSpPr>
          <p:cNvPr id="12" name="contents-rule-1"/>
          <p:cNvSpPr/>
          <p:nvPr/>
        </p:nvSpPr>
        <p:spPr>
          <a:xfrm>
            <a:off x="1066800"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oc-2-number"/>
          <p:cNvSpPr txBox="1"/>
          <p:nvPr/>
        </p:nvSpPr>
        <p:spPr>
          <a:xfrm>
            <a:off x="1009650"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2</a:t>
            </a:r>
          </a:p>
        </p:txBody>
      </p:sp>
      <p:sp xmlns:a="http://schemas.openxmlformats.org/drawingml/2006/main">
        <p:nvSpPr>
          <p:cNvPr id="14" name="toc-2-label"/>
          <p:cNvSpPr txBox="1"/>
          <p:nvPr/>
        </p:nvSpPr>
        <p:spPr>
          <a:xfrm>
            <a:off x="1657350"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사업 목표와 KPI 산출근거</a:t>
            </a:r>
          </a:p>
        </p:txBody>
      </p:sp>
      <p:sp xmlns:a="http://schemas.openxmlformats.org/drawingml/2006/main">
        <p:nvSpPr>
          <p:cNvPr id="15" name="contents-rule-2"/>
          <p:cNvSpPr/>
          <p:nvPr/>
        </p:nvSpPr>
        <p:spPr>
          <a:xfrm>
            <a:off x="1066800"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oc-3-number"/>
          <p:cNvSpPr txBox="1"/>
          <p:nvPr/>
        </p:nvSpPr>
        <p:spPr>
          <a:xfrm>
            <a:off x="1009650" y="588645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3</a:t>
            </a:r>
          </a:p>
        </p:txBody>
      </p:sp>
      <p:sp xmlns:a="http://schemas.openxmlformats.org/drawingml/2006/main">
        <p:nvSpPr>
          <p:cNvPr id="17" name="toc-3-label"/>
          <p:cNvSpPr txBox="1"/>
          <p:nvPr/>
        </p:nvSpPr>
        <p:spPr>
          <a:xfrm>
            <a:off x="1657350" y="589597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 적용과 실행</a:t>
            </a:r>
          </a:p>
        </p:txBody>
      </p:sp>
      <p:sp xmlns:a="http://schemas.openxmlformats.org/drawingml/2006/main">
        <p:nvSpPr>
          <p:cNvPr id="18" name="contents-rule-3"/>
          <p:cNvSpPr/>
          <p:nvPr/>
        </p:nvSpPr>
        <p:spPr>
          <a:xfrm>
            <a:off x="1066800" y="654367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oc-4-number"/>
          <p:cNvSpPr txBox="1"/>
          <p:nvPr/>
        </p:nvSpPr>
        <p:spPr>
          <a:xfrm>
            <a:off x="8239125"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4</a:t>
            </a:r>
          </a:p>
        </p:txBody>
      </p:sp>
      <p:sp xmlns:a="http://schemas.openxmlformats.org/drawingml/2006/main">
        <p:nvSpPr>
          <p:cNvPr id="20" name="toc-4-label"/>
          <p:cNvSpPr txBox="1"/>
          <p:nvPr/>
        </p:nvSpPr>
        <p:spPr>
          <a:xfrm>
            <a:off x="8886825"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견적 예시안</a:t>
            </a:r>
          </a:p>
        </p:txBody>
      </p:sp>
      <p:sp xmlns:a="http://schemas.openxmlformats.org/drawingml/2006/main">
        <p:nvSpPr>
          <p:cNvPr id="21" name="contents-rule-4"/>
          <p:cNvSpPr/>
          <p:nvPr/>
        </p:nvSpPr>
        <p:spPr>
          <a:xfrm>
            <a:off x="8296275"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toc-5-number"/>
          <p:cNvSpPr txBox="1"/>
          <p:nvPr/>
        </p:nvSpPr>
        <p:spPr>
          <a:xfrm>
            <a:off x="8239125"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5</a:t>
            </a:r>
          </a:p>
        </p:txBody>
      </p:sp>
      <p:sp xmlns:a="http://schemas.openxmlformats.org/drawingml/2006/main">
        <p:nvSpPr>
          <p:cNvPr id="23" name="toc-5-label"/>
          <p:cNvSpPr txBox="1"/>
          <p:nvPr/>
        </p:nvSpPr>
        <p:spPr>
          <a:xfrm>
            <a:off x="8886825"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기획서 생성 과정</a:t>
            </a:r>
          </a:p>
        </p:txBody>
      </p:sp>
      <p:sp xmlns:a="http://schemas.openxmlformats.org/drawingml/2006/main">
        <p:nvSpPr>
          <p:cNvPr id="24" name="contents-rule-5"/>
          <p:cNvSpPr/>
          <p:nvPr/>
        </p:nvSpPr>
        <p:spPr>
          <a:xfrm>
            <a:off x="8296275"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oc-6-number"/>
          <p:cNvSpPr txBox="1"/>
          <p:nvPr/>
        </p:nvSpPr>
        <p:spPr>
          <a:xfrm>
            <a:off x="8239125"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6</a:t>
            </a:r>
          </a:p>
        </p:txBody>
      </p:sp>
      <p:sp xmlns:a="http://schemas.openxmlformats.org/drawingml/2006/main">
        <p:nvSpPr>
          <p:cNvPr id="26" name="toc-6-label"/>
          <p:cNvSpPr txBox="1"/>
          <p:nvPr/>
        </p:nvSpPr>
        <p:spPr>
          <a:xfrm>
            <a:off x="8886825"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근거·데이터·출처</a:t>
            </a:r>
          </a:p>
        </p:txBody>
      </p:sp>
      <p:sp xmlns:a="http://schemas.openxmlformats.org/drawingml/2006/main">
        <p:nvSpPr>
          <p:cNvPr id="27" name="contents-rule-6"/>
          <p:cNvSpPr/>
          <p:nvPr/>
        </p:nvSpPr>
        <p:spPr>
          <a:xfrm>
            <a:off x="8296275"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51" name="growth-card-1"/>
          <p:cNvSpPr/>
          <p:nvPr/>
        </p:nvSpPr>
        <p:spPr>
          <a:xfrm>
            <a:off x="5248275" y="531495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growth-card-0"/>
          <p:cNvSpPr/>
          <p:nvPr/>
        </p:nvSpPr>
        <p:spPr>
          <a:xfrm>
            <a:off x="5248275" y="297180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60" r="3136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000"/>
            </a:avLst>
          </a:prstGeom>
          <a:solidFill xmlns:a="http://schemas.openxmlformats.org/drawingml/2006/main">
            <a:srgbClr val="0F315B"/>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제주특별자치도 제주시 한경면 청수리 · 가마오름</a:t>
            </a:r>
          </a:p>
        </p:txBody>
      </p:sp>
      <p:sp xmlns:a="http://schemas.openxmlformats.org/drawingml/2006/main">
        <p:nvSpPr>
          <p:cNvPr id="34" name="title"/>
          <p:cNvSpPr txBox="1"/>
          <p:nvPr/>
        </p:nvSpPr>
        <p:spPr>
          <a:xfrm>
            <a:off x="5257800" y="828675"/>
            <a:ext cx="8972550" cy="762000"/>
          </a:xfrm>
          <a:prstGeom prst="rect">
            <a:avLst/>
          </a:prstGeom>
          <a:noFill/>
        </p:spPr>
        <p:txBody>
          <a:bodyPr wrap="none" lIns="57150" rIns="57150" tIns="38100" bIns="38100" anchor="t">
            <a:noAutofit/>
          </a:bodyPr>
          <a:lstStyle/>
          <a:p>
            <a:pPr eaLnBrk="0" algn="l">
              <a:lnSpc>
                <a:spcPts val="3937"/>
              </a:lnSpc>
              <a:spcBef>
                <a:spcPts val="0"/>
              </a:spcBef>
              <a:spcAft>
                <a:spcPts val="0"/>
              </a:spcAft>
            </a:pPr>
            <a:r>
              <a:rPr sz="3150" b="1">
                <a:solidFill>
                  <a:srgbClr val="202124"/>
                </a:solidFill>
                <a:latin typeface="Noto Sans KR"/>
              </a:rPr>
              <a:t>제주시 관광 발전 기획안</a:t>
            </a:r>
          </a:p>
        </p:txBody>
      </p:sp>
      <p:sp xmlns:a="http://schemas.openxmlformats.org/drawingml/2006/main">
        <p:nvSpPr>
          <p:cNvPr id="36" name="purpose-period"/>
          <p:cNvSpPr txBox="1"/>
          <p:nvPr/>
        </p:nvSpPr>
        <p:spPr>
          <a:xfrm>
            <a:off x="5391150" y="1952625"/>
            <a:ext cx="8763000" cy="42862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0">
                <a:solidFill>
                  <a:srgbClr val="62666C"/>
                </a:solidFill>
                <a:latin typeface="Noto Sans KR"/>
              </a:rPr>
              <a:t>향후 3개월 전망 · 2026년 10–12월</a:t>
            </a:r>
          </a:p>
        </p:txBody>
      </p:sp>
      <p:sp xmlns:a="http://schemas.openxmlformats.org/drawingml/2006/main">
        <p:nvSpPr>
          <p:cNvPr id="37" name="purpose-comparison"/>
          <p:cNvSpPr txBox="1"/>
          <p:nvPr/>
        </p:nvSpPr>
        <p:spPr>
          <a:xfrm>
            <a:off x="5391150" y="2409825"/>
            <a:ext cx="8763000" cy="38100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전년 같은 기간 대비 증가율을 전국 비교 평균과 비교합니다.</a:t>
            </a:r>
          </a:p>
        </p:txBody>
      </p:sp>
      <p:sp xmlns:a="http://schemas.openxmlformats.org/drawingml/2006/main">
        <p:nvSpPr>
          <p:cNvPr id="38" name="growth-label-0"/>
          <p:cNvSpPr txBox="1"/>
          <p:nvPr/>
        </p:nvSpPr>
        <p:spPr>
          <a:xfrm>
            <a:off x="5505450" y="309562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관광객 방문자 수</a:t>
            </a:r>
          </a:p>
        </p:txBody>
      </p:sp>
      <p:sp xmlns:a="http://schemas.openxmlformats.org/drawingml/2006/main">
        <p:nvSpPr>
          <p:cNvPr id="39" name="growth-total-0"/>
          <p:cNvSpPr txBox="1"/>
          <p:nvPr/>
        </p:nvSpPr>
        <p:spPr>
          <a:xfrm>
            <a:off x="9525000" y="313372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1,058.0만 명</a:t>
            </a:r>
          </a:p>
        </p:txBody>
      </p:sp>
      <p:graphicFrame xmlns:a="http://schemas.openxmlformats.org/drawingml/2006/main">
        <p:nvGraphicFramePr>
          <p:cNvPr id="40" name="growth-chart-0"/>
          <p:cNvGraphicFramePr>
            <a:graphicFrameLocks noGrp="1"/>
          </p:cNvGraphicFramePr>
          <p:nvPr/>
        </p:nvGraphicFramePr>
        <p:xfrm>
          <a:off x="5505450" y="3543300"/>
          <a:ext cx="8534400" cy="1066800"/>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41" name="growth-gap-0"/>
          <p:cNvSpPr txBox="1"/>
          <p:nvPr/>
        </p:nvSpPr>
        <p:spPr>
          <a:xfrm>
            <a:off x="5505450" y="466725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2.60%p 낮습니다.</a:t>
            </a:r>
          </a:p>
        </p:txBody>
      </p:sp>
      <p:sp xmlns:a="http://schemas.openxmlformats.org/drawingml/2006/main">
        <p:nvSpPr>
          <p:cNvPr id="42" name="growth-label-1"/>
          <p:cNvSpPr txBox="1"/>
          <p:nvPr/>
        </p:nvSpPr>
        <p:spPr>
          <a:xfrm>
            <a:off x="5505450" y="543877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관광소비액</a:t>
            </a:r>
          </a:p>
        </p:txBody>
      </p:sp>
      <p:sp xmlns:a="http://schemas.openxmlformats.org/drawingml/2006/main">
        <p:nvSpPr>
          <p:cNvPr id="43" name="growth-total-1"/>
          <p:cNvSpPr txBox="1"/>
          <p:nvPr/>
        </p:nvSpPr>
        <p:spPr>
          <a:xfrm>
            <a:off x="9525000" y="547687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4,449.2억 원</a:t>
            </a:r>
          </a:p>
        </p:txBody>
      </p:sp>
      <p:graphicFrame xmlns:a="http://schemas.openxmlformats.org/drawingml/2006/main">
        <p:nvGraphicFramePr>
          <p:cNvPr id="44" name="growth-chart-1"/>
          <p:cNvGraphicFramePr>
            <a:graphicFrameLocks noGrp="1"/>
          </p:cNvGraphicFramePr>
          <p:nvPr/>
        </p:nvGraphicFramePr>
        <p:xfrm>
          <a:off x="5505450" y="5886450"/>
          <a:ext cx="8534400" cy="1066800"/>
        </p:xfrm>
        <a:graphic>
          <a:graphicData uri="http://schemas.openxmlformats.org/drawingml/2006/chart">
            <c:chart xmlns:c="http://schemas.openxmlformats.org/drawingml/2006/chart" xmlns:r="http://schemas.openxmlformats.org/officeDocument/2006/relationships" r:id="rId5"/>
          </a:graphicData>
        </a:graphic>
      </p:graphicFrame>
      <p:sp xmlns:a="http://schemas.openxmlformats.org/drawingml/2006/main">
        <p:nvSpPr>
          <p:cNvPr id="45" name="growth-gap-1"/>
          <p:cNvSpPr txBox="1"/>
          <p:nvPr/>
        </p:nvSpPr>
        <p:spPr>
          <a:xfrm>
            <a:off x="5505450" y="701040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6.99%p 낮습니다.</a:t>
            </a:r>
          </a:p>
        </p:txBody>
      </p:sp>
      <p:sp xmlns:a="http://schemas.openxmlformats.org/drawingml/2006/main">
        <p:nvSpPr>
          <p:cNvPr id="46" name="purpose-note"/>
          <p:cNvSpPr txBox="1"/>
          <p:nvPr/>
        </p:nvSpPr>
        <p:spPr>
          <a:xfrm>
            <a:off x="5391150" y="7886700"/>
            <a:ext cx="8772525" cy="647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비교 대상 249개 지역 · 한국관광 데이터랩 2026.06까지의 관측값과 저장 ML 모델</a:t>
            </a:r>
          </a:p>
          <a:p>
            <a:pPr eaLnBrk="0">
              <a:lnSpc>
                <a:spcPts val="1500"/>
              </a:lnSpc>
              <a:spcBef>
                <a:spcPts val="0"/>
              </a:spcBef>
              <a:spcAft>
                <a:spcPts val="0"/>
              </a:spcAft>
            </a:pPr>
            <a:r>
              <a:rPr sz="1200" b="0">
                <a:solidFill>
                  <a:srgbClr val="62666C"/>
                </a:solidFill>
                <a:latin typeface="Noto Sans KR"/>
              </a:rPr>
              <a:t>비교 평균 = 지역별 전년 동기 대비 증가율의 단순평균. 인구 보정 전 탐색 전망입니다.</a:t>
            </a:r>
          </a:p>
        </p:txBody>
      </p:sp>
      <p:sp xmlns:a="http://schemas.openxmlformats.org/drawingml/2006/main">
        <p:nvSpPr>
          <p:cNvPr id="48" name="editorial-kicker"/>
          <p:cNvSpPr txBox="1"/>
          <p:nvPr/>
        </p:nvSpPr>
        <p:spPr>
          <a:xfrm>
            <a:off x="5343525"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0. 개요</a:t>
            </a:r>
          </a:p>
        </p:txBody>
      </p:sp>
      <p:sp xmlns:a="http://schemas.openxmlformats.org/drawingml/2006/main">
        <p:nvSpPr>
          <p:cNvPr id="4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03 / 17</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2600" b="1">
                <a:solidFill>
                  <a:srgbClr val="202124"/>
                </a:solidFill>
                <a:latin typeface="Century Gothic"/>
                <a:ea typeface="맑은 고딕"/>
              </a:rPr>
              <a:t>1.1 지역별 참고 사례</a:t>
            </a:r>
          </a:p>
        </p:txBody>
      </p:sp>
      <p:sp xmlns:a="http://schemas.openxmlformats.org/drawingml/2006/main">
        <p:nvSpPr>
          <p:cNvPr id="5" name="case-panel-0"/>
          <p:cNvSpPr/>
          <p:nvPr/>
        </p:nvSpPr>
        <p:spPr>
          <a:xfrm>
            <a:off x="10096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01</a:t>
            </a:r>
          </a:p>
        </p:txBody>
      </p:sp>
      <p:sp xmlns:a="http://schemas.openxmlformats.org/drawingml/2006/main">
        <p:nvSpPr>
          <p:cNvPr id="7" name="case-badge-0"/>
          <p:cNvSpPr txBox="1"/>
          <p:nvPr/>
        </p:nvSpPr>
        <p:spPr>
          <a:xfrm>
            <a:off x="1952625" y="2247900"/>
            <a:ext cx="2362200" cy="419100"/>
          </a:xfrm>
          <a:prstGeom prst="roundRect">
            <a:avLst>
              <a:gd name="adj" fmla="val 40000"/>
            </a:avLst>
          </a:prstGeom>
          <a:solidFill>
            <a:srgbClr val="F50045"/>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FFFFF"/>
                </a:solidFill>
                <a:latin typeface="Century Gothic"/>
                <a:ea typeface="맑은 고딕"/>
              </a:rPr>
              <a:t>적용 사례</a:t>
            </a:r>
          </a:p>
        </p:txBody>
      </p:sp>
      <p:sp xmlns:a="http://schemas.openxmlformats.org/drawingml/2006/main">
        <p:nvSpPr>
          <p:cNvPr id="8" name="case-selected-tick-0"/>
          <p:cNvSpPr/>
          <p:nvPr/>
        </p:nvSpPr>
        <p:spPr>
          <a:xfrm>
            <a:off x="4486275" y="2286000"/>
            <a:ext cx="409575" cy="409575"/>
          </a:xfrm>
          <a:prstGeom prst="ellipse">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27647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서울특별시 문화유산 집적지역 · 기존</a:t>
            </a:r>
          </a:p>
          <a:p>
            <a:pPr eaLnBrk="0">
              <a:lnSpc>
                <a:spcPts val="2125"/>
              </a:lnSpc>
              <a:spcBef>
                <a:spcPts val="0"/>
              </a:spcBef>
              <a:spcAft>
                <a:spcPts val="0"/>
              </a:spcAft>
            </a:pPr>
            <a:r>
              <a:rPr sz="1700" b="1">
                <a:solidFill>
                  <a:srgbClr val="202124"/>
                </a:solidFill>
                <a:latin typeface="Century Gothic"/>
                <a:ea typeface="맑은 고딕"/>
              </a:rPr>
              <a:t>문화유산을 활용한 야간</a:t>
            </a:r>
          </a:p>
          <a:p>
            <a:pPr eaLnBrk="0">
              <a:lnSpc>
                <a:spcPts val="2125"/>
              </a:lnSpc>
              <a:spcBef>
                <a:spcPts val="0"/>
              </a:spcBef>
              <a:spcAft>
                <a:spcPts val="0"/>
              </a:spcAft>
            </a:pPr>
            <a:r>
              <a:rPr sz="1700" b="1">
                <a:solidFill>
                  <a:srgbClr val="202124"/>
                </a:solidFill>
                <a:latin typeface="Century Gothic"/>
                <a:ea typeface="맑은 고딕"/>
              </a:rPr>
              <a:t>개방·체험 프로그램</a:t>
            </a:r>
          </a:p>
        </p:txBody>
      </p:sp>
      <p:sp xmlns:a="http://schemas.openxmlformats.org/drawingml/2006/main">
        <p:nvSpPr>
          <p:cNvPr id="11" name="case-body-0"/>
          <p:cNvSpPr txBox="1"/>
          <p:nvPr/>
        </p:nvSpPr>
        <p:spPr>
          <a:xfrm>
            <a:off x="12382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문화유산이 모인 거점을 중심으로 야간 개방,</a:t>
            </a:r>
          </a:p>
          <a:p>
            <a:pPr eaLnBrk="0">
              <a:lnSpc>
                <a:spcPts val="1875"/>
              </a:lnSpc>
              <a:spcBef>
                <a:spcPts val="0"/>
              </a:spcBef>
              <a:spcAft>
                <a:spcPts val="0"/>
              </a:spcAft>
            </a:pPr>
            <a:r>
              <a:rPr sz="1500" b="0">
                <a:solidFill>
                  <a:srgbClr val="62666C"/>
                </a:solidFill>
                <a:latin typeface="Century Gothic"/>
                <a:ea typeface="맑은 고딕"/>
              </a:rPr>
              <a:t>해설, 공연과 체험프로그램을 구성하고</a:t>
            </a:r>
          </a:p>
          <a:p>
            <a:pPr eaLnBrk="0">
              <a:lnSpc>
                <a:spcPts val="1875"/>
              </a:lnSpc>
              <a:spcBef>
                <a:spcPts val="0"/>
              </a:spcBef>
              <a:spcAft>
                <a:spcPts val="0"/>
              </a:spcAft>
            </a:pPr>
            <a:r>
              <a:rPr sz="1500" b="0">
                <a:solidFill>
                  <a:srgbClr val="62666C"/>
                </a:solidFill>
                <a:latin typeface="Century Gothic"/>
                <a:ea typeface="맑은 고딕"/>
              </a:rPr>
              <a:t>국비와 지방비를 결합해 운영했다.</a:t>
            </a:r>
          </a:p>
        </p:txBody>
      </p:sp>
      <p:pic xmlns:a="http://schemas.openxmlformats.org/drawingml/2006/main" xmlns:r="http://schemas.openxmlformats.org/officeDocument/2006/relationships">
        <p:nvPicPr>
          <p:cNvPr id="12" name="case-photo-0" descr="jeongdong_2024.jpg"/>
          <p:cNvPicPr>
            <a:picLocks noChangeAspect="1"/>
          </p:cNvPicPr>
          <p:nvPr/>
        </p:nvPicPr>
        <p:blipFill>
          <a:blip r:embed="rId4"/>
          <a:stretch>
            <a:fillRect/>
          </a:stretch>
        </p:blipFill>
        <p:spPr>
          <a:xfrm>
            <a:off x="1835102" y="5457825"/>
            <a:ext cx="2578195" cy="1714500"/>
          </a:xfrm>
          <a:prstGeom prst="rect">
            <a:avLst/>
          </a:prstGeom>
        </p:spPr>
      </p:pic>
      <p:sp xmlns:a="http://schemas.openxmlformats.org/drawingml/2006/main">
        <p:nvSpPr>
          <p:cNvPr id="13" name="case-image-caption-0"/>
          <p:cNvSpPr txBox="1"/>
          <p:nvPr/>
        </p:nvSpPr>
        <p:spPr>
          <a:xfrm>
            <a:off x="12382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0="http://schemas.openxmlformats.org/officeDocument/2006/relationships" ns0:id="rId5"/>
                <a:ea typeface="맑은 고딕"/>
              </a:rPr>
              <a:t>서울 중구 정동 · 정동야행 행사 사진</a:t>
            </a:r>
          </a:p>
          <a:p>
            <a:pPr eaLnBrk="0">
              <a:lnSpc>
                <a:spcPts val="1500"/>
              </a:lnSpc>
              <a:spcBef>
                <a:spcPts val="0"/>
              </a:spcBef>
              <a:spcAft>
                <a:spcPts val="0"/>
              </a:spcAft>
            </a:pPr>
            <a:r>
              <a:rPr sz="1050" b="0" u="none">
                <a:solidFill>
                  <a:srgbClr val="62666C"/>
                </a:solidFill>
                <a:latin typeface="Century Gothic"/>
                <a:hlinkClick xmlns:ns1="http://schemas.openxmlformats.org/officeDocument/2006/relationships" ns1:id="rId5"/>
                <a:ea typeface="맑은 고딕"/>
              </a:rPr>
              <a:t>출처: 서울문화포털 · 2024 정동야행</a:t>
            </a:r>
          </a:p>
        </p:txBody>
      </p:sp>
      <p:sp xmlns:a="http://schemas.openxmlformats.org/drawingml/2006/main">
        <p:nvSpPr>
          <p:cNvPr id="14" name="case-source-0"/>
          <p:cNvSpPr txBox="1"/>
          <p:nvPr/>
        </p:nvSpPr>
        <p:spPr>
          <a:xfrm>
            <a:off x="12382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2="http://schemas.openxmlformats.org/officeDocument/2006/relationships" ns2:id="rId6"/>
                <a:ea typeface="맑은 고딕"/>
              </a:rPr>
              <a:t>사업 원문 보기 ↗</a:t>
            </a:r>
          </a:p>
        </p:txBody>
      </p:sp>
      <p:sp xmlns:a="http://schemas.openxmlformats.org/drawingml/2006/main">
        <p:nvSpPr>
          <p:cNvPr id="15" name="case-panel-1"/>
          <p:cNvSpPr/>
          <p:nvPr/>
        </p:nvSpPr>
        <p:spPr>
          <a:xfrm>
            <a:off x="55054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02</a:t>
            </a:r>
          </a:p>
        </p:txBody>
      </p:sp>
      <p:sp xmlns:a="http://schemas.openxmlformats.org/drawingml/2006/main">
        <p:nvSpPr>
          <p:cNvPr id="17" name="case-badge-1"/>
          <p:cNvSpPr txBox="1"/>
          <p:nvPr/>
        </p:nvSpPr>
        <p:spPr>
          <a:xfrm>
            <a:off x="64484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18" name="case-title-1"/>
          <p:cNvSpPr txBox="1"/>
          <p:nvPr/>
        </p:nvSpPr>
        <p:spPr>
          <a:xfrm>
            <a:off x="57340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전라남도 강진군 · 반값여행 지역환급</a:t>
            </a:r>
          </a:p>
        </p:txBody>
      </p:sp>
      <p:sp xmlns:a="http://schemas.openxmlformats.org/drawingml/2006/main">
        <p:nvSpPr>
          <p:cNvPr id="19" name="case-body-1"/>
          <p:cNvSpPr txBox="1"/>
          <p:nvPr/>
        </p:nvSpPr>
        <p:spPr>
          <a:xfrm>
            <a:off x="57340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여행자가 지역에서 지출한 비용의 일부를</a:t>
            </a:r>
          </a:p>
          <a:p>
            <a:pPr eaLnBrk="0">
              <a:lnSpc>
                <a:spcPts val="1875"/>
              </a:lnSpc>
              <a:spcBef>
                <a:spcPts val="0"/>
              </a:spcBef>
              <a:spcAft>
                <a:spcPts val="0"/>
              </a:spcAft>
            </a:pPr>
            <a:r>
              <a:rPr sz="1500" b="0">
                <a:solidFill>
                  <a:srgbClr val="62666C"/>
                </a:solidFill>
                <a:latin typeface="Century Gothic"/>
                <a:ea typeface="맑은 고딕"/>
              </a:rPr>
              <a:t>지역상품권으로 돌려받게 하여 혜택이 다시</a:t>
            </a:r>
          </a:p>
          <a:p>
            <a:pPr eaLnBrk="0">
              <a:lnSpc>
                <a:spcPts val="1875"/>
              </a:lnSpc>
              <a:spcBef>
                <a:spcPts val="0"/>
              </a:spcBef>
              <a:spcAft>
                <a:spcPts val="0"/>
              </a:spcAft>
            </a:pPr>
            <a:r>
              <a:rPr sz="1500" b="0">
                <a:solidFill>
                  <a:srgbClr val="62666C"/>
                </a:solidFill>
                <a:latin typeface="Century Gothic"/>
                <a:ea typeface="맑은 고딕"/>
              </a:rPr>
              <a:t>지역 상점에서 사용되도록 설계</a:t>
            </a:r>
          </a:p>
        </p:txBody>
      </p:sp>
      <p:pic xmlns:a="http://schemas.openxmlformats.org/drawingml/2006/main" xmlns:r="http://schemas.openxmlformats.org/officeDocument/2006/relationships">
        <p:nvPicPr>
          <p:cNvPr id="20" name="case-photo-1" descr="gangjin_official.jpg"/>
          <p:cNvPicPr>
            <a:picLocks noChangeAspect="1"/>
          </p:cNvPicPr>
          <p:nvPr/>
        </p:nvPicPr>
        <p:blipFill>
          <a:blip r:embed="rId7"/>
          <a:stretch>
            <a:fillRect/>
          </a:stretch>
        </p:blipFill>
        <p:spPr>
          <a:xfrm>
            <a:off x="6014436" y="5457825"/>
            <a:ext cx="3211126" cy="1714500"/>
          </a:xfrm>
          <a:prstGeom prst="rect">
            <a:avLst/>
          </a:prstGeom>
        </p:spPr>
      </p:pic>
      <p:sp xmlns:a="http://schemas.openxmlformats.org/drawingml/2006/main">
        <p:nvSpPr>
          <p:cNvPr id="21" name="case-image-caption-1"/>
          <p:cNvSpPr txBox="1"/>
          <p:nvPr/>
        </p:nvSpPr>
        <p:spPr>
          <a:xfrm>
            <a:off x="57340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3="http://schemas.openxmlformats.org/officeDocument/2006/relationships" ns3:id="rId8"/>
                <a:ea typeface="맑은 고딕"/>
              </a:rPr>
              <a:t>강진군 · 반값여행 공식 홍보물</a:t>
            </a:r>
          </a:p>
          <a:p>
            <a:pPr eaLnBrk="0">
              <a:lnSpc>
                <a:spcPts val="1500"/>
              </a:lnSpc>
              <a:spcBef>
                <a:spcPts val="0"/>
              </a:spcBef>
              <a:spcAft>
                <a:spcPts val="0"/>
              </a:spcAft>
            </a:pPr>
            <a:r>
              <a:rPr sz="1050" b="0" u="none">
                <a:solidFill>
                  <a:srgbClr val="62666C"/>
                </a:solidFill>
                <a:latin typeface="Century Gothic"/>
                <a:hlinkClick xmlns:ns4="http://schemas.openxmlformats.org/officeDocument/2006/relationships" ns4:id="rId8"/>
                <a:ea typeface="맑은 고딕"/>
              </a:rPr>
              <a:t>출처: 강진 반값여행 공식 홈페이지</a:t>
            </a:r>
          </a:p>
        </p:txBody>
      </p:sp>
      <p:sp xmlns:a="http://schemas.openxmlformats.org/drawingml/2006/main">
        <p:nvSpPr>
          <p:cNvPr id="22" name="case-source-1"/>
          <p:cNvSpPr txBox="1"/>
          <p:nvPr/>
        </p:nvSpPr>
        <p:spPr>
          <a:xfrm>
            <a:off x="57340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5="http://schemas.openxmlformats.org/officeDocument/2006/relationships" ns5:id="rId9"/>
                <a:ea typeface="맑은 고딕"/>
              </a:rPr>
              <a:t>사업 원문 보기 ↗</a:t>
            </a:r>
          </a:p>
        </p:txBody>
      </p:sp>
      <p:sp xmlns:a="http://schemas.openxmlformats.org/drawingml/2006/main">
        <p:nvSpPr>
          <p:cNvPr id="23" name="case-panel-2"/>
          <p:cNvSpPr/>
          <p:nvPr/>
        </p:nvSpPr>
        <p:spPr>
          <a:xfrm>
            <a:off x="100012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03</a:t>
            </a:r>
          </a:p>
        </p:txBody>
      </p:sp>
      <p:sp xmlns:a="http://schemas.openxmlformats.org/drawingml/2006/main">
        <p:nvSpPr>
          <p:cNvPr id="25" name="case-badge-2"/>
          <p:cNvSpPr txBox="1"/>
          <p:nvPr/>
        </p:nvSpPr>
        <p:spPr>
          <a:xfrm>
            <a:off x="109442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26" name="case-title-2"/>
          <p:cNvSpPr txBox="1"/>
          <p:nvPr/>
        </p:nvSpPr>
        <p:spPr>
          <a:xfrm>
            <a:off x="102298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전국 인구감소지역 34곳 · 디지털</a:t>
            </a:r>
          </a:p>
          <a:p>
            <a:pPr eaLnBrk="0">
              <a:lnSpc>
                <a:spcPts val="2125"/>
              </a:lnSpc>
              <a:spcBef>
                <a:spcPts val="0"/>
              </a:spcBef>
              <a:spcAft>
                <a:spcPts val="0"/>
              </a:spcAft>
            </a:pPr>
            <a:r>
              <a:rPr sz="1700" b="1">
                <a:solidFill>
                  <a:srgbClr val="202124"/>
                </a:solidFill>
                <a:latin typeface="Century Gothic"/>
                <a:ea typeface="맑은 고딕"/>
              </a:rPr>
              <a:t>관광주민증과 교통·숙박·상점</a:t>
            </a:r>
          </a:p>
          <a:p>
            <a:pPr eaLnBrk="0">
              <a:lnSpc>
                <a:spcPts val="2125"/>
              </a:lnSpc>
              <a:spcBef>
                <a:spcPts val="0"/>
              </a:spcBef>
              <a:spcAft>
                <a:spcPts val="0"/>
              </a:spcAft>
            </a:pPr>
            <a:r>
              <a:rPr sz="1700" b="1">
                <a:solidFill>
                  <a:srgbClr val="202124"/>
                </a:solidFill>
                <a:latin typeface="Century Gothic"/>
                <a:ea typeface="맑은 고딕"/>
              </a:rPr>
              <a:t>할인 결합</a:t>
            </a:r>
          </a:p>
        </p:txBody>
      </p:sp>
      <p:sp xmlns:a="http://schemas.openxmlformats.org/drawingml/2006/main">
        <p:nvSpPr>
          <p:cNvPr id="27" name="case-body-2"/>
          <p:cNvSpPr txBox="1"/>
          <p:nvPr/>
        </p:nvSpPr>
        <p:spPr>
          <a:xfrm>
            <a:off x="102298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디지털 관광주민증 참여업체 현장 인증과</a:t>
            </a:r>
          </a:p>
          <a:p>
            <a:pPr eaLnBrk="0">
              <a:lnSpc>
                <a:spcPts val="1875"/>
              </a:lnSpc>
              <a:spcBef>
                <a:spcPts val="0"/>
              </a:spcBef>
              <a:spcAft>
                <a:spcPts val="0"/>
              </a:spcAft>
            </a:pPr>
            <a:r>
              <a:rPr sz="1500" b="0">
                <a:solidFill>
                  <a:srgbClr val="62666C"/>
                </a:solidFill>
                <a:latin typeface="Century Gothic"/>
                <a:ea typeface="맑은 고딕"/>
              </a:rPr>
              <a:t>숙박·식음·관람·체험 할인, 특정 시간대 KTX</a:t>
            </a:r>
          </a:p>
          <a:p>
            <a:pPr eaLnBrk="0">
              <a:lnSpc>
                <a:spcPts val="1875"/>
              </a:lnSpc>
              <a:spcBef>
                <a:spcPts val="0"/>
              </a:spcBef>
              <a:spcAft>
                <a:spcPts val="0"/>
              </a:spcAft>
            </a:pPr>
            <a:r>
              <a:rPr sz="1500" b="0">
                <a:solidFill>
                  <a:srgbClr val="62666C"/>
                </a:solidFill>
                <a:latin typeface="Century Gothic"/>
                <a:ea typeface="맑은 고딕"/>
              </a:rPr>
              <a:t>할인과 방문 후 교통 할인권을 결합</a:t>
            </a:r>
          </a:p>
        </p:txBody>
      </p:sp>
      <p:pic xmlns:a="http://schemas.openxmlformats.org/drawingml/2006/main" xmlns:r="http://schemas.openxmlformats.org/officeDocument/2006/relationships">
        <p:nvPicPr>
          <p:cNvPr id="28" name="case-photo-2" descr="digital_official.jpg"/>
          <p:cNvPicPr>
            <a:picLocks noChangeAspect="1"/>
          </p:cNvPicPr>
          <p:nvPr/>
        </p:nvPicPr>
        <p:blipFill>
          <a:blip r:embed="rId10"/>
          <a:stretch>
            <a:fillRect/>
          </a:stretch>
        </p:blipFill>
        <p:spPr>
          <a:xfrm>
            <a:off x="11430000" y="5457825"/>
            <a:ext cx="1371600" cy="1714500"/>
          </a:xfrm>
          <a:prstGeom prst="rect">
            <a:avLst/>
          </a:prstGeom>
        </p:spPr>
      </p:pic>
      <p:sp xmlns:a="http://schemas.openxmlformats.org/drawingml/2006/main">
        <p:nvSpPr>
          <p:cNvPr id="29" name="case-image-caption-2"/>
          <p:cNvSpPr txBox="1"/>
          <p:nvPr/>
        </p:nvSpPr>
        <p:spPr>
          <a:xfrm>
            <a:off x="102298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6="http://schemas.openxmlformats.org/officeDocument/2006/relationships" ns6:id="rId11"/>
                <a:ea typeface="맑은 고딕"/>
              </a:rPr>
              <a:t>전국 · 디지털 관광주민증 홍보물</a:t>
            </a:r>
          </a:p>
          <a:p>
            <a:pPr eaLnBrk="0">
              <a:lnSpc>
                <a:spcPts val="1500"/>
              </a:lnSpc>
              <a:spcBef>
                <a:spcPts val="0"/>
              </a:spcBef>
              <a:spcAft>
                <a:spcPts val="0"/>
              </a:spcAft>
            </a:pPr>
            <a:r>
              <a:rPr sz="1050" b="0" u="none">
                <a:solidFill>
                  <a:srgbClr val="62666C"/>
                </a:solidFill>
                <a:latin typeface="Century Gothic"/>
                <a:hlinkClick xmlns:ns7="http://schemas.openxmlformats.org/officeDocument/2006/relationships" ns7:id="rId11"/>
                <a:ea typeface="맑은 고딕"/>
              </a:rPr>
              <a:t>출처: 대한민국 정책브리핑 (2025)</a:t>
            </a:r>
          </a:p>
        </p:txBody>
      </p:sp>
      <p:sp xmlns:a="http://schemas.openxmlformats.org/drawingml/2006/main">
        <p:nvSpPr>
          <p:cNvPr id="30" name="case-source-2"/>
          <p:cNvSpPr txBox="1"/>
          <p:nvPr/>
        </p:nvSpPr>
        <p:spPr>
          <a:xfrm>
            <a:off x="102298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8="http://schemas.openxmlformats.org/officeDocument/2006/relationships" ns8:id="rId12"/>
                <a:ea typeface="맑은 고딕"/>
              </a:rPr>
              <a:t>사업 원문 보기 ↗</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000" b="1">
                <a:solidFill>
                  <a:srgbClr val="F50045"/>
                </a:solidFill>
                <a:latin typeface="Century Gothic"/>
                <a:ea typeface="맑은 고딕"/>
              </a:rPr>
              <a:t>1. 지역별 사례</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04 / 17</a:t>
            </a:r>
          </a:p>
        </p:txBody>
      </p:sp>
    </p:spTree>
    <p:extLst>
      <p:ext uri="{BB962C8B-B14F-4D97-AF65-F5344CB8AC3E}">
        <p14:creationId xmlns:p14="http://schemas.microsoft.com/office/powerpoint/2010/main" val="930694367"/>
      </p:ext>
    </p:extLst>
  </p:cSld>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5" name="result-evidence-card"/>
          <p:cNvSpPr/>
          <p:nvPr/>
        </p:nvSpPr>
        <p:spPr>
          <a:xfrm>
            <a:off x="6905625" y="2838450"/>
            <a:ext cx="7524750" cy="43624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1.2 참고 사례 실적</a:t>
            </a:r>
          </a:p>
        </p:txBody>
      </p:sp>
      <p:sp>
        <p:nvSpPr>
          <p:cNvPr id="4" name="result-title"/>
          <p:cNvSpPr txBox="1"/>
          <p:nvPr/>
        </p:nvSpPr>
        <p:spPr>
          <a:xfrm>
            <a:off x="1009650" y="1543050"/>
            <a:ext cx="13220700" cy="552450"/>
          </a:xfrm>
          <a:prstGeom prst="rect">
            <a:avLst/>
          </a:prstGeom>
          <a:noFill/>
        </p:spPr>
        <p:txBody>
          <a:bodyPr wrap="none" lIns="57150" rIns="57150" tIns="38100" bIns="38100" anchor="ctr">
            <a:noAutofit/>
          </a:bodyPr>
          <a:lstStyle/>
          <a:p>
            <a:pPr eaLnBrk="0" algn="ctr">
              <a:lnSpc>
                <a:spcPts val="2812"/>
              </a:lnSpc>
              <a:spcBef>
                <a:spcPts val="0"/>
              </a:spcBef>
              <a:spcAft>
                <a:spcPts val="0"/>
              </a:spcAft>
            </a:pPr>
            <a:r>
              <a:rPr sz="2250" b="1">
                <a:solidFill>
                  <a:srgbClr val="F50045"/>
                </a:solidFill>
                <a:latin typeface="Noto Sans KR"/>
              </a:rPr>
              <a:t>서울 중구 · 정동야행</a:t>
            </a:r>
          </a:p>
        </p:txBody>
      </p:sp>
      <p:sp>
        <p:nvSpPr>
          <p:cNvPr id="5" name="result-scope"/>
          <p:cNvSpPr txBox="1"/>
          <p:nvPr/>
        </p:nvSpPr>
        <p:spPr>
          <a:xfrm>
            <a:off x="1009650" y="21526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선정한 서울 문화재야행 사업에 포함된 정동야행</a:t>
            </a:r>
          </a:p>
        </p:txBody>
      </p:sp>
      <p:sp>
        <p:nvSpPr>
          <p:cNvPr id="6" name="result-photo-panel"/>
          <p:cNvSpPr/>
          <p:nvPr/>
        </p:nvSpPr>
        <p:spPr>
          <a:xfrm>
            <a:off x="1009650" y="3028950"/>
            <a:ext cx="5581650" cy="33718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jeongdong_2024.jpg"/>
          <p:cNvPicPr>
            <a:picLocks noChangeAspect="1"/>
          </p:cNvPicPr>
          <p:nvPr/>
        </p:nvPicPr>
        <p:blipFill>
          <a:blip r:embed="rId3"/>
          <a:stretch>
            <a:fillRect/>
          </a:stretch>
        </p:blipFill>
        <p:spPr>
          <a:xfrm>
            <a:off x="1265249" y="3028950"/>
            <a:ext cx="5070451" cy="3371850"/>
          </a:xfrm>
          <a:prstGeom prst="rect">
            <a:avLst/>
          </a:prstGeom>
        </p:spPr>
      </p:pic>
      <p:sp>
        <p:nvSpPr>
          <p:cNvPr id="9" name="result-metric"/>
          <p:cNvSpPr txBox="1"/>
          <p:nvPr/>
        </p:nvSpPr>
        <p:spPr>
          <a:xfrm>
            <a:off x="7172325" y="2933700"/>
            <a:ext cx="7058025"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행사 방문객</a:t>
            </a:r>
          </a:p>
        </p:txBody>
      </p:sp>
      <p:sp>
        <p:nvSpPr>
          <p:cNvPr id="10" name="result-year-0"/>
          <p:cNvSpPr txBox="1"/>
          <p:nvPr/>
        </p:nvSpPr>
        <p:spPr>
          <a:xfrm>
            <a:off x="7172325" y="3429000"/>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2023년 · 10월 13–14일</a:t>
            </a:r>
          </a:p>
        </p:txBody>
      </p:sp>
      <p:sp>
        <p:nvSpPr>
          <p:cNvPr id="11" name="result-bar-0"/>
          <p:cNvSpPr/>
          <p:nvPr/>
        </p:nvSpPr>
        <p:spPr>
          <a:xfrm>
            <a:off x="7172325" y="3886200"/>
            <a:ext cx="3516923" cy="228600"/>
          </a:xfrm>
          <a:prstGeom prst="rect">
            <a:avLst/>
          </a:prstGeom>
          <a:solidFill>
            <a:srgbClr val="809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ult-count-0"/>
          <p:cNvSpPr txBox="1"/>
          <p:nvPr/>
        </p:nvSpPr>
        <p:spPr>
          <a:xfrm>
            <a:off x="11906250" y="3733800"/>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10.0만 명</a:t>
            </a:r>
          </a:p>
        </p:txBody>
      </p:sp>
      <p:sp>
        <p:nvSpPr>
          <p:cNvPr id="13" name="result-year-1"/>
          <p:cNvSpPr txBox="1"/>
          <p:nvPr/>
        </p:nvSpPr>
        <p:spPr>
          <a:xfrm>
            <a:off x="7172325" y="4371975"/>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2024년 · 5월 24–25일</a:t>
            </a:r>
          </a:p>
        </p:txBody>
      </p:sp>
      <p:sp>
        <p:nvSpPr>
          <p:cNvPr id="14" name="result-bar-1"/>
          <p:cNvSpPr/>
          <p:nvPr/>
        </p:nvSpPr>
        <p:spPr>
          <a:xfrm>
            <a:off x="7172325" y="4829175"/>
            <a:ext cx="4572000" cy="228600"/>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sult-count-1"/>
          <p:cNvSpPr txBox="1"/>
          <p:nvPr/>
        </p:nvSpPr>
        <p:spPr>
          <a:xfrm>
            <a:off x="11906250" y="4676775"/>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13.0만 명</a:t>
            </a:r>
          </a:p>
        </p:txBody>
      </p:sp>
      <p:sp>
        <p:nvSpPr>
          <p:cNvPr id="16" name="result-change-band"/>
          <p:cNvSpPr/>
          <p:nvPr/>
        </p:nvSpPr>
        <p:spPr>
          <a:xfrm>
            <a:off x="7172325" y="5553075"/>
            <a:ext cx="7058025" cy="1057275"/>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sult-change"/>
          <p:cNvSpPr txBox="1"/>
          <p:nvPr/>
        </p:nvSpPr>
        <p:spPr>
          <a:xfrm>
            <a:off x="7381875" y="5695950"/>
            <a:ext cx="6619875" cy="55245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50045"/>
                </a:solidFill>
                <a:latin typeface="Noto Sans KR"/>
              </a:rPr>
              <a:t>↑ 약 3.0만 명 | +30%</a:t>
            </a:r>
          </a:p>
        </p:txBody>
      </p:sp>
      <p:sp>
        <p:nvSpPr>
          <p:cNvPr id="18" name="result-change-formula"/>
          <p:cNvSpPr txBox="1"/>
          <p:nvPr/>
        </p:nvSpPr>
        <p:spPr>
          <a:xfrm>
            <a:off x="7381875" y="6238875"/>
            <a:ext cx="6619875" cy="276225"/>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(13만 − 10만) ÷ 10만 × 100</a:t>
            </a:r>
          </a:p>
        </p:txBody>
      </p:sp>
      <p:sp>
        <p:nvSpPr>
          <p:cNvPr id="19" name="result-data-labels"/>
          <p:cNvSpPr txBox="1"/>
          <p:nvPr/>
        </p:nvSpPr>
        <p:spPr>
          <a:xfrm>
            <a:off x="7172325" y="6734175"/>
            <a:ext cx="7058025" cy="4857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중구청 발표 · 약 10만 명 / 중구청 발표 · 13만 명</a:t>
            </a:r>
          </a:p>
        </p:txBody>
      </p:sp>
      <p:sp>
        <p:nvSpPr>
          <p:cNvPr id="20" name="result-action"/>
          <p:cNvSpPr txBox="1"/>
          <p:nvPr/>
        </p:nvSpPr>
        <p:spPr>
          <a:xfrm>
            <a:off x="1009650" y="7305675"/>
            <a:ext cx="13220700" cy="4095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50045"/>
                </a:solidFill>
                <a:latin typeface="Noto Sans KR"/>
              </a:rPr>
              <a:t>역사·문화시설을 밤에도 개방하고, 공연과 체험을 함께 운영</a:t>
            </a:r>
          </a:p>
        </p:txBody>
      </p:sp>
      <p:sp>
        <p:nvSpPr>
          <p:cNvPr id="21" name="result-interpretation"/>
          <p:cNvSpPr txBox="1"/>
          <p:nvPr/>
        </p:nvSpPr>
        <p:spPr>
          <a:xfrm>
            <a:off x="1009650" y="7800975"/>
            <a:ext cx="13220700" cy="3429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두 해의 행사 방문객 비교입니다. 개최 계절이 달라 사업 단독 효과로 해석하지 않습니다.</a:t>
            </a:r>
          </a:p>
        </p:txBody>
      </p:sp>
      <p:sp>
        <p:nvSpPr>
          <p:cNvPr id="2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1. 지역별 사례</a:t>
            </a:r>
          </a:p>
        </p:txBody>
      </p:sp>
      <p:sp>
        <p:nvSpPr>
          <p:cNvPr id="24"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05 / 17</a:t>
            </a:r>
          </a:p>
        </p:txBody>
      </p:sp>
      <p:sp>
        <p:nvSpPr>
          <p:cNvPr id="26" name="result-photo-source-bg"/>
          <p:cNvSpPr/>
          <p:nvPr/>
        </p:nvSpPr>
        <p:spPr>
          <a:xfrm>
            <a:off x="1379549" y="5715000"/>
            <a:ext cx="4841851" cy="57150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sult-photo-source">
            <a:hlinkClick r:id="rId4"/>
          </p:cNvPr>
          <p:cNvSpPr txBox="1"/>
          <p:nvPr/>
        </p:nvSpPr>
        <p:spPr>
          <a:xfrm>
            <a:off x="1493849" y="5753100"/>
            <a:ext cx="4613251" cy="49530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서울 중구 정동 · 정동야행 행사 사진</a:t>
            </a:r>
          </a:p>
          <a:p>
            <a:pPr eaLnBrk="0" algn="ctr">
              <a:lnSpc>
                <a:spcPts val="1593"/>
              </a:lnSpc>
              <a:spcBef>
                <a:spcPts val="0"/>
              </a:spcBef>
              <a:spcAft>
                <a:spcPts val="0"/>
              </a:spcAft>
            </a:pPr>
            <a:r>
              <a:rPr sz="1275" b="0">
                <a:solidFill>
                  <a:srgbClr val="FFFFFF"/>
                </a:solidFill>
                <a:latin typeface="Noto Sans KR"/>
              </a:rPr>
              <a:t>출처: 서울문화포털 · 2024 정동야행</a:t>
            </a:r>
          </a:p>
        </p:txBody>
      </p:sp>
    </p:spTree>
  </p:cSld>
  <p:clrMapOvr>
    <a:masterClrMapping/>
  </p:clrMapOvr>
</p:sld>
</file>

<file path=ppt/slides/slide6.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2.1 사업 목표</a:t>
            </a:r>
          </a:p>
        </p:txBody>
      </p:sp>
      <p:sp xmlns:a="http://schemas.openxmlformats.org/drawingml/2006/main">
        <p:nvSpPr>
          <p:cNvPr id="4" name="block-0"/>
          <p:cNvSpPr/>
          <p:nvPr/>
        </p:nvSpPr>
        <p:spPr>
          <a:xfrm>
            <a:off x="10096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사업내용</a:t>
            </a:r>
          </a:p>
        </p:txBody>
      </p:sp>
      <p:sp xmlns:a="http://schemas.openxmlformats.org/drawingml/2006/main">
        <p:nvSpPr>
          <p:cNvPr id="7" name="block-body-0"/>
          <p:cNvSpPr txBox="1"/>
          <p:nvPr/>
        </p:nvSpPr>
        <p:spPr>
          <a:xfrm>
            <a:off x="11811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제주시 내 박물관, 공연장, 문화유산 등</a:t>
            </a:r>
          </a:p>
          <a:p>
            <a:pPr eaLnBrk="0">
              <a:lnSpc>
                <a:spcPts val="2156"/>
              </a:lnSpc>
              <a:spcBef>
                <a:spcPts val="0"/>
              </a:spcBef>
              <a:spcAft>
                <a:spcPts val="0"/>
              </a:spcAft>
            </a:pPr>
            <a:r>
              <a:rPr sz="1725" b="0">
                <a:solidFill>
                  <a:srgbClr val="202124"/>
                </a:solidFill>
                <a:latin typeface="Noto Sans KR"/>
              </a:rPr>
              <a:t>기존 시설을 활용하여 야간 개방 및 체험</a:t>
            </a:r>
          </a:p>
          <a:p>
            <a:pPr eaLnBrk="0">
              <a:lnSpc>
                <a:spcPts val="2156"/>
              </a:lnSpc>
              <a:spcBef>
                <a:spcPts val="0"/>
              </a:spcBef>
              <a:spcAft>
                <a:spcPts val="0"/>
              </a:spcAft>
            </a:pPr>
            <a:r>
              <a:rPr sz="1725" b="0">
                <a:solidFill>
                  <a:srgbClr val="202124"/>
                </a:solidFill>
                <a:latin typeface="Noto Sans KR"/>
              </a:rPr>
              <a:t>프로그램을 확대 운영</a:t>
            </a:r>
          </a:p>
        </p:txBody>
      </p:sp>
      <p:sp xmlns:a="http://schemas.openxmlformats.org/drawingml/2006/main">
        <p:nvSpPr>
          <p:cNvPr id="8" name="block-1"/>
          <p:cNvSpPr/>
          <p:nvPr/>
        </p:nvSpPr>
        <p:spPr>
          <a:xfrm>
            <a:off x="548640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사업기간</a:t>
            </a:r>
          </a:p>
        </p:txBody>
      </p:sp>
      <p:sp xmlns:a="http://schemas.openxmlformats.org/drawingml/2006/main">
        <p:nvSpPr>
          <p:cNvPr id="11" name="block-body-1"/>
          <p:cNvSpPr txBox="1"/>
          <p:nvPr/>
        </p:nvSpPr>
        <p:spPr>
          <a:xfrm>
            <a:off x="565785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2026-10 ~ 2026-12, 3개월</a:t>
            </a:r>
          </a:p>
          <a:p>
            <a:pPr eaLnBrk="0">
              <a:lnSpc>
                <a:spcPts val="2156"/>
              </a:lnSpc>
              <a:spcBef>
                <a:spcPts val="0"/>
              </a:spcBef>
              <a:spcAft>
                <a:spcPts val="0"/>
              </a:spcAft>
            </a:pPr>
            <a:r>
              <a:rPr sz="1725" b="0">
                <a:solidFill>
                  <a:srgbClr val="202124"/>
                </a:solidFill>
                <a:latin typeface="Noto Sans KR"/>
              </a:rPr>
              <a:t>준비·협의 → 시범 운영 → 성과 확인</a:t>
            </a:r>
          </a:p>
        </p:txBody>
      </p:sp>
      <p:sp xmlns:a="http://schemas.openxmlformats.org/drawingml/2006/main">
        <p:nvSpPr>
          <p:cNvPr id="12" name="block-2"/>
          <p:cNvSpPr/>
          <p:nvPr/>
        </p:nvSpPr>
        <p:spPr>
          <a:xfrm>
            <a:off x="99631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목표 KPI</a:t>
            </a:r>
          </a:p>
        </p:txBody>
      </p:sp>
      <p:sp xmlns:a="http://schemas.openxmlformats.org/drawingml/2006/main">
        <p:nvSpPr>
          <p:cNvPr id="15" name="block-body-2"/>
          <p:cNvSpPr txBox="1"/>
          <p:nvPr/>
        </p:nvSpPr>
        <p:spPr>
          <a:xfrm>
            <a:off x="101346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3개월 월별 합계</a:t>
            </a:r>
          </a:p>
          <a:p>
            <a:pPr eaLnBrk="0">
              <a:lnSpc>
                <a:spcPts val="2156"/>
              </a:lnSpc>
              <a:spcBef>
                <a:spcPts val="0"/>
              </a:spcBef>
              <a:spcAft>
                <a:spcPts val="0"/>
              </a:spcAft>
            </a:pPr>
            <a:r>
              <a:rPr sz="1725" b="0">
                <a:solidFill>
                  <a:srgbClr val="202124"/>
                </a:solidFill>
                <a:latin typeface="Noto Sans KR"/>
              </a:rPr>
              <a:t>방문자 1,058만 명</a:t>
            </a:r>
          </a:p>
          <a:p>
            <a:pPr eaLnBrk="0">
              <a:lnSpc>
                <a:spcPts val="2156"/>
              </a:lnSpc>
              <a:spcBef>
                <a:spcPts val="0"/>
              </a:spcBef>
              <a:spcAft>
                <a:spcPts val="0"/>
              </a:spcAft>
            </a:pPr>
            <a:r>
              <a:rPr sz="1725" b="0">
                <a:solidFill>
                  <a:srgbClr val="202124"/>
                </a:solidFill>
                <a:latin typeface="Noto Sans KR"/>
              </a:rPr>
              <a:t>관광소비액 4,451억 원</a:t>
            </a:r>
          </a:p>
        </p:txBody>
      </p:sp>
      <p:sp xmlns:a="http://schemas.openxmlformats.org/drawingml/2006/main">
        <p:nvSpPr>
          <p:cNvPr id="16" name="chart-panel-0"/>
          <p:cNvSpPr/>
          <p:nvPr/>
        </p:nvSpPr>
        <p:spPr>
          <a:xfrm>
            <a:off x="100965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23" name="chart-panel-1"/>
          <p:cNvSpPr/>
          <p:nvPr/>
        </p:nvSpPr>
        <p:spPr>
          <a:xfrm>
            <a:off x="781050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청록선: 한국관광 데이터랩의 과거 월별 방문·소비 기록과 계절 흐름을 바탕으로 계산한 전망입니다.</a:t>
            </a:r>
          </a:p>
          <a:p>
            <a:pPr eaLnBrk="0">
              <a:lnSpc>
                <a:spcPts val="1781"/>
              </a:lnSpc>
              <a:spcBef>
                <a:spcPts val="0"/>
              </a:spcBef>
              <a:spcAft>
                <a:spcPts val="0"/>
              </a:spcAft>
            </a:pPr>
            <a:r>
              <a:rPr sz="1425" b="0">
                <a:solidFill>
                  <a:srgbClr val="62666C"/>
                </a:solidFill>
                <a:latin typeface="Noto Sans KR"/>
              </a:rPr>
              <a:t>빨간선: 공식 사례를 참고해 정한 사업 목표입니다. 목표율은 조정할 수 있으며, 산출 근거 페이지에서 설명합니다.</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06 / 17</a:t>
            </a:r>
          </a:p>
        </p:txBody>
      </p:sp>
      <p:sp xmlns:a="http://schemas.openxmlformats.org/drawingml/2006/main">
        <p:nvSpPr>
          <p:cNvPr id="34" name="business-goal-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3개월 목표: ML 전망 대비 방문자 +2,246명, 관광소비액 약 +1억 5,735만 원</a:t>
            </a:r>
          </a:p>
        </p:txBody>
      </p:sp>
    </p:spTree>
    <p:extLst>
      <p:ext uri="{BB962C8B-B14F-4D97-AF65-F5344CB8AC3E}">
        <p14:creationId xmlns:p14="http://schemas.microsoft.com/office/powerpoint/2010/main" val="380383987"/>
      </p:ext>
    </p:extLst>
  </p:cSld>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3" name="kpi-reason-card"/>
          <p:cNvSpPr/>
          <p:nvPr/>
        </p:nvSpPr>
        <p:spPr>
          <a:xfrm>
            <a:off x="1009650" y="2543175"/>
            <a:ext cx="6762750" cy="4981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2.2 목표 KPI 산출근거</a:t>
            </a:r>
          </a:p>
        </p:txBody>
      </p:sp>
      <p:sp>
        <p:nvSpPr>
          <p:cNvPr id="4" name="kpi-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목표율을 정한 이유와 3개월 동안 추가로 달성할 규모</a:t>
            </a:r>
          </a:p>
        </p:txBody>
      </p:sp>
      <p:pic>
        <p:nvPicPr>
          <p:cNvPr id="30" name="kpi-reason-icon" descr="target-red.png"/>
          <p:cNvPicPr>
            <a:picLocks noChangeAspect="1"/>
          </p:cNvPicPr>
          <p:nvPr/>
        </p:nvPicPr>
        <p:blipFill>
          <a:blip r:embed="rId6"/>
          <a:stretch>
            <a:fillRect/>
          </a:stretch>
        </p:blipFill>
        <p:spPr>
          <a:xfrm>
            <a:off x="1200150" y="2724150"/>
            <a:ext cx="809625" cy="809625"/>
          </a:xfrm>
          <a:prstGeom prst="rect">
            <a:avLst/>
          </a:prstGeom>
        </p:spPr>
      </p:pic>
      <p:sp>
        <p:nvSpPr>
          <p:cNvPr id="6" name="kpi-reason-title"/>
          <p:cNvSpPr txBox="1"/>
          <p:nvPr/>
        </p:nvSpPr>
        <p:spPr>
          <a:xfrm>
            <a:off x="2247900" y="2781300"/>
            <a:ext cx="54102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02124"/>
                </a:solidFill>
                <a:latin typeface="Noto Sans KR"/>
              </a:rPr>
              <a:t>목표를 정한 이유</a:t>
            </a:r>
          </a:p>
        </p:txBody>
      </p:sp>
      <p:sp>
        <p:nvSpPr>
          <p:cNvPr id="7" name="kpi-reason"/>
          <p:cNvSpPr txBox="1"/>
          <p:nvPr/>
        </p:nvSpPr>
        <p:spPr>
          <a:xfrm>
            <a:off x="1200150" y="3714750"/>
            <a:ext cx="6648450" cy="10763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62666C"/>
                </a:solidFill>
                <a:latin typeface="Noto Sans KR"/>
              </a:rPr>
              <a:t>11,520명분 운영에 이용률 65% 적용</a:t>
            </a:r>
          </a:p>
          <a:p>
            <a:pPr eaLnBrk="0">
              <a:lnSpc>
                <a:spcPts val="2437"/>
              </a:lnSpc>
              <a:spcBef>
                <a:spcPts val="0"/>
              </a:spcBef>
              <a:spcAft>
                <a:spcPts val="0"/>
              </a:spcAft>
            </a:pPr>
            <a:r>
              <a:rPr sz="1950" b="0">
                <a:solidFill>
                  <a:srgbClr val="62666C"/>
                </a:solidFill>
                <a:latin typeface="Noto Sans KR"/>
              </a:rPr>
              <a:t>참여 7,488명 중 추가 방문 30%를 가정했습니다.</a:t>
            </a:r>
          </a:p>
        </p:txBody>
      </p:sp>
      <p:sp>
        <p:nvSpPr>
          <p:cNvPr id="8" name="kpi-decision-band"/>
          <p:cNvSpPr/>
          <p:nvPr/>
        </p:nvSpPr>
        <p:spPr>
          <a:xfrm>
            <a:off x="1200150" y="5067300"/>
            <a:ext cx="6391275" cy="1047750"/>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286375"/>
            <a:ext cx="5972175" cy="60007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AE2349"/>
                </a:solidFill>
                <a:latin typeface="Noto Sans KR"/>
              </a:rPr>
              <a:t>추가 방문 목표 2,246명</a:t>
            </a:r>
          </a:p>
        </p:txBody>
      </p:sp>
      <p:sp>
        <p:nvSpPr>
          <p:cNvPr id="10" name="kpi-step-explanation"/>
          <p:cNvSpPr txBox="1"/>
          <p:nvPr/>
        </p:nvSpPr>
        <p:spPr>
          <a:xfrm>
            <a:off x="1200150" y="6553200"/>
            <a:ext cx="6391275" cy="8001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추가 방문·소비 규모를 먼저 계산하고</a:t>
            </a:r>
          </a:p>
          <a:p>
            <a:pPr eaLnBrk="0">
              <a:lnSpc>
                <a:spcPts val="2062"/>
              </a:lnSpc>
              <a:spcBef>
                <a:spcPts val="0"/>
              </a:spcBef>
              <a:spcAft>
                <a:spcPts val="0"/>
              </a:spcAft>
            </a:pPr>
            <a:r>
              <a:rPr sz="1650" b="0">
                <a:solidFill>
                  <a:srgbClr val="62666C"/>
                </a:solidFill>
                <a:latin typeface="Noto Sans KR"/>
              </a:rPr>
              <a:t>월별 전망과 단계 운영 비중에 따라 배분합니다.</a:t>
            </a:r>
          </a:p>
        </p:txBody>
      </p:sp>
      <p:cxnSp>
        <p:nvCxnSpPr>
          <p:cNvPr id="11" name="kpi-to-visitors-0"/>
          <p:cNvCxnSpPr/>
          <p:nvPr/>
        </p:nvCxnSpPr>
        <p:spPr>
          <a:xfrm>
            <a:off x="7762875" y="5162550"/>
            <a:ext cx="4667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724275"/>
            <a:ext cx="0" cy="1438275"/>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724275"/>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162550"/>
            <a:ext cx="0" cy="104775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210300"/>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609850"/>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kpi-impact-icon-0" descr="users-ocean.png"/>
          <p:cNvPicPr>
            <a:picLocks noChangeAspect="1"/>
          </p:cNvPicPr>
          <p:nvPr/>
        </p:nvPicPr>
        <p:blipFill>
          <a:blip r:embed="rId9"/>
          <a:stretch>
            <a:fillRect/>
          </a:stretch>
        </p:blipFill>
        <p:spPr>
          <a:xfrm>
            <a:off x="8943975" y="2838450"/>
            <a:ext cx="523875" cy="523875"/>
          </a:xfrm>
          <a:prstGeom prst="rect">
            <a:avLst/>
          </a:prstGeom>
        </p:spPr>
      </p:pic>
      <p:sp>
        <p:nvSpPr>
          <p:cNvPr id="18" name="kpi-impact-title-0"/>
          <p:cNvSpPr txBox="1"/>
          <p:nvPr/>
        </p:nvSpPr>
        <p:spPr>
          <a:xfrm>
            <a:off x="9629775" y="2847975"/>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방문 목표</a:t>
            </a:r>
          </a:p>
        </p:txBody>
      </p:sp>
      <p:sp>
        <p:nvSpPr>
          <p:cNvPr id="19" name="kpi-impact-value-0"/>
          <p:cNvSpPr txBox="1"/>
          <p:nvPr/>
        </p:nvSpPr>
        <p:spPr>
          <a:xfrm>
            <a:off x="8934450" y="3514725"/>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27649B"/>
                </a:solidFill>
                <a:latin typeface="Noto Sans KR"/>
              </a:rPr>
              <a:t>↑ 2,246명</a:t>
            </a:r>
          </a:p>
        </p:txBody>
      </p:sp>
      <p:sp>
        <p:nvSpPr>
          <p:cNvPr id="20" name="kpi-impact-period-0"/>
          <p:cNvSpPr txBox="1"/>
          <p:nvPr/>
        </p:nvSpPr>
        <p:spPr>
          <a:xfrm>
            <a:off x="8953500" y="4333875"/>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+0.02%</a:t>
            </a:r>
          </a:p>
        </p:txBody>
      </p:sp>
      <p:sp>
        <p:nvSpPr>
          <p:cNvPr id="21" name="kpi-impact-panel-1"/>
          <p:cNvSpPr/>
          <p:nvPr/>
        </p:nvSpPr>
        <p:spPr>
          <a:xfrm>
            <a:off x="8696325" y="5095875"/>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kpi-impact-icon-1" descr="coins-jade.png"/>
          <p:cNvPicPr>
            <a:picLocks noChangeAspect="1"/>
          </p:cNvPicPr>
          <p:nvPr/>
        </p:nvPicPr>
        <p:blipFill>
          <a:blip r:embed="rId10"/>
          <a:stretch>
            <a:fillRect/>
          </a:stretch>
        </p:blipFill>
        <p:spPr>
          <a:xfrm>
            <a:off x="8943975" y="5324475"/>
            <a:ext cx="523875" cy="523875"/>
          </a:xfrm>
          <a:prstGeom prst="rect">
            <a:avLst/>
          </a:prstGeom>
        </p:spPr>
      </p:pic>
      <p:sp>
        <p:nvSpPr>
          <p:cNvPr id="23" name="kpi-impact-title-1"/>
          <p:cNvSpPr txBox="1"/>
          <p:nvPr/>
        </p:nvSpPr>
        <p:spPr>
          <a:xfrm>
            <a:off x="9629775" y="5334000"/>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소비 목표</a:t>
            </a:r>
          </a:p>
        </p:txBody>
      </p:sp>
      <p:sp>
        <p:nvSpPr>
          <p:cNvPr id="24" name="kpi-impact-value-1"/>
          <p:cNvSpPr txBox="1"/>
          <p:nvPr/>
        </p:nvSpPr>
        <p:spPr>
          <a:xfrm>
            <a:off x="8934450" y="6000750"/>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187C70"/>
                </a:solidFill>
                <a:latin typeface="Noto Sans KR"/>
              </a:rPr>
              <a:t>↑ 1.57억 원</a:t>
            </a:r>
          </a:p>
        </p:txBody>
      </p:sp>
      <p:sp>
        <p:nvSpPr>
          <p:cNvPr id="25" name="kpi-impact-period-1"/>
          <p:cNvSpPr txBox="1"/>
          <p:nvPr/>
        </p:nvSpPr>
        <p:spPr>
          <a:xfrm>
            <a:off x="8953500" y="6819900"/>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+0.04%</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목표는 계획 가정입니다. 사례의 사업 효과를 예측한 값이 아니며, 방문 합계에는 월간 중복이 포함됩니다.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07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3.1 사례 선정과 지역 적용</a:t>
            </a:r>
          </a:p>
        </p:txBody>
      </p:sp>
      <p:sp>
        <p:nvSpPr>
          <p:cNvPr id="4" name="selection-case"/>
          <p:cNvSpPr txBox="1"/>
          <p:nvPr/>
        </p:nvSpPr>
        <p:spPr>
          <a:xfrm>
            <a:off x="1009650" y="1733550"/>
            <a:ext cx="13220700" cy="619125"/>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서울특별시 문화유산 집적지역 · 기존 문화유산을 활용한 야간 개방·체험 프로그램</a:t>
            </a:r>
          </a:p>
        </p:txBody>
      </p:sp>
      <p:graphicFrame>
        <p:nvGraphicFramePr>
          <p:cNvPr id="5" name="selection-matrix"/>
          <p:cNvGraphicFramePr>
            <a:graphicFrameLocks noGrp="1"/>
          </p:cNvGraphicFramePr>
          <p:nvPr/>
        </p:nvGraphicFramePr>
        <p:xfrm>
          <a:off x="1009650" y="2524125"/>
          <a:ext cx="13220700" cy="3143250"/>
        </p:xfrm>
        <a:graphic>
          <a:graphicData uri="http://schemas.openxmlformats.org/drawingml/2006/table">
            <a:tbl>
              <a:tblPr firstRow="1" bandRow="1">
                <a:tableStyleId>{5C22544A-7EE6-4342-B048-85BDC9FD1C3A}</a:tableStyleId>
              </a:tblPr>
              <a:tblGrid>
                <a:gridCol w="2209800"/>
                <a:gridCol w="5505450"/>
                <a:gridCol w="5505450"/>
              </a:tblGrid>
              <a:tr h="47625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495565"/>
                    </a:solidFill>
                  </a:tcPr>
                </a:tc>
              </a:tr>
              <a:tr h="889000">
                <a:tc>
                  <a:txBody>
                    <a:bodyPr wrap="none"/>
                    <a:lstStyle/>
                    <a:p>
                      <a:pPr eaLnBrk="0">
                        <a:lnSpc>
                          <a:spcPct val="112000"/>
                        </a:lnSpc>
                        <a:spcBef>
                          <a:spcPts val="0"/>
                        </a:spcBef>
                        <a:spcAft>
                          <a:spcPts val="0"/>
                        </a:spcAft>
                      </a:pPr>
                      <a:r>
                        <a:rPr sz="1575" b="1">
                          <a:solidFill>
                            <a:srgbClr val="202124"/>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문화유산이 모인 거점을 중심으로 야간 개방, 해설, 공연과</a:t>
                      </a:r>
                    </a:p>
                    <a:p>
                      <a:pPr eaLnBrk="0">
                        <a:lnSpc>
                          <a:spcPct val="112000"/>
                        </a:lnSpc>
                        <a:spcBef>
                          <a:spcPts val="0"/>
                        </a:spcBef>
                        <a:spcAft>
                          <a:spcPts val="0"/>
                        </a:spcAft>
                      </a:pPr>
                      <a:r>
                        <a:rPr sz="1575" b="0">
                          <a:solidFill>
                            <a:srgbClr val="202124"/>
                          </a:solidFill>
                          <a:latin typeface="Noto Sans KR"/>
                        </a:rPr>
                        <a:t>체험프로그램을 구성하고 국비와 지방비를 결합해 운영했다.</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결제·혜택·재이용 또는 예약·체류 등 실제 이용</a:t>
                      </a:r>
                    </a:p>
                    <a:p>
                      <a:pPr eaLnBrk="0">
                        <a:lnSpc>
                          <a:spcPct val="112000"/>
                        </a:lnSpc>
                        <a:spcBef>
                          <a:spcPts val="0"/>
                        </a:spcBef>
                        <a:spcAft>
                          <a:spcPts val="0"/>
                        </a:spcAft>
                      </a:pPr>
                      <a:r>
                        <a:rPr sz="1575" b="0">
                          <a:solidFill>
                            <a:srgbClr val="202124"/>
                          </a:solidFill>
                          <a:latin typeface="Noto Sans KR"/>
                        </a:rPr>
                        <a:t>흐름이 같은 사례만 연결</a:t>
                      </a:r>
                    </a:p>
                  </a:txBody>
                  <a:tcPr marL="95250" marR="95250" marT="66675" marB="66675" anchor="ctr">
                    <a:solidFill>
                      <a:srgbClr val="FFFFFF"/>
                    </a:solidFill>
                  </a:tcPr>
                </a:tc>
              </a:tr>
              <a:tr h="889000">
                <a:tc>
                  <a:txBody>
                    <a:bodyPr wrap="none"/>
                    <a:lstStyle/>
                    <a:p>
                      <a:pPr eaLnBrk="0">
                        <a:lnSpc>
                          <a:spcPct val="112000"/>
                        </a:lnSpc>
                        <a:spcBef>
                          <a:spcPts val="0"/>
                        </a:spcBef>
                        <a:spcAft>
                          <a:spcPts val="0"/>
                        </a:spcAft>
                      </a:pPr>
                      <a:r>
                        <a:rPr sz="1575" b="1">
                          <a:solidFill>
                            <a:srgbClr val="202124"/>
                          </a:solidFill>
                          <a:latin typeface="Noto Sans KR"/>
                        </a:rPr>
                        <a:t>선택 지역의</a:t>
                      </a:r>
                    </a:p>
                    <a:p>
                      <a:pPr eaLnBrk="0">
                        <a:lnSpc>
                          <a:spcPct val="112000"/>
                        </a:lnSpc>
                        <a:spcBef>
                          <a:spcPts val="0"/>
                        </a:spcBef>
                        <a:spcAft>
                          <a:spcPts val="0"/>
                        </a:spcAft>
                      </a:pPr>
                      <a:r>
                        <a:rPr sz="1575" b="1">
                          <a:solidFill>
                            <a:srgbClr val="202124"/>
                          </a:solidFill>
                          <a:latin typeface="Noto Sans KR"/>
                        </a:rPr>
                        <a:t>소비·체류</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월간 순 방문자 수: 3,131,476명 / 내비게이션 목적지 검색량:</a:t>
                      </a:r>
                    </a:p>
                    <a:p>
                      <a:pPr eaLnBrk="0">
                        <a:lnSpc>
                          <a:spcPct val="112000"/>
                        </a:lnSpc>
                        <a:spcBef>
                          <a:spcPts val="0"/>
                        </a:spcBef>
                        <a:spcAft>
                          <a:spcPts val="0"/>
                        </a:spcAft>
                      </a:pPr>
                      <a:r>
                        <a:rPr sz="1575" b="0">
                          <a:solidFill>
                            <a:srgbClr val="202124"/>
                          </a:solidFill>
                          <a:latin typeface="Noto Sans KR"/>
                        </a:rPr>
                        <a:t>580,380건 / 외지인 숙박 방문 비율: 21.0%</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지역 소비·체류 지표를 보고 참여 업종과 이용</a:t>
                      </a:r>
                    </a:p>
                    <a:p>
                      <a:pPr eaLnBrk="0">
                        <a:lnSpc>
                          <a:spcPct val="112000"/>
                        </a:lnSpc>
                        <a:spcBef>
                          <a:spcPts val="0"/>
                        </a:spcBef>
                        <a:spcAft>
                          <a:spcPts val="0"/>
                        </a:spcAft>
                      </a:pPr>
                      <a:r>
                        <a:rPr sz="1575" b="0">
                          <a:solidFill>
                            <a:srgbClr val="202124"/>
                          </a:solidFill>
                          <a:latin typeface="Noto Sans KR"/>
                        </a:rPr>
                        <a:t>대상을 정합니다.</a:t>
                      </a:r>
                    </a:p>
                  </a:txBody>
                  <a:tcPr marL="95250" marR="95250" marT="66675" marB="66675" anchor="ctr">
                    <a:solidFill>
                      <a:srgbClr val="F0F2F4"/>
                    </a:solidFill>
                  </a:tcPr>
                </a:tc>
              </a:tr>
              <a:tr h="889000">
                <a:tc>
                  <a:txBody>
                    <a:bodyPr wrap="none"/>
                    <a:lstStyle/>
                    <a:p>
                      <a:pPr eaLnBrk="0">
                        <a:lnSpc>
                          <a:spcPct val="112000"/>
                        </a:lnSpc>
                        <a:spcBef>
                          <a:spcPts val="0"/>
                        </a:spcBef>
                        <a:spcAft>
                          <a:spcPts val="0"/>
                        </a:spcAft>
                      </a:pPr>
                      <a:r>
                        <a:rPr sz="1575" b="1">
                          <a:solidFill>
                            <a:srgbClr val="202124"/>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입력 예산 총액 안에서 참여량과 운영 인력을 배분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5895975"/>
            <a:ext cx="13220700" cy="2047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038850"/>
            <a:ext cx="7010400"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87C70"/>
                </a:solidFill>
                <a:latin typeface="Noto Sans KR"/>
              </a:rPr>
              <a:t>사례 → 우리 지역의 제안</a:t>
            </a:r>
          </a:p>
        </p:txBody>
      </p:sp>
      <p:sp>
        <p:nvSpPr>
          <p:cNvPr id="8" name="adaptation-body"/>
          <p:cNvSpPr txBox="1"/>
          <p:nvPr/>
        </p:nvSpPr>
        <p:spPr>
          <a:xfrm>
            <a:off x="1219200" y="6515100"/>
            <a:ext cx="7048500" cy="11620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제주시 내 박물관, 공연장, 문화유산 등 기존 시설을 활용하여 야간 개방</a:t>
            </a:r>
          </a:p>
          <a:p>
            <a:pPr eaLnBrk="0">
              <a:lnSpc>
                <a:spcPts val="2156"/>
              </a:lnSpc>
              <a:spcBef>
                <a:spcPts val="0"/>
              </a:spcBef>
              <a:spcAft>
                <a:spcPts val="0"/>
              </a:spcAft>
            </a:pPr>
            <a:r>
              <a:rPr sz="1725" b="0">
                <a:solidFill>
                  <a:srgbClr val="202124"/>
                </a:solidFill>
                <a:latin typeface="Noto Sans KR"/>
              </a:rPr>
              <a:t>및 체험 프로그램을 확대 운영</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62666C"/>
                </a:solidFill>
                <a:latin typeface="Noto Sans KR"/>
                <a:hlinkClick r:id="rId2"/>
              </a:rPr>
              <a:t>문서 기반 함수 연결 · 2024년 문화재야행 사업 예산 확정자료</a:t>
            </a:r>
          </a:p>
        </p:txBody>
      </p:sp>
      <p:sp>
        <p:nvSpPr>
          <p:cNvPr id="11"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p:nvSpPr>
          <p:cNvPr id="12"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10 / 17</a:t>
            </a:r>
          </a:p>
        </p:txBody>
      </p:sp>
      <p:pic>
        <p:nvPicPr>
          <p:cNvPr id="13" name="adaptation-photo-0" descr="image.jpg"/>
          <p:cNvPicPr>
            <a:picLocks noChangeAspect="1"/>
          </p:cNvPicPr>
          <p:nvPr/>
        </p:nvPicPr>
        <p:blipFill>
          <a:blip r:embed="rId4"/>
          <a:srcRect t="12460" b="12460"/>
          <a:stretch>
            <a:fillRect/>
          </a:stretch>
        </p:blipFill>
        <p:spPr>
          <a:xfrm>
            <a:off x="8734425" y="6143625"/>
            <a:ext cx="2400300" cy="1200150"/>
          </a:xfrm>
          <a:prstGeom prst="rect">
            <a:avLst/>
          </a:prstGeom>
        </p:spPr>
      </p:pic>
      <p:sp>
        <p:nvSpPr>
          <p:cNvPr id="14" name="adaptation-photo-label-0">
            <a:hlinkClick r:id="rId5"/>
          </p:cNvPr>
          <p:cNvSpPr txBox="1"/>
          <p:nvPr/>
        </p:nvSpPr>
        <p:spPr>
          <a:xfrm>
            <a:off x="8734425" y="7410450"/>
            <a:ext cx="2400300" cy="4572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a:solidFill>
                  <a:srgbClr val="62666C"/>
                </a:solidFill>
                <a:latin typeface="Noto Sans KR"/>
              </a:rPr>
              <a:t>적용 공간 예시 · 국립제주박물관</a:t>
            </a:r>
          </a:p>
          <a:p>
            <a:pPr eaLnBrk="0">
              <a:lnSpc>
                <a:spcPts val="1312"/>
              </a:lnSpc>
              <a:spcBef>
                <a:spcPts val="0"/>
              </a:spcBef>
              <a:spcAft>
                <a:spcPts val="0"/>
              </a:spcAft>
            </a:pPr>
            <a:r>
              <a:rPr sz="1050" b="0">
                <a:solidFill>
                  <a:srgbClr val="62666C"/>
                </a:solidFill>
                <a:latin typeface="Noto Sans KR"/>
              </a:rPr>
              <a:t>사진: 한국관광공사</a:t>
            </a:r>
          </a:p>
        </p:txBody>
      </p:sp>
      <p:pic>
        <p:nvPicPr>
          <p:cNvPr id="15" name="adaptation-photo-1" descr="image.jpg"/>
          <p:cNvPicPr>
            <a:picLocks noChangeAspect="1"/>
          </p:cNvPicPr>
          <p:nvPr/>
        </p:nvPicPr>
        <p:blipFill>
          <a:blip r:embed="rId6"/>
          <a:srcRect t="5577" b="5577"/>
          <a:stretch>
            <a:fillRect/>
          </a:stretch>
        </p:blipFill>
        <p:spPr>
          <a:xfrm>
            <a:off x="11382375" y="6143625"/>
            <a:ext cx="2400300" cy="1200150"/>
          </a:xfrm>
          <a:prstGeom prst="rect">
            <a:avLst/>
          </a:prstGeom>
        </p:spPr>
      </p:pic>
      <p:sp>
        <p:nvSpPr>
          <p:cNvPr id="16" name="adaptation-photo-label-1">
            <a:hlinkClick r:id="rId5"/>
          </p:cNvPr>
          <p:cNvSpPr txBox="1"/>
          <p:nvPr/>
        </p:nvSpPr>
        <p:spPr>
          <a:xfrm>
            <a:off x="11382375" y="7410450"/>
            <a:ext cx="2400300" cy="4572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a:solidFill>
                  <a:srgbClr val="62666C"/>
                </a:solidFill>
                <a:latin typeface="Noto Sans KR"/>
              </a:rPr>
              <a:t>적용 공간 예시 · 제주목 관아</a:t>
            </a:r>
          </a:p>
          <a:p>
            <a:pPr eaLnBrk="0">
              <a:lnSpc>
                <a:spcPts val="1312"/>
              </a:lnSpc>
              <a:spcBef>
                <a:spcPts val="0"/>
              </a:spcBef>
              <a:spcAft>
                <a:spcPts val="0"/>
              </a:spcAft>
            </a:pPr>
            <a:r>
              <a:rPr sz="1050" b="0">
                <a:solidFill>
                  <a:srgbClr val="62666C"/>
                </a:solidFill>
                <a:latin typeface="Noto Sans KR"/>
              </a:rPr>
              <a:t>사진: 한국관광공사</a:t>
            </a:r>
          </a:p>
        </p:txBody>
      </p:sp>
    </p:spTree>
  </p:cSld>
  <p:clrMapOvr>
    <a:masterClrMapping/>
  </p:clrMapOvr>
</p:sld>
</file>

<file path=ppt/slides/slide9.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3.2 4단계 실행 가이드 예시안</a:t>
            </a:r>
          </a:p>
        </p:txBody>
      </p:sp>
      <p:sp xmlns:a="http://schemas.openxmlformats.org/drawingml/2006/main">
        <p:nvSpPr>
          <p:cNvPr id="4" name="execution-panel-0"/>
          <p:cNvSpPr/>
          <p:nvPr/>
        </p:nvSpPr>
        <p:spPr>
          <a:xfrm>
            <a:off x="1009650" y="209550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oundRect">
            <a:avLst>
              <a:gd name="adj" fmla="val 50000"/>
            </a:avLst>
          </a:prstGeom>
          <a:solidFill>
            <a:srgbClr val="27649B"/>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함께 운영할 곳과 업무 범위를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계획에 나온 참여처와 운영 가능 시간을 확인합니다. 누가 이용자를 안내하고 문의에 답할지 정한 뒤, 신청</a:t>
            </a:r>
          </a:p>
          <a:p>
            <a:pPr eaLnBrk="0">
              <a:lnSpc>
                <a:spcPts val="1875"/>
              </a:lnSpc>
              <a:spcBef>
                <a:spcPts val="0"/>
              </a:spcBef>
              <a:spcAft>
                <a:spcPts val="0"/>
              </a:spcAft>
            </a:pPr>
            <a:r>
              <a:rPr sz="1500" b="0">
                <a:solidFill>
                  <a:srgbClr val="62666C"/>
                </a:solidFill>
                <a:latin typeface="Noto Sans KR"/>
              </a:rPr>
              <a:t>대상과 이용 조건을 하나의 안내문으로 정리합니다.</a:t>
            </a:r>
          </a:p>
        </p:txBody>
      </p:sp>
      <p:sp xmlns:a="http://schemas.openxmlformats.org/drawingml/2006/main">
        <p:nvSpPr>
          <p:cNvPr id="10" name="execution-panel-1"/>
          <p:cNvSpPr/>
          <p:nvPr/>
        </p:nvSpPr>
        <p:spPr>
          <a:xfrm>
            <a:off x="1009650" y="345757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oundRect">
            <a:avLst>
              <a:gd name="adj" fmla="val 50000"/>
            </a:avLst>
          </a:prstGeom>
          <a:solidFill>
            <a:srgbClr val="187C70"/>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이용자 입장에서 전 과정을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안내를 보고 신청한 뒤 현장에서 이용을 마칠 때까지 직접 따라가 봅니다. 예약이 안 되거나 취소가 생겼을</a:t>
            </a:r>
          </a:p>
          <a:p>
            <a:pPr eaLnBrk="0">
              <a:lnSpc>
                <a:spcPts val="1875"/>
              </a:lnSpc>
              <a:spcBef>
                <a:spcPts val="0"/>
              </a:spcBef>
              <a:spcAft>
                <a:spcPts val="0"/>
              </a:spcAft>
            </a:pPr>
            <a:r>
              <a:rPr sz="1500" b="0">
                <a:solidFill>
                  <a:srgbClr val="62666C"/>
                </a:solidFill>
                <a:latin typeface="Noto Sans KR"/>
              </a:rPr>
              <a:t>때의 처리 방법을 정하고 담당자에게 공유합니다.</a:t>
            </a:r>
          </a:p>
        </p:txBody>
      </p:sp>
      <p:sp xmlns:a="http://schemas.openxmlformats.org/drawingml/2006/main">
        <p:nvSpPr>
          <p:cNvPr id="16" name="execution-panel-2"/>
          <p:cNvSpPr/>
          <p:nvPr/>
        </p:nvSpPr>
        <p:spPr>
          <a:xfrm>
            <a:off x="1009650" y="481965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oundRect">
            <a:avLst>
              <a:gd name="adj" fmla="val 50000"/>
            </a:avLst>
          </a:prstGeom>
          <a:solidFill>
            <a:srgbClr val="7556A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2026-11 ~ 2026-12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제한된 범위에서 먼저 운영합니다.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협의된 참여처와 시간대로 시작합니다. 현장 담당자가 안내와 안전 상태를 확인하고, 매일 신청 수와 실제</a:t>
            </a:r>
          </a:p>
          <a:p>
            <a:pPr eaLnBrk="0">
              <a:lnSpc>
                <a:spcPts val="1875"/>
              </a:lnSpc>
              <a:spcBef>
                <a:spcPts val="0"/>
              </a:spcBef>
              <a:spcAft>
                <a:spcPts val="0"/>
              </a:spcAft>
            </a:pPr>
            <a:r>
              <a:rPr sz="1500" b="0">
                <a:solidFill>
                  <a:srgbClr val="62666C"/>
                </a:solidFill>
                <a:latin typeface="Noto Sans KR"/>
              </a:rPr>
              <a:t>이용 수를 기록합니다. 반복되는 문의는 안내문에 반영합니다.</a:t>
            </a:r>
          </a:p>
        </p:txBody>
      </p:sp>
      <p:sp xmlns:a="http://schemas.openxmlformats.org/drawingml/2006/main">
        <p:nvSpPr>
          <p:cNvPr id="22" name="execution-panel-3"/>
          <p:cNvSpPr/>
          <p:nvPr/>
        </p:nvSpPr>
        <p:spPr>
          <a:xfrm>
            <a:off x="1009650" y="618172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oundRect">
            <a:avLst>
              <a:gd name="adj" fmla="val 50000"/>
            </a:avLst>
          </a:prstGeom>
          <a:solidFill>
            <a:srgbClr val="AE2349"/>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 실적과 비용을 함께 정리합니다.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매주 이용 기록과 지출 내역을 확인하고 불편이 생긴 원인을 정리합니다. 종료 후 같은 기준의 운영 전 자료와</a:t>
            </a:r>
          </a:p>
          <a:p>
            <a:pPr eaLnBrk="0">
              <a:lnSpc>
                <a:spcPts val="1875"/>
              </a:lnSpc>
              <a:spcBef>
                <a:spcPts val="0"/>
              </a:spcBef>
              <a:spcAft>
                <a:spcPts val="0"/>
              </a:spcAft>
            </a:pPr>
            <a:r>
              <a:rPr sz="1500" b="0">
                <a:solidFill>
                  <a:srgbClr val="62666C"/>
                </a:solidFill>
                <a:latin typeface="Noto Sans KR"/>
              </a:rPr>
              <a:t>비교하되, 계절 변화와 사업 효과를 구분해 보고합니다.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3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11 / 17</a:t>
            </a:r>
          </a:p>
        </p:txBody>
      </p:sp>
    </p:spTree>
    <p:extLst>
      <p:ext uri="{BB962C8B-B14F-4D97-AF65-F5344CB8AC3E}">
        <p14:creationId xmlns:p14="http://schemas.microsoft.com/office/powerpoint/2010/main" val="380383987"/>
      </p:ext>
    </p:extLst>
  </p:cSld>
</p:sld>
</file>

<file path=ppt/slides/slide10.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3.3 머신러닝 예측값과 목표 KPI</a:t>
            </a: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27649B"/>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3,615,062명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3,615,450명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388명 · 0.01%</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3,594,310명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3,595,082명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772명 · 0.02%</a:t>
                      </a:r>
                    </a:p>
                  </a:txBody>
                  <a:tcPr marL="95250" marR="95250" marT="66675" marB="66675" anchor="ctr">
                    <a:solidFill>
                      <a:srgbClr val="EDF3F8"/>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3,370,793명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3,371,879명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1,086명 · 0.03%</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10,580,165명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10,582,411명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2,246명 · 0.02%</a:t>
                      </a:r>
                    </a:p>
                  </a:txBody>
                  <a:tcPr marL="95250" marR="95250" marT="66675" marB="66675" anchor="ctr">
                    <a:solidFill>
                      <a:srgbClr val="EDF3F8"/>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27649B"/>
                </a:solidFill>
                <a:latin typeface="Noto Sans KR"/>
              </a:rPr>
              <a:t>3개월 목표 추가 규모 ↑ 2,246명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187C70"/>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1,504.67억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1,504.94억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2,664만 원 · 0.02%</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1,450.85억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1,451.37억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5,138만 원 · 0.04%</a:t>
                      </a:r>
                    </a:p>
                  </a:txBody>
                  <a:tcPr marL="95250" marR="95250" marT="66675" marB="66675" anchor="ctr">
                    <a:solidFill>
                      <a:srgbClr val="EDF5F3"/>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1,493.67억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1,494.46억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7,934만 원 · 0.05%</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4,449.19억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4,450.76억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1.57억 원 · 0.04%</a:t>
                      </a:r>
                    </a:p>
                  </a:txBody>
                  <a:tcPr marL="95250" marR="95250" marT="66675" marB="66675" anchor="ctr">
                    <a:solidFill>
                      <a:srgbClr val="EDF5F3"/>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187C70"/>
                </a:solidFill>
                <a:latin typeface="Noto Sans KR"/>
              </a:rPr>
              <a:t>3개월 목표 추가 규모 ↑ 1.57억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월별 목표 = 해당 월 ML 전망 × (1 + 최종월 목표율 × 경과 월 수 ÷ 전체 월 수). 방문·소비 목표율은 각각 적용합니다.</a:t>
            </a:r>
          </a:p>
          <a:p>
            <a:pPr eaLnBrk="0">
              <a:lnSpc>
                <a:spcPts val="1687"/>
              </a:lnSpc>
              <a:spcBef>
                <a:spcPts val="0"/>
              </a:spcBef>
              <a:spcAft>
                <a:spcPts val="0"/>
              </a:spcAft>
            </a:pPr>
            <a:r>
              <a:rPr sz="1350" b="0">
                <a:solidFill>
                  <a:srgbClr val="62666C"/>
                </a:solidFill>
                <a:latin typeface="Noto Sans KR"/>
              </a:rPr>
              <a:t>합계 증가율 = (목표 합계 ÷ ML 합계 − 1) × 100. 방문 합계는 월 간 중복을 포함하며, 보장된 사업 효과가 아닙니다.</a:t>
            </a:r>
          </a:p>
        </p:txBody>
      </p:sp>
      <p:sp xmlns:a="http://schemas.openxmlformats.org/drawingml/2006/main">
        <p:nvSpPr>
          <p:cNvPr id="1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12 / 17</a:t>
            </a:r>
          </a:p>
        </p:txBody>
      </p:sp>
    </p:spTree>
    <p:extLst>
      <p:ext uri="{BB962C8B-B14F-4D97-AF65-F5344CB8AC3E}">
        <p14:creationId xmlns:p14="http://schemas.microsoft.com/office/powerpoint/2010/main" val="553742078"/>
      </p:ext>
    </p:extLst>
  </p:cSld>
</p:sld>
</file>

<file path=ppt/slides/slide11.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4.1 견적 예시안</a:t>
            </a: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62666C"/>
                </a:solidFill>
                <a:latin typeface="Noto Sans KR"/>
              </a:rPr>
              <a:t>운영 규모를 가정한 시범 예산</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F50045"/>
                </a:solidFill>
                <a:latin typeface="Noto Sans KR"/>
              </a:rPr>
              <a:t>총 16,808만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36A69C"/>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프로그램 운영·참여 지원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115,200,000원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편성 참여 한도 11,520건 × 가정 단가 10,000원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현장 운영·정산</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21,600,000원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6개 거점 × 월 8일 × 3개월 × 150,000원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신청·운영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기존 수단 설정 1식 × 가정 단가 8,000,000원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홍보·참여처 안내</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안내 콘텐츠 1식 × 가정 단가 5,000,000원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실적 정리 1식 × 가정 단가 3,000,000원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예비비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15,280,000원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직접비 152,800,000원 × 10%</a:t>
                      </a:r>
                    </a:p>
                  </a:txBody>
                  <a:tcPr marL="95250" marR="95250" marT="66675" marB="66675" anchor="ctr">
                    <a:solidFill>
                      <a:srgbClr val="FBEFF2"/>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6개 × 월 8일 × 3개월 × 하루 2회 × 회당 40명 = 11,520명분 → 편성 참여 한도 11,520건. 모든 단가는 기획 가정.</a:t>
            </a:r>
          </a:p>
          <a:p>
            <a:pPr eaLnBrk="0">
              <a:lnSpc>
                <a:spcPts val="1781"/>
              </a:lnSpc>
              <a:spcBef>
                <a:spcPts val="0"/>
              </a:spcBef>
              <a:spcAft>
                <a:spcPts val="0"/>
              </a:spcAft>
            </a:pPr>
            <a:r>
              <a:rPr sz="1425" b="0">
                <a:solidFill>
                  <a:srgbClr val="62666C"/>
                </a:solidFill>
                <a:latin typeface="Noto Sans KR"/>
              </a:rPr>
              <a:t>직접비 = 혜택 + 운영·정산 + 시스템 + 홍보 + 평가; 예비비 = 직접비 × 10%. 단가와 처리량은 기획 가정입니다.</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50045"/>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1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13 / 17</a:t>
            </a:r>
          </a:p>
        </p:txBody>
      </p:sp>
    </p:spTree>
    <p:extLst>
      <p:ext uri="{BB962C8B-B14F-4D97-AF65-F5344CB8AC3E}">
        <p14:creationId xmlns:p14="http://schemas.microsoft.com/office/powerpoint/2010/main" val="1823133345"/>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66" name="pipeline-agent-card-1086"/>
          <p:cNvSpPr/>
          <p:nvPr/>
        </p:nvSpPr>
        <p:spPr>
          <a:xfrm>
            <a:off x="103441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peline-agent-card-864"/>
          <p:cNvSpPr/>
          <p:nvPr/>
        </p:nvSpPr>
        <p:spPr>
          <a:xfrm>
            <a:off x="822960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peline-agent-card-642"/>
          <p:cNvSpPr/>
          <p:nvPr/>
        </p:nvSpPr>
        <p:spPr>
          <a:xfrm>
            <a:off x="61150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5.1 기획서 생성 파이프라인</a:t>
            </a:r>
          </a:p>
        </p:txBody>
      </p:sp>
      <p:sp>
        <p:nvSpPr>
          <p:cNvPr id="4" name="pipeline-intro"/>
          <p:cNvSpPr txBox="1"/>
          <p:nvPr/>
        </p:nvSpPr>
        <p:spPr>
          <a:xfrm>
            <a:off x="1009650" y="18097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0575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2030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34850" y="4324350"/>
            <a:ext cx="6286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peline-evidence-icon" descr="map-pinned-ocean.png"/>
          <p:cNvPicPr>
            <a:picLocks noChangeAspect="1"/>
          </p:cNvPicPr>
          <p:nvPr/>
        </p:nvPicPr>
        <p:blipFill>
          <a:blip r:embed="rId19"/>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① 지역</a:t>
            </a:r>
          </a:p>
          <a:p>
            <a:pPr eaLnBrk="0">
              <a:lnSpc>
                <a:spcPts val="2203"/>
              </a:lnSpc>
              <a:spcBef>
                <a:spcPts val="0"/>
              </a:spcBef>
              <a:spcAft>
                <a:spcPts val="0"/>
              </a:spcAft>
            </a:pPr>
            <a:r>
              <a:rPr sz="1762" b="1">
                <a:solidFill>
                  <a:srgbClr val="202124"/>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SQL · 공식 관광자료</a:t>
            </a:r>
          </a:p>
        </p:txBody>
      </p:sp>
      <p:pic>
        <p:nvPicPr>
          <p:cNvPr id="68" name="pipeline-case-icon" descr="search-check-violet.png"/>
          <p:cNvPicPr>
            <a:picLocks noChangeAspect="1"/>
          </p:cNvPicPr>
          <p:nvPr/>
        </p:nvPicPr>
        <p:blipFill>
          <a:blip r:embed="rId20"/>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② 타지역</a:t>
            </a:r>
          </a:p>
          <a:p>
            <a:pPr eaLnBrk="0">
              <a:lnSpc>
                <a:spcPts val="2203"/>
              </a:lnSpc>
              <a:spcBef>
                <a:spcPts val="0"/>
              </a:spcBef>
              <a:spcAft>
                <a:spcPts val="0"/>
              </a:spcAft>
            </a:pPr>
            <a:r>
              <a:rPr sz="1762" b="1">
                <a:solidFill>
                  <a:srgbClr val="202124"/>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OpenAI · 공식 사업·성과</a:t>
            </a:r>
          </a:p>
        </p:txBody>
      </p:sp>
      <p:pic>
        <p:nvPicPr>
          <p:cNvPr id="69" name="pipeline-click-icon" descr="mouse-pointer-click-slate.png"/>
          <p:cNvPicPr>
            <a:picLocks noChangeAspect="1"/>
          </p:cNvPicPr>
          <p:nvPr/>
        </p:nvPicPr>
        <p:blipFill>
          <a:blip r:embed="rId21"/>
          <a:stretch>
            <a:fillRect/>
          </a:stretch>
        </p:blipFill>
        <p:spPr>
          <a:xfrm>
            <a:off x="1352550" y="3476625"/>
            <a:ext cx="819150" cy="819150"/>
          </a:xfrm>
          <a:prstGeom prst="rect">
            <a:avLst/>
          </a:prstGeom>
        </p:spPr>
      </p:pic>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02124"/>
                </a:solidFill>
                <a:latin typeface="Noto Sans KR"/>
              </a:rPr>
              <a:t>기획서 생성</a:t>
            </a:r>
          </a:p>
          <a:p>
            <a:pPr eaLnBrk="0" algn="ctr">
              <a:lnSpc>
                <a:spcPts val="2531"/>
              </a:lnSpc>
              <a:spcBef>
                <a:spcPts val="0"/>
              </a:spcBef>
              <a:spcAft>
                <a:spcPts val="0"/>
              </a:spcAft>
            </a:pPr>
            <a:r>
              <a:rPr sz="2025" b="1">
                <a:solidFill>
                  <a:srgbClr val="202124"/>
                </a:solidFill>
                <a:latin typeface="Noto Sans KR"/>
              </a:rPr>
              <a:t>클릭</a:t>
            </a:r>
          </a:p>
        </p:txBody>
      </p:sp>
      <p:sp>
        <p:nvSpPr>
          <p:cNvPr id="27" name="pipeline-model-652"/>
          <p:cNvSpPr txBox="1"/>
          <p:nvPr/>
        </p:nvSpPr>
        <p:spPr>
          <a:xfrm>
            <a:off x="62103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7649B"/>
                </a:solidFill>
                <a:latin typeface="Noto Sans KR"/>
              </a:rPr>
              <a:t>Qwen</a:t>
            </a:r>
          </a:p>
        </p:txBody>
      </p:sp>
      <p:pic>
        <p:nvPicPr>
          <p:cNvPr id="70" name="pipeline-icon-652" descr="git-compare-arrows-ocean.png"/>
          <p:cNvPicPr>
            <a:picLocks noChangeAspect="1"/>
          </p:cNvPicPr>
          <p:nvPr/>
        </p:nvPicPr>
        <p:blipFill>
          <a:blip r:embed="rId22"/>
          <a:stretch>
            <a:fillRect/>
          </a:stretch>
        </p:blipFill>
        <p:spPr>
          <a:xfrm>
            <a:off x="6677025" y="3705225"/>
            <a:ext cx="762000" cy="762000"/>
          </a:xfrm>
          <a:prstGeom prst="rect">
            <a:avLst/>
          </a:prstGeom>
        </p:spPr>
      </p:pic>
      <p:sp>
        <p:nvSpPr>
          <p:cNvPr id="29" name="pipeline-title-652"/>
          <p:cNvSpPr txBox="1"/>
          <p:nvPr/>
        </p:nvSpPr>
        <p:spPr>
          <a:xfrm>
            <a:off x="61626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③ 후보 비교</a:t>
            </a:r>
          </a:p>
        </p:txBody>
      </p:sp>
      <p:sp>
        <p:nvSpPr>
          <p:cNvPr id="30" name="pipeline-body-652"/>
          <p:cNvSpPr txBox="1"/>
          <p:nvPr/>
        </p:nvSpPr>
        <p:spPr>
          <a:xfrm>
            <a:off x="61626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지역에 맞는</a:t>
            </a:r>
          </a:p>
          <a:p>
            <a:pPr eaLnBrk="0" algn="ctr">
              <a:lnSpc>
                <a:spcPts val="2062"/>
              </a:lnSpc>
              <a:spcBef>
                <a:spcPts val="0"/>
              </a:spcBef>
              <a:spcAft>
                <a:spcPts val="0"/>
              </a:spcAft>
            </a:pPr>
            <a:r>
              <a:rPr sz="1650" b="0">
                <a:solidFill>
                  <a:srgbClr val="62666C"/>
                </a:solidFill>
                <a:latin typeface="Noto Sans KR"/>
              </a:rPr>
              <a:t>사업 선택</a:t>
            </a:r>
          </a:p>
        </p:txBody>
      </p:sp>
      <p:sp>
        <p:nvSpPr>
          <p:cNvPr id="31" name="pipeline-model-874"/>
          <p:cNvSpPr txBox="1"/>
          <p:nvPr/>
        </p:nvSpPr>
        <p:spPr>
          <a:xfrm>
            <a:off x="832485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A96924"/>
                </a:solidFill>
                <a:latin typeface="Noto Sans KR"/>
              </a:rPr>
              <a:t>Gemma</a:t>
            </a:r>
          </a:p>
        </p:txBody>
      </p:sp>
      <p:pic>
        <p:nvPicPr>
          <p:cNvPr id="71" name="pipeline-icon-874" descr="notebook-pen-ochre.png"/>
          <p:cNvPicPr>
            <a:picLocks noChangeAspect="1"/>
          </p:cNvPicPr>
          <p:nvPr/>
        </p:nvPicPr>
        <p:blipFill>
          <a:blip r:embed="rId23"/>
          <a:stretch>
            <a:fillRect/>
          </a:stretch>
        </p:blipFill>
        <p:spPr>
          <a:xfrm>
            <a:off x="8791575" y="3705225"/>
            <a:ext cx="762000" cy="762000"/>
          </a:xfrm>
          <a:prstGeom prst="rect">
            <a:avLst/>
          </a:prstGeom>
        </p:spPr>
      </p:pic>
      <p:sp>
        <p:nvSpPr>
          <p:cNvPr id="33" name="pipeline-title-874"/>
          <p:cNvSpPr txBox="1"/>
          <p:nvPr/>
        </p:nvSpPr>
        <p:spPr>
          <a:xfrm>
            <a:off x="827722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④ 본문 작성</a:t>
            </a:r>
          </a:p>
        </p:txBody>
      </p:sp>
      <p:sp>
        <p:nvSpPr>
          <p:cNvPr id="34" name="pipeline-body-874"/>
          <p:cNvSpPr txBox="1"/>
          <p:nvPr/>
        </p:nvSpPr>
        <p:spPr>
          <a:xfrm>
            <a:off x="827722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선정 근거로</a:t>
            </a:r>
          </a:p>
          <a:p>
            <a:pPr eaLnBrk="0" algn="ctr">
              <a:lnSpc>
                <a:spcPts val="2062"/>
              </a:lnSpc>
              <a:spcBef>
                <a:spcPts val="0"/>
              </a:spcBef>
              <a:spcAft>
                <a:spcPts val="0"/>
              </a:spcAft>
            </a:pPr>
            <a:r>
              <a:rPr sz="1650" b="0">
                <a:solidFill>
                  <a:srgbClr val="62666C"/>
                </a:solidFill>
                <a:latin typeface="Noto Sans KR"/>
              </a:rPr>
              <a:t>실행 계획 작성</a:t>
            </a:r>
          </a:p>
        </p:txBody>
      </p:sp>
      <p:sp>
        <p:nvSpPr>
          <p:cNvPr id="35" name="pipeline-model-1096"/>
          <p:cNvSpPr txBox="1"/>
          <p:nvPr/>
        </p:nvSpPr>
        <p:spPr>
          <a:xfrm>
            <a:off x="104394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187C70"/>
                </a:solidFill>
                <a:latin typeface="Noto Sans KR"/>
              </a:rPr>
              <a:t>Qwen</a:t>
            </a:r>
          </a:p>
        </p:txBody>
      </p:sp>
      <p:pic>
        <p:nvPicPr>
          <p:cNvPr id="72" name="pipeline-icon-1096" descr="shield-check-jade.png"/>
          <p:cNvPicPr>
            <a:picLocks noChangeAspect="1"/>
          </p:cNvPicPr>
          <p:nvPr/>
        </p:nvPicPr>
        <p:blipFill>
          <a:blip r:embed="rId24"/>
          <a:stretch>
            <a:fillRect/>
          </a:stretch>
        </p:blipFill>
        <p:spPr>
          <a:xfrm>
            <a:off x="10906125" y="3705225"/>
            <a:ext cx="762000" cy="762000"/>
          </a:xfrm>
          <a:prstGeom prst="rect">
            <a:avLst/>
          </a:prstGeom>
        </p:spPr>
      </p:pic>
      <p:sp>
        <p:nvSpPr>
          <p:cNvPr id="37" name="pipeline-title-1096"/>
          <p:cNvSpPr txBox="1"/>
          <p:nvPr/>
        </p:nvSpPr>
        <p:spPr>
          <a:xfrm>
            <a:off x="103917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⑤ 품질 검수</a:t>
            </a:r>
          </a:p>
        </p:txBody>
      </p:sp>
      <p:sp>
        <p:nvSpPr>
          <p:cNvPr id="38" name="pipeline-body-1096"/>
          <p:cNvSpPr txBox="1"/>
          <p:nvPr/>
        </p:nvSpPr>
        <p:spPr>
          <a:xfrm>
            <a:off x="103917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수치·출처와</a:t>
            </a:r>
          </a:p>
          <a:p>
            <a:pPr eaLnBrk="0" algn="ctr">
              <a:lnSpc>
                <a:spcPts val="2062"/>
              </a:lnSpc>
              <a:spcBef>
                <a:spcPts val="0"/>
              </a:spcBef>
              <a:spcAft>
                <a:spcPts val="0"/>
              </a:spcAft>
            </a:pPr>
            <a:r>
              <a:rPr sz="1650" b="0">
                <a:solidFill>
                  <a:srgbClr val="62666C"/>
                </a:solidFill>
                <a:latin typeface="Noto Sans KR"/>
              </a:rPr>
              <a:t>본문 연결 확인</a:t>
            </a:r>
          </a:p>
        </p:txBody>
      </p:sp>
      <p:pic>
        <p:nvPicPr>
          <p:cNvPr id="73" name="pipeline-output-icon" descr="files-slate.png"/>
          <p:cNvPicPr>
            <a:picLocks noChangeAspect="1"/>
          </p:cNvPicPr>
          <p:nvPr/>
        </p:nvPicPr>
        <p:blipFill>
          <a:blip r:embed="rId25"/>
          <a:stretch>
            <a:fillRect/>
          </a:stretch>
        </p:blipFill>
        <p:spPr>
          <a:xfrm>
            <a:off x="13068300" y="3705225"/>
            <a:ext cx="723900" cy="723900"/>
          </a:xfrm>
          <a:prstGeom prst="rect">
            <a:avLst/>
          </a:prstGeom>
        </p:spPr>
      </p:pic>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웹</a:t>
            </a:r>
          </a:p>
          <a:p>
            <a:pPr eaLnBrk="0" algn="ctr">
              <a:lnSpc>
                <a:spcPts val="2062"/>
              </a:lnSpc>
              <a:spcBef>
                <a:spcPts val="0"/>
              </a:spcBef>
              <a:spcAft>
                <a:spcPts val="0"/>
              </a:spcAft>
            </a:pPr>
            <a:r>
              <a:rPr sz="1650" b="0">
                <a:solidFill>
                  <a:srgbClr val="62666C"/>
                </a:solidFill>
                <a:latin typeface="Noto Sans KR"/>
              </a:rPr>
              <a:t>PPT · Word</a:t>
            </a:r>
          </a:p>
        </p:txBody>
      </p:sp>
      <p:sp>
        <p:nvSpPr>
          <p:cNvPr id="42" name="pipeline-data-band"/>
          <p:cNvSpPr/>
          <p:nvPr/>
        </p:nvSpPr>
        <p:spPr>
          <a:xfrm>
            <a:off x="1009650" y="6762750"/>
            <a:ext cx="6610350" cy="9620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peline-data-icon" descr="database-ocean.png"/>
          <p:cNvPicPr>
            <a:picLocks noChangeAspect="1"/>
          </p:cNvPicPr>
          <p:nvPr/>
        </p:nvPicPr>
        <p:blipFill>
          <a:blip r:embed="rId26"/>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02124"/>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OpenAI는 공식 웹에서 사업 사례와 출처를 조사합니다. 이미 확보한 공식 근거는 재사용합니다.</a:t>
            </a:r>
          </a:p>
        </p:txBody>
      </p:sp>
      <p:sp>
        <p:nvSpPr>
          <p:cNvPr id="5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5.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14 / 17</a:t>
            </a:r>
          </a:p>
        </p:txBody>
      </p:sp>
    </p:spTree>
  </p:cSld>
  <p:clrMapOvr>
    <a:masterClrMapping/>
  </p:clrMapOvr>
</p:sld>
</file>

<file path=ppt/slides/slide1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6.1 근거·데이터·출처</a:t>
            </a: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0="http://schemas.openxmlformats.org/officeDocument/2006/relationships" ns0:id="rId2"/>
              </a:rPr>
              <a:t>관측 데이터 D01 순 방문자 수 및 숙박 비율 (이동통신</a:t>
            </a:r>
          </a:p>
          <a:p>
            <a:pPr eaLnBrk="0">
              <a:lnSpc>
                <a:spcPts val="1265"/>
              </a:lnSpc>
              <a:spcBef>
                <a:spcPts val="0"/>
              </a:spcBef>
              <a:spcAft>
                <a:spcPts val="0"/>
              </a:spcAft>
            </a:pPr>
            <a:r>
              <a:rPr sz="1012" b="0" u="none">
                <a:solidFill>
                  <a:srgbClr val="62666C"/>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http://schemas.openxmlformats.org/officeDocument/2006/relationships" ns2: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3="http://schemas.openxmlformats.org/officeDocument/2006/relationships" ns3: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4="http://schemas.openxmlformats.org/officeDocument/2006/relationships" ns4:id="rId2"/>
              </a:rPr>
              <a:t>관측 데이터 D04 숙박방문자 비율 추이 (이동통신</a:t>
            </a:r>
          </a:p>
          <a:p>
            <a:pPr eaLnBrk="0">
              <a:lnSpc>
                <a:spcPts val="1265"/>
              </a:lnSpc>
              <a:spcBef>
                <a:spcPts val="0"/>
              </a:spcBef>
              <a:spcAft>
                <a:spcPts val="0"/>
              </a:spcAft>
            </a:pPr>
            <a:r>
              <a:rPr sz="1012" b="0" u="none">
                <a:solidFill>
                  <a:srgbClr val="62666C"/>
                </a:solidFill>
                <a:latin typeface="Noto Sans KR"/>
                <a:hlinkClick xmlns:ns5="http://schemas.openxmlformats.org/officeDocument/2006/relationships" ns5: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6="http://schemas.openxmlformats.org/officeDocument/2006/relationships" ns6: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7="http://schemas.openxmlformats.org/officeDocument/2006/relationships" ns7: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8="http://schemas.openxmlformats.org/officeDocument/2006/relationships" ns8:id="rId2"/>
              </a:rPr>
              <a:t>관측 데이터 D07 SNS 언급량 2026-06</a:t>
            </a:r>
          </a:p>
        </p:txBody>
      </p:sp>
      <p:sp xmlns:a="http://schemas.openxmlformats.org/drawingml/2006/main">
        <p:nvSpPr>
          <p:cNvPr id="12" name="reference-7"/>
          <p:cNvSpPr txBox="1"/>
          <p:nvPr/>
        </p:nvSpPr>
        <p:spPr>
          <a:xfrm>
            <a:off x="1009650" y="4995862"/>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9="http://schemas.openxmlformats.org/officeDocument/2006/relationships" ns9:id="rId2"/>
              </a:rPr>
              <a:t>관측 데이터 D08 한국관광 데이터랩 공식 다운로드 ·</a:t>
            </a:r>
          </a:p>
          <a:p>
            <a:pPr eaLnBrk="0">
              <a:lnSpc>
                <a:spcPts val="1359"/>
              </a:lnSpc>
              <a:spcBef>
                <a:spcPts val="0"/>
              </a:spcBef>
              <a:spcAft>
                <a:spcPts val="0"/>
              </a:spcAft>
            </a:pPr>
            <a:r>
              <a:rPr sz="1087" b="0" u="none">
                <a:solidFill>
                  <a:srgbClr val="62666C"/>
                </a:solidFill>
                <a:latin typeface="Noto Sans KR"/>
                <a:hlinkClick xmlns:ns10="http://schemas.openxmlformats.org/officeDocument/2006/relationships" ns10:id="rId2"/>
              </a:rPr>
              <a:t>제주특별자치도_제주시/방문자/2026_01_06.zip 2025-07 ~ 2026-06</a:t>
            </a:r>
          </a:p>
        </p:txBody>
      </p:sp>
      <p:sp xmlns:a="http://schemas.openxmlformats.org/drawingml/2006/main">
        <p:nvSpPr>
          <p:cNvPr id="13" name="reference-8"/>
          <p:cNvSpPr txBox="1"/>
          <p:nvPr/>
        </p:nvSpPr>
        <p:spPr>
          <a:xfrm>
            <a:off x="1009650" y="5607844"/>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1="http://schemas.openxmlformats.org/officeDocument/2006/relationships" ns11:id="rId2"/>
              </a:rPr>
              <a:t>관측 데이터 D09 한국관광 데이터랩 공식 다운로드 ·</a:t>
            </a:r>
          </a:p>
          <a:p>
            <a:pPr eaLnBrk="0">
              <a:lnSpc>
                <a:spcPts val="1312"/>
              </a:lnSpc>
              <a:spcBef>
                <a:spcPts val="0"/>
              </a:spcBef>
              <a:spcAft>
                <a:spcPts val="0"/>
              </a:spcAft>
            </a:pPr>
            <a:r>
              <a:rPr sz="1050" b="0" u="none">
                <a:solidFill>
                  <a:srgbClr val="62666C"/>
                </a:solidFill>
                <a:latin typeface="Noto Sans KR"/>
                <a:hlinkClick xmlns:ns12="http://schemas.openxmlformats.org/officeDocument/2006/relationships" ns12:id="rId2"/>
              </a:rPr>
              <a:t>제주특별자치도_제주시/숙박_체류시간/2026_01_06.zip</a:t>
            </a:r>
          </a:p>
          <a:p>
            <a:pPr eaLnBrk="0">
              <a:lnSpc>
                <a:spcPts val="1312"/>
              </a:lnSpc>
              <a:spcBef>
                <a:spcPts val="0"/>
              </a:spcBef>
              <a:spcAft>
                <a:spcPts val="0"/>
              </a:spcAft>
            </a:pPr>
            <a:r>
              <a:rPr sz="1050" b="0" u="none">
                <a:solidFill>
                  <a:srgbClr val="62666C"/>
                </a:solidFill>
                <a:latin typeface="Noto Sans KR"/>
                <a:hlinkClick xmlns:ns13="http://schemas.openxmlformats.org/officeDocument/2006/relationships" ns13:id="rId2"/>
              </a:rPr>
              <a:t>2025-07 ~ 2026-06</a:t>
            </a:r>
          </a:p>
        </p:txBody>
      </p:sp>
      <p:sp xmlns:a="http://schemas.openxmlformats.org/drawingml/2006/main">
        <p:nvSpPr>
          <p:cNvPr id="14" name="reference-9"/>
          <p:cNvSpPr txBox="1"/>
          <p:nvPr/>
        </p:nvSpPr>
        <p:spPr>
          <a:xfrm>
            <a:off x="1009650" y="621982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4="http://schemas.openxmlformats.org/officeDocument/2006/relationships" ns14:id="rId2"/>
              </a:rPr>
              <a:t>관측 데이터 D10 한국관광 데이터랩 공식 다운로드 ·</a:t>
            </a:r>
          </a:p>
          <a:p>
            <a:pPr eaLnBrk="0">
              <a:lnSpc>
                <a:spcPts val="1312"/>
              </a:lnSpc>
              <a:spcBef>
                <a:spcPts val="0"/>
              </a:spcBef>
              <a:spcAft>
                <a:spcPts val="0"/>
              </a:spcAft>
            </a:pPr>
            <a:r>
              <a:rPr sz="1050" b="0" u="none">
                <a:solidFill>
                  <a:srgbClr val="62666C"/>
                </a:solidFill>
                <a:latin typeface="Noto Sans KR"/>
                <a:hlinkClick xmlns:ns15="http://schemas.openxmlformats.org/officeDocument/2006/relationships" ns15:id="rId2"/>
              </a:rPr>
              <a:t>제주특별자치도_제주시/숙박_체류시간/2025_01_12.zip</a:t>
            </a:r>
          </a:p>
          <a:p>
            <a:pPr eaLnBrk="0">
              <a:lnSpc>
                <a:spcPts val="1312"/>
              </a:lnSpc>
              <a:spcBef>
                <a:spcPts val="0"/>
              </a:spcBef>
              <a:spcAft>
                <a:spcPts val="0"/>
              </a:spcAft>
            </a:pPr>
            <a:r>
              <a:rPr sz="1050" b="0" u="none">
                <a:solidFill>
                  <a:srgbClr val="62666C"/>
                </a:solidFill>
                <a:latin typeface="Noto Sans KR"/>
                <a:hlinkClick xmlns:ns16="http://schemas.openxmlformats.org/officeDocument/2006/relationships" ns16:id="rId2"/>
              </a:rPr>
              <a:t>2025-07 ~ 2026-06</a:t>
            </a:r>
          </a:p>
        </p:txBody>
      </p:sp>
      <p:sp xmlns:a="http://schemas.openxmlformats.org/drawingml/2006/main">
        <p:nvSpPr>
          <p:cNvPr id="15" name="reference-10"/>
          <p:cNvSpPr txBox="1"/>
          <p:nvPr/>
        </p:nvSpPr>
        <p:spPr>
          <a:xfrm>
            <a:off x="1009650" y="683180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7="http://schemas.openxmlformats.org/officeDocument/2006/relationships" ns17:id="rId2"/>
              </a:rPr>
              <a:t>관측 데이터 D11 한국관광 데이터랩 공식 다운로드 ·</a:t>
            </a:r>
          </a:p>
          <a:p>
            <a:pPr eaLnBrk="0">
              <a:lnSpc>
                <a:spcPts val="1312"/>
              </a:lnSpc>
              <a:spcBef>
                <a:spcPts val="0"/>
              </a:spcBef>
              <a:spcAft>
                <a:spcPts val="0"/>
              </a:spcAft>
            </a:pPr>
            <a:r>
              <a:rPr sz="1050" b="0" u="none">
                <a:solidFill>
                  <a:srgbClr val="62666C"/>
                </a:solidFill>
                <a:latin typeface="Noto Sans KR"/>
                <a:hlinkClick xmlns:ns18="http://schemas.openxmlformats.org/officeDocument/2006/relationships" ns18:id="rId2"/>
              </a:rPr>
              <a:t>제주특별자치도_제주시/관광소비/2026_01_06.zip</a:t>
            </a:r>
          </a:p>
          <a:p>
            <a:pPr eaLnBrk="0">
              <a:lnSpc>
                <a:spcPts val="1312"/>
              </a:lnSpc>
              <a:spcBef>
                <a:spcPts val="0"/>
              </a:spcBef>
              <a:spcAft>
                <a:spcPts val="0"/>
              </a:spcAft>
            </a:pPr>
            <a:r>
              <a:rPr sz="1050" b="0" u="none">
                <a:solidFill>
                  <a:srgbClr val="62666C"/>
                </a:solidFill>
                <a:latin typeface="Noto Sans KR"/>
                <a:hlinkClick xmlns:ns19="http://schemas.openxmlformats.org/officeDocument/2006/relationships" ns19:id="rId2"/>
              </a:rPr>
              <a:t>2025-07 ~ 2026-06</a:t>
            </a:r>
          </a:p>
        </p:txBody>
      </p:sp>
      <p:sp xmlns:a="http://schemas.openxmlformats.org/drawingml/2006/main">
        <p:nvSpPr>
          <p:cNvPr id="16" name="reference-11"/>
          <p:cNvSpPr txBox="1"/>
          <p:nvPr/>
        </p:nvSpPr>
        <p:spPr>
          <a:xfrm>
            <a:off x="1009650" y="7443788"/>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0="http://schemas.openxmlformats.org/officeDocument/2006/relationships" ns20:id="rId2"/>
              </a:rPr>
              <a:t>관측 데이터 D12 한국관광 데이터랩 공식 다운로드 ·</a:t>
            </a:r>
          </a:p>
          <a:p>
            <a:pPr eaLnBrk="0">
              <a:lnSpc>
                <a:spcPts val="1359"/>
              </a:lnSpc>
              <a:spcBef>
                <a:spcPts val="0"/>
              </a:spcBef>
              <a:spcAft>
                <a:spcPts val="0"/>
              </a:spcAft>
            </a:pPr>
            <a:r>
              <a:rPr sz="1087" b="0" u="none">
                <a:solidFill>
                  <a:srgbClr val="62666C"/>
                </a:solidFill>
                <a:latin typeface="Noto Sans KR"/>
                <a:hlinkClick xmlns:ns21="http://schemas.openxmlformats.org/officeDocument/2006/relationships" ns21:id="rId2"/>
              </a:rPr>
              <a:t>제주특별자치도_제주시/방문자/2025_01_12.zip 2025-07 ~ 2026-06</a:t>
            </a:r>
          </a:p>
        </p:txBody>
      </p:sp>
      <p:sp xmlns:a="http://schemas.openxmlformats.org/drawingml/2006/main">
        <p:nvSpPr>
          <p:cNvPr id="17" name="reference-12"/>
          <p:cNvSpPr txBox="1"/>
          <p:nvPr/>
        </p:nvSpPr>
        <p:spPr>
          <a:xfrm>
            <a:off x="548640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2="http://schemas.openxmlformats.org/officeDocument/2006/relationships" ns22:id="rId2"/>
              </a:rPr>
              <a:t>관측 데이터 D13 한국관광 데이터랩 공식 다운로드 ·</a:t>
            </a:r>
          </a:p>
          <a:p>
            <a:pPr eaLnBrk="0">
              <a:lnSpc>
                <a:spcPts val="1312"/>
              </a:lnSpc>
              <a:spcBef>
                <a:spcPts val="0"/>
              </a:spcBef>
              <a:spcAft>
                <a:spcPts val="0"/>
              </a:spcAft>
            </a:pPr>
            <a:r>
              <a:rPr sz="1050" b="0" u="none">
                <a:solidFill>
                  <a:srgbClr val="62666C"/>
                </a:solidFill>
                <a:latin typeface="Noto Sans KR"/>
                <a:hlinkClick xmlns:ns23="http://schemas.openxmlformats.org/officeDocument/2006/relationships" ns23:id="rId2"/>
              </a:rPr>
              <a:t>제주특별자치도_제주시/관광소비/2025_01_12.zip</a:t>
            </a:r>
          </a:p>
          <a:p>
            <a:pPr eaLnBrk="0">
              <a:lnSpc>
                <a:spcPts val="1312"/>
              </a:lnSpc>
              <a:spcBef>
                <a:spcPts val="0"/>
              </a:spcBef>
              <a:spcAft>
                <a:spcPts val="0"/>
              </a:spcAft>
            </a:pPr>
            <a:r>
              <a:rPr sz="1050" b="0" u="none">
                <a:solidFill>
                  <a:srgbClr val="62666C"/>
                </a:solidFill>
                <a:latin typeface="Noto Sans KR"/>
                <a:hlinkClick xmlns:ns24="http://schemas.openxmlformats.org/officeDocument/2006/relationships" ns24:id="rId2"/>
              </a:rPr>
              <a:t>2025-07 ~ 2026-06</a:t>
            </a:r>
          </a:p>
        </p:txBody>
      </p:sp>
      <p:sp xmlns:a="http://schemas.openxmlformats.org/drawingml/2006/main">
        <p:nvSpPr>
          <p:cNvPr id="18" name="reference-13"/>
          <p:cNvSpPr txBox="1"/>
          <p:nvPr/>
        </p:nvSpPr>
        <p:spPr>
          <a:xfrm>
            <a:off x="548640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5="http://schemas.openxmlformats.org/officeDocument/2006/relationships" ns25:id="rId2"/>
              </a:rPr>
              <a:t>관측 데이터 D14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6="http://schemas.openxmlformats.org/officeDocument/2006/relationships" ns26:id="rId2"/>
              </a:rPr>
              <a:t>이동통신/내국인/지역별</a:t>
            </a:r>
          </a:p>
          <a:p>
            <a:pPr eaLnBrk="0">
              <a:lnSpc>
                <a:spcPts val="1312"/>
              </a:lnSpc>
              <a:spcBef>
                <a:spcPts val="0"/>
              </a:spcBef>
              <a:spcAft>
                <a:spcPts val="0"/>
              </a:spcAft>
            </a:pPr>
            <a:r>
              <a:rPr sz="1050" b="0" u="none">
                <a:solidFill>
                  <a:srgbClr val="62666C"/>
                </a:solidFill>
                <a:latin typeface="Noto Sans KR"/>
                <a:hlinkClick xmlns:ns27="http://schemas.openxmlformats.org/officeDocument/2006/relationships" ns27:id="rId2"/>
              </a:rPr>
              <a:t>방문자수/20260820140607__202601-202606_데이터랩_다운로드.zi</a:t>
            </a:r>
          </a:p>
          <a:p>
            <a:pPr eaLnBrk="0">
              <a:lnSpc>
                <a:spcPts val="1312"/>
              </a:lnSpc>
              <a:spcBef>
                <a:spcPts val="0"/>
              </a:spcBef>
              <a:spcAft>
                <a:spcPts val="0"/>
              </a:spcAft>
            </a:pPr>
            <a:r>
              <a:rPr sz="1050" b="0" u="none">
                <a:solidFill>
                  <a:srgbClr val="62666C"/>
                </a:solidFill>
                <a:latin typeface="Noto Sans KR"/>
                <a:hlinkClick xmlns:ns28="http://schemas.openxmlformats.org/officeDocument/2006/relationships" ns28:id="rId2"/>
              </a:rPr>
              <a:t>p 2026-01 ~ 2026-06</a:t>
            </a:r>
          </a:p>
        </p:txBody>
      </p:sp>
      <p:sp xmlns:a="http://schemas.openxmlformats.org/drawingml/2006/main">
        <p:nvSpPr>
          <p:cNvPr id="19" name="reference-14"/>
          <p:cNvSpPr txBox="1"/>
          <p:nvPr/>
        </p:nvSpPr>
        <p:spPr>
          <a:xfrm>
            <a:off x="5486400" y="387905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9="http://schemas.openxmlformats.org/officeDocument/2006/relationships" ns29:id="rId2"/>
              </a:rPr>
              <a:t>관측 데이터 D15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0="http://schemas.openxmlformats.org/officeDocument/2006/relationships" ns30:id="rId2"/>
              </a:rPr>
              <a:t>이동통신/외국인/20260820141710_전국_202601-202606_데이터랩_</a:t>
            </a:r>
          </a:p>
          <a:p>
            <a:pPr eaLnBrk="0">
              <a:lnSpc>
                <a:spcPts val="1312"/>
              </a:lnSpc>
              <a:spcBef>
                <a:spcPts val="0"/>
              </a:spcBef>
              <a:spcAft>
                <a:spcPts val="0"/>
              </a:spcAft>
            </a:pPr>
            <a:r>
              <a:rPr sz="1050" b="0" u="none">
                <a:solidFill>
                  <a:srgbClr val="62666C"/>
                </a:solidFill>
                <a:latin typeface="Noto Sans KR"/>
                <a:hlinkClick xmlns:ns31="http://schemas.openxmlformats.org/officeDocument/2006/relationships" ns31:id="rId2"/>
              </a:rPr>
              <a:t>다운로드.zip 2026-01 ~ 2026-06</a:t>
            </a:r>
          </a:p>
        </p:txBody>
      </p:sp>
      <p:sp xmlns:a="http://schemas.openxmlformats.org/drawingml/2006/main">
        <p:nvSpPr>
          <p:cNvPr id="20" name="reference-15"/>
          <p:cNvSpPr txBox="1"/>
          <p:nvPr/>
        </p:nvSpPr>
        <p:spPr>
          <a:xfrm>
            <a:off x="5486400" y="449103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2="http://schemas.openxmlformats.org/officeDocument/2006/relationships" ns32:id="rId2"/>
              </a:rPr>
              <a:t>관측 데이터 D16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3="http://schemas.openxmlformats.org/officeDocument/2006/relationships" ns33:id="rId2"/>
              </a:rPr>
              <a:t>신용카드/내국인/지역별</a:t>
            </a:r>
          </a:p>
          <a:p>
            <a:pPr eaLnBrk="0">
              <a:lnSpc>
                <a:spcPts val="1312"/>
              </a:lnSpc>
              <a:spcBef>
                <a:spcPts val="0"/>
              </a:spcBef>
              <a:spcAft>
                <a:spcPts val="0"/>
              </a:spcAft>
            </a:pPr>
            <a:r>
              <a:rPr sz="1050" b="0" u="none">
                <a:solidFill>
                  <a:srgbClr val="62666C"/>
                </a:solidFill>
                <a:latin typeface="Noto Sans KR"/>
                <a:hlinkClick xmlns:ns34="http://schemas.openxmlformats.org/officeDocument/2006/relationships" ns34:id="rId2"/>
              </a:rPr>
              <a:t>관광지출액/20260820140046__202601-202606_데이터랩_다운로드.</a:t>
            </a:r>
          </a:p>
          <a:p>
            <a:pPr eaLnBrk="0">
              <a:lnSpc>
                <a:spcPts val="1312"/>
              </a:lnSpc>
              <a:spcBef>
                <a:spcPts val="0"/>
              </a:spcBef>
              <a:spcAft>
                <a:spcPts val="0"/>
              </a:spcAft>
            </a:pPr>
            <a:r>
              <a:rPr sz="1050" b="0" u="none">
                <a:solidFill>
                  <a:srgbClr val="62666C"/>
                </a:solidFill>
                <a:latin typeface="Noto Sans KR"/>
                <a:hlinkClick xmlns:ns35="http://schemas.openxmlformats.org/officeDocument/2006/relationships" ns35:id="rId2"/>
              </a:rPr>
              <a:t>zip 2026-01 ~ 2026-06</a:t>
            </a:r>
          </a:p>
        </p:txBody>
      </p:sp>
      <p:sp xmlns:a="http://schemas.openxmlformats.org/drawingml/2006/main">
        <p:nvSpPr>
          <p:cNvPr id="21" name="reference-16"/>
          <p:cNvSpPr txBox="1"/>
          <p:nvPr/>
        </p:nvSpPr>
        <p:spPr>
          <a:xfrm>
            <a:off x="5486400" y="528161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6="http://schemas.openxmlformats.org/officeDocument/2006/relationships" ns36:id="rId2"/>
              </a:rPr>
              <a:t>관측 데이터 D17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7="http://schemas.openxmlformats.org/officeDocument/2006/relationships" ns37:id="rId2"/>
              </a:rPr>
              <a:t>신용카드/외국인/지역별</a:t>
            </a:r>
          </a:p>
          <a:p>
            <a:pPr eaLnBrk="0">
              <a:lnSpc>
                <a:spcPts val="1312"/>
              </a:lnSpc>
              <a:spcBef>
                <a:spcPts val="0"/>
              </a:spcBef>
              <a:spcAft>
                <a:spcPts val="0"/>
              </a:spcAft>
            </a:pPr>
            <a:r>
              <a:rPr sz="1050" b="0" u="none">
                <a:solidFill>
                  <a:srgbClr val="62666C"/>
                </a:solidFill>
                <a:latin typeface="Noto Sans KR"/>
                <a:hlinkClick xmlns:ns38="http://schemas.openxmlformats.org/officeDocument/2006/relationships" ns38:id="rId2"/>
              </a:rPr>
              <a:t>관광지출액/20260820140355__202601-202606_데이터랩_다운로드.</a:t>
            </a:r>
          </a:p>
          <a:p>
            <a:pPr eaLnBrk="0">
              <a:lnSpc>
                <a:spcPts val="1312"/>
              </a:lnSpc>
              <a:spcBef>
                <a:spcPts val="0"/>
              </a:spcBef>
              <a:spcAft>
                <a:spcPts val="0"/>
              </a:spcAft>
            </a:pPr>
            <a:r>
              <a:rPr sz="1050" b="0" u="none">
                <a:solidFill>
                  <a:srgbClr val="62666C"/>
                </a:solidFill>
                <a:latin typeface="Noto Sans KR"/>
                <a:hlinkClick xmlns:ns39="http://schemas.openxmlformats.org/officeDocument/2006/relationships" ns39:id="rId2"/>
              </a:rPr>
              <a:t>zip 2026-01 ~ 2026-06</a:t>
            </a:r>
          </a:p>
        </p:txBody>
      </p:sp>
      <p:sp xmlns:a="http://schemas.openxmlformats.org/drawingml/2006/main">
        <p:nvSpPr>
          <p:cNvPr id="22" name="reference-17"/>
          <p:cNvSpPr txBox="1"/>
          <p:nvPr/>
        </p:nvSpPr>
        <p:spPr>
          <a:xfrm>
            <a:off x="5486400" y="607218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0="http://schemas.openxmlformats.org/officeDocument/2006/relationships" ns40:id="rId2"/>
              </a:rPr>
              <a:t>관측 데이터 D18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1="http://schemas.openxmlformats.org/officeDocument/2006/relationships" ns41:id="rId2"/>
              </a:rPr>
              <a:t>네비게이션/지역별</a:t>
            </a:r>
          </a:p>
          <a:p>
            <a:pPr eaLnBrk="0">
              <a:lnSpc>
                <a:spcPts val="1312"/>
              </a:lnSpc>
              <a:spcBef>
                <a:spcPts val="0"/>
              </a:spcBef>
              <a:spcAft>
                <a:spcPts val="0"/>
              </a:spcAft>
            </a:pPr>
            <a:r>
              <a:rPr sz="1050" b="0" u="none">
                <a:solidFill>
                  <a:srgbClr val="62666C"/>
                </a:solidFill>
                <a:latin typeface="Noto Sans KR"/>
                <a:hlinkClick xmlns:ns42="http://schemas.openxmlformats.org/officeDocument/2006/relationships" ns42:id="rId2"/>
              </a:rPr>
              <a:t>검색건수/20260820195507__202601-202606_데이터랩_다운로드.zi</a:t>
            </a:r>
          </a:p>
          <a:p>
            <a:pPr eaLnBrk="0">
              <a:lnSpc>
                <a:spcPts val="1312"/>
              </a:lnSpc>
              <a:spcBef>
                <a:spcPts val="0"/>
              </a:spcBef>
              <a:spcAft>
                <a:spcPts val="0"/>
              </a:spcAft>
            </a:pPr>
            <a:r>
              <a:rPr sz="1050" b="0" u="none">
                <a:solidFill>
                  <a:srgbClr val="62666C"/>
                </a:solidFill>
                <a:latin typeface="Noto Sans KR"/>
                <a:hlinkClick xmlns:ns43="http://schemas.openxmlformats.org/officeDocument/2006/relationships" ns43:id="rId2"/>
              </a:rPr>
              <a:t>p 2026-01 ~ 2026-06</a:t>
            </a:r>
          </a:p>
        </p:txBody>
      </p:sp>
      <p:sp xmlns:a="http://schemas.openxmlformats.org/drawingml/2006/main">
        <p:nvSpPr>
          <p:cNvPr id="23" name="reference-18"/>
          <p:cNvSpPr txBox="1"/>
          <p:nvPr/>
        </p:nvSpPr>
        <p:spPr>
          <a:xfrm>
            <a:off x="5486400" y="686276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4="http://schemas.openxmlformats.org/officeDocument/2006/relationships" ns44:id="rId2"/>
              </a:rPr>
              <a:t>관측 데이터 D19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5="http://schemas.openxmlformats.org/officeDocument/2006/relationships" ns45:id="rId2"/>
              </a:rPr>
              <a:t>이동통신/내국인/지역별</a:t>
            </a:r>
          </a:p>
          <a:p>
            <a:pPr eaLnBrk="0">
              <a:lnSpc>
                <a:spcPts val="1312"/>
              </a:lnSpc>
              <a:spcBef>
                <a:spcPts val="0"/>
              </a:spcBef>
              <a:spcAft>
                <a:spcPts val="0"/>
              </a:spcAft>
            </a:pPr>
            <a:r>
              <a:rPr sz="1050" b="0" u="none">
                <a:solidFill>
                  <a:srgbClr val="62666C"/>
                </a:solidFill>
                <a:latin typeface="Noto Sans KR"/>
                <a:hlinkClick xmlns:ns46="http://schemas.openxmlformats.org/officeDocument/2006/relationships" ns46:id="rId2"/>
              </a:rPr>
              <a:t>방문자수/20260820140614__202501-202512_데이터랩_다운로드.zi</a:t>
            </a:r>
          </a:p>
          <a:p>
            <a:pPr eaLnBrk="0">
              <a:lnSpc>
                <a:spcPts val="1312"/>
              </a:lnSpc>
              <a:spcBef>
                <a:spcPts val="0"/>
              </a:spcBef>
              <a:spcAft>
                <a:spcPts val="0"/>
              </a:spcAft>
            </a:pPr>
            <a:r>
              <a:rPr sz="1050" b="0" u="none">
                <a:solidFill>
                  <a:srgbClr val="62666C"/>
                </a:solidFill>
                <a:latin typeface="Noto Sans KR"/>
                <a:hlinkClick xmlns:ns47="http://schemas.openxmlformats.org/officeDocument/2006/relationships" ns47:id="rId2"/>
              </a:rPr>
              <a:t>p 2026-01 ~ 2026-06</a:t>
            </a:r>
          </a:p>
        </p:txBody>
      </p:sp>
      <p:sp xmlns:a="http://schemas.openxmlformats.org/drawingml/2006/main">
        <p:nvSpPr>
          <p:cNvPr id="24" name="reference-19"/>
          <p:cNvSpPr txBox="1"/>
          <p:nvPr/>
        </p:nvSpPr>
        <p:spPr>
          <a:xfrm>
            <a:off x="996315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8="http://schemas.openxmlformats.org/officeDocument/2006/relationships" ns48:id="rId2"/>
              </a:rPr>
              <a:t>관측 데이터 D20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9="http://schemas.openxmlformats.org/officeDocument/2006/relationships" ns49:id="rId2"/>
              </a:rPr>
              <a:t>이동통신/외국인/20260820141649_전국_202501-202512_데이터랩_</a:t>
            </a:r>
          </a:p>
          <a:p>
            <a:pPr eaLnBrk="0">
              <a:lnSpc>
                <a:spcPts val="1312"/>
              </a:lnSpc>
              <a:spcBef>
                <a:spcPts val="0"/>
              </a:spcBef>
              <a:spcAft>
                <a:spcPts val="0"/>
              </a:spcAft>
            </a:pPr>
            <a:r>
              <a:rPr sz="1050" b="0" u="none">
                <a:solidFill>
                  <a:srgbClr val="62666C"/>
                </a:solidFill>
                <a:latin typeface="Noto Sans KR"/>
                <a:hlinkClick xmlns:ns50="http://schemas.openxmlformats.org/officeDocument/2006/relationships" ns50:id="rId2"/>
              </a:rPr>
              <a:t>다운로드.zip 2026-01 ~ 2026-06</a:t>
            </a:r>
          </a:p>
        </p:txBody>
      </p:sp>
      <p:sp xmlns:a="http://schemas.openxmlformats.org/drawingml/2006/main">
        <p:nvSpPr>
          <p:cNvPr id="25" name="reference-20"/>
          <p:cNvSpPr txBox="1"/>
          <p:nvPr/>
        </p:nvSpPr>
        <p:spPr>
          <a:xfrm>
            <a:off x="996315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1="http://schemas.openxmlformats.org/officeDocument/2006/relationships" ns51:id="rId2"/>
              </a:rPr>
              <a:t>관측 데이터 D21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2="http://schemas.openxmlformats.org/officeDocument/2006/relationships" ns52:id="rId2"/>
              </a:rPr>
              <a:t>신용카드/내국인/지역별</a:t>
            </a:r>
          </a:p>
          <a:p>
            <a:pPr eaLnBrk="0">
              <a:lnSpc>
                <a:spcPts val="1312"/>
              </a:lnSpc>
              <a:spcBef>
                <a:spcPts val="0"/>
              </a:spcBef>
              <a:spcAft>
                <a:spcPts val="0"/>
              </a:spcAft>
            </a:pPr>
            <a:r>
              <a:rPr sz="1050" b="0" u="none">
                <a:solidFill>
                  <a:srgbClr val="62666C"/>
                </a:solidFill>
                <a:latin typeface="Noto Sans KR"/>
                <a:hlinkClick xmlns:ns53="http://schemas.openxmlformats.org/officeDocument/2006/relationships" ns53:id="rId2"/>
              </a:rPr>
              <a:t>관광지출액/20260820135957__202501-202512_데이터랩_다운로드.</a:t>
            </a:r>
          </a:p>
          <a:p>
            <a:pPr eaLnBrk="0">
              <a:lnSpc>
                <a:spcPts val="1312"/>
              </a:lnSpc>
              <a:spcBef>
                <a:spcPts val="0"/>
              </a:spcBef>
              <a:spcAft>
                <a:spcPts val="0"/>
              </a:spcAft>
            </a:pPr>
            <a:r>
              <a:rPr sz="1050" b="0" u="none">
                <a:solidFill>
                  <a:srgbClr val="62666C"/>
                </a:solidFill>
                <a:latin typeface="Noto Sans KR"/>
                <a:hlinkClick xmlns:ns54="http://schemas.openxmlformats.org/officeDocument/2006/relationships" ns54:id="rId2"/>
              </a:rPr>
              <a:t>zip 2026-01 ~ 2026-06</a:t>
            </a:r>
          </a:p>
        </p:txBody>
      </p:sp>
      <p:sp xmlns:a="http://schemas.openxmlformats.org/drawingml/2006/main">
        <p:nvSpPr>
          <p:cNvPr id="26" name="reference-21"/>
          <p:cNvSpPr txBox="1"/>
          <p:nvPr/>
        </p:nvSpPr>
        <p:spPr>
          <a:xfrm>
            <a:off x="9963150" y="387905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5="http://schemas.openxmlformats.org/officeDocument/2006/relationships" ns55:id="rId2"/>
              </a:rPr>
              <a:t>관측 데이터 D22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6="http://schemas.openxmlformats.org/officeDocument/2006/relationships" ns56:id="rId2"/>
              </a:rPr>
              <a:t>신용카드/외국인/지역별</a:t>
            </a:r>
          </a:p>
          <a:p>
            <a:pPr eaLnBrk="0">
              <a:lnSpc>
                <a:spcPts val="1312"/>
              </a:lnSpc>
              <a:spcBef>
                <a:spcPts val="0"/>
              </a:spcBef>
              <a:spcAft>
                <a:spcPts val="0"/>
              </a:spcAft>
            </a:pPr>
            <a:r>
              <a:rPr sz="1050" b="0" u="none">
                <a:solidFill>
                  <a:srgbClr val="62666C"/>
                </a:solidFill>
                <a:latin typeface="Noto Sans KR"/>
                <a:hlinkClick xmlns:ns57="http://schemas.openxmlformats.org/officeDocument/2006/relationships" ns57:id="rId2"/>
              </a:rPr>
              <a:t>관광지출액/20260820140409__202501-202512_데이터랩_다운로드.</a:t>
            </a:r>
          </a:p>
          <a:p>
            <a:pPr eaLnBrk="0">
              <a:lnSpc>
                <a:spcPts val="1312"/>
              </a:lnSpc>
              <a:spcBef>
                <a:spcPts val="0"/>
              </a:spcBef>
              <a:spcAft>
                <a:spcPts val="0"/>
              </a:spcAft>
            </a:pPr>
            <a:r>
              <a:rPr sz="1050" b="0" u="none">
                <a:solidFill>
                  <a:srgbClr val="62666C"/>
                </a:solidFill>
                <a:latin typeface="Noto Sans KR"/>
                <a:hlinkClick xmlns:ns58="http://schemas.openxmlformats.org/officeDocument/2006/relationships" ns58:id="rId2"/>
              </a:rPr>
              <a:t>zip 2026-01 ~ 2026-06</a:t>
            </a:r>
          </a:p>
        </p:txBody>
      </p:sp>
      <p:sp xmlns:a="http://schemas.openxmlformats.org/drawingml/2006/main">
        <p:nvSpPr>
          <p:cNvPr id="27" name="reference-22"/>
          <p:cNvSpPr txBox="1"/>
          <p:nvPr/>
        </p:nvSpPr>
        <p:spPr>
          <a:xfrm>
            <a:off x="9963150" y="466963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9="http://schemas.openxmlformats.org/officeDocument/2006/relationships" ns59:id="rId2"/>
              </a:rPr>
              <a:t>관측 데이터 D23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0="http://schemas.openxmlformats.org/officeDocument/2006/relationships" ns60:id="rId2"/>
              </a:rPr>
              <a:t>네비게이션/지역별</a:t>
            </a:r>
          </a:p>
          <a:p>
            <a:pPr eaLnBrk="0">
              <a:lnSpc>
                <a:spcPts val="1312"/>
              </a:lnSpc>
              <a:spcBef>
                <a:spcPts val="0"/>
              </a:spcBef>
              <a:spcAft>
                <a:spcPts val="0"/>
              </a:spcAft>
            </a:pPr>
            <a:r>
              <a:rPr sz="1050" b="0" u="none">
                <a:solidFill>
                  <a:srgbClr val="62666C"/>
                </a:solidFill>
                <a:latin typeface="Noto Sans KR"/>
                <a:hlinkClick xmlns:ns61="http://schemas.openxmlformats.org/officeDocument/2006/relationships" ns61:id="rId2"/>
              </a:rPr>
              <a:t>검색건수/20260820132007__202501-202512_데이터랩_다운로드.zi</a:t>
            </a:r>
          </a:p>
          <a:p>
            <a:pPr eaLnBrk="0">
              <a:lnSpc>
                <a:spcPts val="1312"/>
              </a:lnSpc>
              <a:spcBef>
                <a:spcPts val="0"/>
              </a:spcBef>
              <a:spcAft>
                <a:spcPts val="0"/>
              </a:spcAft>
            </a:pPr>
            <a:r>
              <a:rPr sz="1050" b="0" u="none">
                <a:solidFill>
                  <a:srgbClr val="62666C"/>
                </a:solidFill>
                <a:latin typeface="Noto Sans KR"/>
                <a:hlinkClick xmlns:ns62="http://schemas.openxmlformats.org/officeDocument/2006/relationships" ns62:id="rId2"/>
              </a:rPr>
              <a:t>p 2026-01 ~ 2026-06</a:t>
            </a:r>
          </a:p>
        </p:txBody>
      </p:sp>
      <p:sp xmlns:a="http://schemas.openxmlformats.org/drawingml/2006/main">
        <p:nvSpPr>
          <p:cNvPr id="28" name="reference-23"/>
          <p:cNvSpPr txBox="1"/>
          <p:nvPr/>
        </p:nvSpPr>
        <p:spPr>
          <a:xfrm>
            <a:off x="9963150" y="546020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3="http://schemas.openxmlformats.org/officeDocument/2006/relationships" ns63:id="rId2"/>
              </a:rPr>
              <a:t>관측 데이터 D24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4="http://schemas.openxmlformats.org/officeDocument/2006/relationships" ns64:id="rId2"/>
              </a:rPr>
              <a:t>이동통신/내국인/지역별</a:t>
            </a:r>
          </a:p>
          <a:p>
            <a:pPr eaLnBrk="0">
              <a:lnSpc>
                <a:spcPts val="1312"/>
              </a:lnSpc>
              <a:spcBef>
                <a:spcPts val="0"/>
              </a:spcBef>
              <a:spcAft>
                <a:spcPts val="0"/>
              </a:spcAft>
            </a:pPr>
            <a:r>
              <a:rPr sz="1050" b="0" u="none">
                <a:solidFill>
                  <a:srgbClr val="62666C"/>
                </a:solidFill>
                <a:latin typeface="Noto Sans KR"/>
                <a:hlinkClick xmlns:ns65="http://schemas.openxmlformats.org/officeDocument/2006/relationships" ns65:id="rId2"/>
              </a:rPr>
              <a:t>방문자수/20260820140624__202401-202412_데이터랩_다운로드.zi</a:t>
            </a:r>
          </a:p>
          <a:p>
            <a:pPr eaLnBrk="0">
              <a:lnSpc>
                <a:spcPts val="1312"/>
              </a:lnSpc>
              <a:spcBef>
                <a:spcPts val="0"/>
              </a:spcBef>
              <a:spcAft>
                <a:spcPts val="0"/>
              </a:spcAft>
            </a:pPr>
            <a:r>
              <a:rPr sz="1050" b="0" u="none">
                <a:solidFill>
                  <a:srgbClr val="62666C"/>
                </a:solidFill>
                <a:latin typeface="Noto Sans KR"/>
                <a:hlinkClick xmlns:ns66="http://schemas.openxmlformats.org/officeDocument/2006/relationships" ns66:id="rId2"/>
              </a:rPr>
              <a:t>p 2026-01 ~ 2026-06</a:t>
            </a:r>
          </a:p>
        </p:txBody>
      </p:sp>
      <p:sp xmlns:a="http://schemas.openxmlformats.org/drawingml/2006/main">
        <p:nvSpPr>
          <p:cNvPr id="29" name="reference-24"/>
          <p:cNvSpPr txBox="1"/>
          <p:nvPr/>
        </p:nvSpPr>
        <p:spPr>
          <a:xfrm>
            <a:off x="9963150" y="6250781"/>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7="http://schemas.openxmlformats.org/officeDocument/2006/relationships" ns67:id="rId2"/>
              </a:rPr>
              <a:t>관측 데이터 D25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8="http://schemas.openxmlformats.org/officeDocument/2006/relationships" ns68:id="rId2"/>
              </a:rPr>
              <a:t>이동통신/외국인/20260820141639_전국_202401-202412_데이터랩_</a:t>
            </a:r>
          </a:p>
          <a:p>
            <a:pPr eaLnBrk="0">
              <a:lnSpc>
                <a:spcPts val="1312"/>
              </a:lnSpc>
              <a:spcBef>
                <a:spcPts val="0"/>
              </a:spcBef>
              <a:spcAft>
                <a:spcPts val="0"/>
              </a:spcAft>
            </a:pPr>
            <a:r>
              <a:rPr sz="1050" b="0" u="none">
                <a:solidFill>
                  <a:srgbClr val="62666C"/>
                </a:solidFill>
                <a:latin typeface="Noto Sans KR"/>
                <a:hlinkClick xmlns:ns69="http://schemas.openxmlformats.org/officeDocument/2006/relationships" ns69:id="rId2"/>
              </a:rPr>
              <a:t>다운로드.zip 2026-01 ~ 2026-06</a:t>
            </a:r>
          </a:p>
        </p:txBody>
      </p:sp>
      <p:sp xmlns:a="http://schemas.openxmlformats.org/drawingml/2006/main">
        <p:nvSpPr>
          <p:cNvPr id="30" name="reference-25"/>
          <p:cNvSpPr txBox="1"/>
          <p:nvPr/>
        </p:nvSpPr>
        <p:spPr>
          <a:xfrm>
            <a:off x="9963150" y="6862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0="http://schemas.openxmlformats.org/officeDocument/2006/relationships" ns70:id="rId2"/>
              </a:rPr>
              <a:t>관측 데이터 D26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1="http://schemas.openxmlformats.org/officeDocument/2006/relationships" ns71:id="rId2"/>
              </a:rPr>
              <a:t>유입유출 2025-07 ~ 2026-06</a:t>
            </a:r>
          </a:p>
        </p:txBody>
      </p:sp>
      <p:sp xmlns:a="http://schemas.openxmlformats.org/drawingml/2006/main">
        <p:nvSpPr>
          <p:cNvPr id="31" name="reference-26"/>
          <p:cNvSpPr txBox="1"/>
          <p:nvPr/>
        </p:nvSpPr>
        <p:spPr>
          <a:xfrm>
            <a:off x="9963150" y="72961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2="http://schemas.openxmlformats.org/officeDocument/2006/relationships" ns72:id="rId2"/>
              </a:rPr>
              <a:t>관측 데이터 D27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3="http://schemas.openxmlformats.org/officeDocument/2006/relationships" ns73:id="rId2"/>
              </a:rPr>
              <a:t>인기관광지 2025-07 ~ 2026-06</a:t>
            </a:r>
          </a:p>
        </p:txBody>
      </p:sp>
      <p:sp xmlns:a="http://schemas.openxmlformats.org/drawingml/2006/main">
        <p:nvSpPr>
          <p:cNvPr id="3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xmlns:a="http://schemas.openxmlformats.org/drawingml/2006/main">
        <p:nvSpPr>
          <p:cNvPr id="34"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15 / 17</a:t>
            </a:r>
          </a:p>
        </p:txBody>
      </p:sp>
    </p:spTree>
    <p:extLst>
      <p:ext uri="{BB962C8B-B14F-4D97-AF65-F5344CB8AC3E}">
        <p14:creationId xmlns:p14="http://schemas.microsoft.com/office/powerpoint/2010/main" val="930694367"/>
      </p:ext>
    </p:extLst>
  </p:cSld>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6.2 근거·데이터·출처 계속</a:t>
            </a: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관측 데이터 D28 한국관광 데이터랩 지역별 관광 현황 · ·</a:t>
            </a:r>
          </a:p>
          <a:p>
            <a:pPr eaLnBrk="0">
              <a:lnSpc>
                <a:spcPts val="1265"/>
              </a:lnSpc>
              <a:spcBef>
                <a:spcPts val="0"/>
              </a:spcBef>
              <a:spcAft>
                <a:spcPts val="0"/>
              </a:spcAft>
            </a:pPr>
            <a:r>
              <a:rPr sz="1012" b="0" u="none">
                <a:solidFill>
                  <a:srgbClr val="62666C"/>
                </a:solidFill>
                <a:latin typeface="Noto Sans KR"/>
                <a:hlinkClick r:id="rId2"/>
              </a:rPr>
              <a:t>지역집중률 2025-07 ~ 2026-06</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방문자 수 RandomForestRegressor</a:t>
            </a:r>
          </a:p>
          <a:p>
            <a:pPr eaLnBrk="0">
              <a:lnSpc>
                <a:spcPts val="1265"/>
              </a:lnSpc>
              <a:spcBef>
                <a:spcPts val="0"/>
              </a:spcBef>
              <a:spcAft>
                <a:spcPts val="0"/>
              </a:spcAft>
            </a:pPr>
            <a:r>
              <a:rPr sz="1012" b="0">
                <a:solidFill>
                  <a:srgbClr val="F50045"/>
                </a:solidFill>
                <a:latin typeface="Noto Sans KR"/>
              </a:rPr>
              <a:t>최종 월 3,370,793명</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관광소비액 LinearRegression 최종 월 1,493.67억 원</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숙박일수 전년동월 계절 기준선 최종 월 3.03일</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숙박방문자 비율 전년동월 계절 기준선 최종 월 22%</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체류시간 전년동월 계절 기준선 최종 월 2,289분</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내비게이션 검색량 전년동월 계절</a:t>
            </a:r>
          </a:p>
          <a:p>
            <a:pPr eaLnBrk="0">
              <a:lnSpc>
                <a:spcPts val="1265"/>
              </a:lnSpc>
              <a:spcBef>
                <a:spcPts val="0"/>
              </a:spcBef>
              <a:spcAft>
                <a:spcPts val="0"/>
              </a:spcAft>
            </a:pPr>
            <a:r>
              <a:rPr sz="1012" b="0">
                <a:solidFill>
                  <a:srgbClr val="F50045"/>
                </a:solidFill>
                <a:latin typeface="Noto Sans KR"/>
              </a:rPr>
              <a:t>기준선 최종 월 556,973건</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숙박 목적지 검색량 전년동월 계절</a:t>
            </a:r>
          </a:p>
          <a:p>
            <a:pPr eaLnBrk="0">
              <a:lnSpc>
                <a:spcPts val="1265"/>
              </a:lnSpc>
              <a:spcBef>
                <a:spcPts val="0"/>
              </a:spcBef>
              <a:spcAft>
                <a:spcPts val="0"/>
              </a:spcAft>
            </a:pPr>
            <a:r>
              <a:rPr sz="1012" b="0">
                <a:solidFill>
                  <a:srgbClr val="F50045"/>
                </a:solidFill>
                <a:latin typeface="Noto Sans KR"/>
              </a:rPr>
              <a:t>기준선 최종 월 75,858건</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D50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3"/>
              </a:rPr>
              <a:t>활성화 방안 · PDF 44쪽 외 7쪽 (8개 청크) datalab.visitkorea.or.kr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4"/>
              </a:rPr>
              <a:t>공식 사례·문서 D51 2024년 문화재야행 사업 예산</a:t>
            </a:r>
          </a:p>
          <a:p>
            <a:pPr eaLnBrk="0">
              <a:lnSpc>
                <a:spcPts val="1265"/>
              </a:lnSpc>
              <a:spcBef>
                <a:spcPts val="0"/>
              </a:spcBef>
              <a:spcAft>
                <a:spcPts val="0"/>
              </a:spcAft>
            </a:pPr>
            <a:r>
              <a:rPr sz="1012" b="0" u="none">
                <a:solidFill>
                  <a:srgbClr val="62666C"/>
                </a:solidFill>
                <a:latin typeface="Noto Sans KR"/>
                <a:hlinkClick r:id="rId4"/>
              </a:rPr>
              <a:t>확정자료 culture.seoul.go.kr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5"/>
              </a:rPr>
              <a:t>공식 사례·문서 D52 강진 반값여행 지역경제 효과</a:t>
            </a:r>
          </a:p>
          <a:p>
            <a:pPr eaLnBrk="0">
              <a:lnSpc>
                <a:spcPts val="1265"/>
              </a:lnSpc>
              <a:spcBef>
                <a:spcPts val="0"/>
              </a:spcBef>
              <a:spcAft>
                <a:spcPts val="0"/>
              </a:spcAft>
            </a:pPr>
            <a:r>
              <a:rPr sz="1012" b="0" u="none">
                <a:solidFill>
                  <a:srgbClr val="62666C"/>
                </a:solidFill>
                <a:latin typeface="Noto Sans KR"/>
                <a:hlinkClick r:id="rId5"/>
              </a:rPr>
              <a:t>소개 jnfarm.jeonnam.go.kr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6"/>
              </a:rPr>
              <a:t>공식 사례·문서 D53 2024년 6월 여행가는 달 추진</a:t>
            </a:r>
          </a:p>
          <a:p>
            <a:pPr eaLnBrk="0">
              <a:lnSpc>
                <a:spcPts val="1265"/>
              </a:lnSpc>
              <a:spcBef>
                <a:spcPts val="0"/>
              </a:spcBef>
              <a:spcAft>
                <a:spcPts val="0"/>
              </a:spcAft>
            </a:pPr>
            <a:r>
              <a:rPr sz="1012" b="0" u="none">
                <a:solidFill>
                  <a:srgbClr val="62666C"/>
                </a:solidFill>
                <a:latin typeface="Noto Sans KR"/>
                <a:hlinkClick r:id="rId6"/>
              </a:rPr>
              <a:t>보도자료 mcst.go.kr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7"/>
              </a:rPr>
              <a:t>공식 사례·문서 D54 2022 대한민국 숙박대전 경제파급효과</a:t>
            </a:r>
          </a:p>
          <a:p>
            <a:pPr eaLnBrk="0">
              <a:lnSpc>
                <a:spcPts val="1265"/>
              </a:lnSpc>
              <a:spcBef>
                <a:spcPts val="0"/>
              </a:spcBef>
              <a:spcAft>
                <a:spcPts val="0"/>
              </a:spcAft>
            </a:pPr>
            <a:r>
              <a:rPr sz="1012" b="0" u="none">
                <a:solidFill>
                  <a:srgbClr val="62666C"/>
                </a:solidFill>
                <a:latin typeface="Noto Sans KR"/>
                <a:hlinkClick r:id="rId7"/>
              </a:rPr>
              <a:t>공개자료 kto.visitkorea.or.kr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8"/>
              </a:rPr>
              <a:t>공식 사례·문서 D55 2025 대한민국 밤밤페스타 개최 도시 및</a:t>
            </a:r>
          </a:p>
          <a:p>
            <a:pPr eaLnBrk="0">
              <a:lnSpc>
                <a:spcPts val="1265"/>
              </a:lnSpc>
              <a:spcBef>
                <a:spcPts val="0"/>
              </a:spcBef>
              <a:spcAft>
                <a:spcPts val="0"/>
              </a:spcAft>
            </a:pPr>
            <a:r>
              <a:rPr sz="1012" b="0" u="none">
                <a:solidFill>
                  <a:srgbClr val="62666C"/>
                </a:solidFill>
                <a:latin typeface="Noto Sans KR"/>
                <a:hlinkClick r:id="rId8"/>
              </a:rPr>
              <a:t>일정 korean.visitkorea.or.kr</a:t>
            </a:r>
          </a:p>
        </p:txBody>
      </p:sp>
      <p:sp>
        <p:nvSpPr>
          <p:cNvPr id="19" name="reference-14"/>
          <p:cNvSpPr txBox="1"/>
          <p:nvPr/>
        </p:nvSpPr>
        <p:spPr>
          <a:xfrm>
            <a:off x="548640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D56 2024년도 정부업무평가 관광분야</a:t>
            </a:r>
          </a:p>
          <a:p>
            <a:pPr eaLnBrk="0">
              <a:lnSpc>
                <a:spcPts val="1265"/>
              </a:lnSpc>
              <a:spcBef>
                <a:spcPts val="0"/>
              </a:spcBef>
              <a:spcAft>
                <a:spcPts val="0"/>
              </a:spcAft>
            </a:pPr>
            <a:r>
              <a:rPr sz="1012" b="0" u="none">
                <a:solidFill>
                  <a:srgbClr val="62666C"/>
                </a:solidFill>
                <a:latin typeface="Noto Sans KR"/>
                <a:hlinkClick r:id="rId9"/>
              </a:rPr>
              <a:t>성과자료 www.evaluation.go.kr</a:t>
            </a:r>
          </a:p>
        </p:txBody>
      </p:sp>
      <p:sp>
        <p:nvSpPr>
          <p:cNvPr id="20" name="reference-15"/>
          <p:cNvSpPr txBox="1"/>
          <p:nvPr/>
        </p:nvSpPr>
        <p:spPr>
          <a:xfrm>
            <a:off x="5486400" y="3776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D30 가는곶 세화</a:t>
            </a:r>
          </a:p>
        </p:txBody>
      </p:sp>
      <p:sp>
        <p:nvSpPr>
          <p:cNvPr id="21" name="reference-16"/>
          <p:cNvSpPr txBox="1"/>
          <p:nvPr/>
        </p:nvSpPr>
        <p:spPr>
          <a:xfrm>
            <a:off x="548640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D31 가마오름</a:t>
            </a:r>
          </a:p>
        </p:txBody>
      </p:sp>
      <p:sp>
        <p:nvSpPr>
          <p:cNvPr id="22" name="reference-17"/>
          <p:cNvSpPr txBox="1"/>
          <p:nvPr/>
        </p:nvSpPr>
        <p:spPr>
          <a:xfrm>
            <a:off x="548640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D32 가새기오름</a:t>
            </a:r>
          </a:p>
        </p:txBody>
      </p:sp>
      <p:sp>
        <p:nvSpPr>
          <p:cNvPr id="23" name="reference-18"/>
          <p:cNvSpPr txBox="1"/>
          <p:nvPr/>
        </p:nvSpPr>
        <p:spPr>
          <a:xfrm>
            <a:off x="548640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D33 가시어멍김밥</a:t>
            </a:r>
          </a:p>
        </p:txBody>
      </p:sp>
      <p:sp>
        <p:nvSpPr>
          <p:cNvPr id="24" name="reference-19"/>
          <p:cNvSpPr txBox="1"/>
          <p:nvPr/>
        </p:nvSpPr>
        <p:spPr>
          <a:xfrm>
            <a:off x="5486400" y="4995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D34 갈치공장</a:t>
            </a:r>
          </a:p>
        </p:txBody>
      </p:sp>
      <p:sp>
        <p:nvSpPr>
          <p:cNvPr id="25" name="reference-20"/>
          <p:cNvSpPr txBox="1"/>
          <p:nvPr/>
        </p:nvSpPr>
        <p:spPr>
          <a:xfrm>
            <a:off x="5486400" y="5300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D35 개오리오름</a:t>
            </a:r>
          </a:p>
        </p:txBody>
      </p:sp>
      <p:sp>
        <p:nvSpPr>
          <p:cNvPr id="26" name="reference-21"/>
          <p:cNvSpPr txBox="1"/>
          <p:nvPr/>
        </p:nvSpPr>
        <p:spPr>
          <a:xfrm>
            <a:off x="5486400" y="5605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D36 거슨새미오름</a:t>
            </a:r>
          </a:p>
        </p:txBody>
      </p:sp>
      <p:sp>
        <p:nvSpPr>
          <p:cNvPr id="27" name="reference-22"/>
          <p:cNvSpPr txBox="1"/>
          <p:nvPr/>
        </p:nvSpPr>
        <p:spPr>
          <a:xfrm>
            <a:off x="5486400" y="5910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D37 경성수산</a:t>
            </a:r>
          </a:p>
        </p:txBody>
      </p:sp>
      <p:sp>
        <p:nvSpPr>
          <p:cNvPr id="28" name="reference-23"/>
          <p:cNvSpPr txBox="1"/>
          <p:nvPr/>
        </p:nvSpPr>
        <p:spPr>
          <a:xfrm>
            <a:off x="5486400" y="6215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D38 고내포구</a:t>
            </a:r>
          </a:p>
        </p:txBody>
      </p:sp>
      <p:sp>
        <p:nvSpPr>
          <p:cNvPr id="29" name="reference-24"/>
          <p:cNvSpPr txBox="1"/>
          <p:nvPr/>
        </p:nvSpPr>
        <p:spPr>
          <a:xfrm>
            <a:off x="5486400" y="6519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D39 고사리커피</a:t>
            </a:r>
          </a:p>
        </p:txBody>
      </p:sp>
      <p:sp>
        <p:nvSpPr>
          <p:cNvPr id="30" name="reference-25"/>
          <p:cNvSpPr txBox="1"/>
          <p:nvPr/>
        </p:nvSpPr>
        <p:spPr>
          <a:xfrm>
            <a:off x="5486400" y="6824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D40 고스트타운</a:t>
            </a:r>
          </a:p>
        </p:txBody>
      </p:sp>
      <p:sp>
        <p:nvSpPr>
          <p:cNvPr id="31" name="reference-26"/>
          <p:cNvSpPr txBox="1"/>
          <p:nvPr/>
        </p:nvSpPr>
        <p:spPr>
          <a:xfrm>
            <a:off x="5486400" y="7129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D41 고이정</a:t>
            </a:r>
          </a:p>
        </p:txBody>
      </p:sp>
      <p:sp>
        <p:nvSpPr>
          <p:cNvPr id="32" name="reference-27"/>
          <p:cNvSpPr txBox="1"/>
          <p:nvPr/>
        </p:nvSpPr>
        <p:spPr>
          <a:xfrm>
            <a:off x="5486400" y="7434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D42 고토커피바</a:t>
            </a:r>
          </a:p>
        </p:txBody>
      </p:sp>
      <p:sp>
        <p:nvSpPr>
          <p:cNvPr id="33" name="reference-28"/>
          <p:cNvSpPr txBox="1"/>
          <p:nvPr/>
        </p:nvSpPr>
        <p:spPr>
          <a:xfrm>
            <a:off x="5486400" y="7739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D43 골목식당</a:t>
            </a:r>
          </a:p>
        </p:txBody>
      </p:sp>
      <p:sp>
        <p:nvSpPr>
          <p:cNvPr id="34" name="reference-29"/>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D44 골목카페옥수</a:t>
            </a:r>
          </a:p>
        </p:txBody>
      </p:sp>
      <p:sp>
        <p:nvSpPr>
          <p:cNvPr id="35" name="reference-30"/>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D45 골체오름캠핑</a:t>
            </a:r>
          </a:p>
        </p:txBody>
      </p:sp>
      <p:sp>
        <p:nvSpPr>
          <p:cNvPr id="36" name="reference-31"/>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D46 곰막식당/곰막</a:t>
            </a:r>
          </a:p>
        </p:txBody>
      </p:sp>
      <p:sp>
        <p:nvSpPr>
          <p:cNvPr id="37" name="reference-32"/>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D47 곽지해수욕장</a:t>
            </a:r>
          </a:p>
        </p:txBody>
      </p:sp>
      <p:sp>
        <p:nvSpPr>
          <p:cNvPr id="38" name="reference-33"/>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D48 괴오름</a:t>
            </a:r>
          </a:p>
        </p:txBody>
      </p:sp>
      <p:sp>
        <p:nvSpPr>
          <p:cNvPr id="39" name="reference-34"/>
          <p:cNvSpPr txBox="1"/>
          <p:nvPr/>
        </p:nvSpPr>
        <p:spPr>
          <a:xfrm>
            <a:off x="9963150" y="4000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D49 교래 삼다수마을</a:t>
            </a:r>
          </a:p>
        </p:txBody>
      </p:sp>
      <p:sp>
        <p:nvSpPr>
          <p:cNvPr id="40" name="reference-35"/>
          <p:cNvSpPr txBox="1"/>
          <p:nvPr/>
        </p:nvSpPr>
        <p:spPr>
          <a:xfrm>
            <a:off x="9963150" y="4305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1"/>
              </a:rPr>
              <a:t>사례 실적 중구청 · 2023 정동야행 성공적 개최 (2023.10.15)</a:t>
            </a:r>
          </a:p>
        </p:txBody>
      </p:sp>
      <p:sp>
        <p:nvSpPr>
          <p:cNvPr id="41" name="reference-36"/>
          <p:cNvSpPr txBox="1"/>
          <p:nvPr/>
        </p:nvSpPr>
        <p:spPr>
          <a:xfrm>
            <a:off x="9963150" y="4610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2"/>
              </a:rPr>
              <a:t>사례 실적 중구청 · 2024 정동야행, 봄밤의 낭만 활짝 (2024.05.27)</a:t>
            </a:r>
          </a:p>
        </p:txBody>
      </p:sp>
      <p:sp>
        <p:nvSpPr>
          <p:cNvPr id="42" name="reference-37"/>
          <p:cNvSpPr txBox="1"/>
          <p:nvPr/>
        </p:nvSpPr>
        <p:spPr>
          <a:xfrm>
            <a:off x="9963150" y="4914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사례 실적 서울문화포털 · 2024 정동야행 행사 내용과 사진</a:t>
            </a:r>
          </a:p>
        </p:txBody>
      </p:sp>
      <p:sp>
        <p:nvSpPr>
          <p:cNvPr id="4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p:nvSpPr>
          <p:cNvPr id="45"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16 / 17</a:t>
            </a:r>
          </a:p>
        </p:txBody>
      </p:sp>
    </p:spTree>
  </p:cSld>
  <p:clrMapOvr>
    <a:masterClrMapping/>
  </p:clrMapOvr>
</p:sld>
</file>

<file path=ppt/slides/slide15.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82" r="25582"/>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62000" y="2619375"/>
            <a:ext cx="7715250" cy="1190625"/>
          </a:xfrm>
          <a:prstGeom prst="rect">
            <a:avLst/>
          </a:prstGeom>
          <a:noFill/>
        </p:spPr>
        <p:txBody>
          <a:bodyPr wrap="none" lIns="57150" rIns="57150" tIns="38100" bIns="38100" anchor="t">
            <a:noAutofit/>
          </a:bodyPr>
          <a:lstStyle/>
          <a:p>
            <a:pPr eaLnBrk="0">
              <a:lnSpc>
                <a:spcPts val="5437"/>
              </a:lnSpc>
              <a:spcBef>
                <a:spcPts val="0"/>
              </a:spcBef>
              <a:spcAft>
                <a:spcPts val="0"/>
              </a:spcAft>
            </a:pPr>
            <a:r>
              <a:rPr sz="4350" b="1">
                <a:solidFill>
                  <a:srgbClr val="FFFFFF"/>
                </a:solidFill>
                <a:latin typeface="Noto Sans KR"/>
              </a:rPr>
              <a:t>감사합니다</a:t>
            </a:r>
          </a:p>
        </p:txBody>
      </p:sp>
      <p:sp xmlns:a="http://schemas.openxmlformats.org/drawingml/2006/main">
        <p:nvSpPr>
          <p:cNvPr id="6" name="cover-title-line2"/>
          <p:cNvSpPr txBox="1"/>
          <p:nvPr/>
        </p:nvSpPr>
        <p:spPr>
          <a:xfrm>
            <a:off x="762000" y="3943350"/>
            <a:ext cx="7715250" cy="1352550"/>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FFFF"/>
                </a:solidFill>
                <a:latin typeface="Noto Sans KR"/>
              </a:rPr>
              <a:t>데이터로 확인하고,</a:t>
            </a:r>
          </a:p>
          <a:p>
            <a:pPr eaLnBrk="0">
              <a:lnSpc>
                <a:spcPts val="4500"/>
              </a:lnSpc>
              <a:spcBef>
                <a:spcPts val="0"/>
              </a:spcBef>
              <a:spcAft>
                <a:spcPts val="0"/>
              </a:spcAft>
            </a:pPr>
            <a:r>
              <a:rPr sz="3600" b="1">
                <a:solidFill>
                  <a:srgbClr val="FFFFFF"/>
                </a:solidFill>
                <a:latin typeface="Noto Sans KR"/>
              </a:rPr>
              <a:t>현장에서 완성합니다</a:t>
            </a:r>
          </a:p>
        </p:txBody>
      </p:sp>
      <p:sp xmlns:a="http://schemas.openxmlformats.org/drawingml/2006/main">
        <p:nvSpPr>
          <p:cNvPr id="8" name="org-title"/>
          <p:cNvSpPr txBox="1"/>
          <p:nvPr/>
        </p:nvSpPr>
        <p:spPr>
          <a:xfrm>
            <a:off x="762000" y="7239000"/>
            <a:ext cx="742950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제주특별자치도 제주시</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제주시 야간 문화유산 및 시설 개방 프로그램</a:t>
            </a:r>
          </a:p>
        </p:txBody>
      </p:sp>
      <p:sp xmlns:a="http://schemas.openxmlformats.org/drawingml/2006/main">
        <p:nvSpPr>
          <p:cNvPr id="10"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제주특별자치도 제주시 · 고내포구</a:t>
            </a:r>
          </a:p>
        </p:txBody>
      </p:sp>
    </p:spTree>
    <p:extLst>
      <p:ext uri="{BB962C8B-B14F-4D97-AF65-F5344CB8AC3E}">
        <p14:creationId xmlns:p14="http://schemas.microsoft.com/office/powerpoint/2010/main" val="655411831"/>
      </p:ext>
    </p:extLst>
  </p:cSld>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2.3 운영 규모와 산출 근거</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운영량을 먼저 제안하고, 참여와 추가 방문을 차례로 계산합니다</a:t>
            </a:r>
          </a:p>
        </p:txBody>
      </p:sp>
      <p:sp>
        <p:nvSpPr>
          <p:cNvPr id="5" name="capacity-stage-0"/>
          <p:cNvSpPr/>
          <p:nvPr/>
        </p:nvSpPr>
        <p:spPr>
          <a:xfrm>
            <a:off x="100965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capacity-icon-0" descr="database-blue.png"/>
          <p:cNvPicPr>
            <a:picLocks noChangeAspect="1"/>
          </p:cNvPicPr>
          <p:nvPr/>
        </p:nvPicPr>
        <p:blipFill>
          <a:blip r:embed="rId2"/>
          <a:stretch>
            <a:fillRect/>
          </a:stretch>
        </p:blipFill>
        <p:spPr>
          <a:xfrm>
            <a:off x="1219200" y="2809875"/>
            <a:ext cx="438150" cy="438150"/>
          </a:xfrm>
          <a:prstGeom prst="rect">
            <a:avLst/>
          </a:prstGeom>
        </p:spPr>
      </p:pic>
      <p:sp>
        <p:nvSpPr>
          <p:cNvPr id="7" name="capacity-label-0"/>
          <p:cNvSpPr txBox="1"/>
          <p:nvPr/>
        </p:nvSpPr>
        <p:spPr>
          <a:xfrm>
            <a:off x="178117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지역 관광 규모</a:t>
            </a:r>
          </a:p>
        </p:txBody>
      </p:sp>
      <p:sp>
        <p:nvSpPr>
          <p:cNvPr id="8" name="capacity-value-0"/>
          <p:cNvSpPr txBox="1"/>
          <p:nvPr/>
        </p:nvSpPr>
        <p:spPr>
          <a:xfrm>
            <a:off x="120015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월평균 352.7만 명</a:t>
            </a:r>
          </a:p>
        </p:txBody>
      </p:sp>
      <p:sp>
        <p:nvSpPr>
          <p:cNvPr id="9" name="capacity-detail-0"/>
          <p:cNvSpPr txBox="1"/>
          <p:nvPr/>
        </p:nvSpPr>
        <p:spPr>
          <a:xfrm>
            <a:off x="120015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저장 ML 방문 전망</a:t>
            </a:r>
          </a:p>
        </p:txBody>
      </p:sp>
      <p:cxnSp>
        <p:nvCxnSpPr>
          <p:cNvPr id="10" name="capacity-arrow-0-0"/>
          <p:cNvCxnSpPr/>
          <p:nvPr/>
        </p:nvCxnSpPr>
        <p:spPr>
          <a:xfrm>
            <a:off x="414337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1" name="capacity-stage-1"/>
          <p:cNvSpPr/>
          <p:nvPr/>
        </p:nvSpPr>
        <p:spPr>
          <a:xfrm>
            <a:off x="439102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capacity-icon-1" descr="map-pinned-blue.png"/>
          <p:cNvPicPr>
            <a:picLocks noChangeAspect="1"/>
          </p:cNvPicPr>
          <p:nvPr/>
        </p:nvPicPr>
        <p:blipFill>
          <a:blip r:embed="rId3"/>
          <a:stretch>
            <a:fillRect/>
          </a:stretch>
        </p:blipFill>
        <p:spPr>
          <a:xfrm>
            <a:off x="4600575" y="2809875"/>
            <a:ext cx="438150" cy="438150"/>
          </a:xfrm>
          <a:prstGeom prst="rect">
            <a:avLst/>
          </a:prstGeom>
        </p:spPr>
      </p:pic>
      <p:sp>
        <p:nvSpPr>
          <p:cNvPr id="13" name="capacity-label-1"/>
          <p:cNvSpPr txBox="1"/>
          <p:nvPr/>
        </p:nvSpPr>
        <p:spPr>
          <a:xfrm>
            <a:off x="516255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제안 운영 규모</a:t>
            </a:r>
          </a:p>
        </p:txBody>
      </p:sp>
      <p:sp>
        <p:nvSpPr>
          <p:cNvPr id="14" name="capacity-value-1"/>
          <p:cNvSpPr txBox="1"/>
          <p:nvPr/>
        </p:nvSpPr>
        <p:spPr>
          <a:xfrm>
            <a:off x="458152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F50045"/>
                </a:solidFill>
                <a:latin typeface="Noto Sans KR"/>
              </a:rPr>
              <a:t>6개 운영 거점</a:t>
            </a:r>
          </a:p>
        </p:txBody>
      </p:sp>
      <p:sp>
        <p:nvSpPr>
          <p:cNvPr id="15" name="capacity-detail-1"/>
          <p:cNvSpPr txBox="1"/>
          <p:nvPr/>
        </p:nvSpPr>
        <p:spPr>
          <a:xfrm>
            <a:off x="458152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월 8일 · 하루 2회</a:t>
            </a:r>
          </a:p>
        </p:txBody>
      </p:sp>
      <p:cxnSp>
        <p:nvCxnSpPr>
          <p:cNvPr id="16" name="capacity-arrow-1-0"/>
          <p:cNvCxnSpPr/>
          <p:nvPr/>
        </p:nvCxnSpPr>
        <p:spPr>
          <a:xfrm>
            <a:off x="7524750"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7" name="capacity-stage-2"/>
          <p:cNvSpPr/>
          <p:nvPr/>
        </p:nvSpPr>
        <p:spPr>
          <a:xfrm>
            <a:off x="777240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capacity-icon-2" descr="users-blue.png"/>
          <p:cNvPicPr>
            <a:picLocks noChangeAspect="1"/>
          </p:cNvPicPr>
          <p:nvPr/>
        </p:nvPicPr>
        <p:blipFill>
          <a:blip r:embed="rId4"/>
          <a:stretch>
            <a:fillRect/>
          </a:stretch>
        </p:blipFill>
        <p:spPr>
          <a:xfrm>
            <a:off x="7981950" y="2809875"/>
            <a:ext cx="438150" cy="438150"/>
          </a:xfrm>
          <a:prstGeom prst="rect">
            <a:avLst/>
          </a:prstGeom>
        </p:spPr>
      </p:pic>
      <p:sp>
        <p:nvSpPr>
          <p:cNvPr id="19" name="capacity-label-2"/>
          <p:cNvSpPr txBox="1"/>
          <p:nvPr/>
        </p:nvSpPr>
        <p:spPr>
          <a:xfrm>
            <a:off x="854392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참여 목표</a:t>
            </a:r>
          </a:p>
        </p:txBody>
      </p:sp>
      <p:sp>
        <p:nvSpPr>
          <p:cNvPr id="20" name="capacity-value-2"/>
          <p:cNvSpPr txBox="1"/>
          <p:nvPr/>
        </p:nvSpPr>
        <p:spPr>
          <a:xfrm>
            <a:off x="796290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187C70"/>
                </a:solidFill>
                <a:latin typeface="Noto Sans KR"/>
              </a:rPr>
              <a:t>7,488명</a:t>
            </a:r>
          </a:p>
        </p:txBody>
      </p:sp>
      <p:sp>
        <p:nvSpPr>
          <p:cNvPr id="21" name="capacity-detail-2"/>
          <p:cNvSpPr txBox="1"/>
          <p:nvPr/>
        </p:nvSpPr>
        <p:spPr>
          <a:xfrm>
            <a:off x="796290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편성 한도 11,520 × 이용률 65%</a:t>
            </a:r>
          </a:p>
        </p:txBody>
      </p:sp>
      <p:cxnSp>
        <p:nvCxnSpPr>
          <p:cNvPr id="22" name="capacity-arrow-2-0"/>
          <p:cNvCxnSpPr/>
          <p:nvPr/>
        </p:nvCxnSpPr>
        <p:spPr>
          <a:xfrm>
            <a:off x="1090612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23" name="capacity-stage-3"/>
          <p:cNvSpPr/>
          <p:nvPr/>
        </p:nvSpPr>
        <p:spPr>
          <a:xfrm>
            <a:off x="1115377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capacity-icon-3" descr="target-blue.png"/>
          <p:cNvPicPr>
            <a:picLocks noChangeAspect="1"/>
          </p:cNvPicPr>
          <p:nvPr/>
        </p:nvPicPr>
        <p:blipFill>
          <a:blip r:embed="rId5"/>
          <a:stretch>
            <a:fillRect/>
          </a:stretch>
        </p:blipFill>
        <p:spPr>
          <a:xfrm>
            <a:off x="11363325" y="2809875"/>
            <a:ext cx="438150" cy="438150"/>
          </a:xfrm>
          <a:prstGeom prst="rect">
            <a:avLst/>
          </a:prstGeom>
        </p:spPr>
      </p:pic>
      <p:sp>
        <p:nvSpPr>
          <p:cNvPr id="25" name="capacity-label-3"/>
          <p:cNvSpPr txBox="1"/>
          <p:nvPr/>
        </p:nvSpPr>
        <p:spPr>
          <a:xfrm>
            <a:off x="1192530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추가 방문 목표</a:t>
            </a:r>
          </a:p>
        </p:txBody>
      </p:sp>
      <p:sp>
        <p:nvSpPr>
          <p:cNvPr id="26" name="capacity-value-3"/>
          <p:cNvSpPr txBox="1"/>
          <p:nvPr/>
        </p:nvSpPr>
        <p:spPr>
          <a:xfrm>
            <a:off x="1134427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2,246명</a:t>
            </a:r>
          </a:p>
        </p:txBody>
      </p:sp>
      <p:sp>
        <p:nvSpPr>
          <p:cNvPr id="27" name="capacity-detail-3"/>
          <p:cNvSpPr txBox="1"/>
          <p:nvPr/>
        </p:nvSpPr>
        <p:spPr>
          <a:xfrm>
            <a:off x="1134427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 목표 × 추가 방문</a:t>
            </a:r>
          </a:p>
          <a:p>
            <a:pPr eaLnBrk="0">
              <a:lnSpc>
                <a:spcPts val="1875"/>
              </a:lnSpc>
              <a:spcBef>
                <a:spcPts val="0"/>
              </a:spcBef>
              <a:spcAft>
                <a:spcPts val="0"/>
              </a:spcAft>
            </a:pPr>
            <a:r>
              <a:rPr sz="1500" b="0">
                <a:solidFill>
                  <a:srgbClr val="62666C"/>
                </a:solidFill>
                <a:latin typeface="Noto Sans KR"/>
              </a:rPr>
              <a:t>비중 30%</a:t>
            </a:r>
          </a:p>
        </p:txBody>
      </p:sp>
      <p:sp>
        <p:nvSpPr>
          <p:cNvPr id="28" name="capacity-formula-panel"/>
          <p:cNvSpPr/>
          <p:nvPr/>
        </p:nvSpPr>
        <p:spPr>
          <a:xfrm>
            <a:off x="1009650" y="5238750"/>
            <a:ext cx="13220700" cy="1219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apacity-formula-label"/>
          <p:cNvSpPr txBox="1"/>
          <p:nvPr/>
        </p:nvSpPr>
        <p:spPr>
          <a:xfrm>
            <a:off x="1209675" y="5410200"/>
            <a:ext cx="23812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87C70"/>
                </a:solidFill>
                <a:latin typeface="Noto Sans KR"/>
              </a:rPr>
              <a:t>운영량 계산</a:t>
            </a:r>
          </a:p>
        </p:txBody>
      </p:sp>
      <p:sp>
        <p:nvSpPr>
          <p:cNvPr id="30" name="capacity-formula"/>
          <p:cNvSpPr txBox="1"/>
          <p:nvPr/>
        </p:nvSpPr>
        <p:spPr>
          <a:xfrm>
            <a:off x="3667125" y="5400675"/>
            <a:ext cx="10287000" cy="4572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6개 × 월 8일 × 3개월 × 하루 2회 × 회당 40명 = 11,520명분</a:t>
            </a:r>
          </a:p>
        </p:txBody>
      </p:sp>
      <p:sp>
        <p:nvSpPr>
          <p:cNvPr id="31" name="capacity-limit"/>
          <p:cNvSpPr txBox="1"/>
          <p:nvPr/>
        </p:nvSpPr>
        <p:spPr>
          <a:xfrm>
            <a:off x="3667125" y="5905500"/>
            <a:ext cx="10287000" cy="3619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편성 참여 한도 11,520명분 · 예상 견적 1.68억 원</a:t>
            </a:r>
          </a:p>
        </p:txBody>
      </p:sp>
      <p:sp>
        <p:nvSpPr>
          <p:cNvPr id="32" name="capacity-case"/>
          <p:cNvSpPr txBox="1"/>
          <p:nvPr/>
        </p:nvSpPr>
        <p:spPr>
          <a:xfrm>
            <a:off x="1009650" y="6715125"/>
            <a:ext cx="1809750" cy="3429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사례 근거</a:t>
            </a:r>
          </a:p>
        </p:txBody>
      </p:sp>
      <p:sp>
        <p:nvSpPr>
          <p:cNvPr id="33" name="capacity-case-name">
            <a:hlinkClick r:id="rId6"/>
          </p:cNvPr>
          <p:cNvSpPr txBox="1"/>
          <p:nvPr/>
        </p:nvSpPr>
        <p:spPr>
          <a:xfrm>
            <a:off x="2809875" y="6715125"/>
            <a:ext cx="11410950" cy="55245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202124"/>
                </a:solidFill>
                <a:latin typeface="Noto Sans KR"/>
              </a:rPr>
              <a:t>2024년 문화재야행 사업 예산 확정자료</a:t>
            </a:r>
          </a:p>
        </p:txBody>
      </p:sp>
      <p:sp>
        <p:nvSpPr>
          <p:cNvPr id="34" name="capacity-scale-rule"/>
          <p:cNvSpPr txBox="1"/>
          <p:nvPr/>
        </p:nvSpPr>
        <p:spPr>
          <a:xfrm>
            <a:off x="1009650" y="7343775"/>
            <a:ext cx="13220700" cy="4191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규모 규칙: √(월평균 방문 ÷ 10만)을 올림, 1~12개 거점으로 제안. 야간 문화·체험 운영일·회차·정원은 계획 가정.</a:t>
            </a:r>
          </a:p>
        </p:txBody>
      </p:sp>
      <p:sp>
        <p:nvSpPr>
          <p:cNvPr id="35" name="capacity-disclosure"/>
          <p:cNvSpPr txBox="1"/>
          <p:nvPr/>
        </p:nvSpPr>
        <p:spPr>
          <a:xfrm>
            <a:off x="1009650" y="7905750"/>
            <a:ext cx="13220700" cy="5429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사례는 운영 방식을 참고했습니다. 이용률 65%·추가 방문 비중 30%는 이번 기획의 가정입니다. 확보 시설 수·인구 보정·실제 사업 효과를 뜻하지 않습니다.</a:t>
            </a:r>
          </a:p>
        </p:txBody>
      </p:sp>
      <p:sp>
        <p:nvSpPr>
          <p:cNvPr id="36"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08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2.4 기대 변화의 시나리오</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같은 운영량에서 이용률과 추가 방문 비중을 달리한 계획 범위</a:t>
            </a:r>
          </a:p>
        </p:txBody>
      </p:sp>
      <p:sp>
        <p:nvSpPr>
          <p:cNvPr id="5" name="scenario-panel-0"/>
          <p:cNvSpPr/>
          <p:nvPr/>
        </p:nvSpPr>
        <p:spPr>
          <a:xfrm>
            <a:off x="1009650" y="25717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cenario-label-0"/>
          <p:cNvSpPr txBox="1"/>
          <p:nvPr/>
        </p:nvSpPr>
        <p:spPr>
          <a:xfrm>
            <a:off x="1238250" y="2752725"/>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7649B"/>
                </a:solidFill>
                <a:latin typeface="Noto Sans KR"/>
              </a:rPr>
              <a:t>추가 방문 목표 · 명</a:t>
            </a:r>
          </a:p>
        </p:txBody>
      </p:sp>
      <p:graphicFrame>
        <p:nvGraphicFramePr>
          <p:cNvPr id="7" name="operating-scenario-chart-0"/>
          <p:cNvGraphicFramePr>
            <a:graphicFrameLocks noGrp="1"/>
          </p:cNvGraphicFramePr>
          <p:nvPr/>
        </p:nvGraphicFramePr>
        <p:xfrm>
          <a:off x="1104900" y="3343275"/>
          <a:ext cx="6210300" cy="2857500"/>
        </p:xfrm>
        <a:graphic>
          <a:graphicData uri="http://schemas.openxmlformats.org/drawingml/2006/chart">
            <c:chart xmlns:c="http://schemas.openxmlformats.org/drawingml/2006/chart" r:id="rId2"/>
          </a:graphicData>
        </a:graphic>
      </p:graphicFrame>
      <p:sp>
        <p:nvSpPr>
          <p:cNvPr id="8" name="scenario-growth-0"/>
          <p:cNvSpPr txBox="1"/>
          <p:nvPr/>
        </p:nvSpPr>
        <p:spPr>
          <a:xfrm>
            <a:off x="1238250" y="6219825"/>
            <a:ext cx="5962650" cy="3810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27649B"/>
                </a:solidFill>
                <a:latin typeface="Noto Sans KR"/>
              </a:rPr>
              <a:t>기준 시나리오 · 기간 합계 ML 전망 대비 +0.02%</a:t>
            </a:r>
          </a:p>
        </p:txBody>
      </p:sp>
      <p:sp>
        <p:nvSpPr>
          <p:cNvPr id="9" name="scenario-panel-1"/>
          <p:cNvSpPr/>
          <p:nvPr/>
        </p:nvSpPr>
        <p:spPr>
          <a:xfrm>
            <a:off x="7810500" y="25717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cenario-label-1"/>
          <p:cNvSpPr txBox="1"/>
          <p:nvPr/>
        </p:nvSpPr>
        <p:spPr>
          <a:xfrm>
            <a:off x="8039100" y="2752725"/>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187C70"/>
                </a:solidFill>
                <a:latin typeface="Noto Sans KR"/>
              </a:rPr>
              <a:t>추가 소비 목표 · 만 원</a:t>
            </a:r>
          </a:p>
        </p:txBody>
      </p:sp>
      <p:graphicFrame>
        <p:nvGraphicFramePr>
          <p:cNvPr id="11" name="operating-scenario-chart-1"/>
          <p:cNvGraphicFramePr>
            <a:graphicFrameLocks noGrp="1"/>
          </p:cNvGraphicFramePr>
          <p:nvPr/>
        </p:nvGraphicFramePr>
        <p:xfrm>
          <a:off x="7905750" y="3343275"/>
          <a:ext cx="6210300" cy="2857500"/>
        </p:xfrm>
        <a:graphic>
          <a:graphicData uri="http://schemas.openxmlformats.org/drawingml/2006/chart">
            <c:chart xmlns:c="http://schemas.openxmlformats.org/drawingml/2006/chart" r:id="rId3"/>
          </a:graphicData>
        </a:graphic>
      </p:graphicFrame>
      <p:sp>
        <p:nvSpPr>
          <p:cNvPr id="12" name="scenario-growth-1"/>
          <p:cNvSpPr txBox="1"/>
          <p:nvPr/>
        </p:nvSpPr>
        <p:spPr>
          <a:xfrm>
            <a:off x="8039100" y="6219825"/>
            <a:ext cx="5962650" cy="3810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기준 시나리오 · 기간 합계 ML 전망 대비 +0.04%</a:t>
            </a:r>
          </a:p>
        </p:txBody>
      </p:sp>
      <p:sp>
        <p:nvSpPr>
          <p:cNvPr id="13" name="scenario-rates"/>
          <p:cNvSpPr txBox="1"/>
          <p:nvPr/>
        </p:nvSpPr>
        <p:spPr>
          <a:xfrm>
            <a:off x="1009650" y="6953250"/>
            <a:ext cx="13220700" cy="4286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이용률·추가 방문 비중 보수 50%·15% / 기준 65%·30% / 확대 80%·45%</a:t>
            </a:r>
          </a:p>
        </p:txBody>
      </p:sp>
      <p:sp>
        <p:nvSpPr>
          <p:cNvPr id="14" name="scenario-consumption-formula"/>
          <p:cNvSpPr txBox="1"/>
          <p:nvPr/>
        </p:nvSpPr>
        <p:spPr>
          <a:xfrm>
            <a:off x="1009650" y="7429500"/>
            <a:ext cx="13220700" cy="4572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소비 = 추가 방문 × 42,052원(ML 소비/방문 비율) + 기존 방문 참여 × 12,000원(추가 구매 가정)</a:t>
            </a:r>
          </a:p>
        </p:txBody>
      </p:sp>
      <p:sp>
        <p:nvSpPr>
          <p:cNvPr id="15" name="scenario-disclaimer"/>
          <p:cNvSpPr txBox="1"/>
          <p:nvPr/>
        </p:nvSpPr>
        <p:spPr>
          <a:xfrm>
            <a:off x="1009650" y="8048625"/>
            <a:ext cx="13220700" cy="4000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계획 가정을 바꾼 범위이며 통계적 신뢰구간이 아닙니다. 소비/방문 비율은 실측 객단가가 아니며 사업 효과는 사후 확인합니다.</a:t>
            </a:r>
          </a:p>
        </p:txBody>
      </p:sp>
      <p:sp>
        <p:nvSpPr>
          <p:cNvPr id="16"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09 / 17</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