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r="http://schemas.openxmlformats.org/officeDocument/2006/relationships" id="272" r:id="rId21"/>
    <p:sldId xmlns:r="http://schemas.openxmlformats.org/officeDocument/2006/relationships" id="262" r:id="R4c9d0e3030fa4c5f"/>
    <p:sldId xmlns:r="http://schemas.openxmlformats.org/officeDocument/2006/relationships" id="263" r:id="Rbbe47957bc6641c0"/>
    <p:sldId xmlns:r="http://schemas.openxmlformats.org/officeDocument/2006/relationships" id="271" r:id="rId17"/>
    <p:sldId xmlns:r="http://schemas.openxmlformats.org/officeDocument/2006/relationships" id="264" r:id="R72f63d3229d64861"/>
    <p:sldId xmlns:r="http://schemas.openxmlformats.org/officeDocument/2006/relationships" id="273" r:id="rId18"/>
    <p:sldId xmlns:r="http://schemas.openxmlformats.org/officeDocument/2006/relationships" id="274" r:id="rId22"/>
    <p:sldId xmlns:r="http://schemas.openxmlformats.org/officeDocument/2006/relationships" id="266" r:id="R029df0519ade4c8b"/>
    <p:sldId xmlns:r="http://schemas.openxmlformats.org/officeDocument/2006/relationships" id="268" r:id="rId19"/>
    <p:sldId xmlns:r="http://schemas.openxmlformats.org/officeDocument/2006/relationships" id="269" r:id="rId20"/>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4.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5.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6.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4.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방문자/2026_01_06.zip | https://datalab.visitkorea.or.kr/</a:t>
            </a:r>
          </a:p>
          <a:p xmlns:a="http://schemas.openxmlformats.org/drawingml/2006/main">
            <a:r>
              <a:t>datalab:4833a91757b2:5c2efa032440 | 숙박_체류시간/2026_01_06.zip | https://datalab.visitkorea.or.kr/</a:t>
            </a:r>
          </a:p>
          <a:p xmlns:a="http://schemas.openxmlformats.org/drawingml/2006/main">
            <a:r>
              <a:t>datalab:5d9f73f9fe47:2904d99e7279 | 숙박_체류시간/2025_01_12.zip | https://datalab.visitkorea.or.kr/</a:t>
            </a:r>
          </a:p>
          <a:p xmlns:a="http://schemas.openxmlformats.org/drawingml/2006/main">
            <a:r>
              <a:t>datalab:95122c38b4fc:522e2d839300 | 관광소비/2026_01_06.zip | https://datalab.visitkorea.or.kr/</a:t>
            </a:r>
          </a:p>
          <a:p xmlns:a="http://schemas.openxmlformats.org/drawingml/2006/main">
            <a:r>
              <a:t>datalab:d73227708014:f4517115deb9 | 방문자/2025_01_12.zip | https://datalab.visitkorea.or.kr/</a:t>
            </a:r>
          </a:p>
          <a:p xmlns:a="http://schemas.openxmlformats.org/drawingml/2006/main">
            <a:r>
              <a:t>datalab:f07ad8a73d99:ed1b998de1b3 | 관광소비/2025_01_12.zip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방문자/2026_01_06.zip | https://datalab.visitkorea.or.kr/</a:t>
            </a:r>
          </a:p>
          <a:p xmlns:a="http://schemas.openxmlformats.org/drawingml/2006/main">
            <a:r>
              <a:t>datalab:4833a91757b2:5c2efa032440 | 숙박_체류시간/2026_01_06.zip | https://datalab.visitkorea.or.kr/</a:t>
            </a:r>
          </a:p>
          <a:p xmlns:a="http://schemas.openxmlformats.org/drawingml/2006/main">
            <a:r>
              <a:t>datalab:5d9f73f9fe47:2904d99e7279 | 숙박_체류시간/2025_01_12.zip | https://datalab.visitkorea.or.kr/</a:t>
            </a:r>
          </a:p>
          <a:p xmlns:a="http://schemas.openxmlformats.org/drawingml/2006/main">
            <a:r>
              <a:t>datalab:95122c38b4fc:522e2d839300 | 관광소비/2026_01_06.zip | https://datalab.visitkorea.or.kr/</a:t>
            </a:r>
          </a:p>
          <a:p xmlns:a="http://schemas.openxmlformats.org/drawingml/2006/main">
            <a:r>
              <a:t>datalab:d73227708014:f4517115deb9 | 방문자/2025_01_12.zip | https://datalab.visitkorea.or.kr/</a:t>
            </a:r>
          </a:p>
          <a:p xmlns:a="http://schemas.openxmlformats.org/drawingml/2006/main">
            <a:r>
              <a:t>datalab:f07ad8a73d99:ed1b998de1b3 | 관광소비/2025_01_12.zip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방문자/2026_01_06.zip | https://datalab.visitkorea.or.kr/</a:t>
            </a:r>
          </a:p>
          <a:p xmlns:a="http://schemas.openxmlformats.org/drawingml/2006/main">
            <a:r>
              <a:t>datalab:4833a91757b2:5c2efa032440 | 숙박_체류시간/2026_01_06.zip | https://datalab.visitkorea.or.kr/</a:t>
            </a:r>
          </a:p>
          <a:p xmlns:a="http://schemas.openxmlformats.org/drawingml/2006/main">
            <a:r>
              <a:t>datalab:5d9f73f9fe47:2904d99e7279 | 숙박_체류시간/2025_01_12.zip | https://datalab.visitkorea.or.kr/</a:t>
            </a:r>
          </a:p>
          <a:p xmlns:a="http://schemas.openxmlformats.org/drawingml/2006/main">
            <a:r>
              <a:t>datalab:95122c38b4fc:522e2d839300 | 관광소비/2026_01_06.zip | https://datalab.visitkorea.or.kr/</a:t>
            </a:r>
          </a:p>
          <a:p xmlns:a="http://schemas.openxmlformats.org/drawingml/2006/main">
            <a:r>
              <a:t>datalab:d73227708014:f4517115deb9 | 방문자/2025_01_12.zip | https://datalab.visitkorea.or.kr/</a:t>
            </a:r>
          </a:p>
          <a:p xmlns:a="http://schemas.openxmlformats.org/drawingml/2006/main">
            <a:r>
              <a:t>datalab:f07ad8a73d99:ed1b998de1b3 | 관광소비/2025_01_12.zip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"title": "제주시 야간 문화유산 및 시설 개방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"case:4bac3530eca721, dataset:50110:1, dataset:50110:2, dataset:50110:4, dataset:50110:6",</a:t>
            </a:r>
          </a:p>
          <a:p xmlns:a="http://schemas.openxmlformats.org/drawingml/2006/main">
            <a:r>
              <a:t>    "priority": 1,</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"timeframe": "2026-10 ~ 2026-12, 3개월",</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"schedule": "2026-10",</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"기획팀이 야간 프로그램 콘텐츠를 기획하고, 운영팀이 현장 인력 배치 및 안전 관리 계획을 수립함",</a:t>
            </a:r>
          </a:p>
          <a:p xmlns:a="http://schemas.openxmlformats.org/drawingml/2006/main">
            <a:r>
              <a:t>        "schedule": "2026-10",</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예약 시스템 구축을 확인하고, 지역 상권 담당자가 인근 식음·상점 연계 프로모션을 설계함",</a:t>
            </a:r>
          </a:p>
          <a:p xmlns:a="http://schemas.openxmlformats.org/drawingml/2006/main">
            <a:r>
              <a:t>        "schedule": "2026-10",</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"schedule": "2026-11 ~ 2026-12",</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"데이터 분석 담당자가 이용 완료율 및 인근 상권 결제 데이터를 집계하여 성과를 검증함",</a:t>
            </a:r>
          </a:p>
          <a:p xmlns:a="http://schemas.openxmlformats.org/drawingml/2006/main">
            <a:r>
              <a:t>        "schedule": "2026-12",</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방문자/2026_01_06.zip | https://datalab.visitkorea.or.kr/</a:t>
            </a:r>
          </a:p>
          <a:p xmlns:a="http://schemas.openxmlformats.org/drawingml/2006/main">
            <a:r>
              <a:t>datalab:4833a91757b2:5c2efa032440 | 숙박_체류시간/2026_01_06.zip | https://datalab.visitkorea.or.kr/</a:t>
            </a:r>
          </a:p>
          <a:p xmlns:a="http://schemas.openxmlformats.org/drawingml/2006/main">
            <a:r>
              <a:t>datalab:5d9f73f9fe47:2904d99e7279 | 숙박_체류시간/2025_01_12.zip | https://datalab.visitkorea.or.kr/</a:t>
            </a:r>
          </a:p>
          <a:p xmlns:a="http://schemas.openxmlformats.org/drawingml/2006/main">
            <a:r>
              <a:t>datalab:95122c38b4fc:522e2d839300 | 관광소비/2026_01_06.zip | https://datalab.visitkorea.or.kr/</a:t>
            </a:r>
          </a:p>
          <a:p xmlns:a="http://schemas.openxmlformats.org/drawingml/2006/main">
            <a:r>
              <a:t>datalab:d73227708014:f4517115deb9 | 방문자/2025_01_12.zip | https://datalab.visitkorea.or.kr/</a:t>
            </a:r>
          </a:p>
          <a:p xmlns:a="http://schemas.openxmlformats.org/drawingml/2006/main">
            <a:r>
              <a:t>datalab:f07ad8a73d99:ed1b998de1b3 | 관광소비/2025_01_12.zip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"title": "제주시 야간 문화유산 및 시설 개방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"case:4bac3530eca721, dataset:50110:1, dataset:50110:2, dataset:50110:4, dataset:50110:6",</a:t>
            </a:r>
          </a:p>
          <a:p xmlns:a="http://schemas.openxmlformats.org/drawingml/2006/main">
            <a:r>
              <a:t>    "priority": 1,</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"timeframe": "2026-10 ~ 2026-12, 3개월",</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"schedule": "2026-10",</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"기획팀이 야간 프로그램 콘텐츠를 기획하고, 운영팀이 현장 인력 배치 및 안전 관리 계획을 수립함",</a:t>
            </a:r>
          </a:p>
          <a:p xmlns:a="http://schemas.openxmlformats.org/drawingml/2006/main">
            <a:r>
              <a:t>        "schedule": "2026-10",</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예약 시스템 구축을 확인하고, 지역 상권 담당자가 인근 식음·상점 연계 프로모션을 설계함",</a:t>
            </a:r>
          </a:p>
          <a:p xmlns:a="http://schemas.openxmlformats.org/drawingml/2006/main">
            <a:r>
              <a:t>        "schedule": "2026-10",</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"schedule": "2026-11 ~ 2026-12",</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"데이터 분석 담당자가 이용 완료율 및 인근 상권 결제 데이터를 집계하여 성과를 검증함",</a:t>
            </a:r>
          </a:p>
          <a:p xmlns:a="http://schemas.openxmlformats.org/drawingml/2006/main">
            <a:r>
              <a:t>        "schedule": "2026-12",</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방문자/2026_01_06.zip | https://datalab.visitkorea.or.kr/</a:t>
            </a:r>
          </a:p>
          <a:p>
            <a:r>
              <a:t>datalab:4833a91757b2:5c2efa032440 | 숙박_체류시간/2026_01_06.zip | https://datalab.visitkorea.or.kr/</a:t>
            </a:r>
          </a:p>
          <a:p>
            <a:r>
              <a:t>datalab:5d9f73f9fe47:2904d99e7279 | 숙박_체류시간/2025_01_12.zip | https://datalab.visitkorea.or.kr/</a:t>
            </a:r>
          </a:p>
          <a:p>
            <a:r>
              <a:t>datalab:95122c38b4fc:522e2d839300 | 관광소비/2026_01_06.zip | https://datalab.visitkorea.or.kr/</a:t>
            </a:r>
          </a:p>
          <a:p>
            <a:r>
              <a:t>datalab:d73227708014:f4517115deb9 | 방문자/2025_01_12.zip | https://datalab.visitkorea.or.kr/</a:t>
            </a:r>
          </a:p>
          <a:p>
            <a:r>
              <a:t>datalab:f07ad8a73d99:ed1b998de1b3 | 관광소비/2025_01_12.zip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"source_file_name": "제주특별자치도_제주시/방문자/2026_01_06.zip"</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"source_file_name": "제주특별자치도_제주시/숙박_체류시간/2026_01_06.zip"</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"source_file_name": "제주특별자치도_제주시/숙박_체류시간/2025_01_12.zip"</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"source_file_name": "제주특별자치도_제주시/관광소비/2026_01_06.zip"</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"source_file_name": "제주특별자치도_제주시/방문자/2025_01_12.zip"</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"source_file_name": "제주특별자치도_제주시/관광소비/2025_01_12.zip"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141219.0,</a:t>
            </a:r>
          </a:p>
          <a:p>
            <a:r>
              <a:t>            "selected": 265459.0,</a:t>
            </a:r>
          </a:p>
          <a:p>
            <a:r>
              <a:t>            "sample_count": 2</a:t>
            </a:r>
          </a:p>
          <a:p>
            <a:r>
              <a:t>          },</a:t>
            </a:r>
          </a:p>
          <a:p>
            <a:r>
              <a:t>          "2": {</a:t>
            </a:r>
          </a:p>
          <a:p>
            <a:r>
              <a:t>            "baseline": 144459.5,</a:t>
            </a:r>
          </a:p>
          <a:p>
            <a:r>
              <a:t>            "selected": 136814.0,</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11633402000.0,</a:t>
            </a:r>
          </a:p>
          <a:p>
            <a:r>
              <a:t>            "selected": 5070058833.0,</a:t>
            </a:r>
          </a:p>
          <a:p>
            <a:r>
              <a:t>            "sample_count": 2</a:t>
            </a:r>
          </a:p>
          <a:p>
            <a:r>
              <a:t>          },</a:t>
            </a:r>
          </a:p>
          <a:p>
            <a:r>
              <a:t>          "2": {</a:t>
            </a:r>
          </a:p>
          <a:p>
            <a:r>
              <a:t>            "baseline": 5588447000.0,</a:t>
            </a:r>
          </a:p>
          <a:p>
            <a:r>
              <a:t>            "selected": 2754801694.5,</a:t>
            </a:r>
          </a:p>
          <a:p>
            <a:r>
              <a:t>            "sample_count": 2</a:t>
            </a:r>
          </a:p>
          <a:p>
            <a:r>
              <a:t>          },</a:t>
            </a:r>
          </a:p>
          <a:p>
            <a:r>
              <a:t>          "3": {</a:t>
            </a:r>
          </a:p>
          <a:p>
            <a:r>
              <a:t>            "baseline": 5647526500.0,</a:t>
            </a:r>
          </a:p>
          <a:p>
            <a:r>
              <a:t>            "selected": 11586732430.5,</a:t>
            </a:r>
          </a:p>
          <a:p>
            <a:r>
              <a:t>            "sample_count": 2</a:t>
            </a:r>
          </a:p>
          <a:p>
            <a:r>
              <a:t>          }</a:t>
            </a:r>
          </a:p>
          <a:p>
            <a:r>
              <a:t>        },</a:t>
            </a:r>
          </a:p>
          <a:p>
            <a:r>
              <a:t>        "selected_model": "LinearRegression",</a:t>
            </a:r>
          </a:p>
          <a:p>
            <a:r>
              <a:t>        "baseline_test_mae": 8640464250.0,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41.0,</a:t>
            </a:r>
          </a:p>
          <a:p>
            <a:r>
              <a:t>            "selected": 41.0,</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9571.0,</a:t>
            </a:r>
          </a:p>
          <a:p>
            <a:r>
              <a:t>            "selected": 9571.0,</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19541.0,</a:t>
            </a:r>
          </a:p>
          <a:p>
            <a:r>
              <a:t>            "selected": 19541.0,</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"2024년 문화재야행 사업 예산 확정자료",</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"source_id": "case:4bac3530eca721",</a:t>
            </a:r>
          </a:p>
          <a:p xmlns:a="http://schemas.openxmlformats.org/drawingml/2006/main">
            <a:r>
              <a:t>      "source_url": "https://culture.seoul.go.kr/culture/cmmn/file/fileDown.do?atchFileId=c4638ecc9ce84bba9e51ecc2e11293e2&amp;bbsId=&amp;fileSn=2&amp;menuNo=200050",</a:t>
            </a:r>
          </a:p>
          <a:p xmlns:a="http://schemas.openxmlformats.org/drawingml/2006/main">
            <a:r>
              <a:t>      "case_region": "서울특별시 문화유산 집적지역",</a:t>
            </a:r>
          </a:p>
          <a:p xmlns:a="http://schemas.openxmlformats.org/drawingml/2006/main">
            <a:r>
              <a:t>      "source_type": "benchmark_case",</a:t>
            </a:r>
          </a:p>
          <a:p xmlns:a="http://schemas.openxmlformats.org/drawingml/2006/main">
            <a:r>
              <a:t>      "intervention": "기존 문화유산을 활용한 야간 개방·체험 프로그램",</a:t>
            </a:r>
          </a:p>
          <a:p xmlns:a="http://schemas.openxmlformats.org/drawingml/2006/main">
            <a:r>
              <a:t>      "document_type": null,</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"retrieval_method": "official_web_search",</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"published_or_updated_at": "2024",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"yeosu_night.jpg",</a:t>
            </a:r>
          </a:p>
          <a:p xmlns:a="http://schemas.openxmlformats.org/drawingml/2006/main">
            <a:r>
              <a:t>      "caption": "유사 사업 참고 · 전남 여수시 야경",</a:t>
            </a:r>
          </a:p>
          <a:p xmlns:a="http://schemas.openxmlformats.org/drawingml/2006/main">
            <a:r>
              <a:t>      "credit": "문화체육관광부 코리아넷 (2024)",</a:t>
            </a:r>
          </a:p>
          <a:p xmlns:a="http://schemas.openxmlformats.org/drawingml/2006/main">
            <a:r>
              <a:t>      "page_url": "https://www.korean-culture.org/koreanet/view.do?seq=1047457",</a:t>
            </a:r>
          </a:p>
          <a:p xmlns:a="http://schemas.openxmlformats.org/drawingml/2006/main">
            <a:r>
              <a:t>      "image_url": "https://www.korean-culture.org/CONTENTS/editImage/20240201110349153_XHMYP6Q1.jpg",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"사업 담당자가 제주시 내 야간 개방 가능 시설(박물관, 문화유산 등)을 전수 조사하고 시설 관리 주체와 운영 협약을 체결함", "schedule": "2026-10", "deliverable": "대상 시설 목록 및 운영 협약서(안)"}, {"step": 2, "task": "기획팀이 야간 프로그램 콘텐츠를 기획하고, 운영팀이 현장 인력 배치 및 안전 관리 계획을 수립함", "schedule": "2026-10", "deliverable": "프로그램 운영 매뉴얼 및 안전 관리 계획서"}, {"step": 3, "task": "운영팀이 예약 시스템 구축을 확인하고, 지역 상권 담당자가 인근 식음·상점 연계 프로모션을 설계함", "schedule": "2026-10", "deliverable": "예약 시스템 및 연계 상점 리스트"}, {"step": 4, "task": "현장 운영팀이 야간 체험 프로그램을 시범 운영하며, 사업 담당자가 주간 운영 결과 및 현장 모니터링을 수행함", "schedule": "2026-11 ~ 2026-12", "deliverable": "주간 운영 결과 보고서"}, {"step": 5, "task": "데이터 분석 담당자가 이용 완료율 및 인근 상권 결제 데이터를 집계하여 성과를 검증함", "schedule": "2026-12",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방문자/2026_01_06.zip | https://datalab.visitkorea.or.kr/</a:t>
            </a:r>
          </a:p>
          <a:p>
            <a:r>
              <a:t>datalab:4833a91757b2:5c2efa032440 | 숙박_체류시간/2026_01_06.zip | https://datalab.visitkorea.or.kr/</a:t>
            </a:r>
          </a:p>
          <a:p>
            <a:r>
              <a:t>datalab:5d9f73f9fe47:2904d99e7279 | 숙박_체류시간/2025_01_12.zip | https://datalab.visitkorea.or.kr/</a:t>
            </a:r>
          </a:p>
          <a:p>
            <a:r>
              <a:t>datalab:95122c38b4fc:522e2d839300 | 관광소비/2026_01_06.zip | https://datalab.visitkorea.or.kr/</a:t>
            </a:r>
          </a:p>
          <a:p>
            <a:r>
              <a:t>datalab:d73227708014:f4517115deb9 | 방문자/2025_01_12.zip | https://datalab.visitkorea.or.kr/</a:t>
            </a:r>
          </a:p>
          <a:p>
            <a:r>
              <a:t>datalab:f07ad8a73d99:ed1b998de1b3 | 관광소비/2025_01_12.zip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"source_file_name": "제주특별자치도_제주시/방문자/2026_01_06.zip"</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"source_file_name": "제주특별자치도_제주시/숙박_체류시간/2026_01_06.zip"</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"source_file_name": "제주특별자치도_제주시/숙박_체류시간/2025_01_12.zip"</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"source_file_name": "제주특별자치도_제주시/관광소비/2026_01_06.zip"</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"source_file_name": "제주특별자치도_제주시/방문자/2025_01_12.zip"</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"source_file_name": "제주특별자치도_제주시/관광소비/2025_01_12.zip"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141219.0,</a:t>
            </a:r>
          </a:p>
          <a:p>
            <a:r>
              <a:t>            "selected": 265459.0,</a:t>
            </a:r>
          </a:p>
          <a:p>
            <a:r>
              <a:t>            "sample_count": 2</a:t>
            </a:r>
          </a:p>
          <a:p>
            <a:r>
              <a:t>          },</a:t>
            </a:r>
          </a:p>
          <a:p>
            <a:r>
              <a:t>          "2": {</a:t>
            </a:r>
          </a:p>
          <a:p>
            <a:r>
              <a:t>            "baseline": 144459.5,</a:t>
            </a:r>
          </a:p>
          <a:p>
            <a:r>
              <a:t>            "selected": 136814.0,</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11633402000.0,</a:t>
            </a:r>
          </a:p>
          <a:p>
            <a:r>
              <a:t>            "selected": 5070058833.0,</a:t>
            </a:r>
          </a:p>
          <a:p>
            <a:r>
              <a:t>            "sample_count": 2</a:t>
            </a:r>
          </a:p>
          <a:p>
            <a:r>
              <a:t>          },</a:t>
            </a:r>
          </a:p>
          <a:p>
            <a:r>
              <a:t>          "2": {</a:t>
            </a:r>
          </a:p>
          <a:p>
            <a:r>
              <a:t>            "baseline": 5588447000.0,</a:t>
            </a:r>
          </a:p>
          <a:p>
            <a:r>
              <a:t>            "selected": 2754801694.5,</a:t>
            </a:r>
          </a:p>
          <a:p>
            <a:r>
              <a:t>            "sample_count": 2</a:t>
            </a:r>
          </a:p>
          <a:p>
            <a:r>
              <a:t>          },</a:t>
            </a:r>
          </a:p>
          <a:p>
            <a:r>
              <a:t>          "3": {</a:t>
            </a:r>
          </a:p>
          <a:p>
            <a:r>
              <a:t>            "baseline": 5647526500.0,</a:t>
            </a:r>
          </a:p>
          <a:p>
            <a:r>
              <a:t>            "selected": 11586732430.5,</a:t>
            </a:r>
          </a:p>
          <a:p>
            <a:r>
              <a:t>            "sample_count": 2</a:t>
            </a:r>
          </a:p>
          <a:p>
            <a:r>
              <a:t>          }</a:t>
            </a:r>
          </a:p>
          <a:p>
            <a:r>
              <a:t>        },</a:t>
            </a:r>
          </a:p>
          <a:p>
            <a:r>
              <a:t>        "selected_model": "LinearRegression",</a:t>
            </a:r>
          </a:p>
          <a:p>
            <a:r>
              <a:t>        "baseline_test_mae": 8640464250.0,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41.0,</a:t>
            </a:r>
          </a:p>
          <a:p>
            <a:r>
              <a:t>            "selected": 41.0,</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9571.0,</a:t>
            </a:r>
          </a:p>
          <a:p>
            <a:r>
              <a:t>            "selected": 9571.0,</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19541.0,</a:t>
            </a:r>
          </a:p>
          <a:p>
            <a:r>
              <a:t>            "selected": 19541.0,</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"months": 3,</a:t>
            </a:r>
          </a:p>
          <a:p>
            <a:r>
              <a:t>      "refund": false,</a:t>
            </a:r>
          </a:p>
          <a:p>
            <a:r>
              <a:t>      "status": "planning_assumption_not_quote",</a:t>
            </a:r>
          </a:p>
          <a:p>
            <a:r>
              <a:t>      "sources": [],</a:t>
            </a:r>
          </a:p>
          <a:p>
            <a:r>
              <a:t>      "version": "reference-estimate-v2",</a:t>
            </a:r>
          </a:p>
          <a:p>
            <a:r>
              <a:t>      "quantity": 3487,</a:t>
            </a:r>
          </a:p>
          <a:p>
            <a:r>
              <a:t>      "unit_krw": 10000,</a:t>
            </a:r>
          </a:p>
          <a:p>
            <a:r>
              <a:t>      "total_krw": 79057000,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7187000,</a:t>
            </a:r>
          </a:p>
          <a:p>
            <a:r>
              <a:t>      "scale_basis": "사업기간 추가 방문 목표 348,601명 × 시범 담당 비중 1% → 3,487건(올림). 1%는 직접 운영할 참여량 배분 가정이며 전환율 예측이 아닙니다.",</a:t>
            </a:r>
          </a:p>
          <a:p>
            <a:r>
              <a:t>      "subtotal_krw": 71870000,</a:t>
            </a:r>
          </a:p>
          <a:p>
            <a:r>
              <a:t>      "pilot_share_pct": 1,</a:t>
            </a:r>
          </a:p>
          <a:p>
            <a:r>
              <a:t>      "redemption_count": 2789,</a:t>
            </a:r>
          </a:p>
          <a:p>
            <a:r>
              <a:t>      "within_hard_budget": true,</a:t>
            </a:r>
          </a:p>
          <a:p>
            <a:r>
              <a:t>      "qualifying_spend_krw": null,</a:t>
            </a:r>
          </a:p>
          <a:p>
            <a:r>
              <a:t>      "redemption_target_pct": 80,</a:t>
            </a:r>
          </a:p>
          <a:p>
            <a:r>
              <a:t>      "additional_visitors_target": 348601.01666666754</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"months": 3,</a:t>
            </a:r>
          </a:p>
          <a:p>
            <a:r>
              <a:t>  "refund": false,</a:t>
            </a:r>
          </a:p>
          <a:p>
            <a:r>
              <a:t>  "status": "planning_assumption_not_quote",</a:t>
            </a:r>
          </a:p>
          <a:p>
            <a:r>
              <a:t>  "sources": [],</a:t>
            </a:r>
          </a:p>
          <a:p>
            <a:r>
              <a:t>  "version": "reference-estimate-v2",</a:t>
            </a:r>
          </a:p>
          <a:p>
            <a:r>
              <a:t>  "quantity": 3487,</a:t>
            </a:r>
          </a:p>
          <a:p>
            <a:r>
              <a:t>  "unit_krw": 10000,</a:t>
            </a:r>
          </a:p>
          <a:p>
            <a:r>
              <a:t>  "total_krw": 79057000,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7187000,</a:t>
            </a:r>
          </a:p>
          <a:p>
            <a:r>
              <a:t>  "scale_basis": "사업기간 추가 방문 목표 348,601명 × 시범 담당 비중 1% → 3,487건(올림). 1%는 직접 운영할 참여량 배분 가정이며 전환율 예측이 아닙니다.",</a:t>
            </a:r>
          </a:p>
          <a:p>
            <a:r>
              <a:t>  "subtotal_krw": 71870000,</a:t>
            </a:r>
          </a:p>
          <a:p>
            <a:r>
              <a:t>  "pilot_share_pct": 1,</a:t>
            </a:r>
          </a:p>
          <a:p>
            <a:r>
              <a:t>  "redemption_count": 2789,</a:t>
            </a:r>
          </a:p>
          <a:p>
            <a:r>
              <a:t>  "within_hard_budget": true,</a:t>
            </a:r>
          </a:p>
          <a:p>
            <a:r>
              <a:t>  "qualifying_spend_krw": null,</a:t>
            </a:r>
          </a:p>
          <a:p>
            <a:r>
              <a:t>  "redemption_target_pct": 80,</a:t>
            </a:r>
          </a:p>
          <a:p>
            <a:r>
              <a:t>  "additional_visitors_target": 348601.01666666754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방문자/2026_01_06.zip | https://datalab.visitkorea.or.kr/</a:t>
            </a:r>
          </a:p>
          <a:p xmlns:a="http://schemas.openxmlformats.org/drawingml/2006/main">
            <a:r>
              <a:t>datalab:4833a91757b2:5c2efa032440 | 숙박_체류시간/2026_01_06.zip | https://datalab.visitkorea.or.kr/</a:t>
            </a:r>
          </a:p>
          <a:p xmlns:a="http://schemas.openxmlformats.org/drawingml/2006/main">
            <a:r>
              <a:t>datalab:5d9f73f9fe47:2904d99e7279 | 숙박_체류시간/2025_01_12.zip | https://datalab.visitkorea.or.kr/</a:t>
            </a:r>
          </a:p>
          <a:p xmlns:a="http://schemas.openxmlformats.org/drawingml/2006/main">
            <a:r>
              <a:t>datalab:95122c38b4fc:522e2d839300 | 관광소비/2026_01_06.zip | https://datalab.visitkorea.or.kr/</a:t>
            </a:r>
          </a:p>
          <a:p xmlns:a="http://schemas.openxmlformats.org/drawingml/2006/main">
            <a:r>
              <a:t>datalab:d73227708014:f4517115deb9 | 방문자/2025_01_12.zip | https://datalab.visitkorea.or.kr/</a:t>
            </a:r>
          </a:p>
          <a:p xmlns:a="http://schemas.openxmlformats.org/drawingml/2006/main">
            <a:r>
              <a:t>datalab:f07ad8a73d99:ed1b998de1b3 | 관광소비/2025_01_12.zip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제주특별자치도 제주시 순 방문자 수 및 숙박 비율 (이동통신 기반 외지인)",</a:t>
            </a:r>
          </a:p>
          <a:p xmlns:a="http://schemas.openxmlformats.org/drawingml/2006/main">
            <a:r>
              <a:t>      "summary": "월간 순 방문자 수: 3,131,476명 (관측 기준월: 2026-06)",</a:t>
            </a:r>
          </a:p>
          <a:p xmlns:a="http://schemas.openxmlformats.org/drawingml/2006/main">
            <a:r>
              <a:t>      "source_id": "dataset:50110:1",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월간 순 방문자 수 (이동통신 기반 외지인)",</a:t>
            </a:r>
          </a:p>
          <a:p xmlns:a="http://schemas.openxmlformats.org/drawingml/2006/main">
            <a:r>
              <a:t>      "summary": "전년동월 외지인 방문자 증감률: -8.9% (관측 기준월: 2026-06)",</a:t>
            </a:r>
          </a:p>
          <a:p xmlns:a="http://schemas.openxmlformats.org/drawingml/2006/main">
            <a:r>
              <a:t>      "source_id": "dataset:50110:2",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관광소비 추이_외지인",</a:t>
            </a:r>
          </a:p>
          <a:p xmlns:a="http://schemas.openxmlformats.org/drawingml/2006/main">
            <a:r>
              <a:t>      "summary": "월간 외지인 관광소비 총액: 129,503,828,000원 (관측 기준월: 2026-06)",</a:t>
            </a:r>
          </a:p>
          <a:p xmlns:a="http://schemas.openxmlformats.org/drawingml/2006/main">
            <a:r>
              <a:t>      "source_id": "dataset:50110:3",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숙박방문자 비율 추이 (이동통신 기반 외지인)",</a:t>
            </a:r>
          </a:p>
          <a:p xmlns:a="http://schemas.openxmlformats.org/drawingml/2006/main">
            <a:r>
              <a:t>      "summary": "외지인 숙박 방문 비율: 21.0% (관측 기준월: 2026-06)",</a:t>
            </a:r>
          </a:p>
          <a:p xmlns:a="http://schemas.openxmlformats.org/drawingml/2006/main">
            <a:r>
              <a:t>      "source_id": "dataset:50110:4",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평균 숙박일 (이동통신 기반 외지인)",</a:t>
            </a:r>
          </a:p>
          <a:p xmlns:a="http://schemas.openxmlformats.org/drawingml/2006/main">
            <a:r>
              <a:t>      "summary": "외지인 평균 숙박일수: 3.13일 (관측 기준월: 2026-06)",</a:t>
            </a:r>
          </a:p>
          <a:p xmlns:a="http://schemas.openxmlformats.org/drawingml/2006/main">
            <a:r>
              <a:t>      "source_id": "dataset:50110:5",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내비게이션 목적지 유형별 검색량",</a:t>
            </a:r>
          </a:p>
          <a:p xmlns:a="http://schemas.openxmlformats.org/drawingml/2006/main">
            <a:r>
              <a:t>      "summary": "내비게이션 목적지 검색량: 580,380건 (관측 기준월: 2026-06)",</a:t>
            </a:r>
          </a:p>
          <a:p xmlns:a="http://schemas.openxmlformats.org/drawingml/2006/main">
            <a:r>
              <a:t>      "source_id": "dataset:50110:6",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SNS 언급량",</a:t>
            </a:r>
          </a:p>
          <a:p xmlns:a="http://schemas.openxmlformats.org/drawingml/2006/main">
            <a:r>
              <a:t>      "summary": "SNS 언급량: 138,652건 (관측 기준월: 2026-06)",</a:t>
            </a:r>
          </a:p>
          <a:p xmlns:a="http://schemas.openxmlformats.org/drawingml/2006/main">
            <a:r>
              <a:t>      "source_id": "dataset:50110:7",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제주특별자치도_제주시/방문자/2026_01_06.zip",</a:t>
            </a:r>
          </a:p>
          <a:p xmlns:a="http://schemas.openxmlformats.org/drawingml/2006/main">
            <a:r>
              <a:t>      "summary": "전국 비교 기준 기간: 2025-07 ~ 2026-06",</a:t>
            </a:r>
          </a:p>
          <a:p xmlns:a="http://schemas.openxmlformats.org/drawingml/2006/main">
            <a:r>
              <a:t>      "source_id": "datalab:3ec866bde028:27b141591f10",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"제주특별자치도_제주시/방문자/2026_01_06.zip"</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제주특별자치도_제주시/숙박_체류시간/2026_01_06.zip",</a:t>
            </a:r>
          </a:p>
          <a:p xmlns:a="http://schemas.openxmlformats.org/drawingml/2006/main">
            <a:r>
              <a:t>      "summary": "전국 비교 기준 기간: 2025-07 ~ 2026-06",</a:t>
            </a:r>
          </a:p>
          <a:p xmlns:a="http://schemas.openxmlformats.org/drawingml/2006/main">
            <a:r>
              <a:t>      "source_id": "datalab:4833a91757b2:5c2efa032440",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"제주특별자치도_제주시/숙박_체류시간/2026_01_06.zip"</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제주특별자치도_제주시/숙박_체류시간/2025_01_12.zip",</a:t>
            </a:r>
          </a:p>
          <a:p xmlns:a="http://schemas.openxmlformats.org/drawingml/2006/main">
            <a:r>
              <a:t>      "summary": "전국 비교 기준 기간: 2025-07 ~ 2026-06",</a:t>
            </a:r>
          </a:p>
          <a:p xmlns:a="http://schemas.openxmlformats.org/drawingml/2006/main">
            <a:r>
              <a:t>      "source_id": "datalab:5d9f73f9fe47:2904d99e7279",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"제주특별자치도_제주시/숙박_체류시간/2025_01_12.zip"</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제주특별자치도_제주시/관광소비/2026_01_06.zip",</a:t>
            </a:r>
          </a:p>
          <a:p xmlns:a="http://schemas.openxmlformats.org/drawingml/2006/main">
            <a:r>
              <a:t>      "summary": "전국 비교 기준 기간: 2025-07 ~ 2026-06",</a:t>
            </a:r>
          </a:p>
          <a:p xmlns:a="http://schemas.openxmlformats.org/drawingml/2006/main">
            <a:r>
              <a:t>      "source_id": "datalab:95122c38b4fc:522e2d839300",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"제주특별자치도_제주시/관광소비/2026_01_06.zip"</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제주특별자치도_제주시/방문자/2025_01_12.zip",</a:t>
            </a:r>
          </a:p>
          <a:p xmlns:a="http://schemas.openxmlformats.org/drawingml/2006/main">
            <a:r>
              <a:t>      "summary": "전국 비교 기준 기간: 2025-07 ~ 2026-06",</a:t>
            </a:r>
          </a:p>
          <a:p xmlns:a="http://schemas.openxmlformats.org/drawingml/2006/main">
            <a:r>
              <a:t>      "source_id": "datalab:d73227708014:f4517115deb9",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"제주특별자치도_제주시/방문자/2025_01_12.zip"</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제주특별자치도_제주시/관광소비/2025_01_12.zip",</a:t>
            </a:r>
          </a:p>
          <a:p xmlns:a="http://schemas.openxmlformats.org/drawingml/2006/main">
            <a:r>
              <a:t>      "summary": "전국 비교 기준 기간: 2025-07 ~ 2026-06",</a:t>
            </a:r>
          </a:p>
          <a:p xmlns:a="http://schemas.openxmlformats.org/drawingml/2006/main">
            <a:r>
              <a:t>      "source_id": "datalab:f07ad8a73d99:ed1b998de1b3",</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"제주특별자치도_제주시/관광소비/2025_01_12.zip"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"이동통신/내국인/지역별 방문자수/20260820140607__202601-202606_데이터랩_다운로드.zip"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"이동통신/외국인/20260820141710_전국_202601-202606_데이터랩_다운로드.zip"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"신용카드/내국인/지역별 관광지출액/20260820140046__202601-202606_데이터랩_다운로드.zip"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"신용카드/외국인/지역별 관광지출액/20260820140355__202601-202606_데이터랩_다운로드.zip"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"네비게이션/지역별 검색건수/20260820195507__202601-202606_데이터랩_다운로드.zip"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"이동통신/내국인/지역별 방문자수/20260820140614__202501-202512_데이터랩_다운로드.zip"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"이동통신/외국인/20260820141649_전국_202501-202512_데이터랩_다운로드.zip"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"신용카드/내국인/지역별 관광지출액/20260820135957__202501-202512_데이터랩_다운로드.zip"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"신용카드/외국인/지역별 관광지출액/20260820140409__202501-202512_데이터랩_다운로드.zip"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"네비게이션/지역별 검색건수/20260820132007__202501-202512_데이터랩_다운로드.zip"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"이동통신/내국인/지역별 방문자수/20260820140624__202401-202412_데이터랩_다운로드.zip"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"이동통신/외국인/20260820141639_전국_202401-202412_데이터랩_다운로드.zip"</a:t>
            </a:r>
          </a:p>
          <a:p xmlns:a="http://schemas.openxmlformats.org/drawingml/2006/main">
            <a:r>
              <a:t>    },</a:t>
            </a:r>
          </a:p>
          <a:p xmlns:a="http://schemas.openxmlformats.org/drawingml/2006/main">
            <a:r>
              <a:t>    {</a:t>
            </a:r>
          </a:p>
          <a:p xmlns:a="http://schemas.openxmlformats.org/drawingml/2006/main">
            <a:r>
              <a:t>      "title": "한국관광 데이터랩 지역별 관광 현황 · 제주특별자치도 제주시 · 유입유출",</a:t>
            </a:r>
          </a:p>
          <a:p xmlns:a="http://schemas.openxmlformats.org/drawingml/2006/main">
            <a:r>
              <a:t>      "summary": "관측 기간: 2025-07 ~ 2026-06. 유입·유출·인기장소 또는 30일 집중 운영 신호.",</a:t>
            </a:r>
          </a:p>
          <a:p xmlns:a="http://schemas.openxmlformats.org/drawingml/2006/main">
            <a:r>
              <a:t>      "source_id": "regional-status:9ac27e83f27b:e998409010f6",</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제주특별자치도 제주시 · 인기관광지",</a:t>
            </a:r>
          </a:p>
          <a:p xmlns:a="http://schemas.openxmlformats.org/drawingml/2006/main">
            <a:r>
              <a:t>      "summary": "관측 기간: 2025-07 ~ 2026-06. 유입·유출·인기장소 또는 30일 집중 운영 신호.",</a:t>
            </a:r>
          </a:p>
          <a:p xmlns:a="http://schemas.openxmlformats.org/drawingml/2006/main">
            <a:r>
              <a:t>      "source_id": "regional-status:daecd5ff8069:00c8b971be40",</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제주특별자치도 제주시 · 지역집중률",</a:t>
            </a:r>
          </a:p>
          <a:p xmlns:a="http://schemas.openxmlformats.org/drawingml/2006/main">
            <a:r>
              <a:t>      "summary": "관측 기간: 2025-07 ~ 2026-06. 유입·유출·인기장소 또는 30일 집중 운영 신호.",</a:t>
            </a:r>
          </a:p>
          <a:p xmlns:a="http://schemas.openxmlformats.org/drawingml/2006/main">
            <a:r>
              <a:t>      "source_id": "regional-status:dd0eaa9c763f:3aadcdcac2c5",</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"ml:50110:regional-demand-v3.1:202606",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"title": "가는곶 세화",</a:t>
            </a:r>
          </a:p>
          <a:p xmlns:a="http://schemas.openxmlformats.org/drawingml/2006/main">
            <a:r>
              <a:t>      "address": "제주특별자치도 제주시 구좌읍 세화14길 3",</a:t>
            </a:r>
          </a:p>
          <a:p xmlns:a="http://schemas.openxmlformats.org/drawingml/2006/main">
            <a:r>
              <a:t>      "summary": "한국관광공사 국문관광정보 API가 반환한 선택 지역 관광자원",</a:t>
            </a:r>
          </a:p>
          <a:p xmlns:a="http://schemas.openxmlformats.org/drawingml/2006/main">
            <a:r>
              <a:t>      "image_url": "http://tong.visitkorea.or.kr/cms/resource/05/2850905_image2_1.jpg",</a:t>
            </a:r>
          </a:p>
          <a:p xmlns:a="http://schemas.openxmlformats.org/drawingml/2006/main">
            <a:r>
              <a:t>      "source_id": "tour-api:2850913",</a:t>
            </a:r>
          </a:p>
          <a:p xmlns:a="http://schemas.openxmlformats.org/drawingml/2006/main">
            <a:r>
              <a:t>      "content_id": "2850913",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"가마오름",</a:t>
            </a:r>
          </a:p>
          <a:p xmlns:a="http://schemas.openxmlformats.org/drawingml/2006/main">
            <a:r>
              <a:t>      "address": "제주특별자치도 제주시 한경면 청수리",</a:t>
            </a:r>
          </a:p>
          <a:p xmlns:a="http://schemas.openxmlformats.org/drawingml/2006/main">
            <a:r>
              <a:t>      "summary": "한국관광공사 국문관광정보 API가 반환한 선택 지역 관광자원",</a:t>
            </a:r>
          </a:p>
          <a:p xmlns:a="http://schemas.openxmlformats.org/drawingml/2006/main">
            <a:r>
              <a:t>      "image_url": "http://tong.visitkorea.or.kr/cms/resource/72/3477972_image2_1.jpg",</a:t>
            </a:r>
          </a:p>
          <a:p xmlns:a="http://schemas.openxmlformats.org/drawingml/2006/main">
            <a:r>
              <a:t>      "source_id": "tour-api:1884191",</a:t>
            </a:r>
          </a:p>
          <a:p xmlns:a="http://schemas.openxmlformats.org/drawingml/2006/main">
            <a:r>
              <a:t>      "content_id": "1884191",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"가새기오름",</a:t>
            </a:r>
          </a:p>
          <a:p xmlns:a="http://schemas.openxmlformats.org/drawingml/2006/main">
            <a:r>
              <a:t>      "address": "제주특별자치도 제주시 오라삼동",</a:t>
            </a:r>
          </a:p>
          <a:p xmlns:a="http://schemas.openxmlformats.org/drawingml/2006/main">
            <a:r>
              <a:t>      "summary": "한국관광공사 국문관광정보 API가 반환한 선택 지역 관광자원",</a:t>
            </a:r>
          </a:p>
          <a:p xmlns:a="http://schemas.openxmlformats.org/drawingml/2006/main">
            <a:r>
              <a:t>      "image_url": "http://tong.visitkorea.or.kr/cms/resource/82/3477882_image2_1.jpg",</a:t>
            </a:r>
          </a:p>
          <a:p xmlns:a="http://schemas.openxmlformats.org/drawingml/2006/main">
            <a:r>
              <a:t>      "source_id": "tour-api:1884521",</a:t>
            </a:r>
          </a:p>
          <a:p xmlns:a="http://schemas.openxmlformats.org/drawingml/2006/main">
            <a:r>
              <a:t>      "content_id": "1884521",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"가시어멍김밥",</a:t>
            </a:r>
          </a:p>
          <a:p xmlns:a="http://schemas.openxmlformats.org/drawingml/2006/main">
            <a:r>
              <a:t>      "address": "제주특별자치도 제주시 월랑로 36",</a:t>
            </a:r>
          </a:p>
          <a:p xmlns:a="http://schemas.openxmlformats.org/drawingml/2006/main">
            <a:r>
              <a:t>      "summary": "한국관광공사 국문관광정보 API가 반환한 선택 지역 관광자원",</a:t>
            </a:r>
          </a:p>
          <a:p xmlns:a="http://schemas.openxmlformats.org/drawingml/2006/main">
            <a:r>
              <a:t>      "image_url": "http://tong.visitkorea.or.kr/cms/resource/75/2837175_image2_1.jpg",</a:t>
            </a:r>
          </a:p>
          <a:p xmlns:a="http://schemas.openxmlformats.org/drawingml/2006/main">
            <a:r>
              <a:t>      "source_id": "tour-api:2837181",</a:t>
            </a:r>
          </a:p>
          <a:p xmlns:a="http://schemas.openxmlformats.org/drawingml/2006/main">
            <a:r>
              <a:t>      "content_id": "2837181",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"갈치공장",</a:t>
            </a:r>
          </a:p>
          <a:p xmlns:a="http://schemas.openxmlformats.org/drawingml/2006/main">
            <a:r>
              <a:t>      "address": "제주특별자치도 제주시 해맞이해안로 1296",</a:t>
            </a:r>
          </a:p>
          <a:p xmlns:a="http://schemas.openxmlformats.org/drawingml/2006/main">
            <a:r>
              <a:t>      "summary": "한국관광공사 국문관광정보 API가 반환한 선택 지역 관광자원",</a:t>
            </a:r>
          </a:p>
          <a:p xmlns:a="http://schemas.openxmlformats.org/drawingml/2006/main">
            <a:r>
              <a:t>      "image_url": "http://tong.visitkorea.or.kr/cms/resource/24/2853424_image2_1.jpg",</a:t>
            </a:r>
          </a:p>
          <a:p xmlns:a="http://schemas.openxmlformats.org/drawingml/2006/main">
            <a:r>
              <a:t>      "source_id": "tour-api:2853435",</a:t>
            </a:r>
          </a:p>
          <a:p xmlns:a="http://schemas.openxmlformats.org/drawingml/2006/main">
            <a:r>
              <a:t>      "content_id": "2853435",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"개오리오름",</a:t>
            </a:r>
          </a:p>
          <a:p xmlns:a="http://schemas.openxmlformats.org/drawingml/2006/main">
            <a:r>
              <a:t>      "address": "제주특별자치도 제주시 봉개동",</a:t>
            </a:r>
          </a:p>
          <a:p xmlns:a="http://schemas.openxmlformats.org/drawingml/2006/main">
            <a:r>
              <a:t>      "summary": "한국관광공사 국문관광정보 API가 반환한 선택 지역 관광자원",</a:t>
            </a:r>
          </a:p>
          <a:p xmlns:a="http://schemas.openxmlformats.org/drawingml/2006/main">
            <a:r>
              <a:t>      "image_url": "http://tong.visitkorea.or.kr/cms/resource/47/3478047_image2_1.jpg",</a:t>
            </a:r>
          </a:p>
          <a:p xmlns:a="http://schemas.openxmlformats.org/drawingml/2006/main">
            <a:r>
              <a:t>      "source_id": "tour-api:1889809",</a:t>
            </a:r>
          </a:p>
          <a:p xmlns:a="http://schemas.openxmlformats.org/drawingml/2006/main">
            <a:r>
              <a:t>      "content_id": "1889809",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"거슨새미오름",</a:t>
            </a:r>
          </a:p>
          <a:p xmlns:a="http://schemas.openxmlformats.org/drawingml/2006/main">
            <a:r>
              <a:t>      "address": "제주특별자치도 제주시 구좌읍 송당리",</a:t>
            </a:r>
          </a:p>
          <a:p xmlns:a="http://schemas.openxmlformats.org/drawingml/2006/main">
            <a:r>
              <a:t>      "summary": "한국관광공사 국문관광정보 API가 반환한 선택 지역 관광자원",</a:t>
            </a:r>
          </a:p>
          <a:p xmlns:a="http://schemas.openxmlformats.org/drawingml/2006/main">
            <a:r>
              <a:t>      "image_url": "http://tong.visitkorea.or.kr/cms/resource/04/3477804_image2_1.jpg",</a:t>
            </a:r>
          </a:p>
          <a:p xmlns:a="http://schemas.openxmlformats.org/drawingml/2006/main">
            <a:r>
              <a:t>      "source_id": "tour-api:1918646",</a:t>
            </a:r>
          </a:p>
          <a:p xmlns:a="http://schemas.openxmlformats.org/drawingml/2006/main">
            <a:r>
              <a:t>      "content_id": "1918646",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"경성수산",</a:t>
            </a:r>
          </a:p>
          <a:p xmlns:a="http://schemas.openxmlformats.org/drawingml/2006/main">
            <a:r>
              <a:t>      "address": "제주특별자치도 제주시 한림상로 111",</a:t>
            </a:r>
          </a:p>
          <a:p xmlns:a="http://schemas.openxmlformats.org/drawingml/2006/main">
            <a:r>
              <a:t>      "summary": "한국관광공사 국문관광정보 API가 반환한 선택 지역 관광자원",</a:t>
            </a:r>
          </a:p>
          <a:p xmlns:a="http://schemas.openxmlformats.org/drawingml/2006/main">
            <a:r>
              <a:t>      "image_url": "http://tong.visitkorea.or.kr/cms/resource/09/2870509_image2_1.jpg",</a:t>
            </a:r>
          </a:p>
          <a:p xmlns:a="http://schemas.openxmlformats.org/drawingml/2006/main">
            <a:r>
              <a:t>      "source_id": "tour-api:2870515",</a:t>
            </a:r>
          </a:p>
          <a:p xmlns:a="http://schemas.openxmlformats.org/drawingml/2006/main">
            <a:r>
              <a:t>      "content_id": "2870515",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"고내포구",</a:t>
            </a:r>
          </a:p>
          <a:p xmlns:a="http://schemas.openxmlformats.org/drawingml/2006/main">
            <a:r>
              <a:t>      "address": "제주특별자치도 제주시 애월읍 고내리 1111-4",</a:t>
            </a:r>
          </a:p>
          <a:p xmlns:a="http://schemas.openxmlformats.org/drawingml/2006/main">
            <a:r>
              <a:t>      "summary": "한국관광공사 국문관광정보 API가 반환한 선택 지역 관광자원",</a:t>
            </a:r>
          </a:p>
          <a:p xmlns:a="http://schemas.openxmlformats.org/drawingml/2006/main">
            <a:r>
              <a:t>      "image_url": "http://tong.visitkorea.or.kr/cms/resource/19/3589219_image2_1.jpg",</a:t>
            </a:r>
          </a:p>
          <a:p xmlns:a="http://schemas.openxmlformats.org/drawingml/2006/main">
            <a:r>
              <a:t>      "source_id": "tour-api:2791433",</a:t>
            </a:r>
          </a:p>
          <a:p xmlns:a="http://schemas.openxmlformats.org/drawingml/2006/main">
            <a:r>
              <a:t>      "content_id": "2791433",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"고사리커피",</a:t>
            </a:r>
          </a:p>
          <a:p xmlns:a="http://schemas.openxmlformats.org/drawingml/2006/main">
            <a:r>
              <a:t>      "address": "제주특별자치도 제주시 구좌읍 중산간동로 2064",</a:t>
            </a:r>
          </a:p>
          <a:p xmlns:a="http://schemas.openxmlformats.org/drawingml/2006/main">
            <a:r>
              <a:t>      "summary": "한국관광공사 국문관광정보 API가 반환한 선택 지역 관광자원",</a:t>
            </a:r>
          </a:p>
          <a:p xmlns:a="http://schemas.openxmlformats.org/drawingml/2006/main">
            <a:r>
              <a:t>      "image_url": "http://tong.visitkorea.or.kr/cms/resource/18/2863918_image2_1.JPG",</a:t>
            </a:r>
          </a:p>
          <a:p xmlns:a="http://schemas.openxmlformats.org/drawingml/2006/main">
            <a:r>
              <a:t>      "source_id": "tour-api:2863927",</a:t>
            </a:r>
          </a:p>
          <a:p xmlns:a="http://schemas.openxmlformats.org/drawingml/2006/main">
            <a:r>
              <a:t>      "content_id": "2863927",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"고스트타운",</a:t>
            </a:r>
          </a:p>
          <a:p xmlns:a="http://schemas.openxmlformats.org/drawingml/2006/main">
            <a:r>
              <a:t>      "address": "제주특별자치도 제주시 애월읍 부룡수길 35-14",</a:t>
            </a:r>
          </a:p>
          <a:p xmlns:a="http://schemas.openxmlformats.org/drawingml/2006/main">
            <a:r>
              <a:t>      "summary": "한국관광공사 국문관광정보 API가 반환한 선택 지역 관광자원",</a:t>
            </a:r>
          </a:p>
          <a:p xmlns:a="http://schemas.openxmlformats.org/drawingml/2006/main">
            <a:r>
              <a:t>      "image_url": "http://tong.visitkorea.or.kr/cms/resource/81/3396881_image2_1.jpg",</a:t>
            </a:r>
          </a:p>
          <a:p xmlns:a="http://schemas.openxmlformats.org/drawingml/2006/main">
            <a:r>
              <a:t>      "source_id": "tour-api:2759120",</a:t>
            </a:r>
          </a:p>
          <a:p xmlns:a="http://schemas.openxmlformats.org/drawingml/2006/main">
            <a:r>
              <a:t>      "content_id": "2759120",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"고이정",</a:t>
            </a:r>
          </a:p>
          <a:p xmlns:a="http://schemas.openxmlformats.org/drawingml/2006/main">
            <a:r>
              <a:t>      "address": "제주특별자치도 제주시 애월읍 애월로 6",</a:t>
            </a:r>
          </a:p>
          <a:p xmlns:a="http://schemas.openxmlformats.org/drawingml/2006/main">
            <a:r>
              <a:t>      "summary": "한국관광공사 국문관광정보 API가 반환한 선택 지역 관광자원",</a:t>
            </a:r>
          </a:p>
          <a:p xmlns:a="http://schemas.openxmlformats.org/drawingml/2006/main">
            <a:r>
              <a:t>      "image_url": "http://tong.visitkorea.or.kr/cms/resource/08/2759208_image2_1.jpg",</a:t>
            </a:r>
          </a:p>
          <a:p xmlns:a="http://schemas.openxmlformats.org/drawingml/2006/main">
            <a:r>
              <a:t>      "source_id": "tour-api:2759061",</a:t>
            </a:r>
          </a:p>
          <a:p xmlns:a="http://schemas.openxmlformats.org/drawingml/2006/main">
            <a:r>
              <a:t>      "content_id": "2759061",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"고토커피바",</a:t>
            </a:r>
          </a:p>
          <a:p xmlns:a="http://schemas.openxmlformats.org/drawingml/2006/main">
            <a:r>
              <a:t>      "address": "제주특별자치도 제주시 애월읍 구엄동3길 56",</a:t>
            </a:r>
          </a:p>
          <a:p xmlns:a="http://schemas.openxmlformats.org/drawingml/2006/main">
            <a:r>
              <a:t>      "summary": "한국관광공사 국문관광정보 API가 반환한 선택 지역 관광자원",</a:t>
            </a:r>
          </a:p>
          <a:p xmlns:a="http://schemas.openxmlformats.org/drawingml/2006/main">
            <a:r>
              <a:t>      "image_url": "http://tong.visitkorea.or.kr/cms/resource/07/2863907_image2_1.jpg",</a:t>
            </a:r>
          </a:p>
          <a:p xmlns:a="http://schemas.openxmlformats.org/drawingml/2006/main">
            <a:r>
              <a:t>      "source_id": "tour-api:2863913",</a:t>
            </a:r>
          </a:p>
          <a:p xmlns:a="http://schemas.openxmlformats.org/drawingml/2006/main">
            <a:r>
              <a:t>      "content_id": "2863913",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"골목식당",</a:t>
            </a:r>
          </a:p>
          <a:p xmlns:a="http://schemas.openxmlformats.org/drawingml/2006/main">
            <a:r>
              <a:t>      "address": "제주특별자치도 제주시 중앙로 63-9 (이도일동)",</a:t>
            </a:r>
          </a:p>
          <a:p xmlns:a="http://schemas.openxmlformats.org/drawingml/2006/main">
            <a:r>
              <a:t>      "summary": "한국관광공사 국문관광정보 API가 반환한 선택 지역 관광자원",</a:t>
            </a:r>
          </a:p>
          <a:p xmlns:a="http://schemas.openxmlformats.org/drawingml/2006/main">
            <a:r>
              <a:t>      "image_url": "http://tong.visitkorea.or.kr/cms/resource/79/2857279_image2_1.JPG",</a:t>
            </a:r>
          </a:p>
          <a:p xmlns:a="http://schemas.openxmlformats.org/drawingml/2006/main">
            <a:r>
              <a:t>      "source_id": "tour-api:2857289",</a:t>
            </a:r>
          </a:p>
          <a:p xmlns:a="http://schemas.openxmlformats.org/drawingml/2006/main">
            <a:r>
              <a:t>      "content_id": "2857289",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"골목카페옥수",</a:t>
            </a:r>
          </a:p>
          <a:p xmlns:a="http://schemas.openxmlformats.org/drawingml/2006/main">
            <a:r>
              <a:t>      "address": "제주특별자치도 제주시 소길1길 19",</a:t>
            </a:r>
          </a:p>
          <a:p xmlns:a="http://schemas.openxmlformats.org/drawingml/2006/main">
            <a:r>
              <a:t>      "summary": "한국관광공사 국문관광정보 API가 반환한 선택 지역 관광자원",</a:t>
            </a:r>
          </a:p>
          <a:p xmlns:a="http://schemas.openxmlformats.org/drawingml/2006/main">
            <a:r>
              <a:t>      "image_url": "http://tong.visitkorea.or.kr/cms/resource/03/2852303_image2_1.jpg",</a:t>
            </a:r>
          </a:p>
          <a:p xmlns:a="http://schemas.openxmlformats.org/drawingml/2006/main">
            <a:r>
              <a:t>      "source_id": "tour-api:2852311",</a:t>
            </a:r>
          </a:p>
          <a:p xmlns:a="http://schemas.openxmlformats.org/drawingml/2006/main">
            <a:r>
              <a:t>      "content_id": "2852311",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"골체오름캠핑",</a:t>
            </a:r>
          </a:p>
          <a:p xmlns:a="http://schemas.openxmlformats.org/drawingml/2006/main">
            <a:r>
              <a:t>      "address": "제주특별자치도 제주시 조천읍 번영로 1648-41",</a:t>
            </a:r>
          </a:p>
          <a:p xmlns:a="http://schemas.openxmlformats.org/drawingml/2006/main">
            <a:r>
              <a:t>      "summary": "한국관광공사 국문관광정보 API가 반환한 선택 지역 관광자원",</a:t>
            </a:r>
          </a:p>
          <a:p xmlns:a="http://schemas.openxmlformats.org/drawingml/2006/main">
            <a:r>
              <a:t>      "image_url": "http://tong.visitkorea.or.kr/cms/resource/74/2739574_image2_1.jpg",</a:t>
            </a:r>
          </a:p>
          <a:p xmlns:a="http://schemas.openxmlformats.org/drawingml/2006/main">
            <a:r>
              <a:t>      "source_id": "tour-api:2739395",</a:t>
            </a:r>
          </a:p>
          <a:p xmlns:a="http://schemas.openxmlformats.org/drawingml/2006/main">
            <a:r>
              <a:t>      "content_id": "2739395",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"곰막식당/곰막",</a:t>
            </a:r>
          </a:p>
          <a:p xmlns:a="http://schemas.openxmlformats.org/drawingml/2006/main">
            <a:r>
              <a:t>      "address": "제주특별자치도 제주시 구좌읍 구좌해안로 64",</a:t>
            </a:r>
          </a:p>
          <a:p xmlns:a="http://schemas.openxmlformats.org/drawingml/2006/main">
            <a:r>
              <a:t>      "summary": "한국관광공사 국문관광정보 API가 반환한 선택 지역 관광자원",</a:t>
            </a:r>
          </a:p>
          <a:p xmlns:a="http://schemas.openxmlformats.org/drawingml/2006/main">
            <a:r>
              <a:t>      "image_url": "http://tong.visitkorea.or.kr/cms/resource/21/2759221_image2_1.jpg",</a:t>
            </a:r>
          </a:p>
          <a:p xmlns:a="http://schemas.openxmlformats.org/drawingml/2006/main">
            <a:r>
              <a:t>      "source_id": "tour-api:2759096",</a:t>
            </a:r>
          </a:p>
          <a:p xmlns:a="http://schemas.openxmlformats.org/drawingml/2006/main">
            <a:r>
              <a:t>      "content_id": "2759096",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"곽지해수욕장",</a:t>
            </a:r>
          </a:p>
          <a:p xmlns:a="http://schemas.openxmlformats.org/drawingml/2006/main">
            <a:r>
              <a:t>      "address": "제주특별자치도 제주시 애월읍 곽지리 1565",</a:t>
            </a:r>
          </a:p>
          <a:p xmlns:a="http://schemas.openxmlformats.org/drawingml/2006/main">
            <a:r>
              <a:t>      "summary": "한국관광공사 국문관광정보 API가 반환한 선택 지역 관광자원",</a:t>
            </a:r>
          </a:p>
          <a:p xmlns:a="http://schemas.openxmlformats.org/drawingml/2006/main">
            <a:r>
              <a:t>      "image_url": "http://tong.visitkorea.or.kr/cms/resource/30/3053130_image2_1.jpg",</a:t>
            </a:r>
          </a:p>
          <a:p xmlns:a="http://schemas.openxmlformats.org/drawingml/2006/main">
            <a:r>
              <a:t>      "source_id": "tour-api:127870",</a:t>
            </a:r>
          </a:p>
          <a:p xmlns:a="http://schemas.openxmlformats.org/drawingml/2006/main">
            <a:r>
              <a:t>      "content_id": "127870",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"괴오름",</a:t>
            </a:r>
          </a:p>
          <a:p xmlns:a="http://schemas.openxmlformats.org/drawingml/2006/main">
            <a:r>
              <a:t>      "address": "제주특별자치도 제주시 애월읍 봉성리 산41",</a:t>
            </a:r>
          </a:p>
          <a:p xmlns:a="http://schemas.openxmlformats.org/drawingml/2006/main">
            <a:r>
              <a:t>      "summary": "한국관광공사 국문관광정보 API가 반환한 선택 지역 관광자원",</a:t>
            </a:r>
          </a:p>
          <a:p xmlns:a="http://schemas.openxmlformats.org/drawingml/2006/main">
            <a:r>
              <a:t>      "image_url": "http://tong.visitkorea.or.kr/cms/resource/40/3585540_image2_1.jpg",</a:t>
            </a:r>
          </a:p>
          <a:p xmlns:a="http://schemas.openxmlformats.org/drawingml/2006/main">
            <a:r>
              <a:t>      "source_id": "tour-api:1918950",</a:t>
            </a:r>
          </a:p>
          <a:p xmlns:a="http://schemas.openxmlformats.org/drawingml/2006/main">
            <a:r>
              <a:t>      "content_id": "1918950",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"교래 삼다수마을",</a:t>
            </a:r>
          </a:p>
          <a:p xmlns:a="http://schemas.openxmlformats.org/drawingml/2006/main">
            <a:r>
              <a:t>      "address": "제주특별자치도 제주시 조천읍 교래3길 98",</a:t>
            </a:r>
          </a:p>
          <a:p xmlns:a="http://schemas.openxmlformats.org/drawingml/2006/main">
            <a:r>
              <a:t>      "summary": "한국관광공사 국문관광정보 API가 반환한 선택 지역 관광자원",</a:t>
            </a:r>
          </a:p>
          <a:p xmlns:a="http://schemas.openxmlformats.org/drawingml/2006/main">
            <a:r>
              <a:t>      "image_url": "http://tong.visitkorea.or.kr/cms/resource/18/3586318_image2_1.jpg",</a:t>
            </a:r>
          </a:p>
          <a:p xmlns:a="http://schemas.openxmlformats.org/drawingml/2006/main">
            <a:r>
              <a:t>      "source_id": "tour-api:128443",</a:t>
            </a:r>
          </a:p>
          <a:p xmlns:a="http://schemas.openxmlformats.org/drawingml/2006/main">
            <a:r>
              <a:t>      "content_id": "128443",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"title": "2024년 문화재야행 사업 예산 확정자료",</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"source_id": "case:4bac3530eca721",</a:t>
            </a:r>
          </a:p>
          <a:p xmlns:a="http://schemas.openxmlformats.org/drawingml/2006/main">
            <a:r>
              <a:t>      "source_url": "https://culture.seoul.go.kr/culture/cmmn/file/fileDown.do?atchFileId=c4638ecc9ce84bba9e51ecc2e11293e2&amp;bbsId=&amp;fileSn=2&amp;menuNo=200050",</a:t>
            </a:r>
          </a:p>
          <a:p xmlns:a="http://schemas.openxmlformats.org/drawingml/2006/main">
            <a:r>
              <a:t>      "case_region": "서울특별시 문화유산 집적지역",</a:t>
            </a:r>
          </a:p>
          <a:p xmlns:a="http://schemas.openxmlformats.org/drawingml/2006/main">
            <a:r>
              <a:t>      "source_type": "benchmark_case",</a:t>
            </a:r>
          </a:p>
          <a:p xmlns:a="http://schemas.openxmlformats.org/drawingml/2006/main">
            <a:r>
              <a:t>      "intervention": "기존 문화유산을 활용한 야간 개방·체험 프로그램",</a:t>
            </a:r>
          </a:p>
          <a:p xmlns:a="http://schemas.openxmlformats.org/drawingml/2006/main">
            <a:r>
              <a:t>      "document_type": null,</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"retrieval_method": "official_web_search",</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"published_or_updated_at": "2024",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"2024년도 정부업무평가 관광분야 성과자료",</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"source_id": "case:night_tourism_cities_2024",</a:t>
            </a:r>
          </a:p>
          <a:p xmlns:a="http://schemas.openxmlformats.org/drawingml/2006/main">
            <a:r>
              <a:t>      "source_url": "https://www.evaluation.go.kr/upload2/atch/eval/20250429095846463.pdf",</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"상설 야간 콘텐츠와 경관·교통·안전 운영",</a:t>
            </a:r>
          </a:p>
          <a:p xmlns:a="http://schemas.openxmlformats.org/drawingml/2006/main">
            <a:r>
              <a:t>      "document_type": "case_study",</a:t>
            </a:r>
          </a:p>
          <a:p xmlns:a="http://schemas.openxmlformats.org/drawingml/2006/main">
            <a:r>
              <a:t>      "observed_result": "정부업무평가 자료는 특화도시 10곳 방문객이 2023년 같은 기간보다 3% 증가했다고 기록",</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"published_or_updated_at": "2025-04-29",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"가마오름",</a:t>
            </a:r>
          </a:p>
          <a:p xmlns:a="http://schemas.openxmlformats.org/drawingml/2006/main">
            <a:r>
              <a:t>      "address": "제주특별자치도 제주시 한경면 청수리",</a:t>
            </a:r>
          </a:p>
          <a:p xmlns:a="http://schemas.openxmlformats.org/drawingml/2006/main">
            <a:r>
              <a:t>      "summary": "한국관광공사 국문관광정보 API가 반환한 선택 지역 관광자원",</a:t>
            </a:r>
          </a:p>
          <a:p xmlns:a="http://schemas.openxmlformats.org/drawingml/2006/main">
            <a:r>
              <a:t>      "image_url": "http://tong.visitkorea.or.kr/cms/resource/72/3477972_image2_1.jpg",</a:t>
            </a:r>
          </a:p>
          <a:p xmlns:a="http://schemas.openxmlformats.org/drawingml/2006/main">
            <a:r>
              <a:t>      "source_id": "tour-api:1884191",</a:t>
            </a:r>
          </a:p>
          <a:p xmlns:a="http://schemas.openxmlformats.org/drawingml/2006/main">
            <a:r>
              <a:t>      "content_id": "1884191",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"is_forecast": true,</a:t>
            </a:r>
          </a:p>
          <a:p xmlns:a="http://schemas.openxmlformats.org/drawingml/2006/main">
            <a:r>
              <a:t>        "spending_krw": 150467072839.0,</a:t>
            </a:r>
          </a:p>
          <a:p xmlns:a="http://schemas.openxmlformats.org/drawingml/2006/main">
            <a:r>
              <a:t>        "stay_minutes": 2601.0,</a:t>
            </a:r>
          </a:p>
          <a:p xmlns:a="http://schemas.openxmlformats.org/drawingml/2006/main">
            <a:r>
              <a:t>        "lodging_nights": 3.3,</a:t>
            </a:r>
          </a:p>
          <a:p xmlns:a="http://schemas.openxmlformats.org/drawingml/2006/main">
            <a:r>
              <a:t>        "lodging_rate_pct": 22.1,</a:t>
            </a:r>
          </a:p>
          <a:p xmlns:a="http://schemas.openxmlformats.org/drawingml/2006/main">
            <a:r>
              <a:t>        "lodging_searches": 146458,</a:t>
            </a:r>
          </a:p>
          <a:p xmlns:a="http://schemas.openxmlformats.org/drawingml/2006/main">
            <a:r>
              <a:t>        "navigation_searches": 1120126,</a:t>
            </a:r>
          </a:p>
          <a:p xmlns:a="http://schemas.openxmlformats.org/drawingml/2006/main">
            <a:r>
              <a:t>        "visitor_yoy_percent": -7.42,</a:t>
            </a:r>
          </a:p>
          <a:p xmlns:a="http://schemas.openxmlformats.org/drawingml/2006/main">
            <a:r>
              <a:t>        "spending_yoy_percent": -2.51,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3904808,</a:t>
            </a:r>
          </a:p>
          <a:p xmlns:a="http://schemas.openxmlformats.org/drawingml/2006/main">
            <a:r>
              <a:t>        "previous_year_spending_krw": 154337552000,</a:t>
            </a:r>
          </a:p>
          <a:p xmlns:a="http://schemas.openxmlformats.org/drawingml/2006/main">
            <a:r>
              <a:t>        "previous_year_stay_minutes": 2601.0,</a:t>
            </a:r>
          </a:p>
          <a:p xmlns:a="http://schemas.openxmlformats.org/drawingml/2006/main">
            <a:r>
              <a:t>        "previous_year_lodging_nights": 3.3,</a:t>
            </a:r>
          </a:p>
          <a:p xmlns:a="http://schemas.openxmlformats.org/drawingml/2006/main">
            <a:r>
              <a:t>        "previous_year_lodging_rate_pct": 22.1,</a:t>
            </a:r>
          </a:p>
          <a:p xmlns:a="http://schemas.openxmlformats.org/drawingml/2006/main">
            <a:r>
              <a:t>        "previous_year_lodging_searches": 146458,</a:t>
            </a:r>
          </a:p>
          <a:p xmlns:a="http://schemas.openxmlformats.org/drawingml/2006/main">
            <a:r>
              <a:t>        "previous_year_navigation_searches": 1120126</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"is_forecast": true,</a:t>
            </a:r>
          </a:p>
          <a:p xmlns:a="http://schemas.openxmlformats.org/drawingml/2006/main">
            <a:r>
              <a:t>        "spending_krw": 145085139974.0,</a:t>
            </a:r>
          </a:p>
          <a:p xmlns:a="http://schemas.openxmlformats.org/drawingml/2006/main">
            <a:r>
              <a:t>        "stay_minutes": 2044.0,</a:t>
            </a:r>
          </a:p>
          <a:p xmlns:a="http://schemas.openxmlformats.org/drawingml/2006/main">
            <a:r>
              <a:t>        "lodging_nights": 3.0,</a:t>
            </a:r>
          </a:p>
          <a:p xmlns:a="http://schemas.openxmlformats.org/drawingml/2006/main">
            <a:r>
              <a:t>        "lodging_rate_pct": 22.0,</a:t>
            </a:r>
          </a:p>
          <a:p xmlns:a="http://schemas.openxmlformats.org/drawingml/2006/main">
            <a:r>
              <a:t>        "lodging_searches": 87867,</a:t>
            </a:r>
          </a:p>
          <a:p xmlns:a="http://schemas.openxmlformats.org/drawingml/2006/main">
            <a:r>
              <a:t>        "navigation_searches": 657481,</a:t>
            </a:r>
          </a:p>
          <a:p xmlns:a="http://schemas.openxmlformats.org/drawingml/2006/main">
            <a:r>
              <a:t>        "visitor_yoy_percent": 0.08,</a:t>
            </a:r>
          </a:p>
          <a:p xmlns:a="http://schemas.openxmlformats.org/drawingml/2006/main">
            <a:r>
              <a:t>        "spending_yoy_percent": 0.83,</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3591286,</a:t>
            </a:r>
          </a:p>
          <a:p xmlns:a="http://schemas.openxmlformats.org/drawingml/2006/main">
            <a:r>
              <a:t>        "previous_year_spending_krw": 143894918000,</a:t>
            </a:r>
          </a:p>
          <a:p xmlns:a="http://schemas.openxmlformats.org/drawingml/2006/main">
            <a:r>
              <a:t>        "previous_year_stay_minutes": 2044.0,</a:t>
            </a:r>
          </a:p>
          <a:p xmlns:a="http://schemas.openxmlformats.org/drawingml/2006/main">
            <a:r>
              <a:t>        "previous_year_lodging_nights": 3.0,</a:t>
            </a:r>
          </a:p>
          <a:p xmlns:a="http://schemas.openxmlformats.org/drawingml/2006/main">
            <a:r>
              <a:t>        "previous_year_lodging_rate_pct": 22.0,</a:t>
            </a:r>
          </a:p>
          <a:p xmlns:a="http://schemas.openxmlformats.org/drawingml/2006/main">
            <a:r>
              <a:t>        "previous_year_lodging_searches": 87867,</a:t>
            </a:r>
          </a:p>
          <a:p xmlns:a="http://schemas.openxmlformats.org/drawingml/2006/main">
            <a:r>
              <a:t>        "previous_year_navigation_searches": 657481</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"is_forecast": true,</a:t>
            </a:r>
          </a:p>
          <a:p xmlns:a="http://schemas.openxmlformats.org/drawingml/2006/main">
            <a:r>
              <a:t>        "spending_krw": 149366639508.0,</a:t>
            </a:r>
          </a:p>
          <a:p xmlns:a="http://schemas.openxmlformats.org/drawingml/2006/main">
            <a:r>
              <a:t>        "stay_minutes": 2289.0,</a:t>
            </a:r>
          </a:p>
          <a:p xmlns:a="http://schemas.openxmlformats.org/drawingml/2006/main">
            <a:r>
              <a:t>        "lodging_nights": 3.03,</a:t>
            </a:r>
          </a:p>
          <a:p xmlns:a="http://schemas.openxmlformats.org/drawingml/2006/main">
            <a:r>
              <a:t>        "lodging_rate_pct": 22.3,</a:t>
            </a:r>
          </a:p>
          <a:p xmlns:a="http://schemas.openxmlformats.org/drawingml/2006/main">
            <a:r>
              <a:t>        "lodging_searches": 75858,</a:t>
            </a:r>
          </a:p>
          <a:p xmlns:a="http://schemas.openxmlformats.org/drawingml/2006/main">
            <a:r>
              <a:t>        "navigation_searches": 556973,</a:t>
            </a:r>
          </a:p>
          <a:p xmlns:a="http://schemas.openxmlformats.org/drawingml/2006/main">
            <a:r>
              <a:t>        "visitor_yoy_percent": -1.18,</a:t>
            </a:r>
          </a:p>
          <a:p xmlns:a="http://schemas.openxmlformats.org/drawingml/2006/main">
            <a:r>
              <a:t>        "spending_yoy_percent": 0.77,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3410959,</a:t>
            </a:r>
          </a:p>
          <a:p xmlns:a="http://schemas.openxmlformats.org/drawingml/2006/main">
            <a:r>
              <a:t>        "previous_year_spending_krw": 148223154000,</a:t>
            </a:r>
          </a:p>
          <a:p xmlns:a="http://schemas.openxmlformats.org/drawingml/2006/main">
            <a:r>
              <a:t>        "previous_year_stay_minutes": 2289.0,</a:t>
            </a:r>
          </a:p>
          <a:p xmlns:a="http://schemas.openxmlformats.org/drawingml/2006/main">
            <a:r>
              <a:t>        "previous_year_lodging_nights": 3.03,</a:t>
            </a:r>
          </a:p>
          <a:p xmlns:a="http://schemas.openxmlformats.org/drawingml/2006/main">
            <a:r>
              <a:t>        "previous_year_lodging_rate_pct": 22.3,</a:t>
            </a:r>
          </a:p>
          <a:p xmlns:a="http://schemas.openxmlformats.org/drawingml/2006/main">
            <a:r>
              <a:t>        "previous_year_lodging_searches": 75858,</a:t>
            </a:r>
          </a:p>
          <a:p xmlns:a="http://schemas.openxmlformats.org/drawingml/2006/main">
            <a:r>
              <a:t>        "previous_year_navigation_searches": 556973</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"is_forecast": true,</a:t>
            </a:r>
          </a:p>
          <a:p xmlns:a="http://schemas.openxmlformats.org/drawingml/2006/main">
            <a:r>
              <a:t>      "spending_krw": 140803668431,</a:t>
            </a:r>
          </a:p>
          <a:p xmlns:a="http://schemas.openxmlformats.org/drawingml/2006/main">
            <a:r>
              <a:t>      "stay_minutes": 2599.0,</a:t>
            </a:r>
          </a:p>
          <a:p xmlns:a="http://schemas.openxmlformats.org/drawingml/2006/main">
            <a:r>
              <a:t>      "lodging_nights": 3.2,</a:t>
            </a:r>
          </a:p>
          <a:p xmlns:a="http://schemas.openxmlformats.org/drawingml/2006/main">
            <a:r>
              <a:t>      "lodging_rate_pct": 21.7,</a:t>
            </a:r>
          </a:p>
          <a:p xmlns:a="http://schemas.openxmlformats.org/drawingml/2006/main">
            <a:r>
              <a:t>      "lodging_searches": 99946,</a:t>
            </a:r>
          </a:p>
          <a:p xmlns:a="http://schemas.openxmlformats.org/drawingml/2006/main">
            <a:r>
              <a:t>      "navigation_searches": 710719,</a:t>
            </a:r>
          </a:p>
          <a:p xmlns:a="http://schemas.openxmlformats.org/drawingml/2006/main">
            <a:r>
              <a:t>      "visitor_yoy_percent": -3.05,</a:t>
            </a:r>
          </a:p>
          <a:p xmlns:a="http://schemas.openxmlformats.org/drawingml/2006/main">
            <a:r>
              <a:t>      "spending_yoy_percent": -4.29,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3628591,</a:t>
            </a:r>
          </a:p>
          <a:p xmlns:a="http://schemas.openxmlformats.org/drawingml/2006/main">
            <a:r>
              <a:t>      "previous_year_spending_krw": 147121716000,</a:t>
            </a:r>
          </a:p>
          <a:p xmlns:a="http://schemas.openxmlformats.org/drawingml/2006/main">
            <a:r>
              <a:t>      "previous_year_stay_minutes": 2599.0,</a:t>
            </a:r>
          </a:p>
          <a:p xmlns:a="http://schemas.openxmlformats.org/drawingml/2006/main">
            <a:r>
              <a:t>      "previous_year_lodging_nights": 3.2,</a:t>
            </a:r>
          </a:p>
          <a:p xmlns:a="http://schemas.openxmlformats.org/drawingml/2006/main">
            <a:r>
              <a:t>      "previous_year_lodging_rate_pct": 21.7,</a:t>
            </a:r>
          </a:p>
          <a:p xmlns:a="http://schemas.openxmlformats.org/drawingml/2006/main">
            <a:r>
              <a:t>      "previous_year_lodging_searches": 99946,</a:t>
            </a:r>
          </a:p>
          <a:p xmlns:a="http://schemas.openxmlformats.org/drawingml/2006/main">
            <a:r>
              <a:t>      "previous_year_navigation_searches": 710719</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"is_forecast": true,</a:t>
            </a:r>
          </a:p>
          <a:p xmlns:a="http://schemas.openxmlformats.org/drawingml/2006/main">
            <a:r>
              <a:t>      "spending_krw": 147968744557,</a:t>
            </a:r>
          </a:p>
          <a:p xmlns:a="http://schemas.openxmlformats.org/drawingml/2006/main">
            <a:r>
              <a:t>      "stay_minutes": 2361.0,</a:t>
            </a:r>
          </a:p>
          <a:p xmlns:a="http://schemas.openxmlformats.org/drawingml/2006/main">
            <a:r>
              <a:t>      "lodging_nights": 3.15,</a:t>
            </a:r>
          </a:p>
          <a:p xmlns:a="http://schemas.openxmlformats.org/drawingml/2006/main">
            <a:r>
              <a:t>      "lodging_rate_pct": 22.1,</a:t>
            </a:r>
          </a:p>
          <a:p xmlns:a="http://schemas.openxmlformats.org/drawingml/2006/main">
            <a:r>
              <a:t>      "lodging_searches": 114775,</a:t>
            </a:r>
          </a:p>
          <a:p xmlns:a="http://schemas.openxmlformats.org/drawingml/2006/main">
            <a:r>
              <a:t>      "navigation_searches": 832625,</a:t>
            </a:r>
          </a:p>
          <a:p xmlns:a="http://schemas.openxmlformats.org/drawingml/2006/main">
            <a:r>
              <a:t>      "visitor_yoy_percent": -6.31,</a:t>
            </a:r>
          </a:p>
          <a:p xmlns:a="http://schemas.openxmlformats.org/drawingml/2006/main">
            <a:r>
              <a:t>      "spending_yoy_percent": -7.29,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3874804,</a:t>
            </a:r>
          </a:p>
          <a:p xmlns:a="http://schemas.openxmlformats.org/drawingml/2006/main">
            <a:r>
              <a:t>      "previous_year_spending_krw": 159605711000,</a:t>
            </a:r>
          </a:p>
          <a:p xmlns:a="http://schemas.openxmlformats.org/drawingml/2006/main">
            <a:r>
              <a:t>      "previous_year_stay_minutes": 2361.0,</a:t>
            </a:r>
          </a:p>
          <a:p xmlns:a="http://schemas.openxmlformats.org/drawingml/2006/main">
            <a:r>
              <a:t>      "previous_year_lodging_nights": 3.15,</a:t>
            </a:r>
          </a:p>
          <a:p xmlns:a="http://schemas.openxmlformats.org/drawingml/2006/main">
            <a:r>
              <a:t>      "previous_year_lodging_rate_pct": 22.1,</a:t>
            </a:r>
          </a:p>
          <a:p xmlns:a="http://schemas.openxmlformats.org/drawingml/2006/main">
            <a:r>
              <a:t>      "previous_year_lodging_searches": 114775,</a:t>
            </a:r>
          </a:p>
          <a:p xmlns:a="http://schemas.openxmlformats.org/drawingml/2006/main">
            <a:r>
              <a:t>      "previous_year_navigation_searches": 832625</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"is_forecast": true,</a:t>
            </a:r>
          </a:p>
          <a:p xmlns:a="http://schemas.openxmlformats.org/drawingml/2006/main">
            <a:r>
              <a:t>      "spending_krw": 128844309211,</a:t>
            </a:r>
          </a:p>
          <a:p xmlns:a="http://schemas.openxmlformats.org/drawingml/2006/main">
            <a:r>
              <a:t>      "stay_minutes": 2331.0,</a:t>
            </a:r>
          </a:p>
          <a:p xmlns:a="http://schemas.openxmlformats.org/drawingml/2006/main">
            <a:r>
              <a:t>      "lodging_nights": 3.04,</a:t>
            </a:r>
          </a:p>
          <a:p xmlns:a="http://schemas.openxmlformats.org/drawingml/2006/main">
            <a:r>
              <a:t>      "lodging_rate_pct": 21.3,</a:t>
            </a:r>
          </a:p>
          <a:p xmlns:a="http://schemas.openxmlformats.org/drawingml/2006/main">
            <a:r>
              <a:t>      "lodging_searches": 83147,</a:t>
            </a:r>
          </a:p>
          <a:p xmlns:a="http://schemas.openxmlformats.org/drawingml/2006/main">
            <a:r>
              <a:t>      "navigation_searches": 625924,</a:t>
            </a:r>
          </a:p>
          <a:p xmlns:a="http://schemas.openxmlformats.org/drawingml/2006/main">
            <a:r>
              <a:t>      "visitor_yoy_percent": 0.75,</a:t>
            </a:r>
          </a:p>
          <a:p xmlns:a="http://schemas.openxmlformats.org/drawingml/2006/main">
            <a:r>
              <a:t>      "spending_yoy_percent": -3.74,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3482583,</a:t>
            </a:r>
          </a:p>
          <a:p xmlns:a="http://schemas.openxmlformats.org/drawingml/2006/main">
            <a:r>
              <a:t>      "previous_year_spending_krw": 133843940000,</a:t>
            </a:r>
          </a:p>
          <a:p xmlns:a="http://schemas.openxmlformats.org/drawingml/2006/main">
            <a:r>
              <a:t>      "previous_year_stay_minutes": 2331.0,</a:t>
            </a:r>
          </a:p>
          <a:p xmlns:a="http://schemas.openxmlformats.org/drawingml/2006/main">
            <a:r>
              <a:t>      "previous_year_lodging_nights": 3.04,</a:t>
            </a:r>
          </a:p>
          <a:p xmlns:a="http://schemas.openxmlformats.org/drawingml/2006/main">
            <a:r>
              <a:t>      "previous_year_lodging_rate_pct": 21.3,</a:t>
            </a:r>
          </a:p>
          <a:p xmlns:a="http://schemas.openxmlformats.org/drawingml/2006/main">
            <a:r>
              <a:t>      "previous_year_lodging_searches": 83147,</a:t>
            </a:r>
          </a:p>
          <a:p xmlns:a="http://schemas.openxmlformats.org/drawingml/2006/main">
            <a:r>
              <a:t>      "previous_year_navigation_searches": 625924</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"is_forecast": true,</a:t>
            </a:r>
          </a:p>
          <a:p xmlns:a="http://schemas.openxmlformats.org/drawingml/2006/main">
            <a:r>
              <a:t>      "spending_krw": 150467072839,</a:t>
            </a:r>
          </a:p>
          <a:p xmlns:a="http://schemas.openxmlformats.org/drawingml/2006/main">
            <a:r>
              <a:t>      "stay_minutes": 2601.0,</a:t>
            </a:r>
          </a:p>
          <a:p xmlns:a="http://schemas.openxmlformats.org/drawingml/2006/main">
            <a:r>
              <a:t>      "lodging_nights": 3.3,</a:t>
            </a:r>
          </a:p>
          <a:p xmlns:a="http://schemas.openxmlformats.org/drawingml/2006/main">
            <a:r>
              <a:t>      "lodging_rate_pct": 22.1,</a:t>
            </a:r>
          </a:p>
          <a:p xmlns:a="http://schemas.openxmlformats.org/drawingml/2006/main">
            <a:r>
              <a:t>      "lodging_searches": 146458,</a:t>
            </a:r>
          </a:p>
          <a:p xmlns:a="http://schemas.openxmlformats.org/drawingml/2006/main">
            <a:r>
              <a:t>      "navigation_searches": 1120126,</a:t>
            </a:r>
          </a:p>
          <a:p xmlns:a="http://schemas.openxmlformats.org/drawingml/2006/main">
            <a:r>
              <a:t>      "visitor_yoy_percent": -7.42,</a:t>
            </a:r>
          </a:p>
          <a:p xmlns:a="http://schemas.openxmlformats.org/drawingml/2006/main">
            <a:r>
              <a:t>      "spending_yoy_percent": -2.51,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3904808,</a:t>
            </a:r>
          </a:p>
          <a:p xmlns:a="http://schemas.openxmlformats.org/drawingml/2006/main">
            <a:r>
              <a:t>      "previous_year_spending_krw": 154337552000,</a:t>
            </a:r>
          </a:p>
          <a:p xmlns:a="http://schemas.openxmlformats.org/drawingml/2006/main">
            <a:r>
              <a:t>      "previous_year_stay_minutes": 2601.0,</a:t>
            </a:r>
          </a:p>
          <a:p xmlns:a="http://schemas.openxmlformats.org/drawingml/2006/main">
            <a:r>
              <a:t>      "previous_year_lodging_nights": 3.3,</a:t>
            </a:r>
          </a:p>
          <a:p xmlns:a="http://schemas.openxmlformats.org/drawingml/2006/main">
            <a:r>
              <a:t>      "previous_year_lodging_rate_pct": 22.1,</a:t>
            </a:r>
          </a:p>
          <a:p xmlns:a="http://schemas.openxmlformats.org/drawingml/2006/main">
            <a:r>
              <a:t>      "previous_year_lodging_searches": 146458,</a:t>
            </a:r>
          </a:p>
          <a:p xmlns:a="http://schemas.openxmlformats.org/drawingml/2006/main">
            <a:r>
              <a:t>      "previous_year_navigation_searches": 1120126</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"is_forecast": true,</a:t>
            </a:r>
          </a:p>
          <a:p xmlns:a="http://schemas.openxmlformats.org/drawingml/2006/main">
            <a:r>
              <a:t>      "spending_krw": 145085139974,</a:t>
            </a:r>
          </a:p>
          <a:p xmlns:a="http://schemas.openxmlformats.org/drawingml/2006/main">
            <a:r>
              <a:t>      "stay_minutes": 2044.0,</a:t>
            </a:r>
          </a:p>
          <a:p xmlns:a="http://schemas.openxmlformats.org/drawingml/2006/main">
            <a:r>
              <a:t>      "lodging_nights": 3.0,</a:t>
            </a:r>
          </a:p>
          <a:p xmlns:a="http://schemas.openxmlformats.org/drawingml/2006/main">
            <a:r>
              <a:t>      "lodging_rate_pct": 22.0,</a:t>
            </a:r>
          </a:p>
          <a:p xmlns:a="http://schemas.openxmlformats.org/drawingml/2006/main">
            <a:r>
              <a:t>      "lodging_searches": 87867,</a:t>
            </a:r>
          </a:p>
          <a:p xmlns:a="http://schemas.openxmlformats.org/drawingml/2006/main">
            <a:r>
              <a:t>      "navigation_searches": 657481,</a:t>
            </a:r>
          </a:p>
          <a:p xmlns:a="http://schemas.openxmlformats.org/drawingml/2006/main">
            <a:r>
              <a:t>      "visitor_yoy_percent": 0.08,</a:t>
            </a:r>
          </a:p>
          <a:p xmlns:a="http://schemas.openxmlformats.org/drawingml/2006/main">
            <a:r>
              <a:t>      "spending_yoy_percent": 0.83,</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3591286,</a:t>
            </a:r>
          </a:p>
          <a:p xmlns:a="http://schemas.openxmlformats.org/drawingml/2006/main">
            <a:r>
              <a:t>      "previous_year_spending_krw": 143894918000,</a:t>
            </a:r>
          </a:p>
          <a:p xmlns:a="http://schemas.openxmlformats.org/drawingml/2006/main">
            <a:r>
              <a:t>      "previous_year_stay_minutes": 2044.0,</a:t>
            </a:r>
          </a:p>
          <a:p xmlns:a="http://schemas.openxmlformats.org/drawingml/2006/main">
            <a:r>
              <a:t>      "previous_year_lodging_nights": 3.0,</a:t>
            </a:r>
          </a:p>
          <a:p xmlns:a="http://schemas.openxmlformats.org/drawingml/2006/main">
            <a:r>
              <a:t>      "previous_year_lodging_rate_pct": 22.0,</a:t>
            </a:r>
          </a:p>
          <a:p xmlns:a="http://schemas.openxmlformats.org/drawingml/2006/main">
            <a:r>
              <a:t>      "previous_year_lodging_searches": 87867,</a:t>
            </a:r>
          </a:p>
          <a:p xmlns:a="http://schemas.openxmlformats.org/drawingml/2006/main">
            <a:r>
              <a:t>      "previous_year_navigation_searches": 657481</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"is_forecast": true,</a:t>
            </a:r>
          </a:p>
          <a:p xmlns:a="http://schemas.openxmlformats.org/drawingml/2006/main">
            <a:r>
              <a:t>      "spending_krw": 149366639508,</a:t>
            </a:r>
          </a:p>
          <a:p xmlns:a="http://schemas.openxmlformats.org/drawingml/2006/main">
            <a:r>
              <a:t>      "stay_minutes": 2289.0,</a:t>
            </a:r>
          </a:p>
          <a:p xmlns:a="http://schemas.openxmlformats.org/drawingml/2006/main">
            <a:r>
              <a:t>      "lodging_nights": 3.03,</a:t>
            </a:r>
          </a:p>
          <a:p xmlns:a="http://schemas.openxmlformats.org/drawingml/2006/main">
            <a:r>
              <a:t>      "lodging_rate_pct": 22.3,</a:t>
            </a:r>
          </a:p>
          <a:p xmlns:a="http://schemas.openxmlformats.org/drawingml/2006/main">
            <a:r>
              <a:t>      "lodging_searches": 75858,</a:t>
            </a:r>
          </a:p>
          <a:p xmlns:a="http://schemas.openxmlformats.org/drawingml/2006/main">
            <a:r>
              <a:t>      "navigation_searches": 556973,</a:t>
            </a:r>
          </a:p>
          <a:p xmlns:a="http://schemas.openxmlformats.org/drawingml/2006/main">
            <a:r>
              <a:t>      "visitor_yoy_percent": -1.18,</a:t>
            </a:r>
          </a:p>
          <a:p xmlns:a="http://schemas.openxmlformats.org/drawingml/2006/main">
            <a:r>
              <a:t>      "spending_yoy_percent": 0.77,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3410959,</a:t>
            </a:r>
          </a:p>
          <a:p xmlns:a="http://schemas.openxmlformats.org/drawingml/2006/main">
            <a:r>
              <a:t>      "previous_year_spending_krw": 148223154000,</a:t>
            </a:r>
          </a:p>
          <a:p xmlns:a="http://schemas.openxmlformats.org/drawingml/2006/main">
            <a:r>
              <a:t>      "previous_year_stay_minutes": 2289.0,</a:t>
            </a:r>
          </a:p>
          <a:p xmlns:a="http://schemas.openxmlformats.org/drawingml/2006/main">
            <a:r>
              <a:t>      "previous_year_lodging_nights": 3.03,</a:t>
            </a:r>
          </a:p>
          <a:p xmlns:a="http://schemas.openxmlformats.org/drawingml/2006/main">
            <a:r>
              <a:t>      "previous_year_lodging_rate_pct": 22.3,</a:t>
            </a:r>
          </a:p>
          <a:p xmlns:a="http://schemas.openxmlformats.org/drawingml/2006/main">
            <a:r>
              <a:t>      "previous_year_lodging_searches": 75858,</a:t>
            </a:r>
          </a:p>
          <a:p xmlns:a="http://schemas.openxmlformats.org/drawingml/2006/main">
            <a:r>
              <a:t>      "previous_year_navigation_searches": 556973</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183762.22,</a:t>
            </a:r>
          </a:p>
          <a:p xmlns:a="http://schemas.openxmlformats.org/drawingml/2006/main">
            <a:r>
              <a:t>        "recursive_mae": {</a:t>
            </a:r>
          </a:p>
          <a:p xmlns:a="http://schemas.openxmlformats.org/drawingml/2006/main">
            <a:r>
              <a:t>          "1": {</a:t>
            </a:r>
          </a:p>
          <a:p xmlns:a="http://schemas.openxmlformats.org/drawingml/2006/main">
            <a:r>
              <a:t>            "baseline": 141219.0,</a:t>
            </a:r>
          </a:p>
          <a:p xmlns:a="http://schemas.openxmlformats.org/drawingml/2006/main">
            <a:r>
              <a:t>            "selected": 265459.0,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144459.5,</a:t>
            </a:r>
          </a:p>
          <a:p xmlns:a="http://schemas.openxmlformats.org/drawingml/2006/main">
            <a:r>
              <a:t>            "selected": 136814.0,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297499.5,</a:t>
            </a:r>
          </a:p>
          <a:p xmlns:a="http://schemas.openxmlformats.org/drawingml/2006/main">
            <a:r>
              <a:t>            "selected": 180437.5,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219359.25,</a:t>
            </a:r>
          </a:p>
          <a:p xmlns:a="http://schemas.openxmlformats.org/drawingml/2006/main">
            <a:r>
              <a:t>        "model_reliability": "mixed_recursive_performance",</a:t>
            </a:r>
          </a:p>
          <a:p xmlns:a="http://schemas.openxmlformats.org/drawingml/2006/main">
            <a:r>
              <a:t>        "beats_baseline_on_test": true,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7866027889.97,</a:t>
            </a:r>
          </a:p>
          <a:p xmlns:a="http://schemas.openxmlformats.org/drawingml/2006/main">
            <a:r>
              <a:t>        "recursive_mae": {</a:t>
            </a:r>
          </a:p>
          <a:p xmlns:a="http://schemas.openxmlformats.org/drawingml/2006/main">
            <a:r>
              <a:t>          "1": {</a:t>
            </a:r>
          </a:p>
          <a:p xmlns:a="http://schemas.openxmlformats.org/drawingml/2006/main">
            <a:r>
              <a:t>            "baseline": 11633402000.0,</a:t>
            </a:r>
          </a:p>
          <a:p xmlns:a="http://schemas.openxmlformats.org/drawingml/2006/main">
            <a:r>
              <a:t>            "selected": 5070058833.0,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5588447000.0,</a:t>
            </a:r>
          </a:p>
          <a:p xmlns:a="http://schemas.openxmlformats.org/drawingml/2006/main">
            <a:r>
              <a:t>            "selected": 2754801694.5,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5647526500.0,</a:t>
            </a:r>
          </a:p>
          <a:p xmlns:a="http://schemas.openxmlformats.org/drawingml/2006/main">
            <a:r>
              <a:t>            "selected": 11586732430.5,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8640464250.0,</a:t>
            </a:r>
          </a:p>
          <a:p xmlns:a="http://schemas.openxmlformats.org/drawingml/2006/main">
            <a:r>
              <a:t>        "model_reliability": "mixed_recursive_performance",</a:t>
            </a:r>
          </a:p>
          <a:p xmlns:a="http://schemas.openxmlformats.org/drawingml/2006/main">
            <a:r>
              <a:t>        "beats_baseline_on_test": true,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138.75,</a:t>
            </a:r>
          </a:p>
          <a:p xmlns:a="http://schemas.openxmlformats.org/drawingml/2006/main">
            <a:r>
              <a:t>        "recursive_mae": {</a:t>
            </a:r>
          </a:p>
          <a:p xmlns:a="http://schemas.openxmlformats.org/drawingml/2006/main">
            <a:r>
              <a:t>          "1": {</a:t>
            </a:r>
          </a:p>
          <a:p xmlns:a="http://schemas.openxmlformats.org/drawingml/2006/main">
            <a:r>
              <a:t>            "baseline": 41.0,</a:t>
            </a:r>
          </a:p>
          <a:p xmlns:a="http://schemas.openxmlformats.org/drawingml/2006/main">
            <a:r>
              <a:t>            "selected":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208.5,</a:t>
            </a:r>
          </a:p>
          <a:p xmlns:a="http://schemas.openxmlformats.org/drawingml/2006/main">
            <a:r>
              <a:t>            "selected":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236.5,</a:t>
            </a:r>
          </a:p>
          <a:p xmlns:a="http://schemas.openxmlformats.org/drawingml/2006/main">
            <a:r>
              <a:t>            "selected":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138.75,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0.03,</a:t>
            </a:r>
          </a:p>
          <a:p xmlns:a="http://schemas.openxmlformats.org/drawingml/2006/main">
            <a:r>
              <a:t>        "recursive_mae": {</a:t>
            </a:r>
          </a:p>
          <a:p xmlns:a="http://schemas.openxmlformats.org/drawingml/2006/main">
            <a:r>
              <a:t>          "1": {</a:t>
            </a:r>
          </a:p>
          <a:p xmlns:a="http://schemas.openxmlformats.org/drawingml/2006/main">
            <a:r>
              <a:t>            "baseline": 0.02,</a:t>
            </a:r>
          </a:p>
          <a:p xmlns:a="http://schemas.openxmlformats.org/drawingml/2006/main">
            <a:r>
              <a:t>            "selected":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0.02,</a:t>
            </a:r>
          </a:p>
          <a:p xmlns:a="http://schemas.openxmlformats.org/drawingml/2006/main">
            <a:r>
              <a:t>            "selected":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0.04,</a:t>
            </a:r>
          </a:p>
          <a:p xmlns:a="http://schemas.openxmlformats.org/drawingml/2006/main">
            <a:r>
              <a:t>            "selected":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0.03,</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0.5,</a:t>
            </a:r>
          </a:p>
          <a:p xmlns:a="http://schemas.openxmlformats.org/drawingml/2006/main">
            <a:r>
              <a:t>        "recursive_mae": {</a:t>
            </a:r>
          </a:p>
          <a:p xmlns:a="http://schemas.openxmlformats.org/drawingml/2006/main">
            <a:r>
              <a:t>          "1": {</a:t>
            </a:r>
          </a:p>
          <a:p xmlns:a="http://schemas.openxmlformats.org/drawingml/2006/main">
            <a:r>
              <a:t>            "baseline": 0.7,</a:t>
            </a:r>
          </a:p>
          <a:p xmlns:a="http://schemas.openxmlformats.org/drawingml/2006/main">
            <a:r>
              <a:t>            "selected":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0.55,</a:t>
            </a:r>
          </a:p>
          <a:p xmlns:a="http://schemas.openxmlformats.org/drawingml/2006/main">
            <a:r>
              <a:t>            "selected":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0.3,</a:t>
            </a:r>
          </a:p>
          <a:p xmlns:a="http://schemas.openxmlformats.org/drawingml/2006/main">
            <a:r>
              <a:t>            "selected":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5915.25,</a:t>
            </a:r>
          </a:p>
          <a:p xmlns:a="http://schemas.openxmlformats.org/drawingml/2006/main">
            <a:r>
              <a:t>        "recursive_mae": {</a:t>
            </a:r>
          </a:p>
          <a:p xmlns:a="http://schemas.openxmlformats.org/drawingml/2006/main">
            <a:r>
              <a:t>          "1": {</a:t>
            </a:r>
          </a:p>
          <a:p xmlns:a="http://schemas.openxmlformats.org/drawingml/2006/main">
            <a:r>
              <a:t>            "baseline": 2259.5,</a:t>
            </a:r>
          </a:p>
          <a:p xmlns:a="http://schemas.openxmlformats.org/drawingml/2006/main">
            <a:r>
              <a:t>            "selected":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5253.5,</a:t>
            </a:r>
          </a:p>
          <a:p xmlns:a="http://schemas.openxmlformats.org/drawingml/2006/main">
            <a:r>
              <a:t>            "selected":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9571.0,</a:t>
            </a:r>
          </a:p>
          <a:p xmlns:a="http://schemas.openxmlformats.org/drawingml/2006/main">
            <a:r>
              <a:t>            "selected":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5915.25,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29189.5,</a:t>
            </a:r>
          </a:p>
          <a:p xmlns:a="http://schemas.openxmlformats.org/drawingml/2006/main">
            <a:r>
              <a:t>        "recursive_mae": {</a:t>
            </a:r>
          </a:p>
          <a:p xmlns:a="http://schemas.openxmlformats.org/drawingml/2006/main">
            <a:r>
              <a:t>          "1": {</a:t>
            </a:r>
          </a:p>
          <a:p xmlns:a="http://schemas.openxmlformats.org/drawingml/2006/main">
            <a:r>
              <a:t>            "baseline": 11165.5,</a:t>
            </a:r>
          </a:p>
          <a:p xmlns:a="http://schemas.openxmlformats.org/drawingml/2006/main">
            <a:r>
              <a:t>            "selected":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19541.0,</a:t>
            </a:r>
          </a:p>
          <a:p xmlns:a="http://schemas.openxmlformats.org/drawingml/2006/main">
            <a:r>
              <a:t>            "selected":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47213.5,</a:t>
            </a:r>
          </a:p>
          <a:p xmlns:a="http://schemas.openxmlformats.org/drawingml/2006/main">
            <a:r>
              <a:t>            "selected":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29189.5,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6,</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방문자/2026_01_06.zip | https://datalab.visitkorea.or.kr/</a:t>
            </a:r>
          </a:p>
          <a:p>
            <a:r>
              <a:t>datalab:4833a91757b2:5c2efa032440 | 숙박_체류시간/2026_01_06.zip | https://datalab.visitkorea.or.kr/</a:t>
            </a:r>
          </a:p>
          <a:p>
            <a:r>
              <a:t>datalab:5d9f73f9fe47:2904d99e7279 | 숙박_체류시간/2025_01_12.zip | https://datalab.visitkorea.or.kr/</a:t>
            </a:r>
          </a:p>
          <a:p>
            <a:r>
              <a:t>datalab:95122c38b4fc:522e2d839300 | 관광소비/2026_01_06.zip | https://datalab.visitkorea.or.kr/</a:t>
            </a:r>
          </a:p>
          <a:p>
            <a:r>
              <a:t>datalab:d73227708014:f4517115deb9 | 방문자/2025_01_12.zip | https://datalab.visitkorea.or.kr/</a:t>
            </a:r>
          </a:p>
          <a:p>
            <a:r>
              <a:t>datalab:f07ad8a73d99:ed1b998de1b3 | 관광소비/2025_01_12.zip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"source_file_name": "제주특별자치도_제주시/방문자/2026_01_06.zip"</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"source_file_name": "제주특별자치도_제주시/숙박_체류시간/2026_01_06.zip"</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"source_file_name": "제주특별자치도_제주시/숙박_체류시간/2025_01_12.zip"</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"source_file_name": "제주특별자치도_제주시/관광소비/2026_01_06.zip"</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"source_file_name": "제주특별자치도_제주시/방문자/2025_01_12.zip"</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"source_file_name": "제주특별자치도_제주시/관광소비/2025_01_12.zip"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141219.0,</a:t>
            </a:r>
          </a:p>
          <a:p>
            <a:r>
              <a:t>            "selected": 265459.0,</a:t>
            </a:r>
          </a:p>
          <a:p>
            <a:r>
              <a:t>            "sample_count": 2</a:t>
            </a:r>
          </a:p>
          <a:p>
            <a:r>
              <a:t>          },</a:t>
            </a:r>
          </a:p>
          <a:p>
            <a:r>
              <a:t>          "2": {</a:t>
            </a:r>
          </a:p>
          <a:p>
            <a:r>
              <a:t>            "baseline": 144459.5,</a:t>
            </a:r>
          </a:p>
          <a:p>
            <a:r>
              <a:t>            "selected": 136814.0,</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11633402000.0,</a:t>
            </a:r>
          </a:p>
          <a:p>
            <a:r>
              <a:t>            "selected": 5070058833.0,</a:t>
            </a:r>
          </a:p>
          <a:p>
            <a:r>
              <a:t>            "sample_count": 2</a:t>
            </a:r>
          </a:p>
          <a:p>
            <a:r>
              <a:t>          },</a:t>
            </a:r>
          </a:p>
          <a:p>
            <a:r>
              <a:t>          "2": {</a:t>
            </a:r>
          </a:p>
          <a:p>
            <a:r>
              <a:t>            "baseline": 5588447000.0,</a:t>
            </a:r>
          </a:p>
          <a:p>
            <a:r>
              <a:t>            "selected": 2754801694.5,</a:t>
            </a:r>
          </a:p>
          <a:p>
            <a:r>
              <a:t>            "sample_count": 2</a:t>
            </a:r>
          </a:p>
          <a:p>
            <a:r>
              <a:t>          },</a:t>
            </a:r>
          </a:p>
          <a:p>
            <a:r>
              <a:t>          "3": {</a:t>
            </a:r>
          </a:p>
          <a:p>
            <a:r>
              <a:t>            "baseline": 5647526500.0,</a:t>
            </a:r>
          </a:p>
          <a:p>
            <a:r>
              <a:t>            "selected": 11586732430.5,</a:t>
            </a:r>
          </a:p>
          <a:p>
            <a:r>
              <a:t>            "sample_count": 2</a:t>
            </a:r>
          </a:p>
          <a:p>
            <a:r>
              <a:t>          }</a:t>
            </a:r>
          </a:p>
          <a:p>
            <a:r>
              <a:t>        },</a:t>
            </a:r>
          </a:p>
          <a:p>
            <a:r>
              <a:t>        "selected_model": "LinearRegression",</a:t>
            </a:r>
          </a:p>
          <a:p>
            <a:r>
              <a:t>        "baseline_test_mae": 8640464250.0,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41.0,</a:t>
            </a:r>
          </a:p>
          <a:p>
            <a:r>
              <a:t>            "selected": 41.0,</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9571.0,</a:t>
            </a:r>
          </a:p>
          <a:p>
            <a:r>
              <a:t>            "selected": 9571.0,</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19541.0,</a:t>
            </a:r>
          </a:p>
          <a:p>
            <a:r>
              <a:t>            "selected": 19541.0,</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방문자/2026_01_06.zip | https://datalab.visitkorea.or.kr/</a:t>
            </a:r>
          </a:p>
          <a:p>
            <a:r>
              <a:t>datalab:4833a91757b2:5c2efa032440 | 숙박_체류시간/2026_01_06.zip | https://datalab.visitkorea.or.kr/</a:t>
            </a:r>
          </a:p>
          <a:p>
            <a:r>
              <a:t>datalab:5d9f73f9fe47:2904d99e7279 | 숙박_체류시간/2025_01_12.zip | https://datalab.visitkorea.or.kr/</a:t>
            </a:r>
          </a:p>
          <a:p>
            <a:r>
              <a:t>datalab:95122c38b4fc:522e2d839300 | 관광소비/2026_01_06.zip | https://datalab.visitkorea.or.kr/</a:t>
            </a:r>
          </a:p>
          <a:p>
            <a:r>
              <a:t>datalab:d73227708014:f4517115deb9 | 방문자/2025_01_12.zip | https://datalab.visitkorea.or.kr/</a:t>
            </a:r>
          </a:p>
          <a:p>
            <a:r>
              <a:t>datalab:f07ad8a73d99:ed1b998de1b3 | 관광소비/2025_01_12.zip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"source_file_name": "제주특별자치도_제주시/방문자/2026_01_06.zip"</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"source_file_name": "제주특별자치도_제주시/숙박_체류시간/2026_01_06.zip"</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"source_file_name": "제주특별자치도_제주시/숙박_체류시간/2025_01_12.zip"</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"source_file_name": "제주특별자치도_제주시/관광소비/2026_01_06.zip"</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"source_file_name": "제주특별자치도_제주시/방문자/2025_01_12.zip"</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"source_file_name": "제주특별자치도_제주시/관광소비/2025_01_12.zip"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141219.0,</a:t>
            </a:r>
          </a:p>
          <a:p>
            <a:r>
              <a:t>            "selected": 265459.0,</a:t>
            </a:r>
          </a:p>
          <a:p>
            <a:r>
              <a:t>            "sample_count": 2</a:t>
            </a:r>
          </a:p>
          <a:p>
            <a:r>
              <a:t>          },</a:t>
            </a:r>
          </a:p>
          <a:p>
            <a:r>
              <a:t>          "2": {</a:t>
            </a:r>
          </a:p>
          <a:p>
            <a:r>
              <a:t>            "baseline": 144459.5,</a:t>
            </a:r>
          </a:p>
          <a:p>
            <a:r>
              <a:t>            "selected": 136814.0,</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11633402000.0,</a:t>
            </a:r>
          </a:p>
          <a:p>
            <a:r>
              <a:t>            "selected": 5070058833.0,</a:t>
            </a:r>
          </a:p>
          <a:p>
            <a:r>
              <a:t>            "sample_count": 2</a:t>
            </a:r>
          </a:p>
          <a:p>
            <a:r>
              <a:t>          },</a:t>
            </a:r>
          </a:p>
          <a:p>
            <a:r>
              <a:t>          "2": {</a:t>
            </a:r>
          </a:p>
          <a:p>
            <a:r>
              <a:t>            "baseline": 5588447000.0,</a:t>
            </a:r>
          </a:p>
          <a:p>
            <a:r>
              <a:t>            "selected": 2754801694.5,</a:t>
            </a:r>
          </a:p>
          <a:p>
            <a:r>
              <a:t>            "sample_count": 2</a:t>
            </a:r>
          </a:p>
          <a:p>
            <a:r>
              <a:t>          },</a:t>
            </a:r>
          </a:p>
          <a:p>
            <a:r>
              <a:t>          "3": {</a:t>
            </a:r>
          </a:p>
          <a:p>
            <a:r>
              <a:t>            "baseline": 5647526500.0,</a:t>
            </a:r>
          </a:p>
          <a:p>
            <a:r>
              <a:t>            "selected": 11586732430.5,</a:t>
            </a:r>
          </a:p>
          <a:p>
            <a:r>
              <a:t>            "sample_count": 2</a:t>
            </a:r>
          </a:p>
          <a:p>
            <a:r>
              <a:t>          }</a:t>
            </a:r>
          </a:p>
          <a:p>
            <a:r>
              <a:t>        },</a:t>
            </a:r>
          </a:p>
          <a:p>
            <a:r>
              <a:t>        "selected_model": "LinearRegression",</a:t>
            </a:r>
          </a:p>
          <a:p>
            <a:r>
              <a:t>        "baseline_test_mae": 8640464250.0,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41.0,</a:t>
            </a:r>
          </a:p>
          <a:p>
            <a:r>
              <a:t>            "selected": 41.0,</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9571.0,</a:t>
            </a:r>
          </a:p>
          <a:p>
            <a:r>
              <a:t>            "selected": 9571.0,</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19541.0,</a:t>
            </a:r>
          </a:p>
          <a:p>
            <a:r>
              <a:t>            "selected": 19541.0,</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"observed_findings": [</a:t>
            </a:r>
          </a:p>
          <a:p>
            <a:r>
              <a:t>    {</a:t>
            </a:r>
          </a:p>
          <a:p>
            <a:r>
              <a:t>      "value": "3,131,476명",</a:t>
            </a:r>
          </a:p>
          <a:p>
            <a:r>
              <a:t>      "metric": "월간 순 방문자 수",</a:t>
            </a:r>
          </a:p>
          <a:p>
            <a:r>
              <a:t>      "source": "dataset:50110:1",</a:t>
            </a:r>
          </a:p>
          <a:p>
            <a:r>
              <a:t>      "interpretation": "2026년 6월 기준, 전년 동월 대비 -8.9% 감소하며 방문객 감소 추세가 관측됨"</a:t>
            </a:r>
          </a:p>
          <a:p>
            <a:r>
              <a:t>    },</a:t>
            </a:r>
          </a:p>
          <a:p>
            <a:r>
              <a:t>    {</a:t>
            </a:r>
          </a:p>
          <a:p>
            <a:r>
              <a:t>      "value": "580,380건",</a:t>
            </a:r>
          </a:p>
          <a:p>
            <a:r>
              <a:t>      "metric": "내비게이션 목적지 검색량",</a:t>
            </a:r>
          </a:p>
          <a:p>
            <a:r>
              <a:t>      "source": "dataset:50110:6",</a:t>
            </a:r>
          </a:p>
          <a:p>
            <a:r>
              <a:t>      "interpretation": "제주시 내 관광 목적지에 대한 높은 관심이 확인되어 야간 프로그램 운영을 위한 잠재 수요로 판단됨"</a:t>
            </a:r>
          </a:p>
          <a:p>
            <a:r>
              <a:t>    },</a:t>
            </a:r>
          </a:p>
          <a:p>
            <a:r>
              <a:t>    {</a:t>
            </a:r>
          </a:p>
          <a:p>
            <a:r>
              <a:t>      "value": "21.0%",</a:t>
            </a:r>
          </a:p>
          <a:p>
            <a:r>
              <a:t>      "metric": "외지인 숙박 방문 비율",</a:t>
            </a:r>
          </a:p>
          <a:p>
            <a:r>
              <a:t>      "source": "dataset:50110:4",</a:t>
            </a:r>
          </a:p>
          <a:p>
            <a:r>
              <a:t>      "interpretation": "전체 방문객 중 숙박객 비중이 낮아 야간 체류 프로그램이 숙박 전환의 핵심 기제가 될 수 있음"</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"months": 3,</a:t>
            </a:r>
          </a:p>
          <a:p>
            <a:r>
              <a:t>      "refund": false,</a:t>
            </a:r>
          </a:p>
          <a:p>
            <a:r>
              <a:t>      "status": "planning_assumption_not_quote",</a:t>
            </a:r>
          </a:p>
          <a:p>
            <a:r>
              <a:t>      "sources": [],</a:t>
            </a:r>
          </a:p>
          <a:p>
            <a:r>
              <a:t>      "version": "reference-estimate-v2",</a:t>
            </a:r>
          </a:p>
          <a:p>
            <a:r>
              <a:t>      "quantity": 3487,</a:t>
            </a:r>
          </a:p>
          <a:p>
            <a:r>
              <a:t>      "unit_krw": 10000,</a:t>
            </a:r>
          </a:p>
          <a:p>
            <a:r>
              <a:t>      "total_krw": 79057000,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7187000,</a:t>
            </a:r>
          </a:p>
          <a:p>
            <a:r>
              <a:t>      "scale_basis": "사업기간 추가 방문 목표 348,601명 × 시범 담당 비중 1% → 3,487건(올림). 1%는 직접 운영할 참여량 배분 가정이며 전환율 예측이 아닙니다.",</a:t>
            </a:r>
          </a:p>
          <a:p>
            <a:r>
              <a:t>      "subtotal_krw": 71870000,</a:t>
            </a:r>
          </a:p>
          <a:p>
            <a:r>
              <a:t>      "pilot_share_pct": 1,</a:t>
            </a:r>
          </a:p>
          <a:p>
            <a:r>
              <a:t>      "redemption_count": 2789,</a:t>
            </a:r>
          </a:p>
          <a:p>
            <a:r>
              <a:t>      "within_hard_budget": true,</a:t>
            </a:r>
          </a:p>
          <a:p>
            <a:r>
              <a:t>      "qualifying_spend_krw": null,</a:t>
            </a:r>
          </a:p>
          <a:p>
            <a:r>
              <a:t>      "redemption_target_pct": 80,</a:t>
            </a:r>
          </a:p>
          <a:p>
            <a:r>
              <a:t>      "additional_visitors_target": 348601.01666666754</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korean-culture.org/koreanet/view.do?seq=1047457"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5.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apis.data.go.kr/B551011/KorService2" TargetMode="External"/><Relationship Id="rId3"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제주시 야간 문화유산 및 시설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개방 프로그램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2026.10 ~ 2026.12</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2026-09-15</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제주특별자치도 제주시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2026. 09. 15</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1-number"/>
          <p:cNvSpPr txBox="1"/>
          <p:nvPr/>
        </p:nvSpPr>
        <p:spPr>
          <a:xfrm>
            <a:off x="53530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3" name="toc-1-label"/>
          <p:cNvSpPr txBox="1"/>
          <p:nvPr/>
        </p:nvSpPr>
        <p:spPr>
          <a:xfrm>
            <a:off x="59721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설계와 3개월 목표</a:t>
            </a:r>
          </a:p>
        </p:txBody>
      </p:sp>
      <p:sp xmlns:a="http://schemas.openxmlformats.org/drawingml/2006/main">
        <p:nvSpPr>
          <p:cNvPr id="44" name="toc-2-number"/>
          <p:cNvSpPr txBox="1"/>
          <p:nvPr/>
        </p:nvSpPr>
        <p:spPr>
          <a:xfrm>
            <a:off x="53530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5" name="toc-2-label"/>
          <p:cNvSpPr txBox="1"/>
          <p:nvPr/>
        </p:nvSpPr>
        <p:spPr>
          <a:xfrm>
            <a:off x="59721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6" name="toc-3-number"/>
          <p:cNvSpPr txBox="1"/>
          <p:nvPr/>
        </p:nvSpPr>
        <p:spPr>
          <a:xfrm>
            <a:off x="53530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47" name="toc-3-label"/>
          <p:cNvSpPr txBox="1"/>
          <p:nvPr/>
        </p:nvSpPr>
        <p:spPr>
          <a:xfrm>
            <a:off x="59721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선정과 지역 적용</a:t>
            </a:r>
          </a:p>
        </p:txBody>
      </p:sp>
      <p:sp xmlns:a="http://schemas.openxmlformats.org/drawingml/2006/main">
        <p:nvSpPr>
          <p:cNvPr id="48" name="toc-4-number"/>
          <p:cNvSpPr txBox="1"/>
          <p:nvPr/>
        </p:nvSpPr>
        <p:spPr>
          <a:xfrm>
            <a:off x="53530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49" name="toc-4-label"/>
          <p:cNvSpPr txBox="1"/>
          <p:nvPr/>
        </p:nvSpPr>
        <p:spPr>
          <a:xfrm>
            <a:off x="59721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 예시안</a:t>
            </a:r>
          </a:p>
        </p:txBody>
      </p:sp>
      <p:sp xmlns:a="http://schemas.openxmlformats.org/drawingml/2006/main">
        <p:nvSpPr>
          <p:cNvPr id="50" name="toc-5-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1" name="toc-5-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52" name="toc-6-number"/>
          <p:cNvSpPr txBox="1"/>
          <p:nvPr/>
        </p:nvSpPr>
        <p:spPr>
          <a:xfrm>
            <a:off x="104965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3" name="toc-6-label"/>
          <p:cNvSpPr txBox="1"/>
          <p:nvPr/>
        </p:nvSpPr>
        <p:spPr>
          <a:xfrm>
            <a:off x="111156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실적과 목표 설정</a:t>
            </a:r>
          </a:p>
        </p:txBody>
      </p:sp>
      <p:sp xmlns:a="http://schemas.openxmlformats.org/drawingml/2006/main">
        <p:nvSpPr>
          <p:cNvPr id="54" name="toc-7-number"/>
          <p:cNvSpPr txBox="1"/>
          <p:nvPr/>
        </p:nvSpPr>
        <p:spPr>
          <a:xfrm>
            <a:off x="104965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55" name="toc-7-label"/>
          <p:cNvSpPr txBox="1"/>
          <p:nvPr/>
        </p:nvSpPr>
        <p:spPr>
          <a:xfrm>
            <a:off x="111156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6" name="toc-8-number"/>
          <p:cNvSpPr txBox="1"/>
          <p:nvPr/>
        </p:nvSpPr>
        <p:spPr>
          <a:xfrm>
            <a:off x="104965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57" name="toc-8-label"/>
          <p:cNvSpPr txBox="1"/>
          <p:nvPr/>
        </p:nvSpPr>
        <p:spPr>
          <a:xfrm>
            <a:off x="111156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산출 근거와 사례 선정 과정</a:t>
            </a:r>
          </a:p>
        </p:txBody>
      </p:sp>
      <p:sp xmlns:a="http://schemas.openxmlformats.org/drawingml/2006/main">
        <p:nvSpPr>
          <p:cNvPr id="58" name="toc-9-number"/>
          <p:cNvSpPr txBox="1"/>
          <p:nvPr/>
        </p:nvSpPr>
        <p:spPr>
          <a:xfrm>
            <a:off x="104965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59" name="toc-9-label"/>
          <p:cNvSpPr txBox="1"/>
          <p:nvPr/>
        </p:nvSpPr>
        <p:spPr>
          <a:xfrm>
            <a:off x="111156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 및 맺음말</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l"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제주시 야간 문화유산 및 시설 개방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제주시 내 박물관, 공연장, 문화유산 등 기존 시설을 활용하여</a:t>
            </a:r>
          </a:p>
          <a:p>
            <a:pPr eaLnBrk="0">
              <a:lnSpc>
                <a:spcPts val="3187"/>
              </a:lnSpc>
              <a:spcBef>
                <a:spcPts val="0"/>
              </a:spcBef>
              <a:spcAft>
                <a:spcPts val="0"/>
              </a:spcAft>
            </a:pPr>
            <a:r>
              <a:rPr sz="2550" b="1">
                <a:solidFill>
                  <a:srgbClr val="1D2227"/>
                </a:solidFill>
                <a:latin typeface="Noto Sans KR"/>
              </a:rPr>
              <a:t>야간 개방 및 체험 프로그램을 확대 운영</a:t>
            </a:r>
          </a:p>
        </p:txBody>
      </p:sp>
      <p:sp xmlns:a="http://schemas.openxmlformats.org/drawingml/2006/main">
        <p:nvSpPr>
          <p:cNvPr id="36" name="s3-detail-label"/>
          <p:cNvSpPr txBox="1"/>
          <p:nvPr/>
        </p:nvSpPr>
        <p:spPr>
          <a:xfrm>
            <a:off x="5343525" y="476250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5276850"/>
            <a:ext cx="8524875" cy="9048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제주시 내 박물관, 공연장, 문화유산 등 기존 시설을 활용하여 야간 개방 및 체험 프로그램을 이용하는 방문객</a:t>
            </a:r>
          </a:p>
          <a:p>
            <a:pPr eaLnBrk="0">
              <a:lnSpc>
                <a:spcPts val="1781"/>
              </a:lnSpc>
              <a:spcBef>
                <a:spcPts val="0"/>
              </a:spcBef>
              <a:spcAft>
                <a:spcPts val="0"/>
              </a:spcAft>
            </a:pPr>
            <a:r>
              <a:rPr sz="1425" b="0">
                <a:solidFill>
                  <a:srgbClr val="59636E"/>
                </a:solidFill>
                <a:latin typeface="Noto Sans KR"/>
              </a:rPr>
              <a:t>제주시 내 박물관, 공연장, 문화유산 등 기존 시설을 활용하여 야간 개방 및 체험 프로그램을 확대 운영</a:t>
            </a:r>
          </a:p>
          <a:p>
            <a:pPr eaLnBrk="0">
              <a:lnSpc>
                <a:spcPts val="1781"/>
              </a:lnSpc>
              <a:spcBef>
                <a:spcPts val="0"/>
              </a:spcBef>
              <a:spcAft>
                <a:spcPts val="0"/>
              </a:spcAft>
            </a:pPr>
            <a:r>
              <a:rPr sz="1425" b="0">
                <a:solidFill>
                  <a:srgbClr val="59636E"/>
                </a:solidFill>
                <a:latin typeface="Noto Sans KR"/>
              </a:rPr>
              <a:t>2026-10 ~ 2026-12, 3개월</a:t>
            </a:r>
          </a:p>
        </p:txBody>
      </p:sp>
      <p:sp xmlns:a="http://schemas.openxmlformats.org/drawingml/2006/main">
        <p:nvSpPr>
          <p:cNvPr id="38" name="s3-goal-label"/>
          <p:cNvSpPr txBox="1"/>
          <p:nvPr/>
        </p:nvSpPr>
        <p:spPr>
          <a:xfrm>
            <a:off x="5343525" y="6429375"/>
            <a:ext cx="8524875"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사업의 목표 · 3개월 월별 합계 기준</a:t>
            </a:r>
          </a:p>
        </p:txBody>
      </p:sp>
      <p:sp xmlns:a="http://schemas.openxmlformats.org/drawingml/2006/main">
        <p:nvSpPr>
          <p:cNvPr id="39" name="s3-goal-panel-0"/>
          <p:cNvSpPr/>
          <p:nvPr/>
        </p:nvSpPr>
        <p:spPr>
          <a:xfrm>
            <a:off x="5343525"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s3-goal-name-0"/>
          <p:cNvSpPr txBox="1"/>
          <p:nvPr/>
        </p:nvSpPr>
        <p:spPr>
          <a:xfrm>
            <a:off x="5486400"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방문자 수</a:t>
            </a:r>
          </a:p>
        </p:txBody>
      </p:sp>
      <p:sp xmlns:a="http://schemas.openxmlformats.org/drawingml/2006/main">
        <p:nvSpPr>
          <p:cNvPr id="41" name="s3-goal-value-0"/>
          <p:cNvSpPr txBox="1"/>
          <p:nvPr/>
        </p:nvSpPr>
        <p:spPr>
          <a:xfrm>
            <a:off x="5486400"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348,601명</a:t>
            </a:r>
          </a:p>
        </p:txBody>
      </p:sp>
      <p:sp xmlns:a="http://schemas.openxmlformats.org/drawingml/2006/main">
        <p:nvSpPr>
          <p:cNvPr id="42" name="s3-goal-pct-0"/>
          <p:cNvSpPr txBox="1"/>
          <p:nvPr/>
        </p:nvSpPr>
        <p:spPr>
          <a:xfrm>
            <a:off x="5486400"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+3.29% · 계획 목표</a:t>
            </a:r>
          </a:p>
        </p:txBody>
      </p:sp>
      <p:sp xmlns:a="http://schemas.openxmlformats.org/drawingml/2006/main">
        <p:nvSpPr>
          <p:cNvPr id="43" name="s3-goal-panel-1"/>
          <p:cNvSpPr/>
          <p:nvPr/>
        </p:nvSpPr>
        <p:spPr>
          <a:xfrm>
            <a:off x="9715500"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s3-goal-name-1"/>
          <p:cNvSpPr txBox="1"/>
          <p:nvPr/>
        </p:nvSpPr>
        <p:spPr>
          <a:xfrm>
            <a:off x="9858375"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관광소비액</a:t>
            </a:r>
          </a:p>
        </p:txBody>
      </p:sp>
      <p:sp xmlns:a="http://schemas.openxmlformats.org/drawingml/2006/main">
        <p:nvSpPr>
          <p:cNvPr id="45" name="s3-goal-value-1"/>
          <p:cNvSpPr txBox="1"/>
          <p:nvPr/>
        </p:nvSpPr>
        <p:spPr>
          <a:xfrm>
            <a:off x="9858375"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148.12억 원</a:t>
            </a:r>
          </a:p>
        </p:txBody>
      </p:sp>
      <p:sp xmlns:a="http://schemas.openxmlformats.org/drawingml/2006/main">
        <p:nvSpPr>
          <p:cNvPr id="46" name="s3-goal-pct-1"/>
          <p:cNvSpPr txBox="1"/>
          <p:nvPr/>
        </p:nvSpPr>
        <p:spPr>
          <a:xfrm>
            <a:off x="9858375"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+3.33% · 계획 목표</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설계와 3개월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제주시 내 박물관, 공연장, 문화유산 등</a:t>
            </a:r>
          </a:p>
          <a:p>
            <a:pPr eaLnBrk="0">
              <a:lnSpc>
                <a:spcPts val="2156"/>
              </a:lnSpc>
              <a:spcBef>
                <a:spcPts val="0"/>
              </a:spcBef>
              <a:spcAft>
                <a:spcPts val="0"/>
              </a:spcAft>
            </a:pPr>
            <a:r>
              <a:rPr sz="1725" b="0">
                <a:solidFill>
                  <a:srgbClr val="59636E"/>
                </a:solidFill>
                <a:latin typeface="Noto Sans KR"/>
              </a:rPr>
              <a:t>기존 시설을 활용하여 야간 개방 및 체험</a:t>
            </a:r>
          </a:p>
          <a:p>
            <a:pPr eaLnBrk="0">
              <a:lnSpc>
                <a:spcPts val="2156"/>
              </a:lnSpc>
              <a:spcBef>
                <a:spcPts val="0"/>
              </a:spcBef>
              <a:spcAft>
                <a:spcPts val="0"/>
              </a:spcAft>
            </a:pPr>
            <a:r>
              <a:rPr sz="1725" b="0">
                <a:solidFill>
                  <a:srgbClr val="59636E"/>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2026-10 ~ 2026-12, 3개월</a:t>
            </a:r>
          </a:p>
          <a:p>
            <a:pPr eaLnBrk="0">
              <a:lnSpc>
                <a:spcPts val="2156"/>
              </a:lnSpc>
              <a:spcBef>
                <a:spcPts val="0"/>
              </a:spcBef>
              <a:spcAft>
                <a:spcPts val="0"/>
              </a:spcAft>
            </a:pPr>
            <a:r>
              <a:rPr sz="172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3개월 월별 합계</a:t>
            </a:r>
          </a:p>
          <a:p>
            <a:pPr eaLnBrk="0">
              <a:lnSpc>
                <a:spcPts val="2156"/>
              </a:lnSpc>
              <a:spcBef>
                <a:spcPts val="0"/>
              </a:spcBef>
              <a:spcAft>
                <a:spcPts val="0"/>
              </a:spcAft>
            </a:pPr>
            <a:r>
              <a:rPr sz="1725" b="0">
                <a:solidFill>
                  <a:srgbClr val="59636E"/>
                </a:solidFill>
                <a:latin typeface="Noto Sans KR"/>
              </a:rPr>
              <a:t>방문자 1,093만 명</a:t>
            </a:r>
          </a:p>
          <a:p>
            <a:pPr eaLnBrk="0">
              <a:lnSpc>
                <a:spcPts val="2156"/>
              </a:lnSpc>
              <a:spcBef>
                <a:spcPts val="0"/>
              </a:spcBef>
              <a:spcAft>
                <a:spcPts val="0"/>
              </a:spcAft>
            </a:pPr>
            <a:r>
              <a:rPr sz="1725" b="0">
                <a:solidFill>
                  <a:srgbClr val="59636E"/>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00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ML 기준: 202401~202606 월별 지표의 1·3·12개월 전 값과 계절 정보를 저장 모델에 입력. 목표: 기준 전망 × (1 + 최종월 목표율 × 경과월/전체월).</a:t>
            </a:r>
          </a:p>
          <a:p>
            <a:pPr eaLnBrk="0">
              <a:lnSpc>
                <a:spcPts val="1875"/>
              </a:lnSpc>
              <a:spcBef>
                <a:spcPts val="0"/>
              </a:spcBef>
              <a:spcAft>
                <a:spcPts val="0"/>
              </a:spcAft>
            </a:pPr>
            <a:r>
              <a:rPr sz="1500" b="0">
                <a:solidFill>
                  <a:srgbClr val="59636E"/>
                </a:solidFill>
                <a:latin typeface="Noto Sans KR"/>
              </a:rPr>
              <a:t>목표율은 조정 가능한 계획 가정입니다. 사례 실적의 활용 여부와 목표 채택 이유는 목표 설정 근거에 제시합니다.</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핵심 운영 참고</a:t>
            </a:r>
          </a:p>
        </p:txBody>
      </p:sp>
      <p:sp xmlns:a="http://schemas.openxmlformats.org/drawingml/2006/main">
        <p:nvSpPr>
          <p:cNvPr id="8"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서울특별시 문화유산 집적지역 ·</a:t>
            </a:r>
          </a:p>
          <a:p>
            <a:pPr eaLnBrk="0">
              <a:lnSpc>
                <a:spcPts val="2250"/>
              </a:lnSpc>
              <a:spcBef>
                <a:spcPts val="0"/>
              </a:spcBef>
              <a:spcAft>
                <a:spcPts val="0"/>
              </a:spcAft>
            </a:pPr>
            <a:r>
              <a:rPr sz="1800" b="1">
                <a:solidFill>
                  <a:srgbClr val="1D2227"/>
                </a:solidFill>
                <a:latin typeface="Noto Sans KR"/>
              </a:rPr>
              <a:t>기존 문화유산을 활용한 야간</a:t>
            </a:r>
          </a:p>
          <a:p>
            <a:pPr eaLnBrk="0">
              <a:lnSpc>
                <a:spcPts val="2250"/>
              </a:lnSpc>
              <a:spcBef>
                <a:spcPts val="0"/>
              </a:spcBef>
              <a:spcAft>
                <a:spcPts val="0"/>
              </a:spcAft>
            </a:pPr>
            <a:r>
              <a:rPr sz="1800" b="1">
                <a:solidFill>
                  <a:srgbClr val="1D2227"/>
                </a:solidFill>
                <a:latin typeface="Noto Sans KR"/>
              </a:rPr>
              <a:t>개방·체험 프로그램</a:t>
            </a:r>
          </a:p>
        </p:txBody>
      </p:sp>
      <p:sp xmlns:a="http://schemas.openxmlformats.org/drawingml/2006/main">
        <p:nvSpPr>
          <p:cNvPr id="9"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문화유산이 모인 거점을 중심으로</a:t>
            </a:r>
          </a:p>
          <a:p>
            <a:pPr eaLnBrk="0">
              <a:lnSpc>
                <a:spcPts val="1968"/>
              </a:lnSpc>
              <a:spcBef>
                <a:spcPts val="0"/>
              </a:spcBef>
              <a:spcAft>
                <a:spcPts val="0"/>
              </a:spcAft>
            </a:pPr>
            <a:r>
              <a:rPr sz="1575" b="0">
                <a:solidFill>
                  <a:srgbClr val="59636E"/>
                </a:solidFill>
                <a:latin typeface="Noto Sans KR"/>
              </a:rPr>
              <a:t>야간 개방, 해설, 공연과</a:t>
            </a:r>
          </a:p>
          <a:p>
            <a:pPr eaLnBrk="0">
              <a:lnSpc>
                <a:spcPts val="1968"/>
              </a:lnSpc>
              <a:spcBef>
                <a:spcPts val="0"/>
              </a:spcBef>
              <a:spcAft>
                <a:spcPts val="0"/>
              </a:spcAft>
            </a:pPr>
            <a:r>
              <a:rPr sz="1575" b="0">
                <a:solidFill>
                  <a:srgbClr val="59636E"/>
                </a:solidFill>
                <a:latin typeface="Noto Sans KR"/>
              </a:rPr>
              <a:t>체험프로그램을 구성하고 국비와</a:t>
            </a:r>
          </a:p>
          <a:p>
            <a:pPr eaLnBrk="0">
              <a:lnSpc>
                <a:spcPts val="1968"/>
              </a:lnSpc>
              <a:spcBef>
                <a:spcPts val="0"/>
              </a:spcBef>
              <a:spcAft>
                <a:spcPts val="0"/>
              </a:spcAft>
            </a:pPr>
            <a:r>
              <a:rPr sz="1575" b="0">
                <a:solidFill>
                  <a:srgbClr val="59636E"/>
                </a:solidFill>
                <a:latin typeface="Noto Sans KR"/>
              </a:rPr>
              <a:t>지방비를 결합해 운영했다.</a:t>
            </a:r>
          </a:p>
        </p:txBody>
      </p:sp>
      <p:pic xmlns:a="http://schemas.openxmlformats.org/drawingml/2006/main" xmlns:r="http://schemas.openxmlformats.org/officeDocument/2006/relationships">
        <p:nvPicPr>
          <p:cNvPr id="10" name="case-photo-0" descr="yeosu_night.jpg"/>
          <p:cNvPicPr>
            <a:picLocks noChangeAspect="1"/>
          </p:cNvPicPr>
          <p:nvPr/>
        </p:nvPicPr>
        <p:blipFill>
          <a:blip r:embed="rId4"/>
          <a:stretch>
            <a:fillRect/>
          </a:stretch>
        </p:blipFill>
        <p:spPr>
          <a:xfrm>
            <a:off x="1479595" y="5857875"/>
            <a:ext cx="3289208" cy="1714500"/>
          </a:xfrm>
          <a:prstGeom prst="rect">
            <a:avLst/>
          </a:prstGeom>
        </p:spPr>
      </p:pic>
      <p:sp xmlns:a="http://schemas.openxmlformats.org/drawingml/2006/main">
        <p:nvSpPr>
          <p:cNvPr id="11"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5"/>
              </a:rPr>
              <a:t>유사 사업 참고 · 전남 여수시 야경</a:t>
            </a:r>
          </a:p>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5"/>
              </a:rPr>
              <a:t>출처: 문화체육관광부 코리아넷 (2024)</a:t>
            </a:r>
          </a:p>
        </p:txBody>
      </p:sp>
      <p:sp xmlns:a="http://schemas.openxmlformats.org/drawingml/2006/main">
        <p:nvSpPr>
          <p:cNvPr id="12"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r="http://schemas.openxmlformats.org/officeDocument/2006/relationships" r:id="rId6"/>
              </a:rPr>
              <a:t>사업 원문 보기 ↗</a:t>
            </a:r>
          </a:p>
        </p:txBody>
      </p:sp>
      <p:sp xmlns:a="http://schemas.openxmlformats.org/drawingml/2006/main">
        <p:nvSpPr>
          <p:cNvPr id="13"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5" name="case-badge-1"/>
          <p:cNvSpPr txBox="1"/>
          <p:nvPr/>
        </p:nvSpPr>
        <p:spPr>
          <a:xfrm>
            <a:off x="64484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후보 비교에 사용한 사례</a:t>
            </a:r>
          </a:p>
        </p:txBody>
      </p:sp>
      <p:sp xmlns:a="http://schemas.openxmlformats.org/drawingml/2006/main">
        <p:nvSpPr>
          <p:cNvPr id="16"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전라남도 강진군 ·</a:t>
            </a:r>
          </a:p>
          <a:p>
            <a:pPr eaLnBrk="0">
              <a:lnSpc>
                <a:spcPts val="2343"/>
              </a:lnSpc>
              <a:spcBef>
                <a:spcPts val="0"/>
              </a:spcBef>
              <a:spcAft>
                <a:spcPts val="0"/>
              </a:spcAft>
            </a:pPr>
            <a:r>
              <a:rPr sz="1875" b="1">
                <a:solidFill>
                  <a:srgbClr val="1D2227"/>
                </a:solidFill>
                <a:latin typeface="Noto Sans KR"/>
              </a:rPr>
              <a:t>반값여행 지역환급</a:t>
            </a:r>
          </a:p>
        </p:txBody>
      </p:sp>
      <p:sp xmlns:a="http://schemas.openxmlformats.org/drawingml/2006/main">
        <p:nvSpPr>
          <p:cNvPr id="17"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여행자가 지역에서 지출한 비용의</a:t>
            </a:r>
          </a:p>
          <a:p>
            <a:pPr eaLnBrk="0">
              <a:lnSpc>
                <a:spcPts val="1968"/>
              </a:lnSpc>
              <a:spcBef>
                <a:spcPts val="0"/>
              </a:spcBef>
              <a:spcAft>
                <a:spcPts val="0"/>
              </a:spcAft>
            </a:pPr>
            <a:r>
              <a:rPr sz="1575" b="0">
                <a:solidFill>
                  <a:srgbClr val="59636E"/>
                </a:solidFill>
                <a:latin typeface="Noto Sans KR"/>
              </a:rPr>
              <a:t>일부를 지역상품권으로 돌려받게 하여</a:t>
            </a:r>
          </a:p>
          <a:p>
            <a:pPr eaLnBrk="0">
              <a:lnSpc>
                <a:spcPts val="1968"/>
              </a:lnSpc>
              <a:spcBef>
                <a:spcPts val="0"/>
              </a:spcBef>
              <a:spcAft>
                <a:spcPts val="0"/>
              </a:spcAft>
            </a:pPr>
            <a:r>
              <a:rPr sz="1575" b="0">
                <a:solidFill>
                  <a:srgbClr val="59636E"/>
                </a:solidFill>
                <a:latin typeface="Noto Sans KR"/>
              </a:rPr>
              <a:t>혜택이 다시 지역 상점에서</a:t>
            </a:r>
          </a:p>
          <a:p>
            <a:pPr eaLnBrk="0">
              <a:lnSpc>
                <a:spcPts val="1968"/>
              </a:lnSpc>
              <a:spcBef>
                <a:spcPts val="0"/>
              </a:spcBef>
              <a:spcAft>
                <a:spcPts val="0"/>
              </a:spcAft>
            </a:pPr>
            <a:r>
              <a:rPr sz="1575" b="0">
                <a:solidFill>
                  <a:srgbClr val="59636E"/>
                </a:solidFill>
                <a:latin typeface="Noto Sans KR"/>
              </a:rPr>
              <a:t>사용되도록 설계</a:t>
            </a:r>
          </a:p>
        </p:txBody>
      </p:sp>
      <p:pic xmlns:a="http://schemas.openxmlformats.org/drawingml/2006/main" xmlns:r="http://schemas.openxmlformats.org/officeDocument/2006/relationships">
        <p:nvPicPr>
          <p:cNvPr id="18"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19"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8"/>
              </a:rPr>
              <a:t>강진군 · 반값여행 공식 홍보물</a:t>
            </a:r>
          </a:p>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8"/>
              </a:rPr>
              <a:t>출처: 강진 반값여행 공식 홈페이지</a:t>
            </a:r>
          </a:p>
        </p:txBody>
      </p:sp>
      <p:sp xmlns:a="http://schemas.openxmlformats.org/drawingml/2006/main">
        <p:nvSpPr>
          <p:cNvPr id="20"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r="http://schemas.openxmlformats.org/officeDocument/2006/relationships" r:id="rId9"/>
              </a:rPr>
              <a:t>사업 원문 보기 ↗</a:t>
            </a:r>
          </a:p>
        </p:txBody>
      </p:sp>
      <p:sp xmlns:a="http://schemas.openxmlformats.org/drawingml/2006/main">
        <p:nvSpPr>
          <p:cNvPr id="21"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3" name="case-badge-2"/>
          <p:cNvSpPr txBox="1"/>
          <p:nvPr/>
        </p:nvSpPr>
        <p:spPr>
          <a:xfrm>
            <a:off x="109442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후보 비교에 사용한 사례</a:t>
            </a:r>
          </a:p>
        </p:txBody>
      </p:sp>
      <p:sp xmlns:a="http://schemas.openxmlformats.org/drawingml/2006/main">
        <p:nvSpPr>
          <p:cNvPr id="24"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전국 인구감소지역 34곳 ·</a:t>
            </a:r>
          </a:p>
          <a:p>
            <a:pPr eaLnBrk="0">
              <a:lnSpc>
                <a:spcPts val="2250"/>
              </a:lnSpc>
              <a:spcBef>
                <a:spcPts val="0"/>
              </a:spcBef>
              <a:spcAft>
                <a:spcPts val="0"/>
              </a:spcAft>
            </a:pPr>
            <a:r>
              <a:rPr sz="1800" b="1">
                <a:solidFill>
                  <a:srgbClr val="1D2227"/>
                </a:solidFill>
                <a:latin typeface="Noto Sans KR"/>
              </a:rPr>
              <a:t>디지털 관광주민증과</a:t>
            </a:r>
          </a:p>
          <a:p>
            <a:pPr eaLnBrk="0">
              <a:lnSpc>
                <a:spcPts val="2250"/>
              </a:lnSpc>
              <a:spcBef>
                <a:spcPts val="0"/>
              </a:spcBef>
              <a:spcAft>
                <a:spcPts val="0"/>
              </a:spcAft>
            </a:pPr>
            <a:r>
              <a:rPr sz="1800" b="1">
                <a:solidFill>
                  <a:srgbClr val="1D2227"/>
                </a:solidFill>
                <a:latin typeface="Noto Sans KR"/>
              </a:rPr>
              <a:t>교통·숙박·상점 할인 결합</a:t>
            </a:r>
          </a:p>
        </p:txBody>
      </p:sp>
      <p:sp xmlns:a="http://schemas.openxmlformats.org/drawingml/2006/main">
        <p:nvSpPr>
          <p:cNvPr id="25"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a:t>
            </a:r>
          </a:p>
          <a:p>
            <a:pPr eaLnBrk="0">
              <a:lnSpc>
                <a:spcPts val="1968"/>
              </a:lnSpc>
              <a:spcBef>
                <a:spcPts val="0"/>
              </a:spcBef>
              <a:spcAft>
                <a:spcPts val="0"/>
              </a:spcAft>
            </a:pPr>
            <a:r>
              <a:rPr sz="1575" b="0">
                <a:solidFill>
                  <a:srgbClr val="59636E"/>
                </a:solidFill>
                <a:latin typeface="Noto Sans KR"/>
              </a:rPr>
              <a:t>인증과 숙박·식음·관람·체험 할인,</a:t>
            </a:r>
          </a:p>
          <a:p>
            <a:pPr eaLnBrk="0">
              <a:lnSpc>
                <a:spcPts val="1968"/>
              </a:lnSpc>
              <a:spcBef>
                <a:spcPts val="0"/>
              </a:spcBef>
              <a:spcAft>
                <a:spcPts val="0"/>
              </a:spcAft>
            </a:pPr>
            <a:r>
              <a:rPr sz="1575" b="0">
                <a:solidFill>
                  <a:srgbClr val="59636E"/>
                </a:solidFill>
                <a:latin typeface="Noto Sans KR"/>
              </a:rPr>
              <a:t>특정 시간대 KTX 할인과 방문 후 교통</a:t>
            </a:r>
          </a:p>
          <a:p>
            <a:pPr eaLnBrk="0">
              <a:lnSpc>
                <a:spcPts val="1968"/>
              </a:lnSpc>
              <a:spcBef>
                <a:spcPts val="0"/>
              </a:spcBef>
              <a:spcAft>
                <a:spcPts val="0"/>
              </a:spcAft>
            </a:pPr>
            <a:r>
              <a:rPr sz="1575" b="0">
                <a:solidFill>
                  <a:srgbClr val="59636E"/>
                </a:solidFill>
                <a:latin typeface="Noto Sans KR"/>
              </a:rPr>
              <a:t>할인권을 결합</a:t>
            </a:r>
          </a:p>
        </p:txBody>
      </p:sp>
      <p:pic xmlns:a="http://schemas.openxmlformats.org/drawingml/2006/main" xmlns:r="http://schemas.openxmlformats.org/officeDocument/2006/relationships">
        <p:nvPicPr>
          <p:cNvPr id="26"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7"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11"/>
              </a:rPr>
              <a:t>전국 · 디지털 관광주민증 홍보물</a:t>
            </a:r>
          </a:p>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11"/>
              </a:rPr>
              <a:t>출처: 대한민국 정책브리핑 (2025)</a:t>
            </a:r>
          </a:p>
        </p:txBody>
      </p:sp>
      <p:sp xmlns:a="http://schemas.openxmlformats.org/drawingml/2006/main">
        <p:nvSpPr>
          <p:cNvPr id="28"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r="http://schemas.openxmlformats.org/officeDocument/2006/relationships" r:id="rId12"/>
              </a:rPr>
              <a:t>사업 원문 보기 ↗</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이 사업을 참고한 이유와 지역 적용 방법</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004EA2"/>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1D2227"/>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결제·혜택·재이용 또는 예약·체류 등 실제 이용</a:t>
                      </a:r>
                    </a:p>
                    <a:p>
                      <a:pPr eaLnBrk="0">
                        <a:lnSpc>
                          <a:spcPct val="112000"/>
                        </a:lnSpc>
                        <a:spcBef>
                          <a:spcPts val="0"/>
                        </a:spcBef>
                        <a:spcAft>
                          <a:spcPts val="0"/>
                        </a:spcAft>
                      </a:pPr>
                      <a:r>
                        <a:rPr sz="1575" b="0">
                          <a:solidFill>
                            <a:srgbClr val="1D2227"/>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선택 지역의</a:t>
                      </a:r>
                    </a:p>
                    <a:p>
                      <a:pPr eaLnBrk="0">
                        <a:lnSpc>
                          <a:spcPct val="112000"/>
                        </a:lnSpc>
                        <a:spcBef>
                          <a:spcPts val="0"/>
                        </a:spcBef>
                        <a:spcAft>
                          <a:spcPts val="0"/>
                        </a:spcAft>
                      </a:pPr>
                      <a:r>
                        <a:rPr sz="1575" b="1">
                          <a:solidFill>
                            <a:srgbClr val="1D2227"/>
                          </a:solidFill>
                          <a:latin typeface="Noto Sans KR"/>
                        </a:rPr>
                        <a:t>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1D2227"/>
                          </a:solidFill>
                          <a:latin typeface="Noto Sans KR"/>
                        </a:rPr>
                        <a:t>580,380건 / 외지인 숙박 방문 비율: 21.0%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지역 소비·체류 지표를 보고 참여 업종과 이용</a:t>
                      </a:r>
                    </a:p>
                    <a:p>
                      <a:pPr eaLnBrk="0">
                        <a:lnSpc>
                          <a:spcPct val="112000"/>
                        </a:lnSpc>
                        <a:spcBef>
                          <a:spcPts val="0"/>
                        </a:spcBef>
                        <a:spcAft>
                          <a:spcPts val="0"/>
                        </a:spcAft>
                      </a:pPr>
                      <a:r>
                        <a:rPr sz="1575" b="0">
                          <a:solidFill>
                            <a:srgbClr val="1D2227"/>
                          </a:solidFill>
                          <a:latin typeface="Noto Sans KR"/>
                        </a:rPr>
                        <a:t>대상을 정합니다.</a:t>
                      </a:r>
                    </a:p>
                  </a:txBody>
                  <a:tcPr marL="95250" marR="95250" marT="66675" marB="66675" anchor="ctr">
                    <a:solidFill>
                      <a:srgbClr val="EAF1F6"/>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추가 방문 목표 348,601명 × 1%</a:t>
                      </a:r>
                    </a:p>
                    <a:p>
                      <a:pPr eaLnBrk="0">
                        <a:lnSpc>
                          <a:spcPct val="112000"/>
                        </a:lnSpc>
                        <a:spcBef>
                          <a:spcPts val="0"/>
                        </a:spcBef>
                        <a:spcAft>
                          <a:spcPts val="0"/>
                        </a:spcAft>
                      </a:pPr>
                      <a:r>
                        <a:rPr sz="1575" b="0">
                          <a:solidFill>
                            <a:srgbClr val="1D2227"/>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1D2227"/>
                </a:solidFill>
                <a:latin typeface="Noto Sans KR"/>
              </a:rPr>
              <a:t>제주시 내 박물관, 공연장, 문화유산 등 기존 시설을 활용하여 야간 개방 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hlinkClick r:id="rId2"/>
              </a:rPr>
              <a:t>문서 기반 함수 연결 · 2024년 문화재야행 사업 예산 확정자료</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59636E"/>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59636E"/>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59636E"/>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59636E"/>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3,594,310명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3,714,120명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119,810명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10,580,165명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10,928,766명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348,601명 · 3.29%</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1,450.85억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1,499.21억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48.36억 원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4,449.19억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4,597.31억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148.12억 원 · 3.33%</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실적과 목표 KPI 설정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case-title"/>
          <p:cNvSpPr txBox="1"/>
          <p:nvPr/>
        </p:nvSpPr>
        <p:spPr>
          <a:xfrm>
            <a:off x="1009650" y="1952625"/>
            <a:ext cx="13220700" cy="4953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선정 사례의 운영 방식과 시범 목표</a:t>
            </a:r>
          </a:p>
        </p:txBody>
      </p:sp>
      <p:sp>
        <p:nvSpPr>
          <p:cNvPr id="5" name="basis-description"/>
          <p:cNvSpPr txBox="1"/>
          <p:nvPr/>
        </p:nvSpPr>
        <p:spPr>
          <a:xfrm>
            <a:off x="1009650" y="2714625"/>
            <a:ext cx="13220700" cy="16192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59636E"/>
                </a:solidFill>
                <a:latin typeface="Noto Sans KR"/>
              </a:rPr>
              <a:t>선정 사례의 운영 방식을 지역의 시범사업에 적용합니다. 비교 가능한 전후 실적이 없는</a:t>
            </a:r>
          </a:p>
          <a:p>
            <a:pPr eaLnBrk="0">
              <a:lnSpc>
                <a:spcPts val="2531"/>
              </a:lnSpc>
              <a:spcBef>
                <a:spcPts val="0"/>
              </a:spcBef>
              <a:spcAft>
                <a:spcPts val="0"/>
              </a:spcAft>
            </a:pPr>
            <a:r>
              <a:rPr sz="2025" b="0">
                <a:solidFill>
                  <a:srgbClr val="59636E"/>
                </a:solidFill>
                <a:latin typeface="Noto Sans KR"/>
              </a:rPr>
              <a:t>경우 목표는 계획 가정으로 제시합니다.</a:t>
            </a:r>
          </a:p>
        </p:txBody>
      </p:sp>
      <p:sp>
        <p:nvSpPr>
          <p:cNvPr id="6" name="proposed-target"/>
          <p:cNvSpPr txBox="1"/>
          <p:nvPr/>
        </p:nvSpPr>
        <p:spPr>
          <a:xfrm>
            <a:off x="1009650" y="5305425"/>
            <a:ext cx="13220700" cy="600075"/>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F6B00"/>
                </a:solidFill>
                <a:latin typeface="Noto Sans KR"/>
              </a:rPr>
              <a:t>최종월 계획 목표 방문 +5% · 소비 +5%</a:t>
            </a:r>
          </a:p>
        </p:txBody>
      </p:sp>
      <p:sp>
        <p:nvSpPr>
          <p:cNvPr id="7" name="basis-method"/>
          <p:cNvSpPr txBox="1"/>
          <p:nvPr/>
        </p:nvSpPr>
        <p:spPr>
          <a:xfrm>
            <a:off x="1009650" y="6067425"/>
            <a:ext cx="12839700" cy="16668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① 목표 채택: 공식 사례의 운영 방식을 참고해 초기 계획 목표 5% 제안.</a:t>
            </a:r>
          </a:p>
          <a:p>
            <a:pPr eaLnBrk="0">
              <a:lnSpc>
                <a:spcPts val="2156"/>
              </a:lnSpc>
              <a:spcBef>
                <a:spcPts val="0"/>
              </a:spcBef>
              <a:spcAft>
                <a:spcPts val="0"/>
              </a:spcAft>
            </a:pPr>
            <a:r>
              <a:rPr sz="1725" b="0">
                <a:solidFill>
                  <a:srgbClr val="59636E"/>
                </a:solidFill>
                <a:latin typeface="Noto Sans KR"/>
              </a:rPr>
              <a:t>② 적용 목표: 최종월 방문 +5% · 소비 +5%. 월별 기준 전망에 단계 적용.</a:t>
            </a:r>
          </a:p>
          <a:p>
            <a:pPr eaLnBrk="0">
              <a:lnSpc>
                <a:spcPts val="2156"/>
              </a:lnSpc>
              <a:spcBef>
                <a:spcPts val="0"/>
              </a:spcBef>
              <a:spcAft>
                <a:spcPts val="0"/>
              </a:spcAft>
            </a:pPr>
            <a:r>
              <a:rPr sz="1725" b="0">
                <a:solidFill>
                  <a:srgbClr val="59636E"/>
                </a:solidFill>
                <a:latin typeface="Noto Sans KR"/>
              </a:rPr>
              <a:t>소비 목표는 해당 월 ML 소비/방문 비율을 추가 방문 목표에 적용한 계획값. 사례의 소비 증가율·사업 단독 효과가 아님.</a:t>
            </a:r>
          </a:p>
        </p:txBody>
      </p:sp>
      <p:sp>
        <p:nvSpPr>
          <p:cNvPr id="8" name="basis-source"/>
          <p:cNvSpPr txBox="1"/>
          <p:nvPr/>
        </p:nvSpPr>
        <p:spPr>
          <a:xfrm>
            <a:off x="1009650" y="7858125"/>
            <a:ext cx="13220700" cy="4000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목표율: 조정 가능한 기획 가정</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656"/>
              </a:lnSpc>
              <a:spcBef>
                <a:spcPts val="0"/>
              </a:spcBef>
              <a:spcAft>
                <a:spcPts val="0"/>
              </a:spcAft>
            </a:pPr>
            <a:r>
              <a:rPr sz="2925" b="1">
                <a:solidFill>
                  <a:srgbClr val="004EA2"/>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16845B"/>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21,000,000원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max(월 20인일 × 3, 3,487건 ÷ 25건/인일 올림) = 140인일 × 150,000원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7,187,000원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7,187만원 × 10%</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59636E"/>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xmlns:a="http://schemas.openxmlformats.org/drawingml/2006/main">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D01 순 방문자 수 및 숙박 비율 (이동통신</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기반 외지인) 2026-06</a:t>
            </a:r>
          </a:p>
        </p:txBody>
      </p:sp>
      <p:sp xmlns:a="http://schemas.openxmlformats.org/drawingml/2006/main">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D02 월간 순 방문자 수 (이동통신</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기반 외지인) 2026-06</a:t>
            </a:r>
          </a:p>
        </p:txBody>
      </p:sp>
      <p:sp xmlns:a="http://schemas.openxmlformats.org/drawingml/2006/main">
        <p:nvSpPr>
          <p:cNvPr id="7" name="reference-2"/>
          <p:cNvSpPr txBox="1"/>
          <p:nvPr/>
        </p:nvSpPr>
        <p:spPr>
          <a:xfrm>
            <a:off x="10096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D03 관광소비 추이_외지인 2026-06</a:t>
            </a:r>
          </a:p>
        </p:txBody>
      </p:sp>
      <p:sp xmlns:a="http://schemas.openxmlformats.org/drawingml/2006/main">
        <p:nvSpPr>
          <p:cNvPr id="8" name="reference-3"/>
          <p:cNvSpPr txBox="1"/>
          <p:nvPr/>
        </p:nvSpPr>
        <p:spPr>
          <a:xfrm>
            <a:off x="1009650" y="42291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D04 숙박방문자 비율 추이 (이동통신</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기반 외지인) 2026-06</a:t>
            </a:r>
          </a:p>
        </p:txBody>
      </p:sp>
      <p:sp xmlns:a="http://schemas.openxmlformats.org/drawingml/2006/main">
        <p:nvSpPr>
          <p:cNvPr id="9" name="reference-4"/>
          <p:cNvSpPr txBox="1"/>
          <p:nvPr/>
        </p:nvSpPr>
        <p:spPr>
          <a:xfrm>
            <a:off x="1009650" y="48291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D05 평균 숙박일 (이동통신 기반</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외지인) 2026-06</a:t>
            </a:r>
          </a:p>
        </p:txBody>
      </p:sp>
      <p:sp xmlns:a="http://schemas.openxmlformats.org/drawingml/2006/main">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D06 내비게이션 목적지 유형별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검색량 2026-06</a:t>
            </a:r>
          </a:p>
        </p:txBody>
      </p:sp>
      <p:sp xmlns:a="http://schemas.openxmlformats.org/drawingml/2006/main">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D07 SNS 언급량 2026-06</a:t>
            </a:r>
          </a:p>
        </p:txBody>
      </p:sp>
      <p:sp xmlns:a="http://schemas.openxmlformats.org/drawingml/2006/main">
        <p:nvSpPr>
          <p:cNvPr id="12" name="reference-7"/>
          <p:cNvSpPr txBox="1"/>
          <p:nvPr/>
        </p:nvSpPr>
        <p:spPr>
          <a:xfrm>
            <a:off x="1009650" y="64865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D08 방문자/2026_01_06.zip</a:t>
            </a:r>
          </a:p>
        </p:txBody>
      </p:sp>
      <p:sp xmlns:a="http://schemas.openxmlformats.org/drawingml/2006/main">
        <p:nvSpPr>
          <p:cNvPr id="13" name="reference-8"/>
          <p:cNvSpPr txBox="1"/>
          <p:nvPr/>
        </p:nvSpPr>
        <p:spPr>
          <a:xfrm>
            <a:off x="1009650" y="69437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D09 숙박_체류시간/2026_01_06.zip</a:t>
            </a:r>
          </a:p>
        </p:txBody>
      </p:sp>
      <p:sp xmlns:a="http://schemas.openxmlformats.org/drawingml/2006/main">
        <p:nvSpPr>
          <p:cNvPr id="14" name="reference-9"/>
          <p:cNvSpPr txBox="1"/>
          <p:nvPr/>
        </p:nvSpPr>
        <p:spPr>
          <a:xfrm>
            <a:off x="1009650" y="74009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D10 숙박_체류시간/2025_01_12.zip</a:t>
            </a:r>
          </a:p>
        </p:txBody>
      </p:sp>
      <p:sp xmlns:a="http://schemas.openxmlformats.org/drawingml/2006/main">
        <p:nvSpPr>
          <p:cNvPr id="15" name="reference-10"/>
          <p:cNvSpPr txBox="1"/>
          <p:nvPr/>
        </p:nvSpPr>
        <p:spPr>
          <a:xfrm>
            <a:off x="548640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D11 관광소비/2026_01_06.zip</a:t>
            </a:r>
          </a:p>
        </p:txBody>
      </p:sp>
      <p:sp xmlns:a="http://schemas.openxmlformats.org/drawingml/2006/main">
        <p:nvSpPr>
          <p:cNvPr id="16" name="reference-11"/>
          <p:cNvSpPr txBox="1"/>
          <p:nvPr/>
        </p:nvSpPr>
        <p:spPr>
          <a:xfrm>
            <a:off x="548640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D12 방문자/2025_01_12.zip</a:t>
            </a:r>
          </a:p>
        </p:txBody>
      </p:sp>
      <p:sp xmlns:a="http://schemas.openxmlformats.org/drawingml/2006/main">
        <p:nvSpPr>
          <p:cNvPr id="17" name="reference-12"/>
          <p:cNvSpPr txBox="1"/>
          <p:nvPr/>
        </p:nvSpPr>
        <p:spPr>
          <a:xfrm>
            <a:off x="548640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D13 관광소비/2025_01_12.zip</a:t>
            </a:r>
          </a:p>
        </p:txBody>
      </p:sp>
      <p:sp xmlns:a="http://schemas.openxmlformats.org/drawingml/2006/main">
        <p:nvSpPr>
          <p:cNvPr id="18" name="reference-13"/>
          <p:cNvSpPr txBox="1"/>
          <p:nvPr/>
        </p:nvSpPr>
        <p:spPr>
          <a:xfrm>
            <a:off x="5486400" y="39433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D14 이동통신/내국인/지역별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방문자수/20260820140607__202601-202606_데이터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19" name="reference-14"/>
          <p:cNvSpPr txBox="1"/>
          <p:nvPr/>
        </p:nvSpPr>
        <p:spPr>
          <a:xfrm>
            <a:off x="5486400" y="47577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D15</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이동통신/외국인/20260820141710_전국_202601-202</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606_데이터랩_다운로드.zip</a:t>
            </a:r>
          </a:p>
        </p:txBody>
      </p:sp>
      <p:sp xmlns:a="http://schemas.openxmlformats.org/drawingml/2006/main">
        <p:nvSpPr>
          <p:cNvPr id="20" name="reference-15"/>
          <p:cNvSpPr txBox="1"/>
          <p:nvPr/>
        </p:nvSpPr>
        <p:spPr>
          <a:xfrm>
            <a:off x="5486400" y="55721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D16 신용카드/내국인/지역별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관광지출액/20260820140046__202601-202606_데이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1" name="reference-16"/>
          <p:cNvSpPr txBox="1"/>
          <p:nvPr/>
        </p:nvSpPr>
        <p:spPr>
          <a:xfrm>
            <a:off x="5486400" y="63865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D17 신용카드/외국인/지역별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관광지출액/20260820140355__202601-202606_데이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2" name="reference-17"/>
          <p:cNvSpPr txBox="1"/>
          <p:nvPr/>
        </p:nvSpPr>
        <p:spPr>
          <a:xfrm>
            <a:off x="5486400" y="72009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D18 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검색건수/20260820195507__202601-202606_데이터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23" name="reference-18"/>
          <p:cNvSpPr txBox="1"/>
          <p:nvPr/>
        </p:nvSpPr>
        <p:spPr>
          <a:xfrm>
            <a:off x="996315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D19 이동통신/내국인/지역별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방문자수/20260820140614__202501-202512_데이터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24" name="reference-19"/>
          <p:cNvSpPr txBox="1"/>
          <p:nvPr/>
        </p:nvSpPr>
        <p:spPr>
          <a:xfrm>
            <a:off x="9963150" y="33861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D20</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이동통신/외국인/20260820141649_전국_202501-202</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512_데이터랩_다운로드.zip</a:t>
            </a:r>
          </a:p>
        </p:txBody>
      </p:sp>
      <p:sp xmlns:a="http://schemas.openxmlformats.org/drawingml/2006/main">
        <p:nvSpPr>
          <p:cNvPr id="25" name="reference-20"/>
          <p:cNvSpPr txBox="1"/>
          <p:nvPr/>
        </p:nvSpPr>
        <p:spPr>
          <a:xfrm>
            <a:off x="9963150" y="4200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D21 신용카드/내국인/지역별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관광지출액/20260820135957__202501-202512_데이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6" name="reference-21"/>
          <p:cNvSpPr txBox="1"/>
          <p:nvPr/>
        </p:nvSpPr>
        <p:spPr>
          <a:xfrm>
            <a:off x="9963150" y="50149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D22 신용카드/외국인/지역별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관광지출액/20260820140409__202501-202512_데이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7" name="reference-22"/>
          <p:cNvSpPr txBox="1"/>
          <p:nvPr/>
        </p:nvSpPr>
        <p:spPr>
          <a:xfrm>
            <a:off x="9963150" y="58293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D23 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검색건수/20260820132007__202501-202512_데이터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28" name="reference-23"/>
          <p:cNvSpPr txBox="1"/>
          <p:nvPr/>
        </p:nvSpPr>
        <p:spPr>
          <a:xfrm>
            <a:off x="9963150" y="664368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D24 이동통신/내국인/지역별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방문자수/20260820140624__202401-202412_데이터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D25</a:t>
            </a:r>
          </a:p>
          <a:p>
            <a:pPr eaLnBrk="0">
              <a:lnSpc>
                <a:spcPts val="1687"/>
              </a:lnSpc>
              <a:spcBef>
                <a:spcPts val="0"/>
              </a:spcBef>
              <a:spcAft>
                <a:spcPts val="0"/>
              </a:spcAft>
            </a:pPr>
            <a:r>
              <a:rPr sz="1350" b="0" u="none">
                <a:solidFill>
                  <a:srgbClr val="004EA2"/>
                </a:solidFill>
                <a:latin typeface="Noto Sans KR"/>
                <a:hlinkClick r:id="rId2"/>
              </a:rPr>
              <a:t>이동통신/외국인/20260820141639_전국_202401-202</a:t>
            </a:r>
          </a:p>
          <a:p>
            <a:pPr eaLnBrk="0">
              <a:lnSpc>
                <a:spcPts val="1687"/>
              </a:lnSpc>
              <a:spcBef>
                <a:spcPts val="0"/>
              </a:spcBef>
              <a:spcAft>
                <a:spcPts val="0"/>
              </a:spcAft>
            </a:pPr>
            <a:r>
              <a:rPr sz="1350" b="0" u="none">
                <a:solidFill>
                  <a:srgbClr val="004EA2"/>
                </a:solidFill>
                <a:latin typeface="Noto Sans KR"/>
                <a:hlinkClick r:id="rId2"/>
              </a:rPr>
              <a:t>412_데이터랩_다운로드.zip</a:t>
            </a:r>
          </a:p>
        </p:txBody>
      </p:sp>
      <p:sp>
        <p:nvSpPr>
          <p:cNvPr id="6" name="reference-1"/>
          <p:cNvSpPr txBox="1"/>
          <p:nvPr/>
        </p:nvSpPr>
        <p:spPr>
          <a:xfrm>
            <a:off x="1009650" y="33861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D26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유입유출 2025-07 ~ 2026-06</a:t>
            </a:r>
          </a:p>
        </p:txBody>
      </p:sp>
      <p:sp>
        <p:nvSpPr>
          <p:cNvPr id="7" name="reference-2"/>
          <p:cNvSpPr txBox="1"/>
          <p:nvPr/>
        </p:nvSpPr>
        <p:spPr>
          <a:xfrm>
            <a:off x="1009650" y="39862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D27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인기관광지 2025-07 ~ 2026-06</a:t>
            </a:r>
          </a:p>
        </p:txBody>
      </p:sp>
      <p:sp>
        <p:nvSpPr>
          <p:cNvPr id="8" name="reference-3"/>
          <p:cNvSpPr txBox="1"/>
          <p:nvPr/>
        </p:nvSpPr>
        <p:spPr>
          <a:xfrm>
            <a:off x="1009650" y="45862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D28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지역집중률 2025-07 ~ 2026-06</a:t>
            </a:r>
          </a:p>
        </p:txBody>
      </p:sp>
      <p:sp>
        <p:nvSpPr>
          <p:cNvPr id="9" name="reference-4"/>
          <p:cNvSpPr txBox="1"/>
          <p:nvPr/>
        </p:nvSpPr>
        <p:spPr>
          <a:xfrm>
            <a:off x="100965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방문자 수</a:t>
            </a:r>
          </a:p>
          <a:p>
            <a:pPr eaLnBrk="0">
              <a:lnSpc>
                <a:spcPts val="1687"/>
              </a:lnSpc>
              <a:spcBef>
                <a:spcPts val="0"/>
              </a:spcBef>
              <a:spcAft>
                <a:spcPts val="0"/>
              </a:spcAft>
            </a:pPr>
            <a:r>
              <a:rPr sz="1350" b="0">
                <a:solidFill>
                  <a:srgbClr val="004EA2"/>
                </a:solidFill>
                <a:latin typeface="Noto Sans KR"/>
              </a:rPr>
              <a:t>RandomForestRegressor 최종 월 3,370,793명</a:t>
            </a:r>
          </a:p>
        </p:txBody>
      </p:sp>
      <p:sp>
        <p:nvSpPr>
          <p:cNvPr id="10" name="reference-5"/>
          <p:cNvSpPr txBox="1"/>
          <p:nvPr/>
        </p:nvSpPr>
        <p:spPr>
          <a:xfrm>
            <a:off x="1009650" y="57864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관광소비액 LinearRegression</a:t>
            </a:r>
          </a:p>
          <a:p>
            <a:pPr eaLnBrk="0">
              <a:lnSpc>
                <a:spcPts val="1687"/>
              </a:lnSpc>
              <a:spcBef>
                <a:spcPts val="0"/>
              </a:spcBef>
              <a:spcAft>
                <a:spcPts val="0"/>
              </a:spcAft>
            </a:pPr>
            <a:r>
              <a:rPr sz="1350" b="0">
                <a:solidFill>
                  <a:srgbClr val="004EA2"/>
                </a:solidFill>
                <a:latin typeface="Noto Sans KR"/>
              </a:rPr>
              <a:t>최종 월 1,493.67억 원</a:t>
            </a:r>
          </a:p>
        </p:txBody>
      </p:sp>
      <p:sp>
        <p:nvSpPr>
          <p:cNvPr id="11" name="reference-6"/>
          <p:cNvSpPr txBox="1"/>
          <p:nvPr/>
        </p:nvSpPr>
        <p:spPr>
          <a:xfrm>
            <a:off x="1009650" y="63865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체류시간 전년동월 계절</a:t>
            </a:r>
          </a:p>
          <a:p>
            <a:pPr eaLnBrk="0">
              <a:lnSpc>
                <a:spcPts val="1687"/>
              </a:lnSpc>
              <a:spcBef>
                <a:spcPts val="0"/>
              </a:spcBef>
              <a:spcAft>
                <a:spcPts val="0"/>
              </a:spcAft>
            </a:pPr>
            <a:r>
              <a:rPr sz="1350" b="0">
                <a:solidFill>
                  <a:srgbClr val="004EA2"/>
                </a:solidFill>
                <a:latin typeface="Noto Sans KR"/>
              </a:rPr>
              <a:t>기준선 최종 월 2,289분</a:t>
            </a:r>
          </a:p>
        </p:txBody>
      </p:sp>
      <p:sp>
        <p:nvSpPr>
          <p:cNvPr id="12" name="reference-7"/>
          <p:cNvSpPr txBox="1"/>
          <p:nvPr/>
        </p:nvSpPr>
        <p:spPr>
          <a:xfrm>
            <a:off x="1009650" y="69865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숙박일수 전년동월 계절</a:t>
            </a:r>
          </a:p>
          <a:p>
            <a:pPr eaLnBrk="0">
              <a:lnSpc>
                <a:spcPts val="1687"/>
              </a:lnSpc>
              <a:spcBef>
                <a:spcPts val="0"/>
              </a:spcBef>
              <a:spcAft>
                <a:spcPts val="0"/>
              </a:spcAft>
            </a:pPr>
            <a:r>
              <a:rPr sz="1350" b="0">
                <a:solidFill>
                  <a:srgbClr val="004EA2"/>
                </a:solidFill>
                <a:latin typeface="Noto Sans KR"/>
              </a:rPr>
              <a:t>기준선 최종 월 3.03일</a:t>
            </a:r>
          </a:p>
        </p:txBody>
      </p:sp>
      <p:sp>
        <p:nvSpPr>
          <p:cNvPr id="13" name="reference-8"/>
          <p:cNvSpPr txBox="1"/>
          <p:nvPr/>
        </p:nvSpPr>
        <p:spPr>
          <a:xfrm>
            <a:off x="548640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숙박방문자 비율 전년동월 계절</a:t>
            </a:r>
          </a:p>
          <a:p>
            <a:pPr eaLnBrk="0">
              <a:lnSpc>
                <a:spcPts val="1687"/>
              </a:lnSpc>
              <a:spcBef>
                <a:spcPts val="0"/>
              </a:spcBef>
              <a:spcAft>
                <a:spcPts val="0"/>
              </a:spcAft>
            </a:pPr>
            <a:r>
              <a:rPr sz="1350" b="0">
                <a:solidFill>
                  <a:srgbClr val="004EA2"/>
                </a:solidFill>
                <a:latin typeface="Noto Sans KR"/>
              </a:rPr>
              <a:t>기준선 최종 월 22%</a:t>
            </a:r>
          </a:p>
        </p:txBody>
      </p:sp>
      <p:sp>
        <p:nvSpPr>
          <p:cNvPr id="14" name="reference-9"/>
          <p:cNvSpPr txBox="1"/>
          <p:nvPr/>
        </p:nvSpPr>
        <p:spPr>
          <a:xfrm>
            <a:off x="548640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 목적지 검색량 전년동월 계절</a:t>
            </a:r>
          </a:p>
          <a:p>
            <a:pPr eaLnBrk="0">
              <a:lnSpc>
                <a:spcPts val="1687"/>
              </a:lnSpc>
              <a:spcBef>
                <a:spcPts val="0"/>
              </a:spcBef>
              <a:spcAft>
                <a:spcPts val="0"/>
              </a:spcAft>
            </a:pPr>
            <a:r>
              <a:rPr sz="1350" b="0">
                <a:solidFill>
                  <a:srgbClr val="004EA2"/>
                </a:solidFill>
                <a:latin typeface="Noto Sans KR"/>
              </a:rPr>
              <a:t>기준선 최종 월 75,858건</a:t>
            </a:r>
          </a:p>
        </p:txBody>
      </p:sp>
      <p:sp>
        <p:nvSpPr>
          <p:cNvPr id="15" name="reference-10"/>
          <p:cNvSpPr txBox="1"/>
          <p:nvPr/>
        </p:nvSpPr>
        <p:spPr>
          <a:xfrm>
            <a:off x="548640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내비게이션 검색량 전년동월 계절</a:t>
            </a:r>
          </a:p>
          <a:p>
            <a:pPr eaLnBrk="0">
              <a:lnSpc>
                <a:spcPts val="1687"/>
              </a:lnSpc>
              <a:spcBef>
                <a:spcPts val="0"/>
              </a:spcBef>
              <a:spcAft>
                <a:spcPts val="0"/>
              </a:spcAft>
            </a:pPr>
            <a:r>
              <a:rPr sz="1350" b="0">
                <a:solidFill>
                  <a:srgbClr val="004EA2"/>
                </a:solidFill>
                <a:latin typeface="Noto Sans KR"/>
              </a:rPr>
              <a:t>기준선 최종 월 556,973건</a:t>
            </a:r>
          </a:p>
        </p:txBody>
      </p:sp>
      <p:sp>
        <p:nvSpPr>
          <p:cNvPr id="16" name="reference-11"/>
          <p:cNvSpPr txBox="1"/>
          <p:nvPr/>
        </p:nvSpPr>
        <p:spPr>
          <a:xfrm>
            <a:off x="5486400" y="437197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D50 요즘, 한국관광 2호 - 지방공항</a:t>
            </a:r>
          </a:p>
          <a:p>
            <a:pPr eaLnBrk="0">
              <a:lnSpc>
                <a:spcPts val="1687"/>
              </a:lnSpc>
              <a:spcBef>
                <a:spcPts val="0"/>
              </a:spcBef>
              <a:spcAft>
                <a:spcPts val="0"/>
              </a:spcAft>
            </a:pPr>
            <a:r>
              <a:rPr sz="1350" b="0" u="none">
                <a:solidFill>
                  <a:srgbClr val="004EA2"/>
                </a:solidFill>
                <a:latin typeface="Noto Sans KR"/>
                <a:hlinkClick r:id="rId3"/>
              </a:rPr>
              <a:t>연계 지역관광 활성화 방안 · PDF 44쪽 외 7쪽 (8개</a:t>
            </a:r>
          </a:p>
          <a:p>
            <a:pPr eaLnBrk="0">
              <a:lnSpc>
                <a:spcPts val="1687"/>
              </a:lnSpc>
              <a:spcBef>
                <a:spcPts val="0"/>
              </a:spcBef>
              <a:spcAft>
                <a:spcPts val="0"/>
              </a:spcAft>
            </a:pPr>
            <a:r>
              <a:rPr sz="1350" b="0" u="none">
                <a:solidFill>
                  <a:srgbClr val="004EA2"/>
                </a:solidFill>
                <a:latin typeface="Noto Sans KR"/>
                <a:hlinkClick r:id="rId3"/>
              </a:rPr>
              <a:t>청크) datalab.visitkorea.or.kr</a:t>
            </a:r>
          </a:p>
        </p:txBody>
      </p:sp>
      <p:sp>
        <p:nvSpPr>
          <p:cNvPr id="17" name="reference-12"/>
          <p:cNvSpPr txBox="1"/>
          <p:nvPr/>
        </p:nvSpPr>
        <p:spPr>
          <a:xfrm>
            <a:off x="548640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D51 2024년 문화재야행 사업 예산</a:t>
            </a:r>
          </a:p>
          <a:p>
            <a:pPr eaLnBrk="0">
              <a:lnSpc>
                <a:spcPts val="1687"/>
              </a:lnSpc>
              <a:spcBef>
                <a:spcPts val="0"/>
              </a:spcBef>
              <a:spcAft>
                <a:spcPts val="0"/>
              </a:spcAft>
            </a:pPr>
            <a:r>
              <a:rPr sz="1350" b="0" u="none">
                <a:solidFill>
                  <a:srgbClr val="004EA2"/>
                </a:solidFill>
                <a:latin typeface="Noto Sans KR"/>
                <a:hlinkClick r:id="rId4"/>
              </a:rPr>
              <a:t>확정자료 culture.seoul.go.kr</a:t>
            </a:r>
          </a:p>
        </p:txBody>
      </p:sp>
      <p:sp>
        <p:nvSpPr>
          <p:cNvPr id="18" name="reference-13"/>
          <p:cNvSpPr txBox="1"/>
          <p:nvPr/>
        </p:nvSpPr>
        <p:spPr>
          <a:xfrm>
            <a:off x="5486400" y="57864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D52 강진 반값여행 지역경제 효과</a:t>
            </a:r>
          </a:p>
          <a:p>
            <a:pPr eaLnBrk="0">
              <a:lnSpc>
                <a:spcPts val="1687"/>
              </a:lnSpc>
              <a:spcBef>
                <a:spcPts val="0"/>
              </a:spcBef>
              <a:spcAft>
                <a:spcPts val="0"/>
              </a:spcAft>
            </a:pPr>
            <a:r>
              <a:rPr sz="1350" b="0" u="none">
                <a:solidFill>
                  <a:srgbClr val="004EA2"/>
                </a:solidFill>
                <a:latin typeface="Noto Sans KR"/>
                <a:hlinkClick r:id="rId5"/>
              </a:rPr>
              <a:t>소개 jnfarm.jeonnam.go.kr</a:t>
            </a:r>
          </a:p>
        </p:txBody>
      </p:sp>
      <p:sp>
        <p:nvSpPr>
          <p:cNvPr id="19" name="reference-14"/>
          <p:cNvSpPr txBox="1"/>
          <p:nvPr/>
        </p:nvSpPr>
        <p:spPr>
          <a:xfrm>
            <a:off x="5486400" y="63865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D53 2024년 6월 여행가는 달 추진</a:t>
            </a:r>
          </a:p>
          <a:p>
            <a:pPr eaLnBrk="0">
              <a:lnSpc>
                <a:spcPts val="1687"/>
              </a:lnSpc>
              <a:spcBef>
                <a:spcPts val="0"/>
              </a:spcBef>
              <a:spcAft>
                <a:spcPts val="0"/>
              </a:spcAft>
            </a:pPr>
            <a:r>
              <a:rPr sz="1350" b="0" u="none">
                <a:solidFill>
                  <a:srgbClr val="004EA2"/>
                </a:solidFill>
                <a:latin typeface="Noto Sans KR"/>
                <a:hlinkClick r:id="rId6"/>
              </a:rPr>
              <a:t>보도자료 mcst.go.kr</a:t>
            </a:r>
          </a:p>
        </p:txBody>
      </p:sp>
      <p:sp>
        <p:nvSpPr>
          <p:cNvPr id="20" name="reference-15"/>
          <p:cNvSpPr txBox="1"/>
          <p:nvPr/>
        </p:nvSpPr>
        <p:spPr>
          <a:xfrm>
            <a:off x="5486400" y="69865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7"/>
              </a:rPr>
              <a:t>공식 사례·문서 D54 2022 대한민국 숙박대전</a:t>
            </a:r>
          </a:p>
          <a:p>
            <a:pPr eaLnBrk="0">
              <a:lnSpc>
                <a:spcPts val="1687"/>
              </a:lnSpc>
              <a:spcBef>
                <a:spcPts val="0"/>
              </a:spcBef>
              <a:spcAft>
                <a:spcPts val="0"/>
              </a:spcAft>
            </a:pPr>
            <a:r>
              <a:rPr sz="1350" b="0" u="none">
                <a:solidFill>
                  <a:srgbClr val="004EA2"/>
                </a:solidFill>
                <a:latin typeface="Noto Sans KR"/>
                <a:hlinkClick r:id="rId7"/>
              </a:rPr>
              <a:t>경제파급효과 공개자료 kto.visitkorea.or.kr</a:t>
            </a:r>
          </a:p>
        </p:txBody>
      </p:sp>
      <p:sp>
        <p:nvSpPr>
          <p:cNvPr id="21" name="reference-16"/>
          <p:cNvSpPr txBox="1"/>
          <p:nvPr/>
        </p:nvSpPr>
        <p:spPr>
          <a:xfrm>
            <a:off x="99631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8"/>
              </a:rPr>
              <a:t>공식 사례·문서 D55 2025 대한민국 밤밤페스타 개최</a:t>
            </a:r>
          </a:p>
          <a:p>
            <a:pPr eaLnBrk="0">
              <a:lnSpc>
                <a:spcPts val="1687"/>
              </a:lnSpc>
              <a:spcBef>
                <a:spcPts val="0"/>
              </a:spcBef>
              <a:spcAft>
                <a:spcPts val="0"/>
              </a:spcAft>
            </a:pPr>
            <a:r>
              <a:rPr sz="1350" b="0" u="none">
                <a:solidFill>
                  <a:srgbClr val="004EA2"/>
                </a:solidFill>
                <a:latin typeface="Noto Sans KR"/>
                <a:hlinkClick r:id="rId8"/>
              </a:rPr>
              <a:t>도시 및 일정 korean.visitkorea.or.kr</a:t>
            </a:r>
          </a:p>
        </p:txBody>
      </p:sp>
      <p:sp>
        <p:nvSpPr>
          <p:cNvPr id="22" name="reference-17"/>
          <p:cNvSpPr txBox="1"/>
          <p:nvPr/>
        </p:nvSpPr>
        <p:spPr>
          <a:xfrm>
            <a:off x="99631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9"/>
              </a:rPr>
              <a:t>공식 사례·문서 D56 2024년도 정부업무평가 관광분야</a:t>
            </a:r>
          </a:p>
          <a:p>
            <a:pPr eaLnBrk="0">
              <a:lnSpc>
                <a:spcPts val="1687"/>
              </a:lnSpc>
              <a:spcBef>
                <a:spcPts val="0"/>
              </a:spcBef>
              <a:spcAft>
                <a:spcPts val="0"/>
              </a:spcAft>
            </a:pPr>
            <a:r>
              <a:rPr sz="1350" b="0" u="none">
                <a:solidFill>
                  <a:srgbClr val="004EA2"/>
                </a:solidFill>
                <a:latin typeface="Noto Sans KR"/>
                <a:hlinkClick r:id="rId9"/>
              </a:rPr>
              <a:t>성과자료 www.evaluation.go.kr</a:t>
            </a:r>
          </a:p>
        </p:txBody>
      </p:sp>
      <p:sp>
        <p:nvSpPr>
          <p:cNvPr id="23" name="reference-18"/>
          <p:cNvSpPr txBox="1"/>
          <p:nvPr/>
        </p:nvSpPr>
        <p:spPr>
          <a:xfrm>
            <a:off x="99631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D30 가는곶 세화</a:t>
            </a:r>
          </a:p>
        </p:txBody>
      </p:sp>
      <p:sp>
        <p:nvSpPr>
          <p:cNvPr id="24" name="reference-19"/>
          <p:cNvSpPr txBox="1"/>
          <p:nvPr/>
        </p:nvSpPr>
        <p:spPr>
          <a:xfrm>
            <a:off x="9963150" y="42291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D31 가마오름</a:t>
            </a:r>
          </a:p>
        </p:txBody>
      </p:sp>
      <p:sp>
        <p:nvSpPr>
          <p:cNvPr id="25" name="reference-20"/>
          <p:cNvSpPr txBox="1"/>
          <p:nvPr/>
        </p:nvSpPr>
        <p:spPr>
          <a:xfrm>
            <a:off x="9963150" y="46863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D32 가새기오름</a:t>
            </a:r>
          </a:p>
        </p:txBody>
      </p:sp>
      <p:sp>
        <p:nvSpPr>
          <p:cNvPr id="26" name="reference-21"/>
          <p:cNvSpPr txBox="1"/>
          <p:nvPr/>
        </p:nvSpPr>
        <p:spPr>
          <a:xfrm>
            <a:off x="9963150" y="51435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D33 가시어멍김밥</a:t>
            </a:r>
          </a:p>
        </p:txBody>
      </p:sp>
      <p:sp>
        <p:nvSpPr>
          <p:cNvPr id="27" name="reference-22"/>
          <p:cNvSpPr txBox="1"/>
          <p:nvPr/>
        </p:nvSpPr>
        <p:spPr>
          <a:xfrm>
            <a:off x="9963150" y="56007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D34 갈치공장</a:t>
            </a:r>
          </a:p>
        </p:txBody>
      </p:sp>
      <p:sp>
        <p:nvSpPr>
          <p:cNvPr id="28" name="reference-23"/>
          <p:cNvSpPr txBox="1"/>
          <p:nvPr/>
        </p:nvSpPr>
        <p:spPr>
          <a:xfrm>
            <a:off x="9963150" y="6057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D35 개오리오름</a:t>
            </a:r>
          </a:p>
        </p:txBody>
      </p:sp>
      <p:sp>
        <p:nvSpPr>
          <p:cNvPr id="29" name="reference-24"/>
          <p:cNvSpPr txBox="1"/>
          <p:nvPr/>
        </p:nvSpPr>
        <p:spPr>
          <a:xfrm>
            <a:off x="9963150" y="65151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D36 거슨새미오름</a:t>
            </a:r>
          </a:p>
        </p:txBody>
      </p:sp>
      <p:sp>
        <p:nvSpPr>
          <p:cNvPr id="30" name="reference-25"/>
          <p:cNvSpPr txBox="1"/>
          <p:nvPr/>
        </p:nvSpPr>
        <p:spPr>
          <a:xfrm>
            <a:off x="9963150" y="69723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D37 경성수산</a:t>
            </a:r>
          </a:p>
        </p:txBody>
      </p:sp>
      <p:sp>
        <p:nvSpPr>
          <p:cNvPr id="31" name="reference-26"/>
          <p:cNvSpPr txBox="1"/>
          <p:nvPr/>
        </p:nvSpPr>
        <p:spPr>
          <a:xfrm>
            <a:off x="9963150" y="74295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D38 고내포구</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3/3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D39 고사리커피</a:t>
            </a:r>
          </a:p>
        </p:txBody>
      </p:sp>
      <p:sp>
        <p:nvSpPr>
          <p:cNvPr id="6" name="reference-1"/>
          <p:cNvSpPr txBox="1"/>
          <p:nvPr/>
        </p:nvSpPr>
        <p:spPr>
          <a:xfrm>
            <a:off x="100965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D40 고스트타운</a:t>
            </a:r>
          </a:p>
        </p:txBody>
      </p:sp>
      <p:sp>
        <p:nvSpPr>
          <p:cNvPr id="7" name="reference-2"/>
          <p:cNvSpPr txBox="1"/>
          <p:nvPr/>
        </p:nvSpPr>
        <p:spPr>
          <a:xfrm>
            <a:off x="100965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D41 고이정</a:t>
            </a:r>
          </a:p>
        </p:txBody>
      </p:sp>
      <p:sp>
        <p:nvSpPr>
          <p:cNvPr id="8" name="reference-3"/>
          <p:cNvSpPr txBox="1"/>
          <p:nvPr/>
        </p:nvSpPr>
        <p:spPr>
          <a:xfrm>
            <a:off x="1009650" y="3943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D42 고토커피바</a:t>
            </a:r>
          </a:p>
        </p:txBody>
      </p:sp>
      <p:sp>
        <p:nvSpPr>
          <p:cNvPr id="9" name="reference-4"/>
          <p:cNvSpPr txBox="1"/>
          <p:nvPr/>
        </p:nvSpPr>
        <p:spPr>
          <a:xfrm>
            <a:off x="1009650" y="4400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D43 골목식당</a:t>
            </a:r>
          </a:p>
        </p:txBody>
      </p:sp>
      <p:sp>
        <p:nvSpPr>
          <p:cNvPr id="10" name="reference-5"/>
          <p:cNvSpPr txBox="1"/>
          <p:nvPr/>
        </p:nvSpPr>
        <p:spPr>
          <a:xfrm>
            <a:off x="1009650" y="4857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D44 골목카페옥수</a:t>
            </a:r>
          </a:p>
        </p:txBody>
      </p:sp>
      <p:sp>
        <p:nvSpPr>
          <p:cNvPr id="11" name="reference-6"/>
          <p:cNvSpPr txBox="1"/>
          <p:nvPr/>
        </p:nvSpPr>
        <p:spPr>
          <a:xfrm>
            <a:off x="1009650" y="5314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D45 골체오름캠핑</a:t>
            </a:r>
          </a:p>
        </p:txBody>
      </p:sp>
      <p:sp>
        <p:nvSpPr>
          <p:cNvPr id="12" name="reference-7"/>
          <p:cNvSpPr txBox="1"/>
          <p:nvPr/>
        </p:nvSpPr>
        <p:spPr>
          <a:xfrm>
            <a:off x="1009650" y="5772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D46 곰막식당/곰막</a:t>
            </a:r>
          </a:p>
        </p:txBody>
      </p:sp>
      <p:sp>
        <p:nvSpPr>
          <p:cNvPr id="13" name="reference-8"/>
          <p:cNvSpPr txBox="1"/>
          <p:nvPr/>
        </p:nvSpPr>
        <p:spPr>
          <a:xfrm>
            <a:off x="1009650" y="6229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D47 곽지해수욕장</a:t>
            </a:r>
          </a:p>
        </p:txBody>
      </p:sp>
      <p:sp>
        <p:nvSpPr>
          <p:cNvPr id="14" name="reference-9"/>
          <p:cNvSpPr txBox="1"/>
          <p:nvPr/>
        </p:nvSpPr>
        <p:spPr>
          <a:xfrm>
            <a:off x="1009650" y="6686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D48 괴오름</a:t>
            </a:r>
          </a:p>
        </p:txBody>
      </p:sp>
      <p:sp>
        <p:nvSpPr>
          <p:cNvPr id="15" name="reference-10"/>
          <p:cNvSpPr txBox="1"/>
          <p:nvPr/>
        </p:nvSpPr>
        <p:spPr>
          <a:xfrm>
            <a:off x="1009650" y="7143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D49 교래 삼다수마을</a:t>
            </a:r>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야간 문화유산 및</a:t>
            </a:r>
          </a:p>
          <a:p xmlns:a="http://schemas.openxmlformats.org/drawingml/2006/main">
            <a:pPr eaLnBrk="0">
              <a:lnSpc>
                <a:spcPts val="2625"/>
              </a:lnSpc>
              <a:spcBef>
                <a:spcPts val="0"/>
              </a:spcBef>
              <a:spcAft>
                <a:spcPts val="0"/>
              </a:spcAft>
            </a:pPr>
            <a:r>
              <a:rPr sz="2100" b="1">
                <a:solidFill>
                  <a:srgbClr val="004EA2"/>
                </a:solidFill>
                <a:latin typeface="Noto Sans KR"/>
              </a:rPr>
              <a:t>시설 개방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① 전망 × 목표율 → 운영 예산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origin"/>
          <p:cNvSpPr txBox="1"/>
          <p:nvPr/>
        </p:nvSpPr>
        <p:spPr>
          <a:xfrm>
            <a:off x="1009650" y="2019300"/>
            <a:ext cx="59055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공식 운영 사례와 계획 가정</a:t>
            </a:r>
          </a:p>
        </p:txBody>
      </p:sp>
      <p:sp>
        <p:nvSpPr>
          <p:cNvPr id="5" name="basis-formula"/>
          <p:cNvSpPr txBox="1"/>
          <p:nvPr/>
        </p:nvSpPr>
        <p:spPr>
          <a:xfrm>
            <a:off x="1009650" y="2505075"/>
            <a:ext cx="8810625" cy="6572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6B00"/>
                </a:solidFill>
                <a:latin typeface="Noto Sans KR"/>
              </a:rPr>
              <a:t>운영 사례 참고 → 초기 목표 5%</a:t>
            </a:r>
          </a:p>
        </p:txBody>
      </p:sp>
      <p:sp>
        <p:nvSpPr>
          <p:cNvPr id="6" name="basis-factor-labels"/>
          <p:cNvSpPr txBox="1"/>
          <p:nvPr/>
        </p:nvSpPr>
        <p:spPr>
          <a:xfrm>
            <a:off x="1009650" y="3257550"/>
            <a:ext cx="8810625"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59636E"/>
                </a:solidFill>
                <a:latin typeface="Noto Sans KR"/>
              </a:rPr>
              <a:t>전후 효과 추정이 아닌 계획 가정</a:t>
            </a:r>
          </a:p>
        </p:txBody>
      </p:sp>
      <p:sp>
        <p:nvSpPr>
          <p:cNvPr id="7" name="basis-divider"/>
          <p:cNvSpPr/>
          <p:nvPr/>
        </p:nvSpPr>
        <p:spPr>
          <a:xfrm>
            <a:off x="10001250" y="2133600"/>
            <a:ext cx="28575" cy="14763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is-actual"/>
          <p:cNvSpPr txBox="1"/>
          <p:nvPr/>
        </p:nvSpPr>
        <p:spPr>
          <a:xfrm>
            <a:off x="10296525" y="2124075"/>
            <a:ext cx="3933825" cy="4000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이 기획서의 최종월 목표</a:t>
            </a:r>
          </a:p>
        </p:txBody>
      </p:sp>
      <p:sp>
        <p:nvSpPr>
          <p:cNvPr id="9" name="basis-actual-value"/>
          <p:cNvSpPr txBox="1"/>
          <p:nvPr/>
        </p:nvSpPr>
        <p:spPr>
          <a:xfrm>
            <a:off x="10296525" y="2619375"/>
            <a:ext cx="3933825" cy="895350"/>
          </a:xfrm>
          <a:prstGeom prst="rect">
            <a:avLst/>
          </a:prstGeom>
          <a:noFill/>
        </p:spPr>
        <p:txBody>
          <a:bodyPr wrap="none" lIns="57150" rIns="57150" tIns="38100" bIns="38100" anchor="t">
            <a:noAutofit/>
          </a:bodyPr>
          <a:lstStyle/>
          <a:p>
            <a:pPr eaLnBrk="0">
              <a:lnSpc>
                <a:spcPts val="2906"/>
              </a:lnSpc>
              <a:spcBef>
                <a:spcPts val="0"/>
              </a:spcBef>
              <a:spcAft>
                <a:spcPts val="0"/>
              </a:spcAft>
            </a:pPr>
            <a:r>
              <a:rPr sz="2325" b="1">
                <a:solidFill>
                  <a:srgbClr val="FF6B00"/>
                </a:solidFill>
                <a:latin typeface="Noto Sans KR"/>
              </a:rPr>
              <a:t>방문 +5%</a:t>
            </a:r>
          </a:p>
          <a:p>
            <a:pPr eaLnBrk="0">
              <a:lnSpc>
                <a:spcPts val="2906"/>
              </a:lnSpc>
              <a:spcBef>
                <a:spcPts val="0"/>
              </a:spcBef>
              <a:spcAft>
                <a:spcPts val="0"/>
              </a:spcAft>
            </a:pPr>
            <a:r>
              <a:rPr sz="2325" b="1">
                <a:solidFill>
                  <a:srgbClr val="FF6B00"/>
                </a:solidFill>
                <a:latin typeface="Noto Sans KR"/>
              </a:rPr>
              <a:t>소비 +5%</a:t>
            </a:r>
          </a:p>
        </p:txBody>
      </p:sp>
      <p:sp>
        <p:nvSpPr>
          <p:cNvPr id="10" name="basis-meaning"/>
          <p:cNvSpPr txBox="1"/>
          <p:nvPr/>
        </p:nvSpPr>
        <p:spPr>
          <a:xfrm>
            <a:off x="1009650" y="3800475"/>
            <a:ext cx="13220700" cy="400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5%는 ML이 찾아낸 사업 효과가 아닌 초기 계획 목표이며 생성 후 조정할 수 있습니다.</a:t>
            </a:r>
          </a:p>
        </p:txBody>
      </p:sp>
      <p:sp>
        <p:nvSpPr>
          <p:cNvPr id="11" name="basis-mid-rule"/>
          <p:cNvSpPr/>
          <p:nvPr/>
        </p:nvSpPr>
        <p:spPr>
          <a:xfrm>
            <a:off x="1009650" y="4371975"/>
            <a:ext cx="13220700" cy="19050"/>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line-label"/>
          <p:cNvSpPr txBox="1"/>
          <p:nvPr/>
        </p:nvSpPr>
        <p:spPr>
          <a:xfrm>
            <a:off x="1009650" y="4610100"/>
            <a:ext cx="372427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01 ML 기준 전망</a:t>
            </a:r>
          </a:p>
        </p:txBody>
      </p:sp>
      <p:sp>
        <p:nvSpPr>
          <p:cNvPr id="13" name="baseline-value"/>
          <p:cNvSpPr txBox="1"/>
          <p:nvPr/>
        </p:nvSpPr>
        <p:spPr>
          <a:xfrm>
            <a:off x="1009650" y="5067300"/>
            <a:ext cx="3724275"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1,058.02만 명</a:t>
            </a:r>
          </a:p>
        </p:txBody>
      </p:sp>
      <p:sp>
        <p:nvSpPr>
          <p:cNvPr id="14" name="baseline-sub"/>
          <p:cNvSpPr txBox="1"/>
          <p:nvPr/>
        </p:nvSpPr>
        <p:spPr>
          <a:xfrm>
            <a:off x="1009650" y="5724525"/>
            <a:ext cx="3724275"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관광소비 4,449.19억 원</a:t>
            </a:r>
          </a:p>
          <a:p>
            <a:pPr eaLnBrk="0">
              <a:lnSpc>
                <a:spcPts val="1968"/>
              </a:lnSpc>
              <a:spcBef>
                <a:spcPts val="0"/>
              </a:spcBef>
              <a:spcAft>
                <a:spcPts val="0"/>
              </a:spcAft>
            </a:pPr>
            <a:r>
              <a:rPr sz="1575" b="0">
                <a:solidFill>
                  <a:srgbClr val="59636E"/>
                </a:solidFill>
                <a:latin typeface="Noto Sans KR"/>
              </a:rPr>
              <a:t>사업기간 3개월 월별 합계</a:t>
            </a:r>
          </a:p>
        </p:txBody>
      </p:sp>
      <p:sp>
        <p:nvSpPr>
          <p:cNvPr id="15" name="to-target"/>
          <p:cNvSpPr txBox="1"/>
          <p:nvPr/>
        </p:nvSpPr>
        <p:spPr>
          <a:xfrm>
            <a:off x="4752975" y="5133975"/>
            <a:ext cx="6858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16" name="uplift-label"/>
          <p:cNvSpPr txBox="1"/>
          <p:nvPr/>
        </p:nvSpPr>
        <p:spPr>
          <a:xfrm>
            <a:off x="5591175" y="4610100"/>
            <a:ext cx="3981450"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02 단계 목표를 합산</a:t>
            </a:r>
          </a:p>
        </p:txBody>
      </p:sp>
      <p:sp>
        <p:nvSpPr>
          <p:cNvPr id="17" name="uplift-value"/>
          <p:cNvSpPr txBox="1"/>
          <p:nvPr/>
        </p:nvSpPr>
        <p:spPr>
          <a:xfrm>
            <a:off x="5591175" y="5067300"/>
            <a:ext cx="3981450"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+34.86만 명</a:t>
            </a:r>
          </a:p>
        </p:txBody>
      </p:sp>
      <p:sp>
        <p:nvSpPr>
          <p:cNvPr id="18" name="uplift-sub"/>
          <p:cNvSpPr txBox="1"/>
          <p:nvPr/>
        </p:nvSpPr>
        <p:spPr>
          <a:xfrm>
            <a:off x="5591175" y="5724525"/>
            <a:ext cx="3981450"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추가 소비 +148.12억 원</a:t>
            </a:r>
          </a:p>
          <a:p>
            <a:pPr eaLnBrk="0">
              <a:lnSpc>
                <a:spcPts val="1968"/>
              </a:lnSpc>
              <a:spcBef>
                <a:spcPts val="0"/>
              </a:spcBef>
              <a:spcAft>
                <a:spcPts val="0"/>
              </a:spcAft>
            </a:pPr>
            <a:r>
              <a:rPr sz="1575" b="0">
                <a:solidFill>
                  <a:srgbClr val="59636E"/>
                </a:solidFill>
                <a:latin typeface="Noto Sans KR"/>
              </a:rPr>
              <a:t>최종월까지 ⅓ → ⅔ → 전체 목표율</a:t>
            </a:r>
          </a:p>
        </p:txBody>
      </p:sp>
      <p:sp>
        <p:nvSpPr>
          <p:cNvPr id="19" name="to-volume"/>
          <p:cNvSpPr txBox="1"/>
          <p:nvPr/>
        </p:nvSpPr>
        <p:spPr>
          <a:xfrm>
            <a:off x="9525000" y="5133975"/>
            <a:ext cx="6858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0" name="quantity-label"/>
          <p:cNvSpPr txBox="1"/>
          <p:nvPr/>
        </p:nvSpPr>
        <p:spPr>
          <a:xfrm>
            <a:off x="10391775" y="4610100"/>
            <a:ext cx="383857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03 직접 운영할 규모</a:t>
            </a:r>
          </a:p>
        </p:txBody>
      </p:sp>
      <p:sp>
        <p:nvSpPr>
          <p:cNvPr id="21" name="quantity-value"/>
          <p:cNvSpPr txBox="1"/>
          <p:nvPr/>
        </p:nvSpPr>
        <p:spPr>
          <a:xfrm>
            <a:off x="10391775" y="5067300"/>
            <a:ext cx="3838575"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3,487건</a:t>
            </a:r>
          </a:p>
        </p:txBody>
      </p:sp>
      <p:sp>
        <p:nvSpPr>
          <p:cNvPr id="22" name="quantity-sub"/>
          <p:cNvSpPr txBox="1"/>
          <p:nvPr/>
        </p:nvSpPr>
        <p:spPr>
          <a:xfrm>
            <a:off x="10391775" y="5724525"/>
            <a:ext cx="3838575"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추가 방문 목표 × 1% 올림</a:t>
            </a:r>
          </a:p>
          <a:p>
            <a:pPr eaLnBrk="0">
              <a:lnSpc>
                <a:spcPts val="1968"/>
              </a:lnSpc>
              <a:spcBef>
                <a:spcPts val="0"/>
              </a:spcBef>
              <a:spcAft>
                <a:spcPts val="0"/>
              </a:spcAft>
            </a:pPr>
            <a:r>
              <a:rPr sz="1575" b="0">
                <a:solidFill>
                  <a:srgbClr val="59636E"/>
                </a:solidFill>
                <a:latin typeface="Noto Sans KR"/>
              </a:rPr>
              <a:t>참여량 배분 가정 · 전환율 아님</a:t>
            </a:r>
          </a:p>
        </p:txBody>
      </p:sp>
      <p:sp>
        <p:nvSpPr>
          <p:cNvPr id="23" name="monthly-formula"/>
          <p:cNvSpPr txBox="1"/>
          <p:nvPr/>
        </p:nvSpPr>
        <p:spPr>
          <a:xfrm>
            <a:off x="1009650" y="6619875"/>
            <a:ext cx="13220700" cy="36195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월 목표 = 월 기준 전망 × (1 + 최종월 목표율 × 경과월/전체월). 방문 합계는 3개월 고유 인원과 다릅니다.</a:t>
            </a:r>
          </a:p>
        </p:txBody>
      </p:sp>
      <p:sp>
        <p:nvSpPr>
          <p:cNvPr id="24" name="budget-band"/>
          <p:cNvSpPr/>
          <p:nvPr/>
        </p:nvSpPr>
        <p:spPr>
          <a:xfrm>
            <a:off x="1009650" y="7162800"/>
            <a:ext cx="13220700" cy="96202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dget-label-0"/>
          <p:cNvSpPr txBox="1"/>
          <p:nvPr/>
        </p:nvSpPr>
        <p:spPr>
          <a:xfrm>
            <a:off x="11906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직접 혜택</a:t>
            </a:r>
          </a:p>
        </p:txBody>
      </p:sp>
      <p:sp>
        <p:nvSpPr>
          <p:cNvPr id="26" name="budget-value-0"/>
          <p:cNvSpPr txBox="1"/>
          <p:nvPr/>
        </p:nvSpPr>
        <p:spPr>
          <a:xfrm>
            <a:off x="11906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3,487.0만 원</a:t>
            </a:r>
          </a:p>
        </p:txBody>
      </p:sp>
      <p:sp>
        <p:nvSpPr>
          <p:cNvPr id="27" name="budget-sign-0"/>
          <p:cNvSpPr txBox="1"/>
          <p:nvPr/>
        </p:nvSpPr>
        <p:spPr>
          <a:xfrm>
            <a:off x="41052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28" name="budget-label-1"/>
          <p:cNvSpPr txBox="1"/>
          <p:nvPr/>
        </p:nvSpPr>
        <p:spPr>
          <a:xfrm>
            <a:off x="45434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운영·시스템·홍보·평가</a:t>
            </a:r>
          </a:p>
        </p:txBody>
      </p:sp>
      <p:sp>
        <p:nvSpPr>
          <p:cNvPr id="29" name="budget-value-1"/>
          <p:cNvSpPr txBox="1"/>
          <p:nvPr/>
        </p:nvSpPr>
        <p:spPr>
          <a:xfrm>
            <a:off x="45434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3,700.0만 원</a:t>
            </a:r>
          </a:p>
        </p:txBody>
      </p:sp>
      <p:sp>
        <p:nvSpPr>
          <p:cNvPr id="30" name="budget-sign-1"/>
          <p:cNvSpPr txBox="1"/>
          <p:nvPr/>
        </p:nvSpPr>
        <p:spPr>
          <a:xfrm>
            <a:off x="74580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31" name="budget-label-2"/>
          <p:cNvSpPr txBox="1"/>
          <p:nvPr/>
        </p:nvSpPr>
        <p:spPr>
          <a:xfrm>
            <a:off x="78962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예비비 10%</a:t>
            </a:r>
          </a:p>
        </p:txBody>
      </p:sp>
      <p:sp>
        <p:nvSpPr>
          <p:cNvPr id="32" name="budget-value-2"/>
          <p:cNvSpPr txBox="1"/>
          <p:nvPr/>
        </p:nvSpPr>
        <p:spPr>
          <a:xfrm>
            <a:off x="78962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718.7만 원</a:t>
            </a:r>
          </a:p>
        </p:txBody>
      </p:sp>
      <p:sp>
        <p:nvSpPr>
          <p:cNvPr id="33" name="budget-sign-2"/>
          <p:cNvSpPr txBox="1"/>
          <p:nvPr/>
        </p:nvSpPr>
        <p:spPr>
          <a:xfrm>
            <a:off x="108108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34" name="budget-label-3"/>
          <p:cNvSpPr txBox="1"/>
          <p:nvPr/>
        </p:nvSpPr>
        <p:spPr>
          <a:xfrm>
            <a:off x="112490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견적 총액</a:t>
            </a:r>
          </a:p>
        </p:txBody>
      </p:sp>
      <p:sp>
        <p:nvSpPr>
          <p:cNvPr id="35" name="budget-value-3"/>
          <p:cNvSpPr txBox="1"/>
          <p:nvPr/>
        </p:nvSpPr>
        <p:spPr>
          <a:xfrm>
            <a:off x="112490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7,905.7만 원</a:t>
            </a:r>
          </a:p>
        </p:txBody>
      </p:sp>
      <p:sp>
        <p:nvSpPr>
          <p:cNvPr id="36" name="budget-assumption"/>
          <p:cNvSpPr txBox="1"/>
          <p:nvPr/>
        </p:nvSpPr>
        <p:spPr>
          <a:xfrm>
            <a:off x="1009650" y="8191500"/>
            <a:ext cx="13220700"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단가·인력 처리량은 기획 가정입니다. 항목별 곱셈 산식은 바로 앞 견적표에 제시합니다.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② 7개 전망은 어떻게 기획에 쓰이나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l-period"/>
          <p:cNvSpPr txBox="1"/>
          <p:nvPr/>
        </p:nvSpPr>
        <p:spPr>
          <a:xfrm>
            <a:off x="1009650" y="2009775"/>
            <a:ext cx="13220700" cy="4000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공식 월별 데이터 202401~202606 → 지표별 저장 모델 → 사업기간의 전망</a:t>
            </a:r>
          </a:p>
        </p:txBody>
      </p:sp>
      <p:sp>
        <p:nvSpPr>
          <p:cNvPr id="5" name="ml-two"/>
          <p:cNvSpPr/>
          <p:nvPr/>
        </p:nvSpPr>
        <p:spPr>
          <a:xfrm>
            <a:off x="1009650" y="2695575"/>
            <a:ext cx="5981700" cy="20859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l-five"/>
          <p:cNvSpPr/>
          <p:nvPr/>
        </p:nvSpPr>
        <p:spPr>
          <a:xfrm>
            <a:off x="7543800" y="2695575"/>
            <a:ext cx="6686550" cy="2085975"/>
          </a:xfrm>
          <a:prstGeom prst="rect">
            <a:avLst/>
          </a:prstGeom>
          <a:solidFill>
            <a:srgbClr val="ED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wo-heading"/>
          <p:cNvSpPr txBox="1"/>
          <p:nvPr/>
        </p:nvSpPr>
        <p:spPr>
          <a:xfrm>
            <a:off x="1200150" y="2867025"/>
            <a:ext cx="552450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2개 · 수치 기준선</a:t>
            </a:r>
          </a:p>
        </p:txBody>
      </p:sp>
      <p:sp>
        <p:nvSpPr>
          <p:cNvPr id="8" name="two-metrics"/>
          <p:cNvSpPr txBox="1"/>
          <p:nvPr/>
        </p:nvSpPr>
        <p:spPr>
          <a:xfrm>
            <a:off x="1200150" y="3400425"/>
            <a:ext cx="55245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4EA2"/>
                </a:solidFill>
                <a:latin typeface="Noto Sans KR"/>
              </a:rPr>
              <a:t>방문자 수 / 관광소비액</a:t>
            </a:r>
          </a:p>
        </p:txBody>
      </p:sp>
      <p:sp>
        <p:nvSpPr>
          <p:cNvPr id="9" name="two-use"/>
          <p:cNvSpPr txBox="1"/>
          <p:nvPr/>
        </p:nvSpPr>
        <p:spPr>
          <a:xfrm>
            <a:off x="1200150" y="3971925"/>
            <a:ext cx="5524500" cy="6762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전망 그래프 → 추가 목표 인원·소비액 계산</a:t>
            </a:r>
          </a:p>
          <a:p>
            <a:pPr eaLnBrk="0">
              <a:lnSpc>
                <a:spcPts val="2156"/>
              </a:lnSpc>
              <a:spcBef>
                <a:spcPts val="0"/>
              </a:spcBef>
              <a:spcAft>
                <a:spcPts val="0"/>
              </a:spcAft>
            </a:pPr>
            <a:r>
              <a:rPr sz="1725" b="0">
                <a:solidFill>
                  <a:srgbClr val="59636E"/>
                </a:solidFill>
                <a:latin typeface="Noto Sans KR"/>
              </a:rPr>
              <a:t>방문·소비 전망은 후보 비교에도 함께 전달</a:t>
            </a:r>
          </a:p>
        </p:txBody>
      </p:sp>
      <p:sp>
        <p:nvSpPr>
          <p:cNvPr id="10" name="five-heading"/>
          <p:cNvSpPr txBox="1"/>
          <p:nvPr/>
        </p:nvSpPr>
        <p:spPr>
          <a:xfrm>
            <a:off x="7734300" y="2867025"/>
            <a:ext cx="630555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5개 · 관광 흐름 진단</a:t>
            </a:r>
          </a:p>
        </p:txBody>
      </p:sp>
      <p:sp>
        <p:nvSpPr>
          <p:cNvPr id="11" name="five-metrics"/>
          <p:cNvSpPr txBox="1"/>
          <p:nvPr/>
        </p:nvSpPr>
        <p:spPr>
          <a:xfrm>
            <a:off x="7734300" y="3400425"/>
            <a:ext cx="6305550" cy="7239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체류시간 · 숙박일수 · 숙박방문 비율</a:t>
            </a:r>
          </a:p>
          <a:p>
            <a:pPr eaLnBrk="0">
              <a:lnSpc>
                <a:spcPts val="2531"/>
              </a:lnSpc>
              <a:spcBef>
                <a:spcPts val="0"/>
              </a:spcBef>
              <a:spcAft>
                <a:spcPts val="0"/>
              </a:spcAft>
            </a:pPr>
            <a:r>
              <a:rPr sz="2025" b="1">
                <a:solidFill>
                  <a:srgbClr val="004EA2"/>
                </a:solidFill>
                <a:latin typeface="Noto Sans KR"/>
              </a:rPr>
              <a:t>내비게이션 검색 · 숙박 목적지 검색</a:t>
            </a:r>
          </a:p>
        </p:txBody>
      </p:sp>
      <p:sp>
        <p:nvSpPr>
          <p:cNvPr id="12" name="five-use"/>
          <p:cNvSpPr txBox="1"/>
          <p:nvPr/>
        </p:nvSpPr>
        <p:spPr>
          <a:xfrm>
            <a:off x="7734300" y="4324350"/>
            <a:ext cx="6305550" cy="3619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관심 → 방문 → 체류·숙박의 흐름을 살필 참고 입력</a:t>
            </a:r>
          </a:p>
        </p:txBody>
      </p:sp>
      <p:sp>
        <p:nvSpPr>
          <p:cNvPr id="13" name="ml-arrow-left"/>
          <p:cNvSpPr txBox="1"/>
          <p:nvPr/>
        </p:nvSpPr>
        <p:spPr>
          <a:xfrm>
            <a:off x="3638550" y="4829175"/>
            <a:ext cx="952500" cy="523875"/>
          </a:xfrm>
          <a:prstGeom prst="rect">
            <a:avLst/>
          </a:prstGeom>
          <a:noFill/>
        </p:spPr>
        <p:txBody>
          <a:bodyPr wrap="none" lIns="57150" rIns="57150" tIns="38100" bIns="38100" anchor="t">
            <a:noAutofit/>
          </a:bodyPr>
          <a:lstStyle/>
          <a:p>
            <a:pPr eaLnBrk="0">
              <a:lnSpc>
                <a:spcPts val="3468"/>
              </a:lnSpc>
              <a:spcBef>
                <a:spcPts val="0"/>
              </a:spcBef>
              <a:spcAft>
                <a:spcPts val="0"/>
              </a:spcAft>
            </a:pPr>
            <a:r>
              <a:rPr sz="2775" b="1">
                <a:solidFill>
                  <a:srgbClr val="00B7C9"/>
                </a:solidFill>
                <a:latin typeface="Noto Sans KR"/>
              </a:rPr>
              <a:t>↓</a:t>
            </a:r>
          </a:p>
        </p:txBody>
      </p:sp>
      <p:sp>
        <p:nvSpPr>
          <p:cNvPr id="14" name="ml-arrow-right"/>
          <p:cNvSpPr txBox="1"/>
          <p:nvPr/>
        </p:nvSpPr>
        <p:spPr>
          <a:xfrm>
            <a:off x="10287000" y="4829175"/>
            <a:ext cx="952500" cy="523875"/>
          </a:xfrm>
          <a:prstGeom prst="rect">
            <a:avLst/>
          </a:prstGeom>
          <a:noFill/>
        </p:spPr>
        <p:txBody>
          <a:bodyPr wrap="none" lIns="57150" rIns="57150" tIns="38100" bIns="38100" anchor="t">
            <a:noAutofit/>
          </a:bodyPr>
          <a:lstStyle/>
          <a:p>
            <a:pPr eaLnBrk="0">
              <a:lnSpc>
                <a:spcPts val="3468"/>
              </a:lnSpc>
              <a:spcBef>
                <a:spcPts val="0"/>
              </a:spcBef>
              <a:spcAft>
                <a:spcPts val="0"/>
              </a:spcAft>
            </a:pPr>
            <a:r>
              <a:rPr sz="2775" b="1">
                <a:solidFill>
                  <a:srgbClr val="00B7C9"/>
                </a:solidFill>
                <a:latin typeface="Noto Sans KR"/>
              </a:rPr>
              <a:t>↓</a:t>
            </a:r>
          </a:p>
        </p:txBody>
      </p:sp>
      <p:sp>
        <p:nvSpPr>
          <p:cNvPr id="15" name="handoff"/>
          <p:cNvSpPr txBox="1"/>
          <p:nvPr/>
        </p:nvSpPr>
        <p:spPr>
          <a:xfrm>
            <a:off x="1009650" y="5410200"/>
            <a:ext cx="1322070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서버가 7개 전망·전년 대비 변화·모델 평가를 근거 묶음으로 전달</a:t>
            </a:r>
          </a:p>
        </p:txBody>
      </p:sp>
      <p:sp>
        <p:nvSpPr>
          <p:cNvPr id="16" name="flow-title-0"/>
          <p:cNvSpPr txBox="1"/>
          <p:nvPr/>
        </p:nvSpPr>
        <p:spPr>
          <a:xfrm>
            <a:off x="1009650"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공식 사례</a:t>
            </a:r>
          </a:p>
        </p:txBody>
      </p:sp>
      <p:sp>
        <p:nvSpPr>
          <p:cNvPr id="17" name="flow-body-0"/>
          <p:cNvSpPr txBox="1"/>
          <p:nvPr/>
        </p:nvSpPr>
        <p:spPr>
          <a:xfrm>
            <a:off x="1009650"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저장 6건</a:t>
            </a:r>
          </a:p>
          <a:p>
            <a:pPr eaLnBrk="0">
              <a:lnSpc>
                <a:spcPts val="2343"/>
              </a:lnSpc>
              <a:spcBef>
                <a:spcPts val="0"/>
              </a:spcBef>
              <a:spcAft>
                <a:spcPts val="0"/>
              </a:spcAft>
            </a:pPr>
            <a:r>
              <a:rPr sz="1875" b="0">
                <a:solidFill>
                  <a:srgbClr val="59636E"/>
                </a:solidFill>
                <a:latin typeface="Noto Sans KR"/>
              </a:rPr>
              <a:t>운영 방식·출처 확인</a:t>
            </a:r>
          </a:p>
        </p:txBody>
      </p:sp>
      <p:sp>
        <p:nvSpPr>
          <p:cNvPr id="18" name="flow-arrow-0"/>
          <p:cNvSpPr txBox="1"/>
          <p:nvPr/>
        </p:nvSpPr>
        <p:spPr>
          <a:xfrm>
            <a:off x="3876675"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19" name="flow-title-1"/>
          <p:cNvSpPr txBox="1"/>
          <p:nvPr/>
        </p:nvSpPr>
        <p:spPr>
          <a:xfrm>
            <a:off x="4429125"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Qwen 후보 비교</a:t>
            </a:r>
          </a:p>
        </p:txBody>
      </p:sp>
      <p:sp>
        <p:nvSpPr>
          <p:cNvPr id="20" name="flow-body-1"/>
          <p:cNvSpPr txBox="1"/>
          <p:nvPr/>
        </p:nvSpPr>
        <p:spPr>
          <a:xfrm>
            <a:off x="4429125"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설계 후보 3개</a:t>
            </a:r>
          </a:p>
          <a:p>
            <a:pPr eaLnBrk="0">
              <a:lnSpc>
                <a:spcPts val="2343"/>
              </a:lnSpc>
              <a:spcBef>
                <a:spcPts val="0"/>
              </a:spcBef>
              <a:spcAft>
                <a:spcPts val="0"/>
              </a:spcAft>
            </a:pPr>
            <a:r>
              <a:rPr sz="1875" b="0">
                <a:solidFill>
                  <a:srgbClr val="59636E"/>
                </a:solidFill>
                <a:latin typeface="Noto Sans KR"/>
              </a:rPr>
              <a:t>지역 조건 + 사례 판단</a:t>
            </a:r>
          </a:p>
        </p:txBody>
      </p:sp>
      <p:sp>
        <p:nvSpPr>
          <p:cNvPr id="21" name="flow-arrow-1"/>
          <p:cNvSpPr txBox="1"/>
          <p:nvPr/>
        </p:nvSpPr>
        <p:spPr>
          <a:xfrm>
            <a:off x="7296150"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2" name="flow-title-2"/>
          <p:cNvSpPr txBox="1"/>
          <p:nvPr/>
        </p:nvSpPr>
        <p:spPr>
          <a:xfrm>
            <a:off x="7848600"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Gemma 본문</a:t>
            </a:r>
          </a:p>
        </p:txBody>
      </p:sp>
      <p:sp>
        <p:nvSpPr>
          <p:cNvPr id="23" name="flow-body-2"/>
          <p:cNvSpPr txBox="1"/>
          <p:nvPr/>
        </p:nvSpPr>
        <p:spPr>
          <a:xfrm>
            <a:off x="7848600"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선정 사업·근거를</a:t>
            </a:r>
          </a:p>
          <a:p>
            <a:pPr eaLnBrk="0">
              <a:lnSpc>
                <a:spcPts val="2343"/>
              </a:lnSpc>
              <a:spcBef>
                <a:spcPts val="0"/>
              </a:spcBef>
              <a:spcAft>
                <a:spcPts val="0"/>
              </a:spcAft>
            </a:pPr>
            <a:r>
              <a:rPr sz="1875" b="0">
                <a:solidFill>
                  <a:srgbClr val="59636E"/>
                </a:solidFill>
                <a:latin typeface="Noto Sans KR"/>
              </a:rPr>
              <a:t>실행 계획으로 작성</a:t>
            </a:r>
          </a:p>
        </p:txBody>
      </p:sp>
      <p:sp>
        <p:nvSpPr>
          <p:cNvPr id="24" name="flow-arrow-2"/>
          <p:cNvSpPr txBox="1"/>
          <p:nvPr/>
        </p:nvSpPr>
        <p:spPr>
          <a:xfrm>
            <a:off x="10715625"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5" name="flow-title-3"/>
          <p:cNvSpPr txBox="1"/>
          <p:nvPr/>
        </p:nvSpPr>
        <p:spPr>
          <a:xfrm>
            <a:off x="11268075"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검수·출력</a:t>
            </a:r>
          </a:p>
        </p:txBody>
      </p:sp>
      <p:sp>
        <p:nvSpPr>
          <p:cNvPr id="26" name="flow-body-3"/>
          <p:cNvSpPr txBox="1"/>
          <p:nvPr/>
        </p:nvSpPr>
        <p:spPr>
          <a:xfrm>
            <a:off x="11268075"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코드·로컬 검수</a:t>
            </a:r>
          </a:p>
          <a:p>
            <a:pPr eaLnBrk="0">
              <a:lnSpc>
                <a:spcPts val="2343"/>
              </a:lnSpc>
              <a:spcBef>
                <a:spcPts val="0"/>
              </a:spcBef>
              <a:spcAft>
                <a:spcPts val="0"/>
              </a:spcAft>
            </a:pPr>
            <a:r>
              <a:rPr sz="1875" b="0">
                <a:solidFill>
                  <a:srgbClr val="59636E"/>
                </a:solidFill>
                <a:latin typeface="Noto Sans KR"/>
              </a:rPr>
              <a:t>웹 · Word · PPT</a:t>
            </a:r>
          </a:p>
        </p:txBody>
      </p:sp>
      <p:sp>
        <p:nvSpPr>
          <p:cNvPr id="27" name="ml-boundary-rule"/>
          <p:cNvSpPr/>
          <p:nvPr/>
        </p:nvSpPr>
        <p:spPr>
          <a:xfrm>
            <a:off x="1009650" y="7620000"/>
            <a:ext cx="13220700" cy="190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l-boundary"/>
          <p:cNvSpPr txBox="1"/>
          <p:nvPr/>
        </p:nvSpPr>
        <p:spPr>
          <a:xfrm>
            <a:off x="1009650" y="7839075"/>
            <a:ext cx="13220700" cy="6191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이 보고서: 5개 지표는 전년 동월 기준모델을 사용. ML은 관광지표를 예측하고, 사례·사업의 최종 선택은 문서와 LLM 판단으로 수행합니다.</a:t>
            </a:r>
          </a:p>
          <a:p>
            <a:pPr eaLnBrk="0">
              <a:lnSpc>
                <a:spcPts val="1968"/>
              </a:lnSpc>
              <a:spcBef>
                <a:spcPts val="0"/>
              </a:spcBef>
              <a:spcAft>
                <a:spcPts val="0"/>
              </a:spcAft>
            </a:pPr>
            <a:r>
              <a:rPr sz="1575" b="0">
                <a:solidFill>
                  <a:srgbClr val="59636E"/>
                </a:solidFill>
                <a:latin typeface="Noto Sans KR"/>
              </a:rPr>
              <a:t>7개 값으로 학습한 별도 사업 추천 모델은 아닙니다. 입력을 읽었다는 사실과 판단의 타당성은 구분합니다.</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